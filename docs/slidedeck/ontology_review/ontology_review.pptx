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review of what an ontology is, built up through the Semantic Web standards from RDF to OWL. Every code sample and result in this deck comes from one small movie graph, executed with rdflib and owlrl when the deck is built. Colour key: teal is what a source asserted, amber is what inference added, and clay marks traps.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definition. Gruber's 1993 wording was "an explicit specification of a conceptualization"; Borst added formal and shared, and Studer, Benjamins and Fensel combined them in 1998. Each word does work: a conceptualization is a simplified view of a domain; explicit means written down; formal means a machine can process it; shared means a community agrees on it. The word comes from philosophy, the study of what exists.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ontology is built from the same four blocks. Classes are kinds of things, understood as sets. Individuals are the things themselves. Properties relate individuals to each other or to plain values, and exist independently of classes. Axioms are the statements about classes and properties that let a reasoner infer new facts. The top band is the model, often called the TBox (terminology); the bottom band is the data, the ABox (assertions). Some authors call only the model the ontology. Everything is named with URIs and written as RDF triples, so model and data live in one graph.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Placing ontologies among familiar artifacts. A controlled vocabulary fixes the words. A taxonomy arranges them in a hierarchy. A thesaurus adds synonyms and related terms; SKOS, building block 6, publishes these three on the Web. A data model or database schema types records for one application. An ontology adds formal meaning that a reasoner can use, global names, and the expectation that other applications will reuse and extend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people arrive knowing relational databases, so the contrast helps. A schema constrains data for one application and treats anything absent as false. An ontology describes meaning for many applications, treats absent facts as unknown, and infers rather than rejects. Validation of RDF data is done with SHACL, a separate W3C standard. Unlike object-oriented classes, ontology classes are sets: one individual can be in many classes, and properties exist on their 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Motivation, after the definition. Two sources describe the same actor with different identifiers and different words. A person joins them without noticing; a program needs to be told about identity, vocabulary and meaning. An ontology writes those down once, so every record benefits. The same pattern scales from two files to whole industries: schema.org for the Web, the Gene Ontology and SNOMED CT in the life sciences.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AAA slogan: because publication is in the hands of whoever produces the content, Web data is a wilderness, valuable but tangled. Two consequences: assume an open world, and expect names to be nonunique. An ontologist's job is to turn this mess into durable information resources using RDF, RDFS, SPARQL, SKOS and OWL.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Models let people communicate, explain and predict, and mediate between viewpoints. Structured and unstructured knowledge about a topic coexist forever, so the job is a continuous process of distilling communal knowledge without forcing agreement up front. Any modeling language must capture commonality while allowing variability.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Ontology modeling on the Web is a family of layered languages that differ in expressivity. RDF makes and merges simple statements. RDFS adds classes, subclasses and properties. RDFS-Plus is a practical subset of OWL, enough for most integration work. OWL brings the expressivity of logic. Beside the ladder, SKOS organizes vocabularies, rules cover if-then logic, and SPARQL queries all of it. The next eight slides take one building block each.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W3C Semantic Web Stack, the layer cake, places the same languages in the wider Web architecture. Amber outlines mark the layers this review covers, numbered by building block; the last column gives the deep-dive part. RDFS-Plus is not a W3C layer: it is a practical subset of OWL between RDFS and OWL. SKOS is a vocabulary built on RDFS and is not drawn in the diagram. The next slide sketches the layers we do not cover.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tour of the layers this review skips. The user interface is whatever applications build on top. Trust, proof and unifying logic were the original vision for a Web where machines could check and weigh each other's conclusions; they remain mostly research, though W3C PROV standardizes provenance. Crypto runs beside every layer; RDF Dataset Canonicalization lets a graph be hashed and signed, as Verifiable Credentials do. XML was the original interchange syntax; today Turtle and JSON-LD are more common, but XML Schema datatypes are still how RDF types its literal values.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block 1. Before you can say anything, things need names that work across systems. RDF borrows the Web's answer: URIs. A namespace groups names under one publisher, and prefixed names keep them short. Plain values are literals. Because publishers don't coordinate, one thing can have several URIs, which blocks 4 and 5 deal with.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block 2. RDF breaks every fact into a triple. The Turtle on the right is the first movie in data/studio.ttl; the table lists the triples it contains, one per row. A set of triples is a graph, and merging graphs is just taking the union. RDF on its own is only data: nothing yet tells a machine what :starring or :Movie mean.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block 3. RDFS gives meaning to class and property names through inference rules. :starring has range :Actor, so whoever is starred is an Actor; Actor is a subclass of Person, so they are a Person too. Domain and range are the classic beginner trap: they look like constraints but only classify. For validation, the later W3C standard SHACL checks data against shapes.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block 4. Different publishers use different names. RDFS-Plus lets you align them: equivalentClass and equivalentProperty for vocabulary, sameAs for individuals. Declaring registryId inverse functional lets the reasoner work out sameness itself: two records with the same registry id are the same person, so the studio's movie data and the fan wiki's birthplace connect, and a question spanning both gets an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block 5. OWL lets you define classes instead of just naming them. JamesDeanMovie is defined as anything starring James Dean, and the reasoner finds the members on its own, from any source. OWL also has set operators and counting. Because the Web is an open world, OWL is cautious: it rarely concludes that something is false. Four profiles trade expressivity for efficient or guaranteed reasoning; owlrl implements OWL 2 RL.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block 6. Many organizations already have taxonomies and thesauri. SKOS publishes them as linked data: every concept gets a URI, labels carry synonyms, broader and narrower give the hierarchy, and matching properties link to other vocabularies without merging them. SKOS concepts are deliberately not classes: tagging a film with Drama doesn't make it an instance of a class, and broader is not transitive unless you choose.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block 7. Some knowledge is easiest to state as IF/THEN. Here "worked with" means starring in a movie that someone directed. The same three triples come out of a SPARQL CONSTRUCT rule and an OWL 2 property chain; the build checks that they agree. RIF is the W3C exchange format for rules, though many projects write rules in SPARQL or in their engine's language. Rules are flexible but large rule bases are hard to maintain.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block 8. SPARQL is how applications use an ontology. A query looks like the data it targets, with variables for the unknowns; shared variables join triples without a JOIN clause. Run over a graph that a reasoner has expanded, a query sees what the ontology implies as well as what was typed in. The next slide shows that with one question that needs every layer.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Putting the blocks back together, in the same shape as the application architecture in Part 4. Sources are converted to triples and merged (32 triples of data). The ontology, 48 more triples, sits in the same store. A reasoner applies its rules and adds 83 triples about the example. SPARQL then asks one question across all of it. The next slide shows the question line by line.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only line that matches asserted data is the starring triple; every other line depends on a layer of the ontology. The table on the right is the live result, and the ablation reruns the same query with one file removed at a time, or with no reasoner. Each run returns zero rows, which the build checks. Query: queries/together.rq.</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one-page reference for the eight building blocks: what question each layer answers, the terms to recognize, and where it shows up in the movie example. The deep-dive parts that follow go through each layer in more detail.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from a plain table. Only cell-by-cell distribution honours AAA, so each cell becomes a triple: subject is the row, predicate the column, object the value. The highlighted cell, directed by Nicholas Ray, is the highlighted triple. The triples on the right are read from data/studio.ttl at build time.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Seen as a graph, each triple is a labelled edge and everything known about an entity gathers at one node. Merging sources reduces to taking the union: 26 studio triples plus 6 fan-wiki triples gives 32. The flexibility moves the difficulty into identity: without a shared URI, the two James Dean nodes stay apart. RDFS-Plus fixes that in Part 5 with an inverse-functional property.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RDF borrows the Web's answer to identity: URIs, grouped in namespaces and abbreviated as qnames. Built-in rdf terms give a minimal type system. Blank nodes cover anonymous entities. The Turtle on the left is the first block of data/studio.ttl.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Semantic Web application chains a parser and serializer, an RDF store whose distinguishing feature is merging, a query engine, and application code. These handle the mechanics but not the meaning: semantic models supply meaning, and they live in the same store. Typical federation apps: calendars, maps, annotation, content management.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RDF is a tell-and-ask system. SPARQL's answer to querying data with an unknown structure is the graph pattern: a small graph mixing known resources and variables, matched against the data. The query is queries/dean_movies.rq and the table is its live result.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variables can match predicates, one query reveals what an unfamiliar data set talks about. CONSTRUCT uses the same pattern matching to build a new graph from a template, which lets a query transform data and act as a rule. Here it builds 6 workedWith triples; the three for James Dean are shown.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Semantic Web, a modeling term means exactly the inferences it licenses. subClassOf's whole meaning is type propagation, an IF/THEN rule that can be written as a SPARQL CONSTRUCT. Running RDFS inference over the studio data and schema (33 asserted triples) adds 14 type triples, for example James Dean becomes an Actor via the range of starring, then a Person via subClassOf.</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Cached inferencing stores inferred triples with the data: simple, but it can explode and makes change management hard, since a triple may be inferable in several ways. Just-in-time inferencing computes at query time. A third option does no explicit inferencing, yet the inference reading still explains the model. RDFS, RDFS-Plus and OWL differ only in their rule sets.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RDFS is written in RDF, so schema is as open to AAA as data. Its terms are defined by inference patterns, not validation. With movieTitle and personName both declared subproperties of rdfs:label, one query labels every movie and person: ten rows, none of which were asserted with rdfs:label.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and range are the hardest terms for newcomers because they look like object-oriented declarations. They never reject data: a triple that violates them just classifies its subject or object. Merging a theatre archive that reuses directedBy makes A Streetcar Named Desire a Movie. This is the real owlrl output.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RDFS-Plus adds sameness. equivalentClass and equivalentProperty align vocabularies; sameAs says two individuals are one. Declaring registryId inverse functional lets the engine compute sameness instead of requiring it to be asserted: a shared registry id makes the fan wiki's James Dean and the studio's the same person, so a question that spans both sources now returns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Data.gov: raw government data whose RDF form enables mashups, with SPARQL doing most of the work. FOAF: people own their data; some terms are defined only in natural language, others formally with RDFS-Plus, tightened as they are used. Facebook's OGP kept one namespace for its content managers and links to other vocabularies with rdfs:seeAlso rather than equivalentProperty.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SKOS is the W3C Recommendation for publishing controlled vocabularies. Every concept gets a URI, so terms from different vocabularies can share a statement; exactMatch, closeMatch, broadMatch and narrowMatch relate them across sources. broader and narrower resemble subClassOf, but you choose whether to treat them as transitive. Here the property path broader* finds all three dramas.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owl:Restriction defines a class by describing its members in terms of classes and properties already modeled, something RDFS cannot do. Because a restriction is itself a class, other sources can build on it. Here JamesDeanMovie is defined as everything starring James Dean, and OWL RL classifies all three films.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OWL adds unions, intersections, complements, cardinality and disjointness, so a model can rule things out. Counting is hard on the Web: a max-cardinality of one with two named directors doesn't produce an error, it makes the names the same person. Only once we close the world, by declaring them different, does the engine report a contradiction. Both results come from owlrl.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Relations has almost no data of its own: the data is spread across the Web in RDFa. QUDT sits in the middle, holding some data but mainly connecting data sets through units, conversions and dimensions. The OBO ontologies are very large and richly connected, a Rosetta Stone for biological names.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from competency questions, the questions the model must answer, and model no further than needed, while remembering a semantic model will be merged with unanticipated sources. The table runs four questions as SPARQL ASK queries against the inferred studio graph; three pass and the awards question exposes a scope gap.</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None of these is strictly an error under AAA, but each defeats sharing. Rampant classism breaks under inference. Exclusivity is consistent with the Semantic Web assumptions and fixable with a simple pattern. Objectification clashes with them, since properties exist independently of classes. Creeping conceptualization restricts others; keep it simple.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OWL is one toolbox; each subset has the same tools with different usage rules. Some people want provable models; others treat models as programs that merge and reshape data, accepting good answers most of the time. DL keeps guarantees, QL sits on databases, EL scales to huge ontologies, RL suits rule engines like owlrl.</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OWL 2 adds property chains (uncle is brother of a parent; here workedWith is starredIn then directedBy), keys built from several properties, and punning, which lets one name be a class and an individual. Rules fill remaining gaps but are hard to maintain at scale and carry no guarantees; OWL 2 RL and RIF combine the two.</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Veterans call it same old, same old, but the novelty is the Web. Like the Web, the Semantic Web wins by being open: global URIs let models merge, openness forces conservative open-world inference, and applications only need to merge the pages they use.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reading: build a bounded domain model in RDF and query it with SPARQL; add light inference where integration needs it; turn competency questions into tests; and treat automatic knowledge discovery with OWL as not yet ready.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reference is Semantic Web for the Working Ontologist, second edition. The definition of an ontology is Gruber's, as refined by Studer, Benjamins and Fensel. The layer-cake diagram is the W3C Semantic Web Stack from Wikimedia Commons. The standards themselves are W3C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Terms used throughout the deck, in roughly the order a newcomer meets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72E"/>
        </a:solidFill>
        <a:effectLst/>
      </p:bgPr>
    </p:bg>
    <p:spTree>
      <p:nvGrpSpPr>
        <p:cNvPr id="1" name=""/>
        <p:cNvGrpSpPr/>
        <p:nvPr/>
      </p:nvGrpSpPr>
      <p:grpSpPr/>
      <p:sp>
        <p:nvSpPr>
          <p:cNvPr id="2" name="Title 1"/>
          <p:cNvSpPr>
            <a:spLocks noGrp="1"/>
          </p:cNvSpPr>
          <p:nvPr>
            <p:ph type="title"/>
          </p:nvPr>
        </p:nvSpPr>
        <p:spPr>
          <a:xfrm>
            <a:off x="548640" y="1965960"/>
            <a:ext cx="6949440" cy="1737360"/>
          </a:xfrm>
        </p:spPr>
        <p:txBody>
          <a:bodyPr wrap="square" anchor="t" lIns="0" rIns="0" tIns="0" bIns="0">
            <a:noAutofit/>
          </a:bodyPr>
          <a:lstStyle/>
          <a:p>
            <a:pPr algn="l"/>
            <a:r>
              <a:rPr sz="4400" b="1" i="0">
                <a:solidFill>
                  <a:srgbClr val="FFFFFF"/>
                </a:solidFill>
                <a:latin typeface="Cambria"/>
              </a:rPr>
              <a:t>What is an ontology? From RDF to OWL</a:t>
            </a:r>
          </a:p>
        </p:txBody>
      </p:sp>
      <p:sp>
        <p:nvSpPr>
          <p:cNvPr id="3" name="TextBox 2"/>
          <p:cNvSpPr txBox="1"/>
          <p:nvPr/>
        </p:nvSpPr>
        <p:spPr>
          <a:xfrm>
            <a:off x="548640" y="1600200"/>
            <a:ext cx="6400800" cy="320040"/>
          </a:xfrm>
          <a:prstGeom prst="rect">
            <a:avLst/>
          </a:prstGeom>
          <a:noFill/>
        </p:spPr>
        <p:txBody>
          <a:bodyPr wrap="square" anchor="t" lIns="0" rIns="0" tIns="0" bIns="0">
            <a:noAutofit/>
          </a:bodyPr>
          <a:lstStyle/>
          <a:p>
            <a:pPr algn="l">
              <a:spcAft>
                <a:spcPts val="600"/>
              </a:spcAft>
            </a:pPr>
            <a:r>
              <a:rPr sz="1300" b="1" i="0">
                <a:solidFill>
                  <a:srgbClr val="7FD1C1"/>
                </a:solidFill>
                <a:latin typeface="Calibri"/>
              </a:rPr>
              <a:t>ONTOLOGY REVIEW</a:t>
            </a:r>
          </a:p>
        </p:txBody>
      </p:sp>
      <p:sp>
        <p:nvSpPr>
          <p:cNvPr id="4" name="TextBox 3"/>
          <p:cNvSpPr txBox="1"/>
          <p:nvPr/>
        </p:nvSpPr>
        <p:spPr>
          <a:xfrm>
            <a:off x="548640" y="3840480"/>
            <a:ext cx="6583680" cy="1188720"/>
          </a:xfrm>
          <a:prstGeom prst="rect">
            <a:avLst/>
          </a:prstGeom>
          <a:noFill/>
        </p:spPr>
        <p:txBody>
          <a:bodyPr wrap="square" anchor="t" lIns="0" rIns="0" tIns="0" bIns="0">
            <a:noAutofit/>
          </a:bodyPr>
          <a:lstStyle/>
          <a:p>
            <a:pPr algn="l">
              <a:spcAft>
                <a:spcPts val="600"/>
              </a:spcAft>
            </a:pPr>
            <a:r>
              <a:rPr sz="2000" b="0" i="0">
                <a:solidFill>
                  <a:srgbClr val="E3EBEE"/>
                </a:solidFill>
                <a:latin typeface="Calibri"/>
              </a:rPr>
              <a:t>A first introduction: what an ontology is, its building blocks, and how the W3C standards express them, with runnable examples on one small movie graph</a:t>
            </a:r>
          </a:p>
        </p:txBody>
      </p:sp>
      <p:sp>
        <p:nvSpPr>
          <p:cNvPr id="5" name="Rounded Rectangle 4"/>
          <p:cNvSpPr/>
          <p:nvPr/>
        </p:nvSpPr>
        <p:spPr>
          <a:xfrm>
            <a:off x="548640" y="5532120"/>
            <a:ext cx="1417320" cy="347472"/>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1200" b="1" i="0">
                <a:solidFill>
                  <a:srgbClr val="FFFFFF"/>
                </a:solidFill>
                <a:latin typeface="Calibri"/>
              </a:rPr>
              <a:t>asserted</a:t>
            </a:r>
          </a:p>
        </p:txBody>
      </p:sp>
      <p:sp>
        <p:nvSpPr>
          <p:cNvPr id="6" name="Rounded Rectangle 5"/>
          <p:cNvSpPr/>
          <p:nvPr/>
        </p:nvSpPr>
        <p:spPr>
          <a:xfrm>
            <a:off x="2103120" y="5532120"/>
            <a:ext cx="1417320" cy="347472"/>
          </a:xfrm>
          <a:prstGeom prst="roundRect">
            <a:avLst>
              <a:gd name="adj" fmla="val 50000"/>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1200" b="1" i="0">
                <a:solidFill>
                  <a:srgbClr val="17272E"/>
                </a:solidFill>
                <a:latin typeface="Calibri"/>
              </a:rPr>
              <a:t>inferred</a:t>
            </a:r>
          </a:p>
        </p:txBody>
      </p:sp>
      <p:sp>
        <p:nvSpPr>
          <p:cNvPr id="7" name="Rounded Rectangle 6"/>
          <p:cNvSpPr/>
          <p:nvPr/>
        </p:nvSpPr>
        <p:spPr>
          <a:xfrm>
            <a:off x="3657600" y="5532120"/>
            <a:ext cx="1417320" cy="347472"/>
          </a:xfrm>
          <a:prstGeom prst="roundRect">
            <a:avLst>
              <a:gd name="adj" fmla="val 50000"/>
            </a:avLst>
          </a:prstGeom>
          <a:solidFill>
            <a:srgbClr val="C24E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1200" b="1" i="0">
                <a:solidFill>
                  <a:srgbClr val="FFFFFF"/>
                </a:solidFill>
                <a:latin typeface="Calibri"/>
              </a:rPr>
              <a:t>warning</a:t>
            </a:r>
          </a:p>
        </p:txBody>
      </p:sp>
      <p:sp>
        <p:nvSpPr>
          <p:cNvPr id="8" name="TextBox 7"/>
          <p:cNvSpPr txBox="1"/>
          <p:nvPr/>
        </p:nvSpPr>
        <p:spPr>
          <a:xfrm>
            <a:off x="5212079" y="5532120"/>
            <a:ext cx="2743200" cy="347472"/>
          </a:xfrm>
          <a:prstGeom prst="rect">
            <a:avLst/>
          </a:prstGeom>
          <a:noFill/>
        </p:spPr>
        <p:txBody>
          <a:bodyPr wrap="square" anchor="ctr" lIns="0" rIns="0" tIns="0" bIns="0">
            <a:noAutofit/>
          </a:bodyPr>
          <a:lstStyle/>
          <a:p>
            <a:pPr algn="l">
              <a:spcAft>
                <a:spcPts val="600"/>
              </a:spcAft>
            </a:pPr>
            <a:r>
              <a:rPr sz="1200" b="0" i="0">
                <a:solidFill>
                  <a:srgbClr val="7FD1C1"/>
                </a:solidFill>
                <a:latin typeface="Calibri"/>
              </a:rPr>
              <a:t>colour key used throughout</a:t>
            </a:r>
          </a:p>
        </p:txBody>
      </p:sp>
      <p:cxnSp>
        <p:nvCxnSpPr>
          <p:cNvPr id="9" name="Motif edge"/>
          <p:cNvCxnSpPr/>
          <p:nvPr/>
        </p:nvCxnSpPr>
        <p:spPr>
          <a:xfrm flipV="1">
            <a:off x="8284464" y="1490472"/>
            <a:ext cx="1609344" cy="603504"/>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0" name="Motif edge"/>
          <p:cNvCxnSpPr/>
          <p:nvPr/>
        </p:nvCxnSpPr>
        <p:spPr>
          <a:xfrm>
            <a:off x="9893808" y="1490472"/>
            <a:ext cx="1408176" cy="1005840"/>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1" name="Motif edge"/>
          <p:cNvCxnSpPr/>
          <p:nvPr/>
        </p:nvCxnSpPr>
        <p:spPr>
          <a:xfrm>
            <a:off x="8284464" y="2093976"/>
            <a:ext cx="1005840" cy="1408176"/>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2" name="Motif edge"/>
          <p:cNvCxnSpPr/>
          <p:nvPr/>
        </p:nvCxnSpPr>
        <p:spPr>
          <a:xfrm flipH="1">
            <a:off x="9290304" y="1490472"/>
            <a:ext cx="603504" cy="2011680"/>
          </a:xfrm>
          <a:prstGeom prst="line">
            <a:avLst/>
          </a:prstGeom>
          <a:ln w="28575">
            <a:solidFill>
              <a:srgbClr val="E0952B"/>
            </a:solidFill>
            <a:prstDash val="dash"/>
          </a:ln>
        </p:spPr>
        <p:style>
          <a:lnRef idx="2">
            <a:schemeClr val="accent1"/>
          </a:lnRef>
          <a:fillRef idx="0">
            <a:schemeClr val="accent1"/>
          </a:fillRef>
          <a:effectRef idx="1">
            <a:schemeClr val="accent1"/>
          </a:effectRef>
          <a:fontRef idx="minor">
            <a:schemeClr val="tx1"/>
          </a:fontRef>
        </p:style>
      </p:cxnSp>
      <p:cxnSp>
        <p:nvCxnSpPr>
          <p:cNvPr id="13" name="Motif edge"/>
          <p:cNvCxnSpPr/>
          <p:nvPr/>
        </p:nvCxnSpPr>
        <p:spPr>
          <a:xfrm flipH="1">
            <a:off x="10799064" y="2496312"/>
            <a:ext cx="502920" cy="1810512"/>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4" name="Motif edge"/>
          <p:cNvCxnSpPr/>
          <p:nvPr/>
        </p:nvCxnSpPr>
        <p:spPr>
          <a:xfrm>
            <a:off x="9290304" y="3502152"/>
            <a:ext cx="1508760" cy="804672"/>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5" name="Motif edge"/>
          <p:cNvCxnSpPr/>
          <p:nvPr/>
        </p:nvCxnSpPr>
        <p:spPr>
          <a:xfrm flipH="1">
            <a:off x="8183880" y="3502152"/>
            <a:ext cx="1106424" cy="1307592"/>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6" name="Motif edge"/>
          <p:cNvCxnSpPr/>
          <p:nvPr/>
        </p:nvCxnSpPr>
        <p:spPr>
          <a:xfrm flipH="1">
            <a:off x="9994392" y="4306824"/>
            <a:ext cx="804672" cy="1106424"/>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7" name="Motif edge"/>
          <p:cNvCxnSpPr/>
          <p:nvPr/>
        </p:nvCxnSpPr>
        <p:spPr>
          <a:xfrm>
            <a:off x="8183880" y="4809744"/>
            <a:ext cx="1810512" cy="603504"/>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sp>
        <p:nvSpPr>
          <p:cNvPr id="18" name="Motif node"/>
          <p:cNvSpPr/>
          <p:nvPr/>
        </p:nvSpPr>
        <p:spPr>
          <a:xfrm>
            <a:off x="8133588" y="1943100"/>
            <a:ext cx="301752" cy="301752"/>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Motif node"/>
          <p:cNvSpPr/>
          <p:nvPr/>
        </p:nvSpPr>
        <p:spPr>
          <a:xfrm>
            <a:off x="9682581" y="1279245"/>
            <a:ext cx="422452" cy="422452"/>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otif node"/>
          <p:cNvSpPr/>
          <p:nvPr/>
        </p:nvSpPr>
        <p:spPr>
          <a:xfrm>
            <a:off x="11151108" y="2345436"/>
            <a:ext cx="301752" cy="301752"/>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Motif node"/>
          <p:cNvSpPr/>
          <p:nvPr/>
        </p:nvSpPr>
        <p:spPr>
          <a:xfrm>
            <a:off x="9079077" y="3290925"/>
            <a:ext cx="422452" cy="422452"/>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otif node"/>
          <p:cNvSpPr/>
          <p:nvPr/>
        </p:nvSpPr>
        <p:spPr>
          <a:xfrm>
            <a:off x="10587837" y="4095597"/>
            <a:ext cx="422452" cy="422452"/>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Motif node"/>
          <p:cNvSpPr/>
          <p:nvPr/>
        </p:nvSpPr>
        <p:spPr>
          <a:xfrm>
            <a:off x="8033004" y="4658868"/>
            <a:ext cx="301752" cy="301752"/>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Motif node"/>
          <p:cNvSpPr/>
          <p:nvPr/>
        </p:nvSpPr>
        <p:spPr>
          <a:xfrm>
            <a:off x="9843516" y="5262372"/>
            <a:ext cx="301752" cy="301752"/>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An ontology is a shared, formal model of a domain</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1 · WHAT IS AN ONTOLOGY</a:t>
            </a:r>
          </a:p>
        </p:txBody>
      </p:sp>
      <p:sp>
        <p:nvSpPr>
          <p:cNvPr id="4" name="Definition"/>
          <p:cNvSpPr/>
          <p:nvPr/>
        </p:nvSpPr>
        <p:spPr>
          <a:xfrm>
            <a:off x="548640" y="1600200"/>
            <a:ext cx="11094415" cy="1005840"/>
          </a:xfrm>
          <a:prstGeom prst="roundRect">
            <a:avLst>
              <a:gd name="adj" fmla="val 12727"/>
            </a:avLst>
          </a:prstGeom>
          <a:solidFill>
            <a:srgbClr val="172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320040" tIns="18288" bIns="18288">
            <a:noAutofit/>
          </a:bodyPr>
          <a:lstStyle/>
          <a:p>
            <a:pPr algn="l"/>
            <a:r>
              <a:rPr sz="2200" b="1" i="0">
                <a:solidFill>
                  <a:srgbClr val="FFFFFF"/>
                </a:solidFill>
                <a:latin typeface="Cambria"/>
              </a:rPr>
              <a:t>“An ontology is a formal, explicit specification of a shared conceptualization.”</a:t>
            </a:r>
          </a:p>
          <a:p>
            <a:pPr algn="l"/>
            <a:r>
              <a:rPr sz="1200" b="0" i="0">
                <a:solidFill>
                  <a:srgbClr val="7FD1C1"/>
                </a:solidFill>
                <a:latin typeface="Calibri"/>
              </a:rPr>
              <a:t>The most cited definition: Gruber (1993), refined by Borst (1997) and Studer et al. (1998)</a:t>
            </a:r>
          </a:p>
        </p:txBody>
      </p:sp>
      <p:sp>
        <p:nvSpPr>
          <p:cNvPr id="5" name="Card: Conceptualization"/>
          <p:cNvSpPr/>
          <p:nvPr/>
        </p:nvSpPr>
        <p:spPr>
          <a:xfrm>
            <a:off x="548640" y="2834640"/>
            <a:ext cx="2567863" cy="2103120"/>
          </a:xfrm>
          <a:prstGeom prst="roundRect">
            <a:avLst>
              <a:gd name="adj" fmla="val 6086"/>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3099816"/>
            <a:ext cx="2110663" cy="411480"/>
          </a:xfrm>
          <a:prstGeom prst="rect">
            <a:avLst/>
          </a:prstGeom>
          <a:noFill/>
        </p:spPr>
        <p:txBody>
          <a:bodyPr wrap="square" anchor="t" lIns="0" rIns="0" tIns="0" bIns="0">
            <a:noAutofit/>
          </a:bodyPr>
          <a:lstStyle/>
          <a:p>
            <a:pPr algn="l">
              <a:spcAft>
                <a:spcPts val="600"/>
              </a:spcAft>
            </a:pPr>
            <a:r>
              <a:rPr sz="1700" b="1" i="0">
                <a:solidFill>
                  <a:srgbClr val="17272E"/>
                </a:solidFill>
                <a:latin typeface="Calibri"/>
              </a:rPr>
              <a:t>Conceptualization</a:t>
            </a:r>
          </a:p>
        </p:txBody>
      </p:sp>
      <p:sp>
        <p:nvSpPr>
          <p:cNvPr id="7" name="TextBox 6"/>
          <p:cNvSpPr txBox="1"/>
          <p:nvPr/>
        </p:nvSpPr>
        <p:spPr>
          <a:xfrm>
            <a:off x="777240" y="3520440"/>
            <a:ext cx="2110663" cy="1280160"/>
          </a:xfrm>
          <a:prstGeom prst="rect">
            <a:avLst/>
          </a:prstGeom>
          <a:noFill/>
        </p:spPr>
        <p:txBody>
          <a:bodyPr wrap="square" anchor="t" lIns="0" rIns="0" tIns="0" bIns="0">
            <a:noAutofit/>
          </a:bodyPr>
          <a:lstStyle/>
          <a:p>
            <a:pPr algn="l">
              <a:spcAft>
                <a:spcPts val="500"/>
              </a:spcAft>
            </a:pPr>
            <a:r>
              <a:rPr sz="1300" b="0" i="0">
                <a:solidFill>
                  <a:srgbClr val="17272E"/>
                </a:solidFill>
                <a:latin typeface="Calibri"/>
              </a:rPr>
              <a:t>An abstract model of a domain: which kinds of things exist in it and how they relate.</a:t>
            </a:r>
          </a:p>
          <a:p>
            <a:pPr algn="l">
              <a:spcAft>
                <a:spcPts val="500"/>
              </a:spcAft>
            </a:pPr>
            <a:r>
              <a:rPr sz="1300" b="0" i="1">
                <a:solidFill>
                  <a:srgbClr val="5B6B70"/>
                </a:solidFill>
                <a:latin typeface="Calibri"/>
              </a:rPr>
              <a:t>e.g. movies, people, and who starred in or directed what</a:t>
            </a:r>
          </a:p>
        </p:txBody>
      </p:sp>
      <p:sp>
        <p:nvSpPr>
          <p:cNvPr id="8" name="Card: Explicit"/>
          <p:cNvSpPr/>
          <p:nvPr/>
        </p:nvSpPr>
        <p:spPr>
          <a:xfrm>
            <a:off x="3390823" y="2834640"/>
            <a:ext cx="2567863" cy="2103120"/>
          </a:xfrm>
          <a:prstGeom prst="roundRect">
            <a:avLst>
              <a:gd name="adj" fmla="val 6086"/>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619423" y="3099816"/>
            <a:ext cx="2110663" cy="411480"/>
          </a:xfrm>
          <a:prstGeom prst="rect">
            <a:avLst/>
          </a:prstGeom>
          <a:noFill/>
        </p:spPr>
        <p:txBody>
          <a:bodyPr wrap="square" anchor="t" lIns="0" rIns="0" tIns="0" bIns="0">
            <a:noAutofit/>
          </a:bodyPr>
          <a:lstStyle/>
          <a:p>
            <a:pPr algn="l">
              <a:spcAft>
                <a:spcPts val="600"/>
              </a:spcAft>
            </a:pPr>
            <a:r>
              <a:rPr sz="1700" b="1" i="0">
                <a:solidFill>
                  <a:srgbClr val="17272E"/>
                </a:solidFill>
                <a:latin typeface="Calibri"/>
              </a:rPr>
              <a:t>Explicit</a:t>
            </a:r>
          </a:p>
        </p:txBody>
      </p:sp>
      <p:sp>
        <p:nvSpPr>
          <p:cNvPr id="10" name="TextBox 9"/>
          <p:cNvSpPr txBox="1"/>
          <p:nvPr/>
        </p:nvSpPr>
        <p:spPr>
          <a:xfrm>
            <a:off x="3619423" y="3520440"/>
            <a:ext cx="2110663" cy="1280160"/>
          </a:xfrm>
          <a:prstGeom prst="rect">
            <a:avLst/>
          </a:prstGeom>
          <a:noFill/>
        </p:spPr>
        <p:txBody>
          <a:bodyPr wrap="square" anchor="t" lIns="0" rIns="0" tIns="0" bIns="0">
            <a:noAutofit/>
          </a:bodyPr>
          <a:lstStyle/>
          <a:p>
            <a:pPr algn="l">
              <a:spcAft>
                <a:spcPts val="500"/>
              </a:spcAft>
            </a:pPr>
            <a:r>
              <a:rPr sz="1300" b="0" i="0">
                <a:solidFill>
                  <a:srgbClr val="17272E"/>
                </a:solidFill>
                <a:latin typeface="Calibri"/>
              </a:rPr>
              <a:t>The concepts and the rules between them are written down, not left in people's heads.</a:t>
            </a:r>
          </a:p>
          <a:p>
            <a:pPr algn="l">
              <a:spcAft>
                <a:spcPts val="500"/>
              </a:spcAft>
            </a:pPr>
            <a:r>
              <a:rPr sz="1300" b="0" i="1">
                <a:solidFill>
                  <a:srgbClr val="5B6B70"/>
                </a:solidFill>
                <a:latin typeface="Calibri"/>
              </a:rPr>
              <a:t>e.g. “every actor is a person” is stated, not assumed</a:t>
            </a:r>
          </a:p>
        </p:txBody>
      </p:sp>
      <p:sp>
        <p:nvSpPr>
          <p:cNvPr id="11" name="Card: Formal"/>
          <p:cNvSpPr/>
          <p:nvPr/>
        </p:nvSpPr>
        <p:spPr>
          <a:xfrm>
            <a:off x="6233007" y="2834640"/>
            <a:ext cx="2567863" cy="2103120"/>
          </a:xfrm>
          <a:prstGeom prst="roundRect">
            <a:avLst>
              <a:gd name="adj" fmla="val 6086"/>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61607" y="3099816"/>
            <a:ext cx="2110663" cy="411480"/>
          </a:xfrm>
          <a:prstGeom prst="rect">
            <a:avLst/>
          </a:prstGeom>
          <a:noFill/>
        </p:spPr>
        <p:txBody>
          <a:bodyPr wrap="square" anchor="t" lIns="0" rIns="0" tIns="0" bIns="0">
            <a:noAutofit/>
          </a:bodyPr>
          <a:lstStyle/>
          <a:p>
            <a:pPr algn="l">
              <a:spcAft>
                <a:spcPts val="600"/>
              </a:spcAft>
            </a:pPr>
            <a:r>
              <a:rPr sz="1700" b="1" i="0">
                <a:solidFill>
                  <a:srgbClr val="17272E"/>
                </a:solidFill>
                <a:latin typeface="Calibri"/>
              </a:rPr>
              <a:t>Formal</a:t>
            </a:r>
          </a:p>
        </p:txBody>
      </p:sp>
      <p:sp>
        <p:nvSpPr>
          <p:cNvPr id="13" name="TextBox 12"/>
          <p:cNvSpPr txBox="1"/>
          <p:nvPr/>
        </p:nvSpPr>
        <p:spPr>
          <a:xfrm>
            <a:off x="6461607" y="3520440"/>
            <a:ext cx="2110663" cy="1280160"/>
          </a:xfrm>
          <a:prstGeom prst="rect">
            <a:avLst/>
          </a:prstGeom>
          <a:noFill/>
        </p:spPr>
        <p:txBody>
          <a:bodyPr wrap="square" anchor="t" lIns="0" rIns="0" tIns="0" bIns="0">
            <a:noAutofit/>
          </a:bodyPr>
          <a:lstStyle/>
          <a:p>
            <a:pPr algn="l">
              <a:spcAft>
                <a:spcPts val="500"/>
              </a:spcAft>
            </a:pPr>
            <a:r>
              <a:rPr sz="1300" b="0" i="0">
                <a:solidFill>
                  <a:srgbClr val="17272E"/>
                </a:solidFill>
                <a:latin typeface="Calibri"/>
              </a:rPr>
              <a:t>Written in a language with precise meaning, so software can read it and draw conclusions.</a:t>
            </a:r>
          </a:p>
          <a:p>
            <a:pPr algn="l">
              <a:spcAft>
                <a:spcPts val="500"/>
              </a:spcAft>
            </a:pPr>
            <a:r>
              <a:rPr sz="1300" b="0" i="1">
                <a:solidFill>
                  <a:srgbClr val="5B6B70"/>
                </a:solidFill>
                <a:latin typeface="Calibri"/>
              </a:rPr>
              <a:t>e.g. RDF, RDFS and OWL, the W3C standards in this deck</a:t>
            </a:r>
          </a:p>
        </p:txBody>
      </p:sp>
      <p:sp>
        <p:nvSpPr>
          <p:cNvPr id="14" name="Card: Shared"/>
          <p:cNvSpPr/>
          <p:nvPr/>
        </p:nvSpPr>
        <p:spPr>
          <a:xfrm>
            <a:off x="9075191" y="2834640"/>
            <a:ext cx="2567863" cy="2103120"/>
          </a:xfrm>
          <a:prstGeom prst="roundRect">
            <a:avLst>
              <a:gd name="adj" fmla="val 6086"/>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03791" y="3099816"/>
            <a:ext cx="2110663" cy="411480"/>
          </a:xfrm>
          <a:prstGeom prst="rect">
            <a:avLst/>
          </a:prstGeom>
          <a:noFill/>
        </p:spPr>
        <p:txBody>
          <a:bodyPr wrap="square" anchor="t" lIns="0" rIns="0" tIns="0" bIns="0">
            <a:noAutofit/>
          </a:bodyPr>
          <a:lstStyle/>
          <a:p>
            <a:pPr algn="l">
              <a:spcAft>
                <a:spcPts val="600"/>
              </a:spcAft>
            </a:pPr>
            <a:r>
              <a:rPr sz="1700" b="1" i="0">
                <a:solidFill>
                  <a:srgbClr val="17272E"/>
                </a:solidFill>
                <a:latin typeface="Calibri"/>
              </a:rPr>
              <a:t>Shared</a:t>
            </a:r>
          </a:p>
        </p:txBody>
      </p:sp>
      <p:sp>
        <p:nvSpPr>
          <p:cNvPr id="16" name="TextBox 15"/>
          <p:cNvSpPr txBox="1"/>
          <p:nvPr/>
        </p:nvSpPr>
        <p:spPr>
          <a:xfrm>
            <a:off x="9303791" y="3520440"/>
            <a:ext cx="2110663" cy="1280160"/>
          </a:xfrm>
          <a:prstGeom prst="rect">
            <a:avLst/>
          </a:prstGeom>
          <a:noFill/>
        </p:spPr>
        <p:txBody>
          <a:bodyPr wrap="square" anchor="t" lIns="0" rIns="0" tIns="0" bIns="0">
            <a:noAutofit/>
          </a:bodyPr>
          <a:lstStyle/>
          <a:p>
            <a:pPr algn="l">
              <a:spcAft>
                <a:spcPts val="500"/>
              </a:spcAft>
            </a:pPr>
            <a:r>
              <a:rPr sz="1300" b="0" i="0">
                <a:solidFill>
                  <a:srgbClr val="17272E"/>
                </a:solidFill>
                <a:latin typeface="Calibri"/>
              </a:rPr>
              <a:t>Agreed by a community, so data from different people and systems is read the same way.</a:t>
            </a:r>
          </a:p>
          <a:p>
            <a:pPr algn="l">
              <a:spcAft>
                <a:spcPts val="500"/>
              </a:spcAft>
            </a:pPr>
            <a:r>
              <a:rPr sz="1300" b="0" i="1">
                <a:solidFill>
                  <a:srgbClr val="5B6B70"/>
                </a:solidFill>
                <a:latin typeface="Calibri"/>
              </a:rPr>
              <a:t>e.g. a studio and a fan wiki map onto one model</a:t>
            </a:r>
          </a:p>
        </p:txBody>
      </p:sp>
      <p:sp>
        <p:nvSpPr>
          <p:cNvPr id="17" name="Plain words"/>
          <p:cNvSpPr/>
          <p:nvPr/>
        </p:nvSpPr>
        <p:spPr>
          <a:xfrm>
            <a:off x="548640" y="5166360"/>
            <a:ext cx="11094415" cy="960120"/>
          </a:xfrm>
          <a:prstGeom prst="roundRect">
            <a:avLst>
              <a:gd name="adj" fmla="val 11428"/>
            </a:avLst>
          </a:prstGeom>
          <a:solidFill>
            <a:srgbClr val="FCF1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 bIns="18288">
            <a:noAutofit/>
          </a:bodyPr>
          <a:lstStyle/>
          <a:p>
            <a:pPr algn="l"/>
            <a:r>
              <a:rPr sz="1500" b="1" i="0">
                <a:solidFill>
                  <a:srgbClr val="17272E"/>
                </a:solidFill>
                <a:latin typeface="Calibri"/>
              </a:rPr>
              <a:t>In plain words: </a:t>
            </a:r>
            <a:r>
              <a:rPr sz="1500" b="0" i="0">
                <a:solidFill>
                  <a:srgbClr val="17272E"/>
                </a:solidFill>
                <a:latin typeface="Calibri"/>
              </a:rPr>
              <a:t>an ontology names the kinds of things in a domain, the relationships between them and the rules they follow, so that people and machines interpret the same data the same way. Data says what is true of particular things; the ontology says what the words in that data mean.</a:t>
            </a:r>
          </a:p>
        </p:txBody>
      </p:sp>
      <p:sp>
        <p:nvSpPr>
          <p:cNvPr id="18"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19"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The four building blocks of every ontology</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1 · WHAT IS AN ONTOLOGY</a:t>
            </a:r>
          </a:p>
        </p:txBody>
      </p:sp>
      <p:sp>
        <p:nvSpPr>
          <p:cNvPr id="4" name="Model band"/>
          <p:cNvSpPr/>
          <p:nvPr/>
        </p:nvSpPr>
        <p:spPr>
          <a:xfrm>
            <a:off x="548640" y="1600200"/>
            <a:ext cx="6080760" cy="1920240"/>
          </a:xfrm>
          <a:prstGeom prst="roundRect">
            <a:avLst>
              <a:gd name="adj" fmla="val 5714"/>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691640"/>
            <a:ext cx="3657600"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MODEL  ·  also called the schema or TBox</a:t>
            </a:r>
          </a:p>
        </p:txBody>
      </p:sp>
      <p:sp>
        <p:nvSpPr>
          <p:cNvPr id="6" name="TextBox 5"/>
          <p:cNvSpPr txBox="1"/>
          <p:nvPr/>
        </p:nvSpPr>
        <p:spPr>
          <a:xfrm>
            <a:off x="777240" y="1965960"/>
            <a:ext cx="5623560" cy="457200"/>
          </a:xfrm>
          <a:prstGeom prst="rect">
            <a:avLst/>
          </a:prstGeom>
          <a:noFill/>
        </p:spPr>
        <p:txBody>
          <a:bodyPr wrap="square" anchor="t" lIns="0" rIns="0" tIns="0" bIns="0">
            <a:noAutofit/>
          </a:bodyPr>
          <a:lstStyle/>
          <a:p>
            <a:pPr algn="l">
              <a:spcAft>
                <a:spcPts val="600"/>
              </a:spcAft>
            </a:pPr>
            <a:r>
              <a:rPr sz="1200" b="0" i="0">
                <a:solidFill>
                  <a:srgbClr val="5B6B70"/>
                </a:solidFill>
                <a:latin typeface="Calibri"/>
              </a:rPr>
              <a:t>Axioms here: every :Actor is a :Person; a movie stars actors.</a:t>
            </a:r>
          </a:p>
        </p:txBody>
      </p:sp>
      <p:sp>
        <p:nvSpPr>
          <p:cNvPr id="7" name="Data band"/>
          <p:cNvSpPr/>
          <p:nvPr/>
        </p:nvSpPr>
        <p:spPr>
          <a:xfrm>
            <a:off x="548640" y="3840480"/>
            <a:ext cx="6080760" cy="1920240"/>
          </a:xfrm>
          <a:prstGeom prst="roundRect">
            <a:avLst>
              <a:gd name="adj" fmla="val 5714"/>
            </a:avLst>
          </a:prstGeom>
          <a:no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743200" y="5440680"/>
            <a:ext cx="3657600" cy="274320"/>
          </a:xfrm>
          <a:prstGeom prst="rect">
            <a:avLst/>
          </a:prstGeom>
          <a:noFill/>
        </p:spPr>
        <p:txBody>
          <a:bodyPr wrap="square" anchor="t" lIns="0" rIns="0" tIns="0" bIns="0">
            <a:noAutofit/>
          </a:bodyPr>
          <a:lstStyle/>
          <a:p>
            <a:pPr algn="r">
              <a:spcAft>
                <a:spcPts val="600"/>
              </a:spcAft>
            </a:pPr>
            <a:r>
              <a:rPr sz="1100" b="1" i="0">
                <a:solidFill>
                  <a:srgbClr val="1F7A6D"/>
                </a:solidFill>
                <a:latin typeface="Calibri"/>
              </a:rPr>
              <a:t>DATA  ·  also called instances or the ABox</a:t>
            </a:r>
          </a:p>
        </p:txBody>
      </p:sp>
      <p:cxnSp>
        <p:nvCxnSpPr>
          <p:cNvPr id="9" name="Edge: :starring"/>
          <p:cNvCxnSpPr/>
          <p:nvPr/>
        </p:nvCxnSpPr>
        <p:spPr>
          <a:xfrm>
            <a:off x="2148840" y="2926080"/>
            <a:ext cx="1120140" cy="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203704" y="2779776"/>
            <a:ext cx="1010412"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100" b="1" i="0">
                <a:solidFill>
                  <a:srgbClr val="1F7A6D"/>
                </a:solidFill>
                <a:latin typeface="Consolas"/>
              </a:rPr>
              <a:t>:starring</a:t>
            </a:r>
          </a:p>
        </p:txBody>
      </p:sp>
      <p:cxnSp>
        <p:nvCxnSpPr>
          <p:cNvPr id="11" name="Edge: subClassOf"/>
          <p:cNvCxnSpPr/>
          <p:nvPr/>
        </p:nvCxnSpPr>
        <p:spPr>
          <a:xfrm>
            <a:off x="4320540" y="2926080"/>
            <a:ext cx="1120140" cy="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331970" y="2779776"/>
            <a:ext cx="1097280"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100" b="1" i="0">
                <a:solidFill>
                  <a:srgbClr val="1F7A6D"/>
                </a:solidFill>
                <a:latin typeface="Consolas"/>
              </a:rPr>
              <a:t>subClassOf</a:t>
            </a:r>
          </a:p>
        </p:txBody>
      </p:sp>
      <p:cxnSp>
        <p:nvCxnSpPr>
          <p:cNvPr id="13" name="Edge: :starring"/>
          <p:cNvCxnSpPr/>
          <p:nvPr/>
        </p:nvCxnSpPr>
        <p:spPr>
          <a:xfrm>
            <a:off x="2103120" y="4526280"/>
            <a:ext cx="914400" cy="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055113" y="4379976"/>
            <a:ext cx="1010412"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100" b="1" i="0">
                <a:solidFill>
                  <a:srgbClr val="1F7A6D"/>
                </a:solidFill>
                <a:latin typeface="Consolas"/>
              </a:rPr>
              <a:t>:starring</a:t>
            </a:r>
          </a:p>
        </p:txBody>
      </p:sp>
      <p:cxnSp>
        <p:nvCxnSpPr>
          <p:cNvPr id="15" name="Edge: rdf:type"/>
          <p:cNvCxnSpPr/>
          <p:nvPr/>
        </p:nvCxnSpPr>
        <p:spPr>
          <a:xfrm flipV="1">
            <a:off x="1600200" y="3154680"/>
            <a:ext cx="0" cy="114300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138428" y="3625596"/>
            <a:ext cx="923544"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100" b="1" i="0">
                <a:solidFill>
                  <a:srgbClr val="1F7A6D"/>
                </a:solidFill>
                <a:latin typeface="Consolas"/>
              </a:rPr>
              <a:t>rdf:type</a:t>
            </a:r>
          </a:p>
        </p:txBody>
      </p:sp>
      <p:cxnSp>
        <p:nvCxnSpPr>
          <p:cNvPr id="17" name="Edge: rdf:type"/>
          <p:cNvCxnSpPr/>
          <p:nvPr/>
        </p:nvCxnSpPr>
        <p:spPr>
          <a:xfrm flipV="1">
            <a:off x="3794760" y="3154680"/>
            <a:ext cx="0" cy="1143000"/>
          </a:xfrm>
          <a:prstGeom prst="line">
            <a:avLst/>
          </a:prstGeom>
          <a:ln w="25400">
            <a:solidFill>
              <a:srgbClr val="E0952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332988" y="3625596"/>
            <a:ext cx="923544"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100" b="1" i="0">
                <a:solidFill>
                  <a:srgbClr val="E0952B"/>
                </a:solidFill>
                <a:latin typeface="Consolas"/>
              </a:rPr>
              <a:t>rdf:type</a:t>
            </a:r>
          </a:p>
        </p:txBody>
      </p:sp>
      <p:cxnSp>
        <p:nvCxnSpPr>
          <p:cNvPr id="19" name="Edge: :releaseYear"/>
          <p:cNvCxnSpPr/>
          <p:nvPr/>
        </p:nvCxnSpPr>
        <p:spPr>
          <a:xfrm>
            <a:off x="1600200" y="4754880"/>
            <a:ext cx="0" cy="411479"/>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650492" y="4814316"/>
            <a:ext cx="1271016"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100" b="1" i="0">
                <a:solidFill>
                  <a:srgbClr val="1F7A6D"/>
                </a:solidFill>
                <a:latin typeface="Consolas"/>
              </a:rPr>
              <a:t>:releaseYear</a:t>
            </a:r>
          </a:p>
        </p:txBody>
      </p:sp>
      <p:sp>
        <p:nvSpPr>
          <p:cNvPr id="21" name="Node: :Movie"/>
          <p:cNvSpPr/>
          <p:nvPr/>
        </p:nvSpPr>
        <p:spPr>
          <a:xfrm>
            <a:off x="1051560" y="2697480"/>
            <a:ext cx="1097280" cy="457200"/>
          </a:xfrm>
          <a:prstGeom prst="roundRect">
            <a:avLst>
              <a:gd name="adj" fmla="val 50000"/>
            </a:avLst>
          </a:prstGeom>
          <a:solidFill>
            <a:srgbClr val="172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:Movie</a:t>
            </a:r>
          </a:p>
        </p:txBody>
      </p:sp>
      <p:sp>
        <p:nvSpPr>
          <p:cNvPr id="22" name="Node: :Actor"/>
          <p:cNvSpPr/>
          <p:nvPr/>
        </p:nvSpPr>
        <p:spPr>
          <a:xfrm>
            <a:off x="3268980" y="2697480"/>
            <a:ext cx="1051560" cy="457200"/>
          </a:xfrm>
          <a:prstGeom prst="roundRect">
            <a:avLst>
              <a:gd name="adj" fmla="val 50000"/>
            </a:avLst>
          </a:prstGeom>
          <a:solidFill>
            <a:srgbClr val="172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:Actor</a:t>
            </a:r>
          </a:p>
        </p:txBody>
      </p:sp>
      <p:sp>
        <p:nvSpPr>
          <p:cNvPr id="23" name="Node: :Person"/>
          <p:cNvSpPr/>
          <p:nvPr/>
        </p:nvSpPr>
        <p:spPr>
          <a:xfrm>
            <a:off x="5440680" y="2697480"/>
            <a:ext cx="1097280" cy="457200"/>
          </a:xfrm>
          <a:prstGeom prst="roundRect">
            <a:avLst>
              <a:gd name="adj" fmla="val 50000"/>
            </a:avLst>
          </a:prstGeom>
          <a:solidFill>
            <a:srgbClr val="172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:Person</a:t>
            </a:r>
          </a:p>
        </p:txBody>
      </p:sp>
      <p:sp>
        <p:nvSpPr>
          <p:cNvPr id="24" name="Node: :Giant"/>
          <p:cNvSpPr/>
          <p:nvPr/>
        </p:nvSpPr>
        <p:spPr>
          <a:xfrm>
            <a:off x="1097280" y="4297680"/>
            <a:ext cx="100584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:Giant</a:t>
            </a:r>
          </a:p>
        </p:txBody>
      </p:sp>
      <p:sp>
        <p:nvSpPr>
          <p:cNvPr id="25" name="Node: :JamesDean"/>
          <p:cNvSpPr/>
          <p:nvPr/>
        </p:nvSpPr>
        <p:spPr>
          <a:xfrm>
            <a:off x="3017520" y="4297680"/>
            <a:ext cx="155448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:JamesDean</a:t>
            </a:r>
          </a:p>
        </p:txBody>
      </p:sp>
      <p:sp>
        <p:nvSpPr>
          <p:cNvPr id="26" name="Node: 1956"/>
          <p:cNvSpPr/>
          <p:nvPr/>
        </p:nvSpPr>
        <p:spPr>
          <a:xfrm>
            <a:off x="1234440" y="5166359"/>
            <a:ext cx="731520" cy="365760"/>
          </a:xfrm>
          <a:prstGeom prst="rect">
            <a:avLst/>
          </a:prstGeom>
          <a:solidFill>
            <a:srgbClr val="FFFFFF"/>
          </a:solidFill>
          <a:ln w="19050">
            <a:solidFill>
              <a:srgbClr val="1F7A6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0" i="0">
                <a:solidFill>
                  <a:srgbClr val="17272E"/>
                </a:solidFill>
                <a:latin typeface="Calibri"/>
              </a:rPr>
              <a:t>1956</a:t>
            </a:r>
          </a:p>
        </p:txBody>
      </p:sp>
      <p:sp>
        <p:nvSpPr>
          <p:cNvPr id="27" name="Oval 26"/>
          <p:cNvSpPr/>
          <p:nvPr/>
        </p:nvSpPr>
        <p:spPr>
          <a:xfrm>
            <a:off x="667512" y="2770632"/>
            <a:ext cx="310896" cy="310896"/>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200" b="1" i="0">
                <a:solidFill>
                  <a:srgbClr val="17272E"/>
                </a:solidFill>
                <a:latin typeface="Calibri"/>
              </a:rPr>
              <a:t>1</a:t>
            </a:r>
          </a:p>
        </p:txBody>
      </p:sp>
      <p:sp>
        <p:nvSpPr>
          <p:cNvPr id="28" name="Oval 27"/>
          <p:cNvSpPr/>
          <p:nvPr/>
        </p:nvSpPr>
        <p:spPr>
          <a:xfrm>
            <a:off x="667512" y="4370832"/>
            <a:ext cx="310896" cy="310896"/>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200" b="1" i="0">
                <a:solidFill>
                  <a:srgbClr val="17272E"/>
                </a:solidFill>
                <a:latin typeface="Calibri"/>
              </a:rPr>
              <a:t>2</a:t>
            </a:r>
          </a:p>
        </p:txBody>
      </p:sp>
      <p:sp>
        <p:nvSpPr>
          <p:cNvPr id="29" name="Oval 28"/>
          <p:cNvSpPr/>
          <p:nvPr/>
        </p:nvSpPr>
        <p:spPr>
          <a:xfrm>
            <a:off x="2542032" y="4032504"/>
            <a:ext cx="310896" cy="310896"/>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200" b="1" i="0">
                <a:solidFill>
                  <a:srgbClr val="17272E"/>
                </a:solidFill>
                <a:latin typeface="Calibri"/>
              </a:rPr>
              <a:t>3</a:t>
            </a:r>
          </a:p>
        </p:txBody>
      </p:sp>
      <p:sp>
        <p:nvSpPr>
          <p:cNvPr id="30" name="Oval 29"/>
          <p:cNvSpPr/>
          <p:nvPr/>
        </p:nvSpPr>
        <p:spPr>
          <a:xfrm>
            <a:off x="4782312" y="2423160"/>
            <a:ext cx="310896" cy="310896"/>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200" b="1" i="0">
                <a:solidFill>
                  <a:srgbClr val="17272E"/>
                </a:solidFill>
                <a:latin typeface="Calibri"/>
              </a:rPr>
              <a:t>4</a:t>
            </a:r>
          </a:p>
        </p:txBody>
      </p:sp>
      <p:sp>
        <p:nvSpPr>
          <p:cNvPr id="31" name="TextBox 30"/>
          <p:cNvSpPr txBox="1"/>
          <p:nvPr/>
        </p:nvSpPr>
        <p:spPr>
          <a:xfrm>
            <a:off x="4709160" y="4343400"/>
            <a:ext cx="1828800" cy="457200"/>
          </a:xfrm>
          <a:prstGeom prst="rect">
            <a:avLst/>
          </a:prstGeom>
          <a:noFill/>
        </p:spPr>
        <p:txBody>
          <a:bodyPr wrap="square" anchor="t" lIns="0" rIns="0" tIns="0" bIns="0">
            <a:noAutofit/>
          </a:bodyPr>
          <a:lstStyle/>
          <a:p>
            <a:pPr algn="l">
              <a:spcAft>
                <a:spcPts val="600"/>
              </a:spcAft>
            </a:pPr>
            <a:r>
              <a:rPr sz="1100" b="0" i="1">
                <a:solidFill>
                  <a:srgbClr val="E0952B"/>
                </a:solidFill>
                <a:latin typeface="Calibri"/>
              </a:rPr>
              <a:t>dashed amber = inferred, not typed in</a:t>
            </a:r>
          </a:p>
        </p:txBody>
      </p:sp>
      <p:sp>
        <p:nvSpPr>
          <p:cNvPr id="32" name="Oval 31"/>
          <p:cNvSpPr/>
          <p:nvPr/>
        </p:nvSpPr>
        <p:spPr>
          <a:xfrm>
            <a:off x="7004304" y="1591056"/>
            <a:ext cx="384048" cy="384048"/>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1</a:t>
            </a:r>
          </a:p>
        </p:txBody>
      </p:sp>
      <p:sp>
        <p:nvSpPr>
          <p:cNvPr id="33" name="TextBox 32"/>
          <p:cNvSpPr txBox="1"/>
          <p:nvPr/>
        </p:nvSpPr>
        <p:spPr>
          <a:xfrm>
            <a:off x="7543800" y="1600200"/>
            <a:ext cx="4099255" cy="1005840"/>
          </a:xfrm>
          <a:prstGeom prst="rect">
            <a:avLst/>
          </a:prstGeom>
          <a:noFill/>
        </p:spPr>
        <p:txBody>
          <a:bodyPr wrap="square" anchor="t" lIns="0" rIns="0" tIns="0" bIns="0">
            <a:noAutofit/>
          </a:bodyPr>
          <a:lstStyle/>
          <a:p>
            <a:pPr algn="l">
              <a:spcAft>
                <a:spcPts val="300"/>
              </a:spcAft>
            </a:pPr>
            <a:r>
              <a:rPr sz="1600" b="1" i="0">
                <a:solidFill>
                  <a:srgbClr val="17272E"/>
                </a:solidFill>
                <a:latin typeface="Calibri"/>
              </a:rPr>
              <a:t>Classes</a:t>
            </a:r>
          </a:p>
          <a:p>
            <a:pPr algn="l">
              <a:spcAft>
                <a:spcPts val="300"/>
              </a:spcAft>
            </a:pPr>
            <a:r>
              <a:rPr sz="1300" b="0" i="0">
                <a:solidFill>
                  <a:srgbClr val="17272E"/>
                </a:solidFill>
                <a:latin typeface="Calibri"/>
              </a:rPr>
              <a:t>Kinds of things, treated as sets of members: :Movie, :Person, :Actor. Classes form hierarchies: every :Actor is also a :Person.</a:t>
            </a:r>
          </a:p>
        </p:txBody>
      </p:sp>
      <p:sp>
        <p:nvSpPr>
          <p:cNvPr id="34" name="Oval 33"/>
          <p:cNvSpPr/>
          <p:nvPr/>
        </p:nvSpPr>
        <p:spPr>
          <a:xfrm>
            <a:off x="7004304" y="2642616"/>
            <a:ext cx="384048" cy="384048"/>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2</a:t>
            </a:r>
          </a:p>
        </p:txBody>
      </p:sp>
      <p:sp>
        <p:nvSpPr>
          <p:cNvPr id="35" name="TextBox 34"/>
          <p:cNvSpPr txBox="1"/>
          <p:nvPr/>
        </p:nvSpPr>
        <p:spPr>
          <a:xfrm>
            <a:off x="7543800" y="2651760"/>
            <a:ext cx="4099255" cy="1005840"/>
          </a:xfrm>
          <a:prstGeom prst="rect">
            <a:avLst/>
          </a:prstGeom>
          <a:noFill/>
        </p:spPr>
        <p:txBody>
          <a:bodyPr wrap="square" anchor="t" lIns="0" rIns="0" tIns="0" bIns="0">
            <a:noAutofit/>
          </a:bodyPr>
          <a:lstStyle/>
          <a:p>
            <a:pPr algn="l">
              <a:spcAft>
                <a:spcPts val="300"/>
              </a:spcAft>
            </a:pPr>
            <a:r>
              <a:rPr sz="1600" b="1" i="0">
                <a:solidFill>
                  <a:srgbClr val="17272E"/>
                </a:solidFill>
                <a:latin typeface="Calibri"/>
              </a:rPr>
              <a:t>Individuals</a:t>
            </a:r>
          </a:p>
          <a:p>
            <a:pPr algn="l">
              <a:spcAft>
                <a:spcPts val="300"/>
              </a:spcAft>
            </a:pPr>
            <a:r>
              <a:rPr sz="1300" b="0" i="0">
                <a:solidFill>
                  <a:srgbClr val="17272E"/>
                </a:solidFill>
                <a:latin typeface="Calibri"/>
              </a:rPr>
              <a:t>The particular things, also called instances: the film :Giant, the actor :JamesDean. rdf:type says which classes an individual belongs to.</a:t>
            </a:r>
          </a:p>
        </p:txBody>
      </p:sp>
      <p:sp>
        <p:nvSpPr>
          <p:cNvPr id="36" name="Oval 35"/>
          <p:cNvSpPr/>
          <p:nvPr/>
        </p:nvSpPr>
        <p:spPr>
          <a:xfrm>
            <a:off x="7004304" y="3694176"/>
            <a:ext cx="384048" cy="384048"/>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3</a:t>
            </a:r>
          </a:p>
        </p:txBody>
      </p:sp>
      <p:sp>
        <p:nvSpPr>
          <p:cNvPr id="37" name="TextBox 36"/>
          <p:cNvSpPr txBox="1"/>
          <p:nvPr/>
        </p:nvSpPr>
        <p:spPr>
          <a:xfrm>
            <a:off x="7543800" y="3703320"/>
            <a:ext cx="4099255" cy="1005840"/>
          </a:xfrm>
          <a:prstGeom prst="rect">
            <a:avLst/>
          </a:prstGeom>
          <a:noFill/>
        </p:spPr>
        <p:txBody>
          <a:bodyPr wrap="square" anchor="t" lIns="0" rIns="0" tIns="0" bIns="0">
            <a:noAutofit/>
          </a:bodyPr>
          <a:lstStyle/>
          <a:p>
            <a:pPr algn="l">
              <a:spcAft>
                <a:spcPts val="300"/>
              </a:spcAft>
            </a:pPr>
            <a:r>
              <a:rPr sz="1600" b="1" i="0">
                <a:solidFill>
                  <a:srgbClr val="17272E"/>
                </a:solidFill>
                <a:latin typeface="Calibri"/>
              </a:rPr>
              <a:t>Properties</a:t>
            </a:r>
          </a:p>
          <a:p>
            <a:pPr algn="l">
              <a:spcAft>
                <a:spcPts val="300"/>
              </a:spcAft>
            </a:pPr>
            <a:r>
              <a:rPr sz="1300" b="0" i="0">
                <a:solidFill>
                  <a:srgbClr val="17272E"/>
                </a:solidFill>
                <a:latin typeface="Calibri"/>
              </a:rPr>
              <a:t>Relationships between individuals (:Giant :starring :JamesDean) and attributes with plain values (:releaseYear 1956). A property is not owned by one class.</a:t>
            </a:r>
          </a:p>
        </p:txBody>
      </p:sp>
      <p:sp>
        <p:nvSpPr>
          <p:cNvPr id="38" name="Oval 37"/>
          <p:cNvSpPr/>
          <p:nvPr/>
        </p:nvSpPr>
        <p:spPr>
          <a:xfrm>
            <a:off x="7004304" y="4745736"/>
            <a:ext cx="384048" cy="384048"/>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4</a:t>
            </a:r>
          </a:p>
        </p:txBody>
      </p:sp>
      <p:sp>
        <p:nvSpPr>
          <p:cNvPr id="39" name="TextBox 38"/>
          <p:cNvSpPr txBox="1"/>
          <p:nvPr/>
        </p:nvSpPr>
        <p:spPr>
          <a:xfrm>
            <a:off x="7543800" y="4754879"/>
            <a:ext cx="4099255" cy="1005840"/>
          </a:xfrm>
          <a:prstGeom prst="rect">
            <a:avLst/>
          </a:prstGeom>
          <a:noFill/>
        </p:spPr>
        <p:txBody>
          <a:bodyPr wrap="square" anchor="t" lIns="0" rIns="0" tIns="0" bIns="0">
            <a:noAutofit/>
          </a:bodyPr>
          <a:lstStyle/>
          <a:p>
            <a:pPr algn="l">
              <a:spcAft>
                <a:spcPts val="300"/>
              </a:spcAft>
            </a:pPr>
            <a:r>
              <a:rPr sz="1600" b="1" i="0">
                <a:solidFill>
                  <a:srgbClr val="17272E"/>
                </a:solidFill>
                <a:latin typeface="Calibri"/>
              </a:rPr>
              <a:t>Axioms</a:t>
            </a:r>
          </a:p>
          <a:p>
            <a:pPr algn="l">
              <a:spcAft>
                <a:spcPts val="300"/>
              </a:spcAft>
            </a:pPr>
            <a:r>
              <a:rPr sz="1300" b="0" i="0">
                <a:solidFill>
                  <a:srgbClr val="17272E"/>
                </a:solidFill>
                <a:latin typeface="Calibri"/>
              </a:rPr>
              <a:t>Statements a machine can reason with: subclasses, domains and ranges, definitions, constraints. :JamesDean is inferred to be an :Actor because he stars in a movie.</a:t>
            </a:r>
          </a:p>
        </p:txBody>
      </p:sp>
      <p:sp>
        <p:nvSpPr>
          <p:cNvPr id="40" name="Oval 39"/>
          <p:cNvSpPr/>
          <p:nvPr/>
        </p:nvSpPr>
        <p:spPr>
          <a:xfrm>
            <a:off x="548640" y="5897880"/>
            <a:ext cx="329184" cy="329184"/>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a:t>
            </a:r>
          </a:p>
        </p:txBody>
      </p:sp>
      <p:sp>
        <p:nvSpPr>
          <p:cNvPr id="41" name="Takeaway"/>
          <p:cNvSpPr txBox="1"/>
          <p:nvPr/>
        </p:nvSpPr>
        <p:spPr>
          <a:xfrm>
            <a:off x="1005840" y="5897880"/>
            <a:ext cx="10637215" cy="329184"/>
          </a:xfrm>
          <a:prstGeom prst="rect">
            <a:avLst/>
          </a:prstGeom>
          <a:noFill/>
        </p:spPr>
        <p:txBody>
          <a:bodyPr wrap="square" anchor="ctr" lIns="0" rIns="0" tIns="0" bIns="0">
            <a:noAutofit/>
          </a:bodyPr>
          <a:lstStyle/>
          <a:p>
            <a:pPr algn="l">
              <a:spcAft>
                <a:spcPts val="600"/>
              </a:spcAft>
            </a:pPr>
            <a:r>
              <a:rPr sz="1500" b="1" i="0">
                <a:solidFill>
                  <a:srgbClr val="17272E"/>
                </a:solidFill>
                <a:latin typeface="Calibri"/>
              </a:rPr>
              <a:t>Classes, properties and axioms make the model; add individuals and you have a knowledge graph.</a:t>
            </a:r>
          </a:p>
        </p:txBody>
      </p:sp>
      <p:sp>
        <p:nvSpPr>
          <p:cNvPr id="42"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43"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From word lists to ontologies: each step adds meaning</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1 · WHAT IS AN ONTOLOGY</a:t>
            </a:r>
          </a:p>
        </p:txBody>
      </p:sp>
      <p:sp>
        <p:nvSpPr>
          <p:cNvPr id="4" name="TextBox 3"/>
          <p:cNvSpPr txBox="1"/>
          <p:nvPr/>
        </p:nvSpPr>
        <p:spPr>
          <a:xfrm>
            <a:off x="548640" y="1645920"/>
            <a:ext cx="4389120" cy="1097280"/>
          </a:xfrm>
          <a:prstGeom prst="rect">
            <a:avLst/>
          </a:prstGeom>
          <a:noFill/>
        </p:spPr>
        <p:txBody>
          <a:bodyPr wrap="square" anchor="t" lIns="0" rIns="0" tIns="0" bIns="0">
            <a:noAutofit/>
          </a:bodyPr>
          <a:lstStyle/>
          <a:p>
            <a:pPr algn="l">
              <a:spcAft>
                <a:spcPts val="600"/>
              </a:spcAft>
            </a:pPr>
            <a:r>
              <a:rPr sz="1500" b="0" i="1">
                <a:solidFill>
                  <a:srgbClr val="5B6B70"/>
                </a:solidFill>
                <a:latin typeface="Calibri"/>
              </a:rPr>
              <a:t>You have probably used the lower steps already. Each adds structure to the one before; an ontology adds meaning a machine can reason with.</a:t>
            </a:r>
          </a:p>
        </p:txBody>
      </p:sp>
      <p:sp>
        <p:nvSpPr>
          <p:cNvPr id="5" name="Step: Controlled vocabulary"/>
          <p:cNvSpPr/>
          <p:nvPr/>
        </p:nvSpPr>
        <p:spPr>
          <a:xfrm>
            <a:off x="548640" y="3063239"/>
            <a:ext cx="2109155" cy="2514600"/>
          </a:xfrm>
          <a:prstGeom prst="roundRect">
            <a:avLst>
              <a:gd name="adj" fmla="val 5202"/>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227832"/>
            <a:ext cx="1743395" cy="640080"/>
          </a:xfrm>
          <a:prstGeom prst="rect">
            <a:avLst/>
          </a:prstGeom>
          <a:noFill/>
        </p:spPr>
        <p:txBody>
          <a:bodyPr wrap="square" anchor="t" lIns="0" rIns="0" tIns="0" bIns="0">
            <a:noAutofit/>
          </a:bodyPr>
          <a:lstStyle/>
          <a:p>
            <a:pPr algn="l">
              <a:spcAft>
                <a:spcPts val="600"/>
              </a:spcAft>
            </a:pPr>
            <a:r>
              <a:rPr sz="1700" b="1" i="0">
                <a:solidFill>
                  <a:srgbClr val="17272E"/>
                </a:solidFill>
                <a:latin typeface="Cambria"/>
              </a:rPr>
              <a:t>Controlled vocabulary</a:t>
            </a:r>
          </a:p>
        </p:txBody>
      </p:sp>
      <p:sp>
        <p:nvSpPr>
          <p:cNvPr id="7" name="TextBox 6"/>
          <p:cNvSpPr txBox="1"/>
          <p:nvPr/>
        </p:nvSpPr>
        <p:spPr>
          <a:xfrm>
            <a:off x="731520" y="3931920"/>
            <a:ext cx="1743395" cy="914400"/>
          </a:xfrm>
          <a:prstGeom prst="rect">
            <a:avLst/>
          </a:prstGeom>
          <a:noFill/>
        </p:spPr>
        <p:txBody>
          <a:bodyPr wrap="square" anchor="t" lIns="0" rIns="0" tIns="0" bIns="0">
            <a:noAutofit/>
          </a:bodyPr>
          <a:lstStyle/>
          <a:p>
            <a:pPr algn="l">
              <a:spcAft>
                <a:spcPts val="600"/>
              </a:spcAft>
            </a:pPr>
            <a:r>
              <a:rPr sz="1300" b="0" i="0">
                <a:solidFill>
                  <a:srgbClr val="17272E"/>
                </a:solidFill>
                <a:latin typeface="Calibri"/>
              </a:rPr>
              <a:t>An agreed list of terms, so everyone uses the same words.</a:t>
            </a:r>
          </a:p>
        </p:txBody>
      </p:sp>
      <p:sp>
        <p:nvSpPr>
          <p:cNvPr id="8" name="TextBox 7"/>
          <p:cNvSpPr txBox="1"/>
          <p:nvPr/>
        </p:nvSpPr>
        <p:spPr>
          <a:xfrm>
            <a:off x="731520" y="4709159"/>
            <a:ext cx="1743395" cy="777240"/>
          </a:xfrm>
          <a:prstGeom prst="rect">
            <a:avLst/>
          </a:prstGeom>
          <a:noFill/>
        </p:spPr>
        <p:txBody>
          <a:bodyPr wrap="square" anchor="t" lIns="0" rIns="0" tIns="0" bIns="0">
            <a:noAutofit/>
          </a:bodyPr>
          <a:lstStyle/>
          <a:p>
            <a:pPr algn="l">
              <a:spcAft>
                <a:spcPts val="600"/>
              </a:spcAft>
            </a:pPr>
            <a:r>
              <a:rPr sz="1200" b="0" i="1">
                <a:solidFill>
                  <a:srgbClr val="155E54"/>
                </a:solidFill>
                <a:latin typeface="Calibri"/>
              </a:rPr>
              <a:t>Drama, Western, Comedy</a:t>
            </a:r>
          </a:p>
        </p:txBody>
      </p:sp>
      <p:sp>
        <p:nvSpPr>
          <p:cNvPr id="9" name="Step: Taxonomy"/>
          <p:cNvSpPr/>
          <p:nvPr/>
        </p:nvSpPr>
        <p:spPr>
          <a:xfrm>
            <a:off x="2794955" y="2679191"/>
            <a:ext cx="2109155" cy="2898648"/>
          </a:xfrm>
          <a:prstGeom prst="roundRect">
            <a:avLst>
              <a:gd name="adj" fmla="val 5202"/>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977835" y="2843784"/>
            <a:ext cx="1743395" cy="640080"/>
          </a:xfrm>
          <a:prstGeom prst="rect">
            <a:avLst/>
          </a:prstGeom>
          <a:noFill/>
        </p:spPr>
        <p:txBody>
          <a:bodyPr wrap="square" anchor="t" lIns="0" rIns="0" tIns="0" bIns="0">
            <a:noAutofit/>
          </a:bodyPr>
          <a:lstStyle/>
          <a:p>
            <a:pPr algn="l">
              <a:spcAft>
                <a:spcPts val="600"/>
              </a:spcAft>
            </a:pPr>
            <a:r>
              <a:rPr sz="1700" b="1" i="0">
                <a:solidFill>
                  <a:srgbClr val="17272E"/>
                </a:solidFill>
                <a:latin typeface="Cambria"/>
              </a:rPr>
              <a:t>Taxonomy</a:t>
            </a:r>
          </a:p>
        </p:txBody>
      </p:sp>
      <p:sp>
        <p:nvSpPr>
          <p:cNvPr id="11" name="TextBox 10"/>
          <p:cNvSpPr txBox="1"/>
          <p:nvPr/>
        </p:nvSpPr>
        <p:spPr>
          <a:xfrm>
            <a:off x="2977835" y="3547872"/>
            <a:ext cx="1743395" cy="914400"/>
          </a:xfrm>
          <a:prstGeom prst="rect">
            <a:avLst/>
          </a:prstGeom>
          <a:noFill/>
        </p:spPr>
        <p:txBody>
          <a:bodyPr wrap="square" anchor="t" lIns="0" rIns="0" tIns="0" bIns="0">
            <a:noAutofit/>
          </a:bodyPr>
          <a:lstStyle/>
          <a:p>
            <a:pPr algn="l">
              <a:spcAft>
                <a:spcPts val="600"/>
              </a:spcAft>
            </a:pPr>
            <a:r>
              <a:rPr sz="1300" b="0" i="0">
                <a:solidFill>
                  <a:srgbClr val="17272E"/>
                </a:solidFill>
                <a:latin typeface="Calibri"/>
              </a:rPr>
              <a:t>+ a hierarchy of broader and narrower terms.</a:t>
            </a:r>
          </a:p>
        </p:txBody>
      </p:sp>
      <p:sp>
        <p:nvSpPr>
          <p:cNvPr id="12" name="TextBox 11"/>
          <p:cNvSpPr txBox="1"/>
          <p:nvPr/>
        </p:nvSpPr>
        <p:spPr>
          <a:xfrm>
            <a:off x="2977835" y="4709159"/>
            <a:ext cx="1743395" cy="777240"/>
          </a:xfrm>
          <a:prstGeom prst="rect">
            <a:avLst/>
          </a:prstGeom>
          <a:noFill/>
        </p:spPr>
        <p:txBody>
          <a:bodyPr wrap="square" anchor="t" lIns="0" rIns="0" tIns="0" bIns="0">
            <a:noAutofit/>
          </a:bodyPr>
          <a:lstStyle/>
          <a:p>
            <a:pPr algn="l">
              <a:spcAft>
                <a:spcPts val="600"/>
              </a:spcAft>
            </a:pPr>
            <a:r>
              <a:rPr sz="1200" b="0" i="1">
                <a:solidFill>
                  <a:srgbClr val="155E54"/>
                </a:solidFill>
                <a:latin typeface="Calibri"/>
              </a:rPr>
              <a:t>Teen drama → Drama</a:t>
            </a:r>
          </a:p>
        </p:txBody>
      </p:sp>
      <p:sp>
        <p:nvSpPr>
          <p:cNvPr id="13" name="Step: Thesaurus"/>
          <p:cNvSpPr/>
          <p:nvPr/>
        </p:nvSpPr>
        <p:spPr>
          <a:xfrm>
            <a:off x="5041270" y="2295144"/>
            <a:ext cx="2109155" cy="3282696"/>
          </a:xfrm>
          <a:prstGeom prst="roundRect">
            <a:avLst>
              <a:gd name="adj" fmla="val 5202"/>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224150" y="2459736"/>
            <a:ext cx="1743395" cy="640080"/>
          </a:xfrm>
          <a:prstGeom prst="rect">
            <a:avLst/>
          </a:prstGeom>
          <a:noFill/>
        </p:spPr>
        <p:txBody>
          <a:bodyPr wrap="square" anchor="t" lIns="0" rIns="0" tIns="0" bIns="0">
            <a:noAutofit/>
          </a:bodyPr>
          <a:lstStyle/>
          <a:p>
            <a:pPr algn="l">
              <a:spcAft>
                <a:spcPts val="600"/>
              </a:spcAft>
            </a:pPr>
            <a:r>
              <a:rPr sz="1700" b="1" i="0">
                <a:solidFill>
                  <a:srgbClr val="17272E"/>
                </a:solidFill>
                <a:latin typeface="Cambria"/>
              </a:rPr>
              <a:t>Thesaurus</a:t>
            </a:r>
          </a:p>
        </p:txBody>
      </p:sp>
      <p:sp>
        <p:nvSpPr>
          <p:cNvPr id="15" name="TextBox 14"/>
          <p:cNvSpPr txBox="1"/>
          <p:nvPr/>
        </p:nvSpPr>
        <p:spPr>
          <a:xfrm>
            <a:off x="5224150" y="3163824"/>
            <a:ext cx="1743395" cy="914400"/>
          </a:xfrm>
          <a:prstGeom prst="rect">
            <a:avLst/>
          </a:prstGeom>
          <a:noFill/>
        </p:spPr>
        <p:txBody>
          <a:bodyPr wrap="square" anchor="t" lIns="0" rIns="0" tIns="0" bIns="0">
            <a:noAutofit/>
          </a:bodyPr>
          <a:lstStyle/>
          <a:p>
            <a:pPr algn="l">
              <a:spcAft>
                <a:spcPts val="600"/>
              </a:spcAft>
            </a:pPr>
            <a:r>
              <a:rPr sz="1300" b="0" i="0">
                <a:solidFill>
                  <a:srgbClr val="17272E"/>
                </a:solidFill>
                <a:latin typeface="Calibri"/>
              </a:rPr>
              <a:t>+ synonyms and related terms.</a:t>
            </a:r>
          </a:p>
        </p:txBody>
      </p:sp>
      <p:sp>
        <p:nvSpPr>
          <p:cNvPr id="16" name="TextBox 15"/>
          <p:cNvSpPr txBox="1"/>
          <p:nvPr/>
        </p:nvSpPr>
        <p:spPr>
          <a:xfrm>
            <a:off x="5224150" y="4709159"/>
            <a:ext cx="1743395" cy="777240"/>
          </a:xfrm>
          <a:prstGeom prst="rect">
            <a:avLst/>
          </a:prstGeom>
          <a:noFill/>
        </p:spPr>
        <p:txBody>
          <a:bodyPr wrap="square" anchor="t" lIns="0" rIns="0" tIns="0" bIns="0">
            <a:noAutofit/>
          </a:bodyPr>
          <a:lstStyle/>
          <a:p>
            <a:pPr algn="l">
              <a:spcAft>
                <a:spcPts val="600"/>
              </a:spcAft>
            </a:pPr>
            <a:r>
              <a:rPr sz="1200" b="0" i="1">
                <a:solidFill>
                  <a:srgbClr val="155E54"/>
                </a:solidFill>
                <a:latin typeface="Calibri"/>
              </a:rPr>
              <a:t>Teen drama, also “Coming-of-age”; related to Family drama</a:t>
            </a:r>
          </a:p>
        </p:txBody>
      </p:sp>
      <p:sp>
        <p:nvSpPr>
          <p:cNvPr id="17" name="Step: Data model or schema"/>
          <p:cNvSpPr/>
          <p:nvPr/>
        </p:nvSpPr>
        <p:spPr>
          <a:xfrm>
            <a:off x="7287585" y="1911095"/>
            <a:ext cx="2109155" cy="3666744"/>
          </a:xfrm>
          <a:prstGeom prst="roundRect">
            <a:avLst>
              <a:gd name="adj" fmla="val 5202"/>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70465" y="2075688"/>
            <a:ext cx="1743395" cy="640080"/>
          </a:xfrm>
          <a:prstGeom prst="rect">
            <a:avLst/>
          </a:prstGeom>
          <a:noFill/>
        </p:spPr>
        <p:txBody>
          <a:bodyPr wrap="square" anchor="t" lIns="0" rIns="0" tIns="0" bIns="0">
            <a:noAutofit/>
          </a:bodyPr>
          <a:lstStyle/>
          <a:p>
            <a:pPr algn="l">
              <a:spcAft>
                <a:spcPts val="600"/>
              </a:spcAft>
            </a:pPr>
            <a:r>
              <a:rPr sz="1700" b="1" i="0">
                <a:solidFill>
                  <a:srgbClr val="FFFFFF"/>
                </a:solidFill>
                <a:latin typeface="Cambria"/>
              </a:rPr>
              <a:t>Data model or schema</a:t>
            </a:r>
          </a:p>
        </p:txBody>
      </p:sp>
      <p:sp>
        <p:nvSpPr>
          <p:cNvPr id="19" name="TextBox 18"/>
          <p:cNvSpPr txBox="1"/>
          <p:nvPr/>
        </p:nvSpPr>
        <p:spPr>
          <a:xfrm>
            <a:off x="7470465" y="2779776"/>
            <a:ext cx="1743395" cy="914400"/>
          </a:xfrm>
          <a:prstGeom prst="rect">
            <a:avLst/>
          </a:prstGeom>
          <a:noFill/>
        </p:spPr>
        <p:txBody>
          <a:bodyPr wrap="square" anchor="t" lIns="0" rIns="0" tIns="0" bIns="0">
            <a:noAutofit/>
          </a:bodyPr>
          <a:lstStyle/>
          <a:p>
            <a:pPr algn="l">
              <a:spcAft>
                <a:spcPts val="600"/>
              </a:spcAft>
            </a:pPr>
            <a:r>
              <a:rPr sz="1300" b="0" i="0">
                <a:solidFill>
                  <a:srgbClr val="FFFFFF"/>
                </a:solidFill>
                <a:latin typeface="Calibri"/>
              </a:rPr>
              <a:t>+ typed records and fields, built for one application.</a:t>
            </a:r>
          </a:p>
        </p:txBody>
      </p:sp>
      <p:sp>
        <p:nvSpPr>
          <p:cNvPr id="20" name="TextBox 19"/>
          <p:cNvSpPr txBox="1"/>
          <p:nvPr/>
        </p:nvSpPr>
        <p:spPr>
          <a:xfrm>
            <a:off x="7470465" y="4709159"/>
            <a:ext cx="1743395" cy="777240"/>
          </a:xfrm>
          <a:prstGeom prst="rect">
            <a:avLst/>
          </a:prstGeom>
          <a:noFill/>
        </p:spPr>
        <p:txBody>
          <a:bodyPr wrap="square" anchor="t" lIns="0" rIns="0" tIns="0" bIns="0">
            <a:noAutofit/>
          </a:bodyPr>
          <a:lstStyle/>
          <a:p>
            <a:pPr algn="l">
              <a:spcAft>
                <a:spcPts val="600"/>
              </a:spcAft>
            </a:pPr>
            <a:r>
              <a:rPr sz="1200" b="0" i="1">
                <a:solidFill>
                  <a:srgbClr val="E0952B"/>
                </a:solidFill>
                <a:latin typeface="Calibri"/>
              </a:rPr>
              <a:t>table Movie(title, year, director)</a:t>
            </a:r>
          </a:p>
        </p:txBody>
      </p:sp>
      <p:sp>
        <p:nvSpPr>
          <p:cNvPr id="21" name="Step: Ontology"/>
          <p:cNvSpPr/>
          <p:nvPr/>
        </p:nvSpPr>
        <p:spPr>
          <a:xfrm>
            <a:off x="9533900" y="1527048"/>
            <a:ext cx="2109155" cy="4050791"/>
          </a:xfrm>
          <a:prstGeom prst="roundRect">
            <a:avLst>
              <a:gd name="adj" fmla="val 5202"/>
            </a:avLst>
          </a:prstGeom>
          <a:solidFill>
            <a:srgbClr val="17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716780" y="1691639"/>
            <a:ext cx="1743395" cy="640080"/>
          </a:xfrm>
          <a:prstGeom prst="rect">
            <a:avLst/>
          </a:prstGeom>
          <a:noFill/>
        </p:spPr>
        <p:txBody>
          <a:bodyPr wrap="square" anchor="t" lIns="0" rIns="0" tIns="0" bIns="0">
            <a:noAutofit/>
          </a:bodyPr>
          <a:lstStyle/>
          <a:p>
            <a:pPr algn="l">
              <a:spcAft>
                <a:spcPts val="600"/>
              </a:spcAft>
            </a:pPr>
            <a:r>
              <a:rPr sz="1700" b="1" i="0">
                <a:solidFill>
                  <a:srgbClr val="FFFFFF"/>
                </a:solidFill>
                <a:latin typeface="Cambria"/>
              </a:rPr>
              <a:t>Ontology</a:t>
            </a:r>
          </a:p>
        </p:txBody>
      </p:sp>
      <p:sp>
        <p:nvSpPr>
          <p:cNvPr id="23" name="TextBox 22"/>
          <p:cNvSpPr txBox="1"/>
          <p:nvPr/>
        </p:nvSpPr>
        <p:spPr>
          <a:xfrm>
            <a:off x="9716780" y="2395728"/>
            <a:ext cx="1743395" cy="914400"/>
          </a:xfrm>
          <a:prstGeom prst="rect">
            <a:avLst/>
          </a:prstGeom>
          <a:noFill/>
        </p:spPr>
        <p:txBody>
          <a:bodyPr wrap="square" anchor="t" lIns="0" rIns="0" tIns="0" bIns="0">
            <a:noAutofit/>
          </a:bodyPr>
          <a:lstStyle/>
          <a:p>
            <a:pPr algn="l">
              <a:spcAft>
                <a:spcPts val="600"/>
              </a:spcAft>
            </a:pPr>
            <a:r>
              <a:rPr sz="1300" b="0" i="0">
                <a:solidFill>
                  <a:srgbClr val="FFFFFF"/>
                </a:solidFill>
                <a:latin typeface="Calibri"/>
              </a:rPr>
              <a:t>+ formal meaning a machine can reason with, global names, and reuse across applications.</a:t>
            </a:r>
          </a:p>
        </p:txBody>
      </p:sp>
      <p:sp>
        <p:nvSpPr>
          <p:cNvPr id="24" name="TextBox 23"/>
          <p:cNvSpPr txBox="1"/>
          <p:nvPr/>
        </p:nvSpPr>
        <p:spPr>
          <a:xfrm>
            <a:off x="9716780" y="4709159"/>
            <a:ext cx="1743395" cy="777240"/>
          </a:xfrm>
          <a:prstGeom prst="rect">
            <a:avLst/>
          </a:prstGeom>
          <a:noFill/>
        </p:spPr>
        <p:txBody>
          <a:bodyPr wrap="square" anchor="t" lIns="0" rIns="0" tIns="0" bIns="0">
            <a:noAutofit/>
          </a:bodyPr>
          <a:lstStyle/>
          <a:p>
            <a:pPr algn="l">
              <a:spcAft>
                <a:spcPts val="600"/>
              </a:spcAft>
            </a:pPr>
            <a:r>
              <a:rPr sz="1200" b="0" i="1">
                <a:solidFill>
                  <a:srgbClr val="E0952B"/>
                </a:solidFill>
                <a:latin typeface="Calibri"/>
              </a:rPr>
              <a:t>every Actor is a Person; one registry id means one person</a:t>
            </a:r>
          </a:p>
        </p:txBody>
      </p:sp>
      <p:sp>
        <p:nvSpPr>
          <p:cNvPr id="25" name="Oval 24"/>
          <p:cNvSpPr/>
          <p:nvPr/>
        </p:nvSpPr>
        <p:spPr>
          <a:xfrm>
            <a:off x="548640" y="5833872"/>
            <a:ext cx="329184" cy="329184"/>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a:t>
            </a:r>
          </a:p>
        </p:txBody>
      </p:sp>
      <p:sp>
        <p:nvSpPr>
          <p:cNvPr id="26" name="Takeaway"/>
          <p:cNvSpPr txBox="1"/>
          <p:nvPr/>
        </p:nvSpPr>
        <p:spPr>
          <a:xfrm>
            <a:off x="1005840" y="5833872"/>
            <a:ext cx="10637215" cy="329184"/>
          </a:xfrm>
          <a:prstGeom prst="rect">
            <a:avLst/>
          </a:prstGeom>
          <a:noFill/>
        </p:spPr>
        <p:txBody>
          <a:bodyPr wrap="square" anchor="ctr" lIns="0" rIns="0" tIns="0" bIns="0">
            <a:noAutofit/>
          </a:bodyPr>
          <a:lstStyle/>
          <a:p>
            <a:pPr algn="l">
              <a:spcAft>
                <a:spcPts val="600"/>
              </a:spcAft>
            </a:pPr>
            <a:r>
              <a:rPr sz="1500" b="1" i="0">
                <a:solidFill>
                  <a:srgbClr val="17272E"/>
                </a:solidFill>
                <a:latin typeface="Calibri"/>
              </a:rPr>
              <a:t>A knowledge graph is an ontology plus the data described with it, stored as one graph.</a:t>
            </a:r>
          </a:p>
        </p:txBody>
      </p:sp>
      <p:sp>
        <p:nvSpPr>
          <p:cNvPr id="27"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28"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An ontology is not a database schema</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1 · WHAT IS AN ONTOLOGY</a:t>
            </a:r>
          </a:p>
        </p:txBody>
      </p:sp>
      <p:sp>
        <p:nvSpPr>
          <p:cNvPr id="4" name="TextBox 3"/>
          <p:cNvSpPr txBox="1"/>
          <p:nvPr/>
        </p:nvSpPr>
        <p:spPr>
          <a:xfrm>
            <a:off x="548640" y="1554480"/>
            <a:ext cx="11094415" cy="411480"/>
          </a:xfrm>
          <a:prstGeom prst="rect">
            <a:avLst/>
          </a:prstGeom>
          <a:noFill/>
        </p:spPr>
        <p:txBody>
          <a:bodyPr wrap="square" anchor="t" lIns="0" rIns="0" tIns="0" bIns="0">
            <a:noAutofit/>
          </a:bodyPr>
          <a:lstStyle/>
          <a:p>
            <a:pPr algn="l">
              <a:spcAft>
                <a:spcPts val="600"/>
              </a:spcAft>
            </a:pPr>
            <a:r>
              <a:rPr sz="1600" b="0" i="0">
                <a:solidFill>
                  <a:srgbClr val="5B6B70"/>
                </a:solidFill>
                <a:latin typeface="Calibri"/>
              </a:rPr>
              <a:t>Both describe data, but they assume different worlds. Knowing the difference avoids most beginner surprises.</a:t>
            </a:r>
          </a:p>
        </p:txBody>
      </p:sp>
      <p:graphicFrame>
        <p:nvGraphicFramePr>
          <p:cNvPr id="5" name="Table 4"/>
          <p:cNvGraphicFramePr>
            <a:graphicFrameLocks noGrp="1"/>
          </p:cNvGraphicFramePr>
          <p:nvPr/>
        </p:nvGraphicFramePr>
        <p:xfrm>
          <a:off x="548640" y="2057400"/>
          <a:ext cx="11094415" cy="3364992"/>
        </p:xfrm>
        <a:graphic>
          <a:graphicData uri="http://schemas.openxmlformats.org/drawingml/2006/table">
            <a:tbl>
              <a:tblPr firstRow="0" bandRow="0">
                <a:tableStyleId>{5C22544A-7EE6-4342-B048-85BDC9FD1C3A}</a:tableStyleId>
              </a:tblPr>
              <a:tblGrid>
                <a:gridCol w="2286000"/>
                <a:gridCol w="4023360"/>
                <a:gridCol w="4785055"/>
              </a:tblGrid>
              <a:tr h="420624">
                <a:tc>
                  <a:txBody>
                    <a:bodyPr wrap="square"/>
                    <a:lstStyle/>
                    <a:p>
                      <a:r>
                        <a:rPr sz="1300" b="1" i="0">
                          <a:solidFill>
                            <a:srgbClr val="FFFFFF"/>
                          </a:solidFill>
                          <a:latin typeface="Calibri"/>
                        </a:rPr>
                        <a:t/>
                      </a:r>
                    </a:p>
                  </a:txBody>
                  <a:tcPr marL="91440" marR="91440" marT="27432" marB="27432" anchor="ctr">
                    <a:solidFill>
                      <a:srgbClr val="1F7A6D"/>
                    </a:solidFill>
                  </a:tcPr>
                </a:tc>
                <a:tc>
                  <a:txBody>
                    <a:bodyPr wrap="square"/>
                    <a:lstStyle/>
                    <a:p>
                      <a:r>
                        <a:rPr sz="1300" b="1" i="0">
                          <a:solidFill>
                            <a:srgbClr val="FFFFFF"/>
                          </a:solidFill>
                          <a:latin typeface="Calibri"/>
                        </a:rPr>
                        <a:t>Database schema</a:t>
                      </a:r>
                    </a:p>
                  </a:txBody>
                  <a:tcPr marL="91440" marR="91440" marT="27432" marB="27432" anchor="ctr">
                    <a:solidFill>
                      <a:srgbClr val="1F7A6D"/>
                    </a:solidFill>
                  </a:tcPr>
                </a:tc>
                <a:tc>
                  <a:txBody>
                    <a:bodyPr wrap="square"/>
                    <a:lstStyle/>
                    <a:p>
                      <a:r>
                        <a:rPr sz="1300" b="1" i="0">
                          <a:solidFill>
                            <a:srgbClr val="FFFFFF"/>
                          </a:solidFill>
                          <a:latin typeface="Calibri"/>
                        </a:rPr>
                        <a:t>Ontology</a:t>
                      </a:r>
                    </a:p>
                  </a:txBody>
                  <a:tcPr marL="91440" marR="91440" marT="27432" marB="27432" anchor="ctr">
                    <a:solidFill>
                      <a:srgbClr val="1F7A6D"/>
                    </a:solidFill>
                  </a:tcPr>
                </a:tc>
              </a:tr>
              <a:tr h="420624">
                <a:tc>
                  <a:txBody>
                    <a:bodyPr wrap="square"/>
                    <a:lstStyle/>
                    <a:p>
                      <a:r>
                        <a:rPr sz="1300" b="1" i="0">
                          <a:solidFill>
                            <a:srgbClr val="17272E"/>
                          </a:solidFill>
                          <a:latin typeface="Calibri"/>
                        </a:rPr>
                        <a:t>Built for</a:t>
                      </a:r>
                    </a:p>
                  </a:txBody>
                  <a:tcPr marL="91440" marR="91440" marT="27432" marB="27432" anchor="ctr">
                    <a:solidFill>
                      <a:srgbClr val="EAF3F0"/>
                    </a:solidFill>
                  </a:tcPr>
                </a:tc>
                <a:tc>
                  <a:txBody>
                    <a:bodyPr wrap="square"/>
                    <a:lstStyle/>
                    <a:p>
                      <a:r>
                        <a:rPr sz="1300" b="0" i="0">
                          <a:solidFill>
                            <a:srgbClr val="17272E"/>
                          </a:solidFill>
                          <a:latin typeface="Calibri"/>
                        </a:rPr>
                        <a:t>Storing and validating data for one application</a:t>
                      </a:r>
                    </a:p>
                  </a:txBody>
                  <a:tcPr marL="91440" marR="91440" marT="27432" marB="27432" anchor="ctr">
                    <a:solidFill>
                      <a:srgbClr val="FFFFFF"/>
                    </a:solidFill>
                  </a:tcPr>
                </a:tc>
                <a:tc>
                  <a:txBody>
                    <a:bodyPr wrap="square"/>
                    <a:lstStyle/>
                    <a:p>
                      <a:r>
                        <a:rPr sz="1300" b="0" i="0">
                          <a:solidFill>
                            <a:srgbClr val="17272E"/>
                          </a:solidFill>
                          <a:latin typeface="Calibri"/>
                        </a:rPr>
                        <a:t>Sharing meaning across applications and sources</a:t>
                      </a:r>
                    </a:p>
                  </a:txBody>
                  <a:tcPr marL="91440" marR="91440" marT="27432" marB="27432" anchor="ctr">
                    <a:solidFill>
                      <a:srgbClr val="FFFFFF"/>
                    </a:solidFill>
                  </a:tcPr>
                </a:tc>
              </a:tr>
              <a:tr h="420624">
                <a:tc>
                  <a:txBody>
                    <a:bodyPr wrap="square"/>
                    <a:lstStyle/>
                    <a:p>
                      <a:r>
                        <a:rPr sz="1300" b="1" i="0">
                          <a:solidFill>
                            <a:srgbClr val="17272E"/>
                          </a:solidFill>
                          <a:latin typeface="Calibri"/>
                        </a:rPr>
                        <a:t>A missing fact</a:t>
                      </a:r>
                    </a:p>
                  </a:txBody>
                  <a:tcPr marL="91440" marR="91440" marT="27432" marB="27432" anchor="ctr">
                    <a:solidFill>
                      <a:srgbClr val="EAF3F0"/>
                    </a:solidFill>
                  </a:tcPr>
                </a:tc>
                <a:tc>
                  <a:txBody>
                    <a:bodyPr wrap="square"/>
                    <a:lstStyle/>
                    <a:p>
                      <a:r>
                        <a:rPr sz="1300" b="0" i="0">
                          <a:solidFill>
                            <a:srgbClr val="17272E"/>
                          </a:solidFill>
                          <a:latin typeface="Calibri"/>
                        </a:rPr>
                        <a:t>Is false: the closed-world assumption</a:t>
                      </a:r>
                    </a:p>
                  </a:txBody>
                  <a:tcPr marL="91440" marR="91440" marT="27432" marB="27432" anchor="ctr">
                    <a:solidFill>
                      <a:srgbClr val="EAF3F0"/>
                    </a:solidFill>
                  </a:tcPr>
                </a:tc>
                <a:tc>
                  <a:txBody>
                    <a:bodyPr wrap="square"/>
                    <a:lstStyle/>
                    <a:p>
                      <a:r>
                        <a:rPr sz="1300" b="0" i="0">
                          <a:solidFill>
                            <a:srgbClr val="17272E"/>
                          </a:solidFill>
                          <a:latin typeface="Calibri"/>
                        </a:rPr>
                        <a:t>Is unknown: the open-world assumption</a:t>
                      </a:r>
                    </a:p>
                  </a:txBody>
                  <a:tcPr marL="91440" marR="91440" marT="27432" marB="27432" anchor="ctr">
                    <a:solidFill>
                      <a:srgbClr val="EAF3F0"/>
                    </a:solidFill>
                  </a:tcPr>
                </a:tc>
              </a:tr>
              <a:tr h="420624">
                <a:tc>
                  <a:txBody>
                    <a:bodyPr wrap="square"/>
                    <a:lstStyle/>
                    <a:p>
                      <a:r>
                        <a:rPr sz="1300" b="1" i="0">
                          <a:solidFill>
                            <a:srgbClr val="17272E"/>
                          </a:solidFill>
                          <a:latin typeface="Calibri"/>
                        </a:rPr>
                        <a:t>Names</a:t>
                      </a:r>
                    </a:p>
                  </a:txBody>
                  <a:tcPr marL="91440" marR="91440" marT="27432" marB="27432" anchor="ctr">
                    <a:solidFill>
                      <a:srgbClr val="EAF3F0"/>
                    </a:solidFill>
                  </a:tcPr>
                </a:tc>
                <a:tc>
                  <a:txBody>
                    <a:bodyPr wrap="square"/>
                    <a:lstStyle/>
                    <a:p>
                      <a:r>
                        <a:rPr sz="1300" b="0" i="0">
                          <a:solidFill>
                            <a:srgbClr val="17272E"/>
                          </a:solidFill>
                          <a:latin typeface="Calibri"/>
                        </a:rPr>
                        <a:t>Local table and column names</a:t>
                      </a:r>
                    </a:p>
                  </a:txBody>
                  <a:tcPr marL="91440" marR="91440" marT="27432" marB="27432" anchor="ctr">
                    <a:solidFill>
                      <a:srgbClr val="FFFFFF"/>
                    </a:solidFill>
                  </a:tcPr>
                </a:tc>
                <a:tc>
                  <a:txBody>
                    <a:bodyPr wrap="square"/>
                    <a:lstStyle/>
                    <a:p>
                      <a:r>
                        <a:rPr sz="1300" b="0" i="0">
                          <a:solidFill>
                            <a:srgbClr val="17272E"/>
                          </a:solidFill>
                          <a:latin typeface="Calibri"/>
                        </a:rPr>
                        <a:t>Global URIs that anyone can reuse</a:t>
                      </a:r>
                    </a:p>
                  </a:txBody>
                  <a:tcPr marL="91440" marR="91440" marT="27432" marB="27432" anchor="ctr">
                    <a:solidFill>
                      <a:srgbClr val="FFFFFF"/>
                    </a:solidFill>
                  </a:tcPr>
                </a:tc>
              </a:tr>
              <a:tr h="420624">
                <a:tc>
                  <a:txBody>
                    <a:bodyPr wrap="square"/>
                    <a:lstStyle/>
                    <a:p>
                      <a:r>
                        <a:rPr sz="1300" b="1" i="0">
                          <a:solidFill>
                            <a:srgbClr val="17272E"/>
                          </a:solidFill>
                          <a:latin typeface="Calibri"/>
                        </a:rPr>
                        <a:t>Data that breaks a rule</a:t>
                      </a:r>
                    </a:p>
                  </a:txBody>
                  <a:tcPr marL="91440" marR="91440" marT="27432" marB="27432" anchor="ctr">
                    <a:solidFill>
                      <a:srgbClr val="EAF3F0"/>
                    </a:solidFill>
                  </a:tcPr>
                </a:tc>
                <a:tc>
                  <a:txBody>
                    <a:bodyPr wrap="square"/>
                    <a:lstStyle/>
                    <a:p>
                      <a:r>
                        <a:rPr sz="1300" b="0" i="0">
                          <a:solidFill>
                            <a:srgbClr val="17272E"/>
                          </a:solidFill>
                          <a:latin typeface="Calibri"/>
                        </a:rPr>
                        <a:t>Rejected with a constraint error</a:t>
                      </a:r>
                    </a:p>
                  </a:txBody>
                  <a:tcPr marL="91440" marR="91440" marT="27432" marB="27432" anchor="ctr">
                    <a:solidFill>
                      <a:srgbClr val="EAF3F0"/>
                    </a:solidFill>
                  </a:tcPr>
                </a:tc>
                <a:tc>
                  <a:txBody>
                    <a:bodyPr wrap="square"/>
                    <a:lstStyle/>
                    <a:p>
                      <a:r>
                        <a:rPr sz="1300" b="0" i="0">
                          <a:solidFill>
                            <a:srgbClr val="17272E"/>
                          </a:solidFill>
                          <a:latin typeface="Calibri"/>
                        </a:rPr>
                        <a:t>Used to infer something; validation is a separate step (SHACL)</a:t>
                      </a:r>
                    </a:p>
                  </a:txBody>
                  <a:tcPr marL="91440" marR="91440" marT="27432" marB="27432" anchor="ctr">
                    <a:solidFill>
                      <a:srgbClr val="EAF3F0"/>
                    </a:solidFill>
                  </a:tcPr>
                </a:tc>
              </a:tr>
              <a:tr h="420624">
                <a:tc>
                  <a:txBody>
                    <a:bodyPr wrap="square"/>
                    <a:lstStyle/>
                    <a:p>
                      <a:r>
                        <a:rPr sz="1300" b="1" i="0">
                          <a:solidFill>
                            <a:srgbClr val="17272E"/>
                          </a:solidFill>
                          <a:latin typeface="Calibri"/>
                        </a:rPr>
                        <a:t>One thing, two ids</a:t>
                      </a:r>
                    </a:p>
                  </a:txBody>
                  <a:tcPr marL="91440" marR="91440" marT="27432" marB="27432" anchor="ctr">
                    <a:solidFill>
                      <a:srgbClr val="EAF3F0"/>
                    </a:solidFill>
                  </a:tcPr>
                </a:tc>
                <a:tc>
                  <a:txBody>
                    <a:bodyPr wrap="square"/>
                    <a:lstStyle/>
                    <a:p>
                      <a:r>
                        <a:rPr sz="1300" b="0" i="0">
                          <a:solidFill>
                            <a:srgbClr val="17272E"/>
                          </a:solidFill>
                          <a:latin typeface="Calibri"/>
                        </a:rPr>
                        <a:t>Two rows until someone deduplicates</a:t>
                      </a:r>
                    </a:p>
                  </a:txBody>
                  <a:tcPr marL="91440" marR="91440" marT="27432" marB="27432" anchor="ctr">
                    <a:solidFill>
                      <a:srgbClr val="FFFFFF"/>
                    </a:solidFill>
                  </a:tcPr>
                </a:tc>
                <a:tc>
                  <a:txBody>
                    <a:bodyPr wrap="square"/>
                    <a:lstStyle/>
                    <a:p>
                      <a:r>
                        <a:rPr sz="1300" b="0" i="0">
                          <a:solidFill>
                            <a:srgbClr val="17272E"/>
                          </a:solidFill>
                          <a:latin typeface="Calibri"/>
                        </a:rPr>
                        <a:t>Declared or inferred to be the same with owl:sameAs</a:t>
                      </a:r>
                    </a:p>
                  </a:txBody>
                  <a:tcPr marL="91440" marR="91440" marT="27432" marB="27432" anchor="ctr">
                    <a:solidFill>
                      <a:srgbClr val="FFFFFF"/>
                    </a:solidFill>
                  </a:tcPr>
                </a:tc>
              </a:tr>
              <a:tr h="420624">
                <a:tc>
                  <a:txBody>
                    <a:bodyPr wrap="square"/>
                    <a:lstStyle/>
                    <a:p>
                      <a:r>
                        <a:rPr sz="1300" b="1" i="0">
                          <a:solidFill>
                            <a:srgbClr val="17272E"/>
                          </a:solidFill>
                          <a:latin typeface="Calibri"/>
                        </a:rPr>
                        <a:t>Changing the model</a:t>
                      </a:r>
                    </a:p>
                  </a:txBody>
                  <a:tcPr marL="91440" marR="91440" marT="27432" marB="27432" anchor="ctr">
                    <a:solidFill>
                      <a:srgbClr val="EAF3F0"/>
                    </a:solidFill>
                  </a:tcPr>
                </a:tc>
                <a:tc>
                  <a:txBody>
                    <a:bodyPr wrap="square"/>
                    <a:lstStyle/>
                    <a:p>
                      <a:r>
                        <a:rPr sz="1300" b="0" i="0">
                          <a:solidFill>
                            <a:srgbClr val="17272E"/>
                          </a:solidFill>
                          <a:latin typeface="Calibri"/>
                        </a:rPr>
                        <a:t>A migration; the schema comes before the data</a:t>
                      </a:r>
                    </a:p>
                  </a:txBody>
                  <a:tcPr marL="91440" marR="91440" marT="27432" marB="27432" anchor="ctr">
                    <a:solidFill>
                      <a:srgbClr val="EAF3F0"/>
                    </a:solidFill>
                  </a:tcPr>
                </a:tc>
                <a:tc>
                  <a:txBody>
                    <a:bodyPr wrap="square"/>
                    <a:lstStyle/>
                    <a:p>
                      <a:r>
                        <a:rPr sz="1300" b="0" i="0">
                          <a:solidFill>
                            <a:srgbClr val="17272E"/>
                          </a:solidFill>
                          <a:latin typeface="Calibri"/>
                        </a:rPr>
                        <a:t>Add triples at any time; model and data are both triples</a:t>
                      </a:r>
                    </a:p>
                  </a:txBody>
                  <a:tcPr marL="91440" marR="91440" marT="27432" marB="27432" anchor="ctr">
                    <a:solidFill>
                      <a:srgbClr val="EAF3F0"/>
                    </a:solidFill>
                  </a:tcPr>
                </a:tc>
              </a:tr>
              <a:tr h="420624">
                <a:tc>
                  <a:txBody>
                    <a:bodyPr wrap="square"/>
                    <a:lstStyle/>
                    <a:p>
                      <a:r>
                        <a:rPr sz="1300" b="1" i="0">
                          <a:solidFill>
                            <a:srgbClr val="17272E"/>
                          </a:solidFill>
                          <a:latin typeface="Calibri"/>
                        </a:rPr>
                        <a:t>Answers come from</a:t>
                      </a:r>
                    </a:p>
                  </a:txBody>
                  <a:tcPr marL="91440" marR="91440" marT="27432" marB="27432" anchor="ctr">
                    <a:solidFill>
                      <a:srgbClr val="EAF3F0"/>
                    </a:solidFill>
                  </a:tcPr>
                </a:tc>
                <a:tc>
                  <a:txBody>
                    <a:bodyPr wrap="square"/>
                    <a:lstStyle/>
                    <a:p>
                      <a:r>
                        <a:rPr sz="1300" b="0" i="0">
                          <a:solidFill>
                            <a:srgbClr val="17272E"/>
                          </a:solidFill>
                          <a:latin typeface="Calibri"/>
                        </a:rPr>
                        <a:t>Only what was inserted</a:t>
                      </a:r>
                    </a:p>
                  </a:txBody>
                  <a:tcPr marL="91440" marR="91440" marT="27432" marB="27432" anchor="ctr">
                    <a:solidFill>
                      <a:srgbClr val="FFFFFF"/>
                    </a:solidFill>
                  </a:tcPr>
                </a:tc>
                <a:tc>
                  <a:txBody>
                    <a:bodyPr wrap="square"/>
                    <a:lstStyle/>
                    <a:p>
                      <a:r>
                        <a:rPr sz="1300" b="0" i="0">
                          <a:solidFill>
                            <a:srgbClr val="17272E"/>
                          </a:solidFill>
                          <a:latin typeface="Calibri"/>
                        </a:rPr>
                        <a:t>What was asserted plus what can be inferred</a:t>
                      </a:r>
                    </a:p>
                  </a:txBody>
                  <a:tcPr marL="91440" marR="91440" marT="27432" marB="27432" anchor="ctr">
                    <a:solidFill>
                      <a:srgbClr val="FFFFFF"/>
                    </a:solidFill>
                  </a:tcPr>
                </a:tc>
              </a:tr>
            </a:tbl>
          </a:graphicData>
        </a:graphic>
      </p:graphicFrame>
      <p:sp>
        <p:nvSpPr>
          <p:cNvPr id="6" name="Oval 5"/>
          <p:cNvSpPr/>
          <p:nvPr/>
        </p:nvSpPr>
        <p:spPr>
          <a:xfrm>
            <a:off x="548640" y="5852160"/>
            <a:ext cx="329184" cy="329184"/>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a:t>
            </a:r>
          </a:p>
        </p:txBody>
      </p:sp>
      <p:sp>
        <p:nvSpPr>
          <p:cNvPr id="7" name="Takeaway"/>
          <p:cNvSpPr txBox="1"/>
          <p:nvPr/>
        </p:nvSpPr>
        <p:spPr>
          <a:xfrm>
            <a:off x="1005840" y="5852160"/>
            <a:ext cx="10637215" cy="329184"/>
          </a:xfrm>
          <a:prstGeom prst="rect">
            <a:avLst/>
          </a:prstGeom>
          <a:noFill/>
        </p:spPr>
        <p:txBody>
          <a:bodyPr wrap="square" anchor="ctr" lIns="0" rIns="0" tIns="0" bIns="0">
            <a:noAutofit/>
          </a:bodyPr>
          <a:lstStyle/>
          <a:p>
            <a:pPr algn="l">
              <a:spcAft>
                <a:spcPts val="600"/>
              </a:spcAft>
            </a:pPr>
            <a:r>
              <a:rPr sz="1500" b="1" i="0">
                <a:solidFill>
                  <a:srgbClr val="17272E"/>
                </a:solidFill>
                <a:latin typeface="Calibri"/>
              </a:rPr>
              <a:t>They work together: R2RML maps tables to RDF, and OWL 2 QL is designed to run over databases.</a:t>
            </a:r>
          </a:p>
        </p:txBody>
      </p:sp>
      <p:sp>
        <p:nvSpPr>
          <p:cNvPr id="8"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9"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7272E"/>
        </a:solidFill>
        <a:effectLst/>
      </p:bgPr>
    </p:bg>
    <p:spTree>
      <p:nvGrpSpPr>
        <p:cNvPr id="1" name=""/>
        <p:cNvGrpSpPr/>
        <p:nvPr/>
      </p:nvGrpSpPr>
      <p:grpSpPr/>
      <p:sp>
        <p:nvSpPr>
          <p:cNvPr id="2" name="Title 1"/>
          <p:cNvSpPr>
            <a:spLocks noGrp="1"/>
          </p:cNvSpPr>
          <p:nvPr>
            <p:ph type="title"/>
          </p:nvPr>
        </p:nvSpPr>
        <p:spPr>
          <a:xfrm>
            <a:off x="548640" y="3154680"/>
            <a:ext cx="6949440" cy="1371600"/>
          </a:xfrm>
        </p:spPr>
        <p:txBody>
          <a:bodyPr wrap="square" anchor="t" lIns="0" rIns="0" tIns="0" bIns="0">
            <a:noAutofit/>
          </a:bodyPr>
          <a:lstStyle/>
          <a:p>
            <a:pPr algn="l"/>
            <a:r>
              <a:rPr sz="4000" b="1" i="0">
                <a:solidFill>
                  <a:srgbClr val="FFFFFF"/>
                </a:solidFill>
                <a:latin typeface="Cambria"/>
              </a:rPr>
              <a:t>Why we need ontologies</a:t>
            </a:r>
          </a:p>
        </p:txBody>
      </p:sp>
      <p:sp>
        <p:nvSpPr>
          <p:cNvPr id="3" name="Part number"/>
          <p:cNvSpPr txBox="1"/>
          <p:nvPr/>
        </p:nvSpPr>
        <p:spPr>
          <a:xfrm>
            <a:off x="548640" y="1325880"/>
            <a:ext cx="2743200" cy="1280160"/>
          </a:xfrm>
          <a:prstGeom prst="rect">
            <a:avLst/>
          </a:prstGeom>
          <a:noFill/>
        </p:spPr>
        <p:txBody>
          <a:bodyPr wrap="square" anchor="t" lIns="0" rIns="0" tIns="0" bIns="0">
            <a:noAutofit/>
          </a:bodyPr>
          <a:lstStyle/>
          <a:p>
            <a:pPr algn="l">
              <a:spcAft>
                <a:spcPts val="600"/>
              </a:spcAft>
            </a:pPr>
            <a:r>
              <a:rPr sz="9600" b="1" i="0">
                <a:solidFill>
                  <a:srgbClr val="E0952B"/>
                </a:solidFill>
                <a:latin typeface="Cambria"/>
              </a:rPr>
              <a:t>02</a:t>
            </a:r>
          </a:p>
        </p:txBody>
      </p:sp>
      <p:sp>
        <p:nvSpPr>
          <p:cNvPr id="4" name="TextBox 3"/>
          <p:cNvSpPr txBox="1"/>
          <p:nvPr/>
        </p:nvSpPr>
        <p:spPr>
          <a:xfrm>
            <a:off x="548640" y="2788920"/>
            <a:ext cx="6766560" cy="320040"/>
          </a:xfrm>
          <a:prstGeom prst="rect">
            <a:avLst/>
          </a:prstGeom>
          <a:noFill/>
        </p:spPr>
        <p:txBody>
          <a:bodyPr wrap="square" anchor="t" lIns="0" rIns="0" tIns="0" bIns="0">
            <a:noAutofit/>
          </a:bodyPr>
          <a:lstStyle/>
          <a:p>
            <a:pPr algn="l">
              <a:spcAft>
                <a:spcPts val="600"/>
              </a:spcAft>
            </a:pPr>
            <a:r>
              <a:rPr sz="1300" b="1" i="0">
                <a:solidFill>
                  <a:srgbClr val="7FD1C1"/>
                </a:solidFill>
                <a:latin typeface="Calibri"/>
              </a:rPr>
              <a:t>PART 2</a:t>
            </a:r>
          </a:p>
        </p:txBody>
      </p:sp>
      <p:sp>
        <p:nvSpPr>
          <p:cNvPr id="5" name="TextBox 4"/>
          <p:cNvSpPr txBox="1"/>
          <p:nvPr/>
        </p:nvSpPr>
        <p:spPr>
          <a:xfrm>
            <a:off x="548640" y="4572000"/>
            <a:ext cx="6583680" cy="731520"/>
          </a:xfrm>
          <a:prstGeom prst="rect">
            <a:avLst/>
          </a:prstGeom>
          <a:noFill/>
        </p:spPr>
        <p:txBody>
          <a:bodyPr wrap="square" anchor="t" lIns="0" rIns="0" tIns="0" bIns="0">
            <a:noAutofit/>
          </a:bodyPr>
          <a:lstStyle/>
          <a:p>
            <a:pPr algn="l">
              <a:spcAft>
                <a:spcPts val="600"/>
              </a:spcAft>
            </a:pPr>
            <a:r>
              <a:rPr sz="1800" b="0" i="0">
                <a:solidFill>
                  <a:srgbClr val="E3EBEE"/>
                </a:solidFill>
                <a:latin typeface="Calibri"/>
              </a:rPr>
              <a:t>The problem ontologies solve, and why the Web makes it harder.</a:t>
            </a:r>
          </a:p>
        </p:txBody>
      </p:sp>
      <p:sp>
        <p:nvSpPr>
          <p:cNvPr id="6" name="Oval 5"/>
          <p:cNvSpPr/>
          <p:nvPr/>
        </p:nvSpPr>
        <p:spPr>
          <a:xfrm>
            <a:off x="58521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1</a:t>
            </a:r>
          </a:p>
        </p:txBody>
      </p:sp>
      <p:sp>
        <p:nvSpPr>
          <p:cNvPr id="7" name="Oval 6"/>
          <p:cNvSpPr/>
          <p:nvPr/>
        </p:nvSpPr>
        <p:spPr>
          <a:xfrm>
            <a:off x="1051560" y="5623559"/>
            <a:ext cx="365760" cy="365760"/>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200" b="1" i="0">
                <a:solidFill>
                  <a:srgbClr val="17272E"/>
                </a:solidFill>
                <a:latin typeface="Calibri"/>
              </a:rPr>
              <a:t>2</a:t>
            </a:r>
          </a:p>
        </p:txBody>
      </p:sp>
      <p:sp>
        <p:nvSpPr>
          <p:cNvPr id="8" name="Oval 7"/>
          <p:cNvSpPr/>
          <p:nvPr/>
        </p:nvSpPr>
        <p:spPr>
          <a:xfrm>
            <a:off x="1591056"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3</a:t>
            </a:r>
          </a:p>
        </p:txBody>
      </p:sp>
      <p:sp>
        <p:nvSpPr>
          <p:cNvPr id="9" name="Oval 8"/>
          <p:cNvSpPr/>
          <p:nvPr/>
        </p:nvSpPr>
        <p:spPr>
          <a:xfrm>
            <a:off x="2093976"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4</a:t>
            </a:r>
          </a:p>
        </p:txBody>
      </p:sp>
      <p:sp>
        <p:nvSpPr>
          <p:cNvPr id="10" name="Oval 9"/>
          <p:cNvSpPr/>
          <p:nvPr/>
        </p:nvSpPr>
        <p:spPr>
          <a:xfrm>
            <a:off x="2596896"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5</a:t>
            </a:r>
          </a:p>
        </p:txBody>
      </p:sp>
      <p:sp>
        <p:nvSpPr>
          <p:cNvPr id="11" name="Oval 10"/>
          <p:cNvSpPr/>
          <p:nvPr/>
        </p:nvSpPr>
        <p:spPr>
          <a:xfrm>
            <a:off x="3099815"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6</a:t>
            </a:r>
          </a:p>
        </p:txBody>
      </p:sp>
      <p:sp>
        <p:nvSpPr>
          <p:cNvPr id="12" name="Oval 11"/>
          <p:cNvSpPr/>
          <p:nvPr/>
        </p:nvSpPr>
        <p:spPr>
          <a:xfrm>
            <a:off x="3602736"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7</a:t>
            </a:r>
          </a:p>
        </p:txBody>
      </p:sp>
      <p:sp>
        <p:nvSpPr>
          <p:cNvPr id="13" name="Oval 12"/>
          <p:cNvSpPr/>
          <p:nvPr/>
        </p:nvSpPr>
        <p:spPr>
          <a:xfrm>
            <a:off x="4105656"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8</a:t>
            </a:r>
          </a:p>
        </p:txBody>
      </p:sp>
      <p:sp>
        <p:nvSpPr>
          <p:cNvPr id="14" name="Oval 13"/>
          <p:cNvSpPr/>
          <p:nvPr/>
        </p:nvSpPr>
        <p:spPr>
          <a:xfrm>
            <a:off x="4608576"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9</a:t>
            </a:r>
          </a:p>
        </p:txBody>
      </p:sp>
      <p:cxnSp>
        <p:nvCxnSpPr>
          <p:cNvPr id="15" name="Motif edge"/>
          <p:cNvCxnSpPr/>
          <p:nvPr/>
        </p:nvCxnSpPr>
        <p:spPr>
          <a:xfrm flipV="1">
            <a:off x="8257032" y="1568195"/>
            <a:ext cx="1536192" cy="576073"/>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6" name="Motif edge"/>
          <p:cNvCxnSpPr/>
          <p:nvPr/>
        </p:nvCxnSpPr>
        <p:spPr>
          <a:xfrm>
            <a:off x="9793224" y="1568195"/>
            <a:ext cx="1344168" cy="960121"/>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7" name="Motif edge"/>
          <p:cNvCxnSpPr/>
          <p:nvPr/>
        </p:nvCxnSpPr>
        <p:spPr>
          <a:xfrm>
            <a:off x="8257032" y="2144268"/>
            <a:ext cx="960120" cy="1344168"/>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8" name="Motif edge"/>
          <p:cNvCxnSpPr/>
          <p:nvPr/>
        </p:nvCxnSpPr>
        <p:spPr>
          <a:xfrm flipH="1">
            <a:off x="9217152" y="1568195"/>
            <a:ext cx="576072" cy="1920241"/>
          </a:xfrm>
          <a:prstGeom prst="line">
            <a:avLst/>
          </a:prstGeom>
          <a:ln w="28575">
            <a:solidFill>
              <a:srgbClr val="E0952B"/>
            </a:solidFill>
            <a:prstDash val="dash"/>
          </a:ln>
        </p:spPr>
        <p:style>
          <a:lnRef idx="2">
            <a:schemeClr val="accent1"/>
          </a:lnRef>
          <a:fillRef idx="0">
            <a:schemeClr val="accent1"/>
          </a:fillRef>
          <a:effectRef idx="1">
            <a:schemeClr val="accent1"/>
          </a:effectRef>
          <a:fontRef idx="minor">
            <a:schemeClr val="tx1"/>
          </a:fontRef>
        </p:style>
      </p:cxnSp>
      <p:cxnSp>
        <p:nvCxnSpPr>
          <p:cNvPr id="19" name="Motif edge"/>
          <p:cNvCxnSpPr/>
          <p:nvPr/>
        </p:nvCxnSpPr>
        <p:spPr>
          <a:xfrm flipH="1">
            <a:off x="10657332" y="2528316"/>
            <a:ext cx="480060" cy="1728216"/>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0" name="Motif edge"/>
          <p:cNvCxnSpPr/>
          <p:nvPr/>
        </p:nvCxnSpPr>
        <p:spPr>
          <a:xfrm>
            <a:off x="9217152" y="3488436"/>
            <a:ext cx="1440180" cy="768096"/>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1" name="Motif edge"/>
          <p:cNvCxnSpPr/>
          <p:nvPr/>
        </p:nvCxnSpPr>
        <p:spPr>
          <a:xfrm flipH="1">
            <a:off x="8161020" y="3488436"/>
            <a:ext cx="1056132" cy="1248156"/>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2" name="Motif edge"/>
          <p:cNvCxnSpPr/>
          <p:nvPr/>
        </p:nvCxnSpPr>
        <p:spPr>
          <a:xfrm flipH="1">
            <a:off x="9889236" y="4256532"/>
            <a:ext cx="768096" cy="1056132"/>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3" name="Motif edge"/>
          <p:cNvCxnSpPr/>
          <p:nvPr/>
        </p:nvCxnSpPr>
        <p:spPr>
          <a:xfrm>
            <a:off x="8161020" y="4736592"/>
            <a:ext cx="1728216" cy="576072"/>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sp>
        <p:nvSpPr>
          <p:cNvPr id="24" name="Motif node"/>
          <p:cNvSpPr/>
          <p:nvPr/>
        </p:nvSpPr>
        <p:spPr>
          <a:xfrm>
            <a:off x="8113014" y="2000249"/>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Motif node"/>
          <p:cNvSpPr/>
          <p:nvPr/>
        </p:nvSpPr>
        <p:spPr>
          <a:xfrm>
            <a:off x="9591598" y="1366570"/>
            <a:ext cx="403250" cy="403250"/>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otif node"/>
          <p:cNvSpPr/>
          <p:nvPr/>
        </p:nvSpPr>
        <p:spPr>
          <a:xfrm>
            <a:off x="10993374" y="2384298"/>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Motif node"/>
          <p:cNvSpPr/>
          <p:nvPr/>
        </p:nvSpPr>
        <p:spPr>
          <a:xfrm>
            <a:off x="9015526" y="3286810"/>
            <a:ext cx="403250" cy="403250"/>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Motif node"/>
          <p:cNvSpPr/>
          <p:nvPr/>
        </p:nvSpPr>
        <p:spPr>
          <a:xfrm>
            <a:off x="10455706" y="4054906"/>
            <a:ext cx="403250" cy="403250"/>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otif node"/>
          <p:cNvSpPr/>
          <p:nvPr/>
        </p:nvSpPr>
        <p:spPr>
          <a:xfrm>
            <a:off x="8017002" y="4592574"/>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Motif node"/>
          <p:cNvSpPr/>
          <p:nvPr/>
        </p:nvSpPr>
        <p:spPr>
          <a:xfrm>
            <a:off x="9745218" y="5168646"/>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7FD1C1"/>
                </a:solidFill>
                <a:latin typeface="Calibri"/>
              </a:rPr>
              <a:t>What is an ontology? · from RDF to OWL</a:t>
            </a:r>
          </a:p>
        </p:txBody>
      </p:sp>
      <p:sp>
        <p:nvSpPr>
          <p:cNvPr id="32"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7FD1C1"/>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The problem: same world, different words</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2 · WHY WE NEED ONTOLOGIES</a:t>
            </a:r>
          </a:p>
        </p:txBody>
      </p:sp>
      <p:sp>
        <p:nvSpPr>
          <p:cNvPr id="4" name="TextBox 3"/>
          <p:cNvSpPr txBox="1"/>
          <p:nvPr/>
        </p:nvSpPr>
        <p:spPr>
          <a:xfrm>
            <a:off x="548640" y="1572768"/>
            <a:ext cx="5486400"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SOURCE A  ·  studio catalogue</a:t>
            </a:r>
          </a:p>
        </p:txBody>
      </p:sp>
      <p:graphicFrame>
        <p:nvGraphicFramePr>
          <p:cNvPr id="5" name="Table 4"/>
          <p:cNvGraphicFramePr>
            <a:graphicFrameLocks noGrp="1"/>
          </p:cNvGraphicFramePr>
          <p:nvPr/>
        </p:nvGraphicFramePr>
        <p:xfrm>
          <a:off x="548640" y="1847088"/>
          <a:ext cx="5486400" cy="987552"/>
        </p:xfrm>
        <a:graphic>
          <a:graphicData uri="http://schemas.openxmlformats.org/drawingml/2006/table">
            <a:tbl>
              <a:tblPr firstRow="0" bandRow="0">
                <a:tableStyleId>{5C22544A-7EE6-4342-B048-85BDC9FD1C3A}</a:tableStyleId>
              </a:tblPr>
              <a:tblGrid>
                <a:gridCol w="2377440"/>
                <a:gridCol w="3108960"/>
              </a:tblGrid>
              <a:tr h="329184">
                <a:tc>
                  <a:txBody>
                    <a:bodyPr wrap="square"/>
                    <a:lstStyle/>
                    <a:p>
                      <a:r>
                        <a:rPr sz="1300" b="1" i="0">
                          <a:solidFill>
                            <a:srgbClr val="FFFFFF"/>
                          </a:solidFill>
                          <a:latin typeface="Calibri"/>
                        </a:rPr>
                        <a:t>movie</a:t>
                      </a:r>
                    </a:p>
                  </a:txBody>
                  <a:tcPr marL="91440" marR="91440" marT="27432" marB="27432" anchor="ctr">
                    <a:solidFill>
                      <a:srgbClr val="1F7A6D"/>
                    </a:solidFill>
                  </a:tcPr>
                </a:tc>
                <a:tc>
                  <a:txBody>
                    <a:bodyPr wrap="square"/>
                    <a:lstStyle/>
                    <a:p>
                      <a:r>
                        <a:rPr sz="1300" b="1" i="0">
                          <a:solidFill>
                            <a:srgbClr val="FFFFFF"/>
                          </a:solidFill>
                          <a:latin typeface="Calibri"/>
                        </a:rPr>
                        <a:t>starring</a:t>
                      </a:r>
                    </a:p>
                  </a:txBody>
                  <a:tcPr marL="91440" marR="91440" marT="27432" marB="27432" anchor="ctr">
                    <a:solidFill>
                      <a:srgbClr val="1F7A6D"/>
                    </a:solidFill>
                  </a:tcPr>
                </a:tc>
              </a:tr>
              <a:tr h="329184">
                <a:tc>
                  <a:txBody>
                    <a:bodyPr wrap="square"/>
                    <a:lstStyle/>
                    <a:p>
                      <a:r>
                        <a:rPr sz="1300" b="0" i="0">
                          <a:solidFill>
                            <a:srgbClr val="17272E"/>
                          </a:solidFill>
                          <a:latin typeface="Calibri"/>
                        </a:rPr>
                        <a:t>Giant</a:t>
                      </a:r>
                    </a:p>
                  </a:txBody>
                  <a:tcPr marL="91440" marR="91440" marT="27432" marB="27432" anchor="ctr">
                    <a:solidFill>
                      <a:srgbClr val="FFFFFF"/>
                    </a:solidFill>
                  </a:tcPr>
                </a:tc>
                <a:tc>
                  <a:txBody>
                    <a:bodyPr wrap="square"/>
                    <a:lstStyle/>
                    <a:p>
                      <a:r>
                        <a:rPr sz="1200" b="0" i="0">
                          <a:solidFill>
                            <a:srgbClr val="17272E"/>
                          </a:solidFill>
                          <a:latin typeface="Consolas"/>
                        </a:rPr>
                        <a:t>:JamesDean</a:t>
                      </a:r>
                    </a:p>
                  </a:txBody>
                  <a:tcPr marL="91440" marR="91440" marT="27432" marB="27432" anchor="ctr">
                    <a:solidFill>
                      <a:srgbClr val="FFFFFF"/>
                    </a:solidFill>
                  </a:tcPr>
                </a:tc>
              </a:tr>
              <a:tr h="329184">
                <a:tc>
                  <a:txBody>
                    <a:bodyPr wrap="square"/>
                    <a:lstStyle/>
                    <a:p>
                      <a:r>
                        <a:rPr sz="1300" b="0" i="0">
                          <a:solidFill>
                            <a:srgbClr val="17272E"/>
                          </a:solidFill>
                          <a:latin typeface="Calibri"/>
                        </a:rPr>
                        <a:t>East of Eden</a:t>
                      </a:r>
                    </a:p>
                  </a:txBody>
                  <a:tcPr marL="91440" marR="91440" marT="27432" marB="27432" anchor="ctr">
                    <a:solidFill>
                      <a:srgbClr val="EAF3F0"/>
                    </a:solidFill>
                  </a:tcPr>
                </a:tc>
                <a:tc>
                  <a:txBody>
                    <a:bodyPr wrap="square"/>
                    <a:lstStyle/>
                    <a:p>
                      <a:r>
                        <a:rPr sz="1200" b="0" i="0">
                          <a:solidFill>
                            <a:srgbClr val="17272E"/>
                          </a:solidFill>
                          <a:latin typeface="Consolas"/>
                        </a:rPr>
                        <a:t>:JamesDean</a:t>
                      </a:r>
                    </a:p>
                  </a:txBody>
                  <a:tcPr marL="91440" marR="91440" marT="27432" marB="27432" anchor="ctr">
                    <a:solidFill>
                      <a:srgbClr val="EAF3F0"/>
                    </a:solidFill>
                  </a:tcPr>
                </a:tc>
              </a:tr>
            </a:tbl>
          </a:graphicData>
        </a:graphic>
      </p:graphicFrame>
      <p:sp>
        <p:nvSpPr>
          <p:cNvPr id="6" name="TextBox 5"/>
          <p:cNvSpPr txBox="1"/>
          <p:nvPr/>
        </p:nvSpPr>
        <p:spPr>
          <a:xfrm>
            <a:off x="548640" y="2990088"/>
            <a:ext cx="5486400"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SOURCE B  ·  fan wiki</a:t>
            </a:r>
          </a:p>
        </p:txBody>
      </p:sp>
      <p:graphicFrame>
        <p:nvGraphicFramePr>
          <p:cNvPr id="7" name="Table 6"/>
          <p:cNvGraphicFramePr>
            <a:graphicFrameLocks noGrp="1"/>
          </p:cNvGraphicFramePr>
          <p:nvPr/>
        </p:nvGraphicFramePr>
        <p:xfrm>
          <a:off x="548640" y="3264408"/>
          <a:ext cx="5486400" cy="658368"/>
        </p:xfrm>
        <a:graphic>
          <a:graphicData uri="http://schemas.openxmlformats.org/drawingml/2006/table">
            <a:tbl>
              <a:tblPr firstRow="0" bandRow="0">
                <a:tableStyleId>{5C22544A-7EE6-4342-B048-85BDC9FD1C3A}</a:tableStyleId>
              </a:tblPr>
              <a:tblGrid>
                <a:gridCol w="2011680"/>
                <a:gridCol w="1371600"/>
                <a:gridCol w="2103120"/>
              </a:tblGrid>
              <a:tr h="329184">
                <a:tc>
                  <a:txBody>
                    <a:bodyPr wrap="square"/>
                    <a:lstStyle/>
                    <a:p>
                      <a:r>
                        <a:rPr sz="1300" b="1" i="0">
                          <a:solidFill>
                            <a:srgbClr val="FFFFFF"/>
                          </a:solidFill>
                          <a:latin typeface="Calibri"/>
                        </a:rPr>
                        <a:t>page</a:t>
                      </a:r>
                    </a:p>
                  </a:txBody>
                  <a:tcPr marL="91440" marR="91440" marT="27432" marB="27432" anchor="ctr">
                    <a:solidFill>
                      <a:srgbClr val="1F7A6D"/>
                    </a:solidFill>
                  </a:tcPr>
                </a:tc>
                <a:tc>
                  <a:txBody>
                    <a:bodyPr wrap="square"/>
                    <a:lstStyle/>
                    <a:p>
                      <a:r>
                        <a:rPr sz="1300" b="1" i="0">
                          <a:solidFill>
                            <a:srgbClr val="FFFFFF"/>
                          </a:solidFill>
                          <a:latin typeface="Calibri"/>
                        </a:rPr>
                        <a:t>type</a:t>
                      </a:r>
                    </a:p>
                  </a:txBody>
                  <a:tcPr marL="91440" marR="91440" marT="27432" marB="27432" anchor="ctr">
                    <a:solidFill>
                      <a:srgbClr val="1F7A6D"/>
                    </a:solidFill>
                  </a:tcPr>
                </a:tc>
                <a:tc>
                  <a:txBody>
                    <a:bodyPr wrap="square"/>
                    <a:lstStyle/>
                    <a:p>
                      <a:r>
                        <a:rPr sz="1300" b="1" i="0">
                          <a:solidFill>
                            <a:srgbClr val="FFFFFF"/>
                          </a:solidFill>
                          <a:latin typeface="Calibri"/>
                        </a:rPr>
                        <a:t>bornIn</a:t>
                      </a:r>
                    </a:p>
                  </a:txBody>
                  <a:tcPr marL="91440" marR="91440" marT="27432" marB="27432" anchor="ctr">
                    <a:solidFill>
                      <a:srgbClr val="1F7A6D"/>
                    </a:solidFill>
                  </a:tcPr>
                </a:tc>
              </a:tr>
              <a:tr h="329184">
                <a:tc>
                  <a:txBody>
                    <a:bodyPr wrap="square"/>
                    <a:lstStyle/>
                    <a:p>
                      <a:r>
                        <a:rPr sz="1200" b="0" i="0">
                          <a:solidFill>
                            <a:srgbClr val="17272E"/>
                          </a:solidFill>
                          <a:latin typeface="Consolas"/>
                        </a:rPr>
                        <a:t>fan:Dean_James</a:t>
                      </a:r>
                    </a:p>
                  </a:txBody>
                  <a:tcPr marL="91440" marR="91440" marT="27432" marB="27432" anchor="ctr">
                    <a:solidFill>
                      <a:srgbClr val="FFFFFF"/>
                    </a:solidFill>
                  </a:tcPr>
                </a:tc>
                <a:tc>
                  <a:txBody>
                    <a:bodyPr wrap="square"/>
                    <a:lstStyle/>
                    <a:p>
                      <a:r>
                        <a:rPr sz="1200" b="0" i="0">
                          <a:solidFill>
                            <a:srgbClr val="17272E"/>
                          </a:solidFill>
                          <a:latin typeface="Consolas"/>
                        </a:rPr>
                        <a:t>fan:Star</a:t>
                      </a:r>
                    </a:p>
                  </a:txBody>
                  <a:tcPr marL="91440" marR="91440" marT="27432" marB="27432" anchor="ctr">
                    <a:solidFill>
                      <a:srgbClr val="FFFFFF"/>
                    </a:solidFill>
                  </a:tcPr>
                </a:tc>
                <a:tc>
                  <a:txBody>
                    <a:bodyPr wrap="square"/>
                    <a:lstStyle/>
                    <a:p>
                      <a:r>
                        <a:rPr sz="1300" b="0" i="0">
                          <a:solidFill>
                            <a:srgbClr val="17272E"/>
                          </a:solidFill>
                          <a:latin typeface="Calibri"/>
                        </a:rPr>
                        <a:t>Marion, Indiana</a:t>
                      </a:r>
                    </a:p>
                  </a:txBody>
                  <a:tcPr marL="91440" marR="91440" marT="27432" marB="27432" anchor="ctr">
                    <a:solidFill>
                      <a:srgbClr val="FFFFFF"/>
                    </a:solidFill>
                  </a:tcPr>
                </a:tc>
              </a:tr>
            </a:tbl>
          </a:graphicData>
        </a:graphic>
      </p:graphicFrame>
      <p:sp>
        <p:nvSpPr>
          <p:cNvPr id="8" name="Question"/>
          <p:cNvSpPr/>
          <p:nvPr/>
        </p:nvSpPr>
        <p:spPr>
          <a:xfrm>
            <a:off x="548640" y="4114800"/>
            <a:ext cx="5486400" cy="2011680"/>
          </a:xfrm>
          <a:prstGeom prst="roundRect">
            <a:avLst>
              <a:gd name="adj" fmla="val 5454"/>
            </a:avLst>
          </a:prstGeom>
          <a:solidFill>
            <a:srgbClr val="F8E4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8288" bIns="18288">
            <a:noAutofit/>
          </a:bodyPr>
          <a:lstStyle/>
          <a:p>
            <a:pPr algn="l"/>
            <a:r>
              <a:rPr sz="1600" b="1" i="0">
                <a:solidFill>
                  <a:srgbClr val="17272E"/>
                </a:solidFill>
                <a:latin typeface="Calibri"/>
              </a:rPr>
              <a:t>“Where was the star of Giant born?”</a:t>
            </a:r>
          </a:p>
          <a:p>
            <a:pPr algn="l"/>
            <a:r>
              <a:rPr sz="1300" b="0" i="0">
                <a:solidFill>
                  <a:srgbClr val="17272E"/>
                </a:solidFill>
                <a:latin typeface="Calibri"/>
              </a:rPr>
              <a:t>A person joins these at a glance. A program must be told three things:</a:t>
            </a:r>
          </a:p>
          <a:p>
            <a:pPr algn="l"/>
            <a:r>
              <a:rPr sz="1300" b="1" i="0">
                <a:solidFill>
                  <a:srgbClr val="C24E36"/>
                </a:solidFill>
                <a:latin typeface="Calibri"/>
              </a:rPr>
              <a:t>1   </a:t>
            </a:r>
            <a:r>
              <a:rPr sz="1300" b="0" i="0">
                <a:solidFill>
                  <a:srgbClr val="17272E"/>
                </a:solidFill>
                <a:latin typeface="Calibri"/>
              </a:rPr>
              <a:t>Identity: fan:Dean_James and :JamesDean are the same person</a:t>
            </a:r>
          </a:p>
          <a:p>
            <a:pPr algn="l"/>
            <a:r>
              <a:rPr sz="1300" b="1" i="0">
                <a:solidFill>
                  <a:srgbClr val="C24E36"/>
                </a:solidFill>
                <a:latin typeface="Calibri"/>
              </a:rPr>
              <a:t>2   </a:t>
            </a:r>
            <a:r>
              <a:rPr sz="1300" b="0" i="0">
                <a:solidFill>
                  <a:srgbClr val="17272E"/>
                </a:solidFill>
                <a:latin typeface="Calibri"/>
              </a:rPr>
              <a:t>Vocabulary: a fan:Star is what the studio calls an :Actor</a:t>
            </a:r>
          </a:p>
          <a:p>
            <a:pPr algn="l"/>
            <a:r>
              <a:rPr sz="1300" b="1" i="0">
                <a:solidFill>
                  <a:srgbClr val="C24E36"/>
                </a:solidFill>
                <a:latin typeface="Calibri"/>
              </a:rPr>
              <a:t>3   </a:t>
            </a:r>
            <a:r>
              <a:rPr sz="1300" b="0" i="0">
                <a:solidFill>
                  <a:srgbClr val="17272E"/>
                </a:solidFill>
                <a:latin typeface="Calibri"/>
              </a:rPr>
              <a:t>Meaning: every :Actor is a :Person</a:t>
            </a:r>
          </a:p>
          <a:p>
            <a:pPr algn="l"/>
            <a:r>
              <a:rPr sz="1300" b="0" i="1">
                <a:solidFill>
                  <a:srgbClr val="17272E"/>
                </a:solidFill>
                <a:latin typeface="Calibri"/>
              </a:rPr>
              <a:t>An ontology states these once, in a form software applies to every record.</a:t>
            </a:r>
          </a:p>
        </p:txBody>
      </p:sp>
      <p:sp>
        <p:nvSpPr>
          <p:cNvPr id="9" name="TextBox 8"/>
          <p:cNvSpPr txBox="1"/>
          <p:nvPr/>
        </p:nvSpPr>
        <p:spPr>
          <a:xfrm>
            <a:off x="6400800" y="1572768"/>
            <a:ext cx="5242255"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WHAT AN ONTOLOGY GIVES YOU</a:t>
            </a:r>
          </a:p>
        </p:txBody>
      </p:sp>
      <p:sp>
        <p:nvSpPr>
          <p:cNvPr id="10" name="Oval 9"/>
          <p:cNvSpPr/>
          <p:nvPr/>
        </p:nvSpPr>
        <p:spPr>
          <a:xfrm>
            <a:off x="6409944" y="1911096"/>
            <a:ext cx="384048" cy="38404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1</a:t>
            </a:r>
          </a:p>
        </p:txBody>
      </p:sp>
      <p:sp>
        <p:nvSpPr>
          <p:cNvPr id="11" name="TextBox 10"/>
          <p:cNvSpPr txBox="1"/>
          <p:nvPr/>
        </p:nvSpPr>
        <p:spPr>
          <a:xfrm>
            <a:off x="6949440" y="1920240"/>
            <a:ext cx="4693615" cy="658368"/>
          </a:xfrm>
          <a:prstGeom prst="rect">
            <a:avLst/>
          </a:prstGeom>
          <a:noFill/>
        </p:spPr>
        <p:txBody>
          <a:bodyPr wrap="square" anchor="t" lIns="0" rIns="0" tIns="0" bIns="0">
            <a:noAutofit/>
          </a:bodyPr>
          <a:lstStyle/>
          <a:p>
            <a:pPr algn="l">
              <a:spcAft>
                <a:spcPts val="300"/>
              </a:spcAft>
            </a:pPr>
            <a:r>
              <a:rPr sz="1400" b="1" i="0">
                <a:solidFill>
                  <a:srgbClr val="17272E"/>
                </a:solidFill>
                <a:latin typeface="Calibri"/>
              </a:rPr>
              <a:t>Shared vocabulary</a:t>
            </a:r>
          </a:p>
          <a:p>
            <a:pPr algn="l">
              <a:spcAft>
                <a:spcPts val="300"/>
              </a:spcAft>
            </a:pPr>
            <a:r>
              <a:rPr sz="1300" b="0" i="0">
                <a:solidFill>
                  <a:srgbClr val="17272E"/>
                </a:solidFill>
                <a:latin typeface="Calibri"/>
              </a:rPr>
              <a:t>Terms with one agreed meaning, written down, across teams and systems.</a:t>
            </a:r>
          </a:p>
        </p:txBody>
      </p:sp>
      <p:sp>
        <p:nvSpPr>
          <p:cNvPr id="12" name="Oval 11"/>
          <p:cNvSpPr/>
          <p:nvPr/>
        </p:nvSpPr>
        <p:spPr>
          <a:xfrm>
            <a:off x="6409944" y="2587752"/>
            <a:ext cx="384048" cy="38404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2</a:t>
            </a:r>
          </a:p>
        </p:txBody>
      </p:sp>
      <p:sp>
        <p:nvSpPr>
          <p:cNvPr id="13" name="TextBox 12"/>
          <p:cNvSpPr txBox="1"/>
          <p:nvPr/>
        </p:nvSpPr>
        <p:spPr>
          <a:xfrm>
            <a:off x="6949440" y="2596896"/>
            <a:ext cx="4693615" cy="658368"/>
          </a:xfrm>
          <a:prstGeom prst="rect">
            <a:avLst/>
          </a:prstGeom>
          <a:noFill/>
        </p:spPr>
        <p:txBody>
          <a:bodyPr wrap="square" anchor="t" lIns="0" rIns="0" tIns="0" bIns="0">
            <a:noAutofit/>
          </a:bodyPr>
          <a:lstStyle/>
          <a:p>
            <a:pPr algn="l">
              <a:spcAft>
                <a:spcPts val="300"/>
              </a:spcAft>
            </a:pPr>
            <a:r>
              <a:rPr sz="1400" b="1" i="0">
                <a:solidFill>
                  <a:srgbClr val="17272E"/>
                </a:solidFill>
                <a:latin typeface="Calibri"/>
              </a:rPr>
              <a:t>Integration</a:t>
            </a:r>
          </a:p>
          <a:p>
            <a:pPr algn="l">
              <a:spcAft>
                <a:spcPts val="300"/>
              </a:spcAft>
            </a:pPr>
            <a:r>
              <a:rPr sz="1300" b="0" i="0">
                <a:solidFill>
                  <a:srgbClr val="17272E"/>
                </a:solidFill>
                <a:latin typeface="Calibri"/>
              </a:rPr>
              <a:t>Map other sources' terms onto yours instead of rewriting their data.</a:t>
            </a:r>
          </a:p>
        </p:txBody>
      </p:sp>
      <p:sp>
        <p:nvSpPr>
          <p:cNvPr id="14" name="Oval 13"/>
          <p:cNvSpPr/>
          <p:nvPr/>
        </p:nvSpPr>
        <p:spPr>
          <a:xfrm>
            <a:off x="6409944" y="3264408"/>
            <a:ext cx="384048" cy="38404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3</a:t>
            </a:r>
          </a:p>
        </p:txBody>
      </p:sp>
      <p:sp>
        <p:nvSpPr>
          <p:cNvPr id="15" name="TextBox 14"/>
          <p:cNvSpPr txBox="1"/>
          <p:nvPr/>
        </p:nvSpPr>
        <p:spPr>
          <a:xfrm>
            <a:off x="6949440" y="3273552"/>
            <a:ext cx="4693615" cy="658368"/>
          </a:xfrm>
          <a:prstGeom prst="rect">
            <a:avLst/>
          </a:prstGeom>
          <a:noFill/>
        </p:spPr>
        <p:txBody>
          <a:bodyPr wrap="square" anchor="t" lIns="0" rIns="0" tIns="0" bIns="0">
            <a:noAutofit/>
          </a:bodyPr>
          <a:lstStyle/>
          <a:p>
            <a:pPr algn="l">
              <a:spcAft>
                <a:spcPts val="300"/>
              </a:spcAft>
            </a:pPr>
            <a:r>
              <a:rPr sz="1400" b="1" i="0">
                <a:solidFill>
                  <a:srgbClr val="17272E"/>
                </a:solidFill>
                <a:latin typeface="Calibri"/>
              </a:rPr>
              <a:t>Inference</a:t>
            </a:r>
          </a:p>
          <a:p>
            <a:pPr algn="l">
              <a:spcAft>
                <a:spcPts val="300"/>
              </a:spcAft>
            </a:pPr>
            <a:r>
              <a:rPr sz="1300" b="0" i="0">
                <a:solidFill>
                  <a:srgbClr val="17272E"/>
                </a:solidFill>
                <a:latin typeface="Calibri"/>
              </a:rPr>
              <a:t>Derive facts nobody typed in: James Dean is a Person.</a:t>
            </a:r>
          </a:p>
        </p:txBody>
      </p:sp>
      <p:sp>
        <p:nvSpPr>
          <p:cNvPr id="16" name="Oval 15"/>
          <p:cNvSpPr/>
          <p:nvPr/>
        </p:nvSpPr>
        <p:spPr>
          <a:xfrm>
            <a:off x="6409944" y="3941064"/>
            <a:ext cx="384048" cy="38404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4</a:t>
            </a:r>
          </a:p>
        </p:txBody>
      </p:sp>
      <p:sp>
        <p:nvSpPr>
          <p:cNvPr id="17" name="TextBox 16"/>
          <p:cNvSpPr txBox="1"/>
          <p:nvPr/>
        </p:nvSpPr>
        <p:spPr>
          <a:xfrm>
            <a:off x="6949440" y="3950208"/>
            <a:ext cx="4693615" cy="658368"/>
          </a:xfrm>
          <a:prstGeom prst="rect">
            <a:avLst/>
          </a:prstGeom>
          <a:noFill/>
        </p:spPr>
        <p:txBody>
          <a:bodyPr wrap="square" anchor="t" lIns="0" rIns="0" tIns="0" bIns="0">
            <a:noAutofit/>
          </a:bodyPr>
          <a:lstStyle/>
          <a:p>
            <a:pPr algn="l">
              <a:spcAft>
                <a:spcPts val="300"/>
              </a:spcAft>
            </a:pPr>
            <a:r>
              <a:rPr sz="1400" b="1" i="0">
                <a:solidFill>
                  <a:srgbClr val="17272E"/>
                </a:solidFill>
                <a:latin typeface="Calibri"/>
              </a:rPr>
              <a:t>Consistency checks</a:t>
            </a:r>
          </a:p>
          <a:p>
            <a:pPr algn="l">
              <a:spcAft>
                <a:spcPts val="300"/>
              </a:spcAft>
            </a:pPr>
            <a:r>
              <a:rPr sz="1300" b="0" i="0">
                <a:solidFill>
                  <a:srgbClr val="17272E"/>
                </a:solidFill>
                <a:latin typeface="Calibri"/>
              </a:rPr>
              <a:t>A reasoner flags statements that contradict the model.</a:t>
            </a:r>
          </a:p>
        </p:txBody>
      </p:sp>
      <p:sp>
        <p:nvSpPr>
          <p:cNvPr id="18" name="Oval 17"/>
          <p:cNvSpPr/>
          <p:nvPr/>
        </p:nvSpPr>
        <p:spPr>
          <a:xfrm>
            <a:off x="6409944" y="4617720"/>
            <a:ext cx="384048" cy="38404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5</a:t>
            </a:r>
          </a:p>
        </p:txBody>
      </p:sp>
      <p:sp>
        <p:nvSpPr>
          <p:cNvPr id="19" name="TextBox 18"/>
          <p:cNvSpPr txBox="1"/>
          <p:nvPr/>
        </p:nvSpPr>
        <p:spPr>
          <a:xfrm>
            <a:off x="6949440" y="4626864"/>
            <a:ext cx="4693615" cy="658368"/>
          </a:xfrm>
          <a:prstGeom prst="rect">
            <a:avLst/>
          </a:prstGeom>
          <a:noFill/>
        </p:spPr>
        <p:txBody>
          <a:bodyPr wrap="square" anchor="t" lIns="0" rIns="0" tIns="0" bIns="0">
            <a:noAutofit/>
          </a:bodyPr>
          <a:lstStyle/>
          <a:p>
            <a:pPr algn="l">
              <a:spcAft>
                <a:spcPts val="300"/>
              </a:spcAft>
            </a:pPr>
            <a:r>
              <a:rPr sz="1400" b="1" i="0">
                <a:solidFill>
                  <a:srgbClr val="17272E"/>
                </a:solidFill>
                <a:latin typeface="Calibri"/>
              </a:rPr>
              <a:t>Reuse</a:t>
            </a:r>
          </a:p>
          <a:p>
            <a:pPr algn="l">
              <a:spcAft>
                <a:spcPts val="300"/>
              </a:spcAft>
            </a:pPr>
            <a:r>
              <a:rPr sz="1300" b="0" i="0">
                <a:solidFill>
                  <a:srgbClr val="17272E"/>
                </a:solidFill>
                <a:latin typeface="Calibri"/>
              </a:rPr>
              <a:t>Publish the model; others extend it instead of starting over.</a:t>
            </a:r>
          </a:p>
        </p:txBody>
      </p:sp>
      <p:sp>
        <p:nvSpPr>
          <p:cNvPr id="20" name="Where"/>
          <p:cNvSpPr/>
          <p:nvPr/>
        </p:nvSpPr>
        <p:spPr>
          <a:xfrm>
            <a:off x="6400800" y="5349240"/>
            <a:ext cx="5242255" cy="777240"/>
          </a:xfrm>
          <a:prstGeom prst="roundRect">
            <a:avLst>
              <a:gd name="adj" fmla="val 14117"/>
            </a:avLst>
          </a:prstGeom>
          <a:solidFill>
            <a:srgbClr val="FCF1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 bIns="18288">
            <a:noAutofit/>
          </a:bodyPr>
          <a:lstStyle/>
          <a:p>
            <a:pPr algn="l"/>
            <a:r>
              <a:rPr sz="1200" b="1" i="0">
                <a:solidFill>
                  <a:srgbClr val="17272E"/>
                </a:solidFill>
                <a:latin typeface="Calibri"/>
              </a:rPr>
              <a:t>Where you meet them: </a:t>
            </a:r>
            <a:r>
              <a:rPr sz="1200" b="0" i="0">
                <a:solidFill>
                  <a:srgbClr val="17272E"/>
                </a:solidFill>
                <a:latin typeface="Calibri"/>
              </a:rPr>
              <a:t>schema.org markup read by search engines; Gene Ontology and SNOMED CT in biology and medicine; enterprise knowledge graphs; context for LLM apps.</a:t>
            </a:r>
          </a:p>
        </p:txBody>
      </p:sp>
      <p:sp>
        <p:nvSpPr>
          <p:cNvPr id="21"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22"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Anyone can say Anything about Any topic</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2 · WHY THE WEB MAKES IT HARDER</a:t>
            </a:r>
          </a:p>
        </p:txBody>
      </p:sp>
      <p:sp>
        <p:nvSpPr>
          <p:cNvPr id="4" name="TextBox 3"/>
          <p:cNvSpPr txBox="1"/>
          <p:nvPr/>
        </p:nvSpPr>
        <p:spPr>
          <a:xfrm>
            <a:off x="548640" y="1554480"/>
            <a:ext cx="11094415" cy="457200"/>
          </a:xfrm>
          <a:prstGeom prst="rect">
            <a:avLst/>
          </a:prstGeom>
          <a:noFill/>
        </p:spPr>
        <p:txBody>
          <a:bodyPr wrap="square" anchor="t" lIns="0" rIns="0" tIns="0" bIns="0">
            <a:noAutofit/>
          </a:bodyPr>
          <a:lstStyle/>
          <a:p>
            <a:pPr algn="l">
              <a:spcAft>
                <a:spcPts val="600"/>
              </a:spcAft>
            </a:pPr>
            <a:r>
              <a:rPr sz="1600" b="0" i="0">
                <a:solidFill>
                  <a:srgbClr val="5B6B70"/>
                </a:solidFill>
                <a:latin typeface="Calibri"/>
              </a:rPr>
              <a:t>The Semantic Web links data, not pages: facts about one entity can live on many servers, joined by global URIs.</a:t>
            </a:r>
          </a:p>
        </p:txBody>
      </p:sp>
      <p:sp>
        <p:nvSpPr>
          <p:cNvPr id="5" name="Card: Open world"/>
          <p:cNvSpPr/>
          <p:nvPr/>
        </p:nvSpPr>
        <p:spPr>
          <a:xfrm>
            <a:off x="548640" y="2194560"/>
            <a:ext cx="3515258" cy="1828800"/>
          </a:xfrm>
          <a:prstGeom prst="roundRect">
            <a:avLst>
              <a:gd name="adj" fmla="val 7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77240" y="2423160"/>
            <a:ext cx="402336" cy="402336"/>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1</a:t>
            </a:r>
          </a:p>
        </p:txBody>
      </p:sp>
      <p:sp>
        <p:nvSpPr>
          <p:cNvPr id="7" name="TextBox 6"/>
          <p:cNvSpPr txBox="1"/>
          <p:nvPr/>
        </p:nvSpPr>
        <p:spPr>
          <a:xfrm>
            <a:off x="1325880" y="2459736"/>
            <a:ext cx="2509418" cy="411480"/>
          </a:xfrm>
          <a:prstGeom prst="rect">
            <a:avLst/>
          </a:prstGeom>
          <a:noFill/>
        </p:spPr>
        <p:txBody>
          <a:bodyPr wrap="square" anchor="ctr" lIns="0" rIns="0" tIns="0" bIns="0">
            <a:noAutofit/>
          </a:bodyPr>
          <a:lstStyle/>
          <a:p>
            <a:pPr algn="l">
              <a:spcAft>
                <a:spcPts val="600"/>
              </a:spcAft>
            </a:pPr>
            <a:r>
              <a:rPr sz="1800" b="1" i="0">
                <a:solidFill>
                  <a:srgbClr val="17272E"/>
                </a:solidFill>
                <a:latin typeface="Calibri"/>
              </a:rPr>
              <a:t>Open world</a:t>
            </a:r>
          </a:p>
        </p:txBody>
      </p:sp>
      <p:sp>
        <p:nvSpPr>
          <p:cNvPr id="8" name="TextBox 7"/>
          <p:cNvSpPr txBox="1"/>
          <p:nvPr/>
        </p:nvSpPr>
        <p:spPr>
          <a:xfrm>
            <a:off x="777240" y="2990088"/>
            <a:ext cx="3058058" cy="896112"/>
          </a:xfrm>
          <a:prstGeom prst="rect">
            <a:avLst/>
          </a:prstGeom>
          <a:noFill/>
        </p:spPr>
        <p:txBody>
          <a:bodyPr wrap="square" anchor="t" lIns="0" rIns="0" tIns="0" bIns="0">
            <a:noAutofit/>
          </a:bodyPr>
          <a:lstStyle/>
          <a:p>
            <a:pPr algn="l">
              <a:spcAft>
                <a:spcPts val="500"/>
              </a:spcAft>
            </a:pPr>
            <a:r>
              <a:rPr sz="1400" b="0" i="0">
                <a:solidFill>
                  <a:srgbClr val="17272E"/>
                </a:solidFill>
                <a:latin typeface="Calibri"/>
              </a:rPr>
              <a:t>There is always more someone could say. A missing fact is unknown, not false.</a:t>
            </a:r>
          </a:p>
        </p:txBody>
      </p:sp>
      <p:sp>
        <p:nvSpPr>
          <p:cNvPr id="9" name="Card: Nonunique naming"/>
          <p:cNvSpPr/>
          <p:nvPr/>
        </p:nvSpPr>
        <p:spPr>
          <a:xfrm>
            <a:off x="4338218" y="2194560"/>
            <a:ext cx="3515258" cy="1828800"/>
          </a:xfrm>
          <a:prstGeom prst="roundRect">
            <a:avLst>
              <a:gd name="adj" fmla="val 7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566818" y="2423160"/>
            <a:ext cx="402336" cy="402336"/>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2</a:t>
            </a:r>
          </a:p>
        </p:txBody>
      </p:sp>
      <p:sp>
        <p:nvSpPr>
          <p:cNvPr id="11" name="TextBox 10"/>
          <p:cNvSpPr txBox="1"/>
          <p:nvPr/>
        </p:nvSpPr>
        <p:spPr>
          <a:xfrm>
            <a:off x="5115458" y="2459736"/>
            <a:ext cx="2509418" cy="411480"/>
          </a:xfrm>
          <a:prstGeom prst="rect">
            <a:avLst/>
          </a:prstGeom>
          <a:noFill/>
        </p:spPr>
        <p:txBody>
          <a:bodyPr wrap="square" anchor="ctr" lIns="0" rIns="0" tIns="0" bIns="0">
            <a:noAutofit/>
          </a:bodyPr>
          <a:lstStyle/>
          <a:p>
            <a:pPr algn="l">
              <a:spcAft>
                <a:spcPts val="600"/>
              </a:spcAft>
            </a:pPr>
            <a:r>
              <a:rPr sz="1800" b="1" i="0">
                <a:solidFill>
                  <a:srgbClr val="17272E"/>
                </a:solidFill>
                <a:latin typeface="Calibri"/>
              </a:rPr>
              <a:t>Nonunique naming</a:t>
            </a:r>
          </a:p>
        </p:txBody>
      </p:sp>
      <p:sp>
        <p:nvSpPr>
          <p:cNvPr id="12" name="TextBox 11"/>
          <p:cNvSpPr txBox="1"/>
          <p:nvPr/>
        </p:nvSpPr>
        <p:spPr>
          <a:xfrm>
            <a:off x="4566818" y="2990088"/>
            <a:ext cx="3058058" cy="896112"/>
          </a:xfrm>
          <a:prstGeom prst="rect">
            <a:avLst/>
          </a:prstGeom>
          <a:noFill/>
        </p:spPr>
        <p:txBody>
          <a:bodyPr wrap="square" anchor="t" lIns="0" rIns="0" tIns="0" bIns="0">
            <a:noAutofit/>
          </a:bodyPr>
          <a:lstStyle/>
          <a:p>
            <a:pPr algn="l">
              <a:spcAft>
                <a:spcPts val="500"/>
              </a:spcAft>
            </a:pPr>
            <a:r>
              <a:rPr sz="1400" b="0" i="0">
                <a:solidFill>
                  <a:srgbClr val="17272E"/>
                </a:solidFill>
                <a:latin typeface="Calibri"/>
              </a:rPr>
              <a:t>Publishers don't coordinate, so one entity goes by many names.</a:t>
            </a:r>
          </a:p>
        </p:txBody>
      </p:sp>
      <p:sp>
        <p:nvSpPr>
          <p:cNvPr id="13" name="Card: Network effect"/>
          <p:cNvSpPr/>
          <p:nvPr/>
        </p:nvSpPr>
        <p:spPr>
          <a:xfrm>
            <a:off x="8127796" y="2194560"/>
            <a:ext cx="3515258" cy="1828800"/>
          </a:xfrm>
          <a:prstGeom prst="roundRect">
            <a:avLst>
              <a:gd name="adj" fmla="val 7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356396" y="2423160"/>
            <a:ext cx="402336" cy="402336"/>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3</a:t>
            </a:r>
          </a:p>
        </p:txBody>
      </p:sp>
      <p:sp>
        <p:nvSpPr>
          <p:cNvPr id="15" name="TextBox 14"/>
          <p:cNvSpPr txBox="1"/>
          <p:nvPr/>
        </p:nvSpPr>
        <p:spPr>
          <a:xfrm>
            <a:off x="8905036" y="2459736"/>
            <a:ext cx="2509418" cy="411480"/>
          </a:xfrm>
          <a:prstGeom prst="rect">
            <a:avLst/>
          </a:prstGeom>
          <a:noFill/>
        </p:spPr>
        <p:txBody>
          <a:bodyPr wrap="square" anchor="ctr" lIns="0" rIns="0" tIns="0" bIns="0">
            <a:noAutofit/>
          </a:bodyPr>
          <a:lstStyle/>
          <a:p>
            <a:pPr algn="l">
              <a:spcAft>
                <a:spcPts val="600"/>
              </a:spcAft>
            </a:pPr>
            <a:r>
              <a:rPr sz="1800" b="1" i="0">
                <a:solidFill>
                  <a:srgbClr val="17272E"/>
                </a:solidFill>
                <a:latin typeface="Calibri"/>
              </a:rPr>
              <a:t>Network effect</a:t>
            </a:r>
          </a:p>
        </p:txBody>
      </p:sp>
      <p:sp>
        <p:nvSpPr>
          <p:cNvPr id="16" name="TextBox 15"/>
          <p:cNvSpPr txBox="1"/>
          <p:nvPr/>
        </p:nvSpPr>
        <p:spPr>
          <a:xfrm>
            <a:off x="8356396" y="2990088"/>
            <a:ext cx="3058058" cy="896112"/>
          </a:xfrm>
          <a:prstGeom prst="rect">
            <a:avLst/>
          </a:prstGeom>
          <a:noFill/>
        </p:spPr>
        <p:txBody>
          <a:bodyPr wrap="square" anchor="t" lIns="0" rIns="0" tIns="0" bIns="0">
            <a:noAutofit/>
          </a:bodyPr>
          <a:lstStyle/>
          <a:p>
            <a:pPr algn="l">
              <a:spcAft>
                <a:spcPts val="500"/>
              </a:spcAft>
            </a:pPr>
            <a:r>
              <a:rPr sz="1400" b="0" i="0">
                <a:solidFill>
                  <a:srgbClr val="17272E"/>
                </a:solidFill>
                <a:latin typeface="Calibri"/>
              </a:rPr>
              <a:t>Each new publisher adds value for all, if the infrastructure copes with messy, varied data.</a:t>
            </a:r>
          </a:p>
        </p:txBody>
      </p:sp>
      <p:sp>
        <p:nvSpPr>
          <p:cNvPr id="17" name="Rounded Rectangle 16"/>
          <p:cNvSpPr/>
          <p:nvPr/>
        </p:nvSpPr>
        <p:spPr>
          <a:xfrm>
            <a:off x="548640" y="4297680"/>
            <a:ext cx="11094415" cy="1783080"/>
          </a:xfrm>
          <a:prstGeom prst="roundRect">
            <a:avLst>
              <a:gd name="adj" fmla="val 7179"/>
            </a:avLst>
          </a:prstGeom>
          <a:no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59" y="4480560"/>
            <a:ext cx="3657600" cy="36576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Running example: two sources, one actor</a:t>
            </a:r>
          </a:p>
        </p:txBody>
      </p:sp>
      <p:sp>
        <p:nvSpPr>
          <p:cNvPr id="19" name="TextBox 18"/>
          <p:cNvSpPr txBox="1"/>
          <p:nvPr/>
        </p:nvSpPr>
        <p:spPr>
          <a:xfrm>
            <a:off x="822959" y="4892040"/>
            <a:ext cx="3657600" cy="1005840"/>
          </a:xfrm>
          <a:prstGeom prst="rect">
            <a:avLst/>
          </a:prstGeom>
          <a:noFill/>
        </p:spPr>
        <p:txBody>
          <a:bodyPr wrap="square" anchor="t" lIns="0" rIns="0" tIns="0" bIns="0">
            <a:noAutofit/>
          </a:bodyPr>
          <a:lstStyle/>
          <a:p>
            <a:pPr algn="l">
              <a:spcAft>
                <a:spcPts val="600"/>
              </a:spcAft>
            </a:pPr>
            <a:r>
              <a:rPr sz="1400" b="0" i="0">
                <a:solidFill>
                  <a:srgbClr val="5B6B70"/>
                </a:solidFill>
                <a:latin typeface="Calibri"/>
              </a:rPr>
              <a:t>A studio catalogue and a fan wiki both describe James Dean, under different names.</a:t>
            </a:r>
          </a:p>
        </p:txBody>
      </p:sp>
      <p:cxnSp>
        <p:nvCxnSpPr>
          <p:cNvPr id="20" name="Edge: same person?"/>
          <p:cNvCxnSpPr/>
          <p:nvPr/>
        </p:nvCxnSpPr>
        <p:spPr>
          <a:xfrm>
            <a:off x="6675120" y="5184648"/>
            <a:ext cx="2240280" cy="0"/>
          </a:xfrm>
          <a:prstGeom prst="line">
            <a:avLst/>
          </a:prstGeom>
          <a:ln w="25400">
            <a:solidFill>
              <a:srgbClr val="C24E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159752" y="5038344"/>
            <a:ext cx="1271016"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200" b="1" i="0">
                <a:solidFill>
                  <a:srgbClr val="C24E36"/>
                </a:solidFill>
                <a:latin typeface="Consolas"/>
              </a:rPr>
              <a:t>same person?</a:t>
            </a:r>
          </a:p>
        </p:txBody>
      </p:sp>
      <p:sp>
        <p:nvSpPr>
          <p:cNvPr id="22" name="Node: :JamesDean"/>
          <p:cNvSpPr/>
          <p:nvPr/>
        </p:nvSpPr>
        <p:spPr>
          <a:xfrm>
            <a:off x="4846320" y="4956048"/>
            <a:ext cx="182880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:JamesDean</a:t>
            </a:r>
          </a:p>
        </p:txBody>
      </p:sp>
      <p:sp>
        <p:nvSpPr>
          <p:cNvPr id="23" name="Node: fan:Dean_James"/>
          <p:cNvSpPr/>
          <p:nvPr/>
        </p:nvSpPr>
        <p:spPr>
          <a:xfrm>
            <a:off x="8915400" y="4956048"/>
            <a:ext cx="210312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fan:Dean_James</a:t>
            </a:r>
          </a:p>
        </p:txBody>
      </p:sp>
      <p:sp>
        <p:nvSpPr>
          <p:cNvPr id="24" name="TextBox 23"/>
          <p:cNvSpPr txBox="1"/>
          <p:nvPr/>
        </p:nvSpPr>
        <p:spPr>
          <a:xfrm>
            <a:off x="4846320" y="5559552"/>
            <a:ext cx="1828800" cy="274320"/>
          </a:xfrm>
          <a:prstGeom prst="rect">
            <a:avLst/>
          </a:prstGeom>
          <a:noFill/>
        </p:spPr>
        <p:txBody>
          <a:bodyPr wrap="square" anchor="t" lIns="0" rIns="0" tIns="0" bIns="0">
            <a:noAutofit/>
          </a:bodyPr>
          <a:lstStyle/>
          <a:p>
            <a:pPr algn="ctr">
              <a:spcAft>
                <a:spcPts val="600"/>
              </a:spcAft>
            </a:pPr>
            <a:r>
              <a:rPr sz="1100" b="0" i="0">
                <a:solidFill>
                  <a:srgbClr val="5B6B70"/>
                </a:solidFill>
                <a:latin typeface="Calibri"/>
              </a:rPr>
              <a:t>studio.example</a:t>
            </a:r>
          </a:p>
        </p:txBody>
      </p:sp>
      <p:sp>
        <p:nvSpPr>
          <p:cNvPr id="25" name="TextBox 24"/>
          <p:cNvSpPr txBox="1"/>
          <p:nvPr/>
        </p:nvSpPr>
        <p:spPr>
          <a:xfrm>
            <a:off x="8915400" y="5559552"/>
            <a:ext cx="2103120" cy="274320"/>
          </a:xfrm>
          <a:prstGeom prst="rect">
            <a:avLst/>
          </a:prstGeom>
          <a:noFill/>
        </p:spPr>
        <p:txBody>
          <a:bodyPr wrap="square" anchor="t" lIns="0" rIns="0" tIns="0" bIns="0">
            <a:noAutofit/>
          </a:bodyPr>
          <a:lstStyle/>
          <a:p>
            <a:pPr algn="ctr">
              <a:spcAft>
                <a:spcPts val="600"/>
              </a:spcAft>
            </a:pPr>
            <a:r>
              <a:rPr sz="1100" b="0" i="0">
                <a:solidFill>
                  <a:srgbClr val="5B6B70"/>
                </a:solidFill>
                <a:latin typeface="Calibri"/>
              </a:rPr>
              <a:t>fanwiki.example</a:t>
            </a:r>
          </a:p>
        </p:txBody>
      </p:sp>
      <p:sp>
        <p:nvSpPr>
          <p:cNvPr id="26"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27"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Modeling: organizing information for community use</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2 · SEMANTIC MODELING</a:t>
            </a:r>
          </a:p>
        </p:txBody>
      </p:sp>
      <p:sp>
        <p:nvSpPr>
          <p:cNvPr id="4" name="Card: Communicate"/>
          <p:cNvSpPr/>
          <p:nvPr/>
        </p:nvSpPr>
        <p:spPr>
          <a:xfrm>
            <a:off x="548640" y="1645920"/>
            <a:ext cx="4937760" cy="1280160"/>
          </a:xfrm>
          <a:prstGeom prst="roundRect">
            <a:avLst>
              <a:gd name="adj" fmla="val 10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1874519"/>
            <a:ext cx="402336" cy="402336"/>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1</a:t>
            </a:r>
          </a:p>
        </p:txBody>
      </p:sp>
      <p:sp>
        <p:nvSpPr>
          <p:cNvPr id="6" name="TextBox 5"/>
          <p:cNvSpPr txBox="1"/>
          <p:nvPr/>
        </p:nvSpPr>
        <p:spPr>
          <a:xfrm>
            <a:off x="1325880" y="1911095"/>
            <a:ext cx="3931920" cy="411480"/>
          </a:xfrm>
          <a:prstGeom prst="rect">
            <a:avLst/>
          </a:prstGeom>
          <a:noFill/>
        </p:spPr>
        <p:txBody>
          <a:bodyPr wrap="square" anchor="ctr" lIns="0" rIns="0" tIns="0" bIns="0">
            <a:noAutofit/>
          </a:bodyPr>
          <a:lstStyle/>
          <a:p>
            <a:pPr algn="l">
              <a:spcAft>
                <a:spcPts val="600"/>
              </a:spcAft>
            </a:pPr>
            <a:r>
              <a:rPr sz="1800" b="1" i="0">
                <a:solidFill>
                  <a:srgbClr val="17272E"/>
                </a:solidFill>
                <a:latin typeface="Calibri"/>
              </a:rPr>
              <a:t>Communicate</a:t>
            </a:r>
          </a:p>
        </p:txBody>
      </p:sp>
      <p:sp>
        <p:nvSpPr>
          <p:cNvPr id="7" name="TextBox 6"/>
          <p:cNvSpPr txBox="1"/>
          <p:nvPr/>
        </p:nvSpPr>
        <p:spPr>
          <a:xfrm>
            <a:off x="777240" y="2441448"/>
            <a:ext cx="4480560" cy="347472"/>
          </a:xfrm>
          <a:prstGeom prst="rect">
            <a:avLst/>
          </a:prstGeom>
          <a:noFill/>
        </p:spPr>
        <p:txBody>
          <a:bodyPr wrap="square" anchor="t" lIns="0" rIns="0" tIns="0" bIns="0">
            <a:noAutofit/>
          </a:bodyPr>
          <a:lstStyle/>
          <a:p>
            <a:pPr algn="l">
              <a:spcAft>
                <a:spcPts val="500"/>
              </a:spcAft>
            </a:pPr>
            <a:r>
              <a:rPr sz="1400" b="0" i="0">
                <a:solidFill>
                  <a:srgbClr val="17272E"/>
                </a:solidFill>
                <a:latin typeface="Calibri"/>
              </a:rPr>
              <a:t>Share one picture of a situation.</a:t>
            </a:r>
          </a:p>
        </p:txBody>
      </p:sp>
      <p:sp>
        <p:nvSpPr>
          <p:cNvPr id="8" name="Card: Explain and predict"/>
          <p:cNvSpPr/>
          <p:nvPr/>
        </p:nvSpPr>
        <p:spPr>
          <a:xfrm>
            <a:off x="548640" y="3108960"/>
            <a:ext cx="4937760" cy="1280160"/>
          </a:xfrm>
          <a:prstGeom prst="roundRect">
            <a:avLst>
              <a:gd name="adj" fmla="val 10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3337560"/>
            <a:ext cx="402336" cy="402336"/>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2</a:t>
            </a:r>
          </a:p>
        </p:txBody>
      </p:sp>
      <p:sp>
        <p:nvSpPr>
          <p:cNvPr id="10" name="TextBox 9"/>
          <p:cNvSpPr txBox="1"/>
          <p:nvPr/>
        </p:nvSpPr>
        <p:spPr>
          <a:xfrm>
            <a:off x="1325880" y="3374136"/>
            <a:ext cx="3931920" cy="411480"/>
          </a:xfrm>
          <a:prstGeom prst="rect">
            <a:avLst/>
          </a:prstGeom>
          <a:noFill/>
        </p:spPr>
        <p:txBody>
          <a:bodyPr wrap="square" anchor="ctr" lIns="0" rIns="0" tIns="0" bIns="0">
            <a:noAutofit/>
          </a:bodyPr>
          <a:lstStyle/>
          <a:p>
            <a:pPr algn="l">
              <a:spcAft>
                <a:spcPts val="600"/>
              </a:spcAft>
            </a:pPr>
            <a:r>
              <a:rPr sz="1800" b="1" i="0">
                <a:solidFill>
                  <a:srgbClr val="17272E"/>
                </a:solidFill>
                <a:latin typeface="Calibri"/>
              </a:rPr>
              <a:t>Explain and predict</a:t>
            </a:r>
          </a:p>
        </p:txBody>
      </p:sp>
      <p:sp>
        <p:nvSpPr>
          <p:cNvPr id="11" name="TextBox 10"/>
          <p:cNvSpPr txBox="1"/>
          <p:nvPr/>
        </p:nvSpPr>
        <p:spPr>
          <a:xfrm>
            <a:off x="777240" y="3904488"/>
            <a:ext cx="4480560" cy="347472"/>
          </a:xfrm>
          <a:prstGeom prst="rect">
            <a:avLst/>
          </a:prstGeom>
          <a:noFill/>
        </p:spPr>
        <p:txBody>
          <a:bodyPr wrap="square" anchor="t" lIns="0" rIns="0" tIns="0" bIns="0">
            <a:noAutofit/>
          </a:bodyPr>
          <a:lstStyle/>
          <a:p>
            <a:pPr algn="l">
              <a:spcAft>
                <a:spcPts val="500"/>
              </a:spcAft>
            </a:pPr>
            <a:r>
              <a:rPr sz="1400" b="0" i="0">
                <a:solidFill>
                  <a:srgbClr val="17272E"/>
                </a:solidFill>
                <a:latin typeface="Calibri"/>
              </a:rPr>
              <a:t>Relate phenomena to one another.</a:t>
            </a:r>
          </a:p>
        </p:txBody>
      </p:sp>
      <p:sp>
        <p:nvSpPr>
          <p:cNvPr id="12" name="Card: Mediate"/>
          <p:cNvSpPr/>
          <p:nvPr/>
        </p:nvSpPr>
        <p:spPr>
          <a:xfrm>
            <a:off x="548640" y="4572000"/>
            <a:ext cx="4937760" cy="1280160"/>
          </a:xfrm>
          <a:prstGeom prst="roundRect">
            <a:avLst>
              <a:gd name="adj" fmla="val 10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77240" y="4800600"/>
            <a:ext cx="402336" cy="402336"/>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3</a:t>
            </a:r>
          </a:p>
        </p:txBody>
      </p:sp>
      <p:sp>
        <p:nvSpPr>
          <p:cNvPr id="14" name="TextBox 13"/>
          <p:cNvSpPr txBox="1"/>
          <p:nvPr/>
        </p:nvSpPr>
        <p:spPr>
          <a:xfrm>
            <a:off x="1325880" y="4837176"/>
            <a:ext cx="3931920" cy="411480"/>
          </a:xfrm>
          <a:prstGeom prst="rect">
            <a:avLst/>
          </a:prstGeom>
          <a:noFill/>
        </p:spPr>
        <p:txBody>
          <a:bodyPr wrap="square" anchor="ctr" lIns="0" rIns="0" tIns="0" bIns="0">
            <a:noAutofit/>
          </a:bodyPr>
          <a:lstStyle/>
          <a:p>
            <a:pPr algn="l">
              <a:spcAft>
                <a:spcPts val="600"/>
              </a:spcAft>
            </a:pPr>
            <a:r>
              <a:rPr sz="1800" b="1" i="0">
                <a:solidFill>
                  <a:srgbClr val="17272E"/>
                </a:solidFill>
                <a:latin typeface="Calibri"/>
              </a:rPr>
              <a:t>Mediate</a:t>
            </a:r>
          </a:p>
        </p:txBody>
      </p:sp>
      <p:sp>
        <p:nvSpPr>
          <p:cNvPr id="15" name="TextBox 14"/>
          <p:cNvSpPr txBox="1"/>
          <p:nvPr/>
        </p:nvSpPr>
        <p:spPr>
          <a:xfrm>
            <a:off x="777240" y="5367528"/>
            <a:ext cx="4480560" cy="347472"/>
          </a:xfrm>
          <a:prstGeom prst="rect">
            <a:avLst/>
          </a:prstGeom>
          <a:noFill/>
        </p:spPr>
        <p:txBody>
          <a:bodyPr wrap="square" anchor="t" lIns="0" rIns="0" tIns="0" bIns="0">
            <a:noAutofit/>
          </a:bodyPr>
          <a:lstStyle/>
          <a:p>
            <a:pPr algn="l">
              <a:spcAft>
                <a:spcPts val="500"/>
              </a:spcAft>
            </a:pPr>
            <a:r>
              <a:rPr sz="1400" b="0" i="0">
                <a:solidFill>
                  <a:srgbClr val="17272E"/>
                </a:solidFill>
                <a:latin typeface="Calibri"/>
              </a:rPr>
              <a:t>Capture what people agree on; leave room where they differ.</a:t>
            </a:r>
          </a:p>
        </p:txBody>
      </p:sp>
      <p:sp>
        <p:nvSpPr>
          <p:cNvPr id="16" name="TextBox 15"/>
          <p:cNvSpPr txBox="1"/>
          <p:nvPr/>
        </p:nvSpPr>
        <p:spPr>
          <a:xfrm>
            <a:off x="6035040" y="1645920"/>
            <a:ext cx="5608015" cy="365760"/>
          </a:xfrm>
          <a:prstGeom prst="rect">
            <a:avLst/>
          </a:prstGeom>
          <a:noFill/>
        </p:spPr>
        <p:txBody>
          <a:bodyPr wrap="square" anchor="t" lIns="0" rIns="0" tIns="0" bIns="0">
            <a:noAutofit/>
          </a:bodyPr>
          <a:lstStyle/>
          <a:p>
            <a:pPr algn="l">
              <a:spcAft>
                <a:spcPts val="600"/>
              </a:spcAft>
            </a:pPr>
            <a:r>
              <a:rPr sz="1700" b="1" i="0">
                <a:solidFill>
                  <a:srgbClr val="17272E"/>
                </a:solidFill>
                <a:latin typeface="Calibri"/>
              </a:rPr>
              <a:t>Structured and unstructured knowledge always coexist</a:t>
            </a:r>
          </a:p>
        </p:txBody>
      </p:sp>
      <p:sp>
        <p:nvSpPr>
          <p:cNvPr id="17" name="Rounded Rectangle 16"/>
          <p:cNvSpPr/>
          <p:nvPr/>
        </p:nvSpPr>
        <p:spPr>
          <a:xfrm>
            <a:off x="6035040" y="2240280"/>
            <a:ext cx="1048451" cy="685800"/>
          </a:xfrm>
          <a:prstGeom prst="roundRect">
            <a:avLst>
              <a:gd name="adj" fmla="val 10666"/>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7174931" y="2240280"/>
            <a:ext cx="1048451" cy="685800"/>
          </a:xfrm>
          <a:prstGeom prst="roundRect">
            <a:avLst>
              <a:gd name="adj" fmla="val 10666"/>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8314822" y="2240280"/>
            <a:ext cx="1048451" cy="685800"/>
          </a:xfrm>
          <a:prstGeom prst="roundRect">
            <a:avLst>
              <a:gd name="adj" fmla="val 10666"/>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9454713" y="2240280"/>
            <a:ext cx="1048451" cy="685800"/>
          </a:xfrm>
          <a:prstGeom prst="roundRect">
            <a:avLst>
              <a:gd name="adj" fmla="val 10666"/>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10594604" y="2240280"/>
            <a:ext cx="1048451" cy="685800"/>
          </a:xfrm>
          <a:prstGeom prst="roundRect">
            <a:avLst>
              <a:gd name="adj" fmla="val 10666"/>
            </a:avLst>
          </a:prstGeom>
          <a:solidFill>
            <a:srgbClr val="17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035040" y="3017520"/>
            <a:ext cx="2560320" cy="548640"/>
          </a:xfrm>
          <a:prstGeom prst="rect">
            <a:avLst/>
          </a:prstGeom>
          <a:noFill/>
        </p:spPr>
        <p:txBody>
          <a:bodyPr wrap="square" anchor="t" lIns="0" rIns="0" tIns="0" bIns="0">
            <a:noAutofit/>
          </a:bodyPr>
          <a:lstStyle/>
          <a:p>
            <a:pPr algn="l">
              <a:spcAft>
                <a:spcPts val="600"/>
              </a:spcAft>
            </a:pPr>
            <a:r>
              <a:rPr sz="1300" b="0" i="0">
                <a:solidFill>
                  <a:srgbClr val="5B6B70"/>
                </a:solidFill>
                <a:latin typeface="Calibri"/>
              </a:rPr>
              <a:t>Discordant: everyone describes it their own way</a:t>
            </a:r>
          </a:p>
        </p:txBody>
      </p:sp>
      <p:sp>
        <p:nvSpPr>
          <p:cNvPr id="23" name="TextBox 22"/>
          <p:cNvSpPr txBox="1"/>
          <p:nvPr/>
        </p:nvSpPr>
        <p:spPr>
          <a:xfrm>
            <a:off x="9082735" y="3017520"/>
            <a:ext cx="2560320" cy="548640"/>
          </a:xfrm>
          <a:prstGeom prst="rect">
            <a:avLst/>
          </a:prstGeom>
          <a:noFill/>
        </p:spPr>
        <p:txBody>
          <a:bodyPr wrap="square" anchor="t" lIns="0" rIns="0" tIns="0" bIns="0">
            <a:noAutofit/>
          </a:bodyPr>
          <a:lstStyle/>
          <a:p>
            <a:pPr algn="r">
              <a:spcAft>
                <a:spcPts val="600"/>
              </a:spcAft>
            </a:pPr>
            <a:r>
              <a:rPr sz="1300" b="0" i="0">
                <a:solidFill>
                  <a:srgbClr val="5B6B70"/>
                </a:solidFill>
                <a:latin typeface="Calibri"/>
              </a:rPr>
              <a:t>Formal: agreed and machine-readable</a:t>
            </a:r>
          </a:p>
        </p:txBody>
      </p:sp>
      <p:cxnSp>
        <p:nvCxnSpPr>
          <p:cNvPr id="24" name="Connector 23"/>
          <p:cNvCxnSpPr/>
          <p:nvPr/>
        </p:nvCxnSpPr>
        <p:spPr>
          <a:xfrm>
            <a:off x="6035040" y="3749039"/>
            <a:ext cx="5608015" cy="0"/>
          </a:xfrm>
          <a:prstGeom prst="line">
            <a:avLst/>
          </a:prstGeom>
          <a:ln w="31750">
            <a:solidFill>
              <a:srgbClr val="E095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035040" y="3822191"/>
            <a:ext cx="5608015" cy="320040"/>
          </a:xfrm>
          <a:prstGeom prst="rect">
            <a:avLst/>
          </a:prstGeom>
          <a:noFill/>
        </p:spPr>
        <p:txBody>
          <a:bodyPr wrap="square" anchor="t" lIns="0" rIns="0" tIns="0" bIns="0">
            <a:noAutofit/>
          </a:bodyPr>
          <a:lstStyle/>
          <a:p>
            <a:pPr algn="ctr">
              <a:spcAft>
                <a:spcPts val="600"/>
              </a:spcAft>
            </a:pPr>
            <a:r>
              <a:rPr sz="1300" b="0" i="1">
                <a:solidFill>
                  <a:srgbClr val="E0952B"/>
                </a:solidFill>
                <a:latin typeface="Calibri"/>
              </a:rPr>
              <a:t>continuous distillation, never “done”</a:t>
            </a:r>
          </a:p>
        </p:txBody>
      </p:sp>
      <p:sp>
        <p:nvSpPr>
          <p:cNvPr id="26" name="Rounded Rectangle 25"/>
          <p:cNvSpPr/>
          <p:nvPr/>
        </p:nvSpPr>
        <p:spPr>
          <a:xfrm>
            <a:off x="6035040" y="4343400"/>
            <a:ext cx="2712567" cy="41148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1300" b="1" i="0">
                <a:solidFill>
                  <a:srgbClr val="FFFFFF"/>
                </a:solidFill>
                <a:latin typeface="Calibri"/>
              </a:rPr>
              <a:t>Commonality: what things share</a:t>
            </a:r>
          </a:p>
        </p:txBody>
      </p:sp>
      <p:sp>
        <p:nvSpPr>
          <p:cNvPr id="27" name="Rounded Rectangle 26"/>
          <p:cNvSpPr/>
          <p:nvPr/>
        </p:nvSpPr>
        <p:spPr>
          <a:xfrm>
            <a:off x="8930487" y="4343400"/>
            <a:ext cx="2712567" cy="41148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1300" b="1" i="0">
                <a:solidFill>
                  <a:srgbClr val="FFFFFF"/>
                </a:solidFill>
                <a:latin typeface="Calibri"/>
              </a:rPr>
              <a:t>Variability: how they differ</a:t>
            </a:r>
          </a:p>
        </p:txBody>
      </p:sp>
      <p:sp>
        <p:nvSpPr>
          <p:cNvPr id="28" name="Rounded Rectangle 27"/>
          <p:cNvSpPr/>
          <p:nvPr/>
        </p:nvSpPr>
        <p:spPr>
          <a:xfrm>
            <a:off x="6035040" y="5029200"/>
            <a:ext cx="5608015" cy="868680"/>
          </a:xfrm>
          <a:prstGeom prst="roundRect">
            <a:avLst>
              <a:gd name="adj" fmla="val 12631"/>
            </a:avLst>
          </a:prstGeom>
          <a:solidFill>
            <a:srgbClr val="FCF1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8288" bIns="18288">
            <a:noAutofit/>
          </a:bodyPr>
          <a:lstStyle/>
          <a:p>
            <a:pPr algn="l"/>
            <a:r>
              <a:rPr sz="1500" b="0" i="1">
                <a:solidFill>
                  <a:srgbClr val="17272E"/>
                </a:solidFill>
                <a:latin typeface="Calibri"/>
              </a:rPr>
              <a:t>Standards are a medium for collaborating on models, not just for sharing data.</a:t>
            </a:r>
          </a:p>
        </p:txBody>
      </p:sp>
      <p:sp>
        <p:nvSpPr>
          <p:cNvPr id="29"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30"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272E"/>
        </a:solidFill>
        <a:effectLst/>
      </p:bgPr>
    </p:bg>
    <p:spTree>
      <p:nvGrpSpPr>
        <p:cNvPr id="1" name=""/>
        <p:cNvGrpSpPr/>
        <p:nvPr/>
      </p:nvGrpSpPr>
      <p:grpSpPr/>
      <p:sp>
        <p:nvSpPr>
          <p:cNvPr id="2" name="Title 1"/>
          <p:cNvSpPr>
            <a:spLocks noGrp="1"/>
          </p:cNvSpPr>
          <p:nvPr>
            <p:ph type="title"/>
          </p:nvPr>
        </p:nvSpPr>
        <p:spPr>
          <a:xfrm>
            <a:off x="548640" y="3154680"/>
            <a:ext cx="6949440" cy="1371600"/>
          </a:xfrm>
        </p:spPr>
        <p:txBody>
          <a:bodyPr wrap="square" anchor="t" lIns="0" rIns="0" tIns="0" bIns="0">
            <a:noAutofit/>
          </a:bodyPr>
          <a:lstStyle/>
          <a:p>
            <a:pPr algn="l"/>
            <a:r>
              <a:rPr sz="4000" b="1" i="0">
                <a:solidFill>
                  <a:srgbClr val="FFFFFF"/>
                </a:solidFill>
                <a:latin typeface="Cambria"/>
              </a:rPr>
              <a:t>The building blocks, layer by layer</a:t>
            </a:r>
          </a:p>
        </p:txBody>
      </p:sp>
      <p:sp>
        <p:nvSpPr>
          <p:cNvPr id="3" name="Part number"/>
          <p:cNvSpPr txBox="1"/>
          <p:nvPr/>
        </p:nvSpPr>
        <p:spPr>
          <a:xfrm>
            <a:off x="548640" y="1325880"/>
            <a:ext cx="2743200" cy="1280160"/>
          </a:xfrm>
          <a:prstGeom prst="rect">
            <a:avLst/>
          </a:prstGeom>
          <a:noFill/>
        </p:spPr>
        <p:txBody>
          <a:bodyPr wrap="square" anchor="t" lIns="0" rIns="0" tIns="0" bIns="0">
            <a:noAutofit/>
          </a:bodyPr>
          <a:lstStyle/>
          <a:p>
            <a:pPr algn="l">
              <a:spcAft>
                <a:spcPts val="600"/>
              </a:spcAft>
            </a:pPr>
            <a:r>
              <a:rPr sz="9600" b="1" i="0">
                <a:solidFill>
                  <a:srgbClr val="E0952B"/>
                </a:solidFill>
                <a:latin typeface="Cambria"/>
              </a:rPr>
              <a:t>03</a:t>
            </a:r>
          </a:p>
        </p:txBody>
      </p:sp>
      <p:sp>
        <p:nvSpPr>
          <p:cNvPr id="4" name="TextBox 3"/>
          <p:cNvSpPr txBox="1"/>
          <p:nvPr/>
        </p:nvSpPr>
        <p:spPr>
          <a:xfrm>
            <a:off x="548640" y="2788920"/>
            <a:ext cx="6766560" cy="320040"/>
          </a:xfrm>
          <a:prstGeom prst="rect">
            <a:avLst/>
          </a:prstGeom>
          <a:noFill/>
        </p:spPr>
        <p:txBody>
          <a:bodyPr wrap="square" anchor="t" lIns="0" rIns="0" tIns="0" bIns="0">
            <a:noAutofit/>
          </a:bodyPr>
          <a:lstStyle/>
          <a:p>
            <a:pPr algn="l">
              <a:spcAft>
                <a:spcPts val="600"/>
              </a:spcAft>
            </a:pPr>
            <a:r>
              <a:rPr sz="1300" b="1" i="0">
                <a:solidFill>
                  <a:srgbClr val="7FD1C1"/>
                </a:solidFill>
                <a:latin typeface="Calibri"/>
              </a:rPr>
              <a:t>PART 3</a:t>
            </a:r>
          </a:p>
        </p:txBody>
      </p:sp>
      <p:sp>
        <p:nvSpPr>
          <p:cNvPr id="5" name="TextBox 4"/>
          <p:cNvSpPr txBox="1"/>
          <p:nvPr/>
        </p:nvSpPr>
        <p:spPr>
          <a:xfrm>
            <a:off x="548640" y="4572000"/>
            <a:ext cx="6583680" cy="731520"/>
          </a:xfrm>
          <a:prstGeom prst="rect">
            <a:avLst/>
          </a:prstGeom>
          <a:noFill/>
        </p:spPr>
        <p:txBody>
          <a:bodyPr wrap="square" anchor="t" lIns="0" rIns="0" tIns="0" bIns="0">
            <a:noAutofit/>
          </a:bodyPr>
          <a:lstStyle/>
          <a:p>
            <a:pPr algn="l">
              <a:spcAft>
                <a:spcPts val="600"/>
              </a:spcAft>
            </a:pPr>
            <a:r>
              <a:rPr sz="1800" b="0" i="0">
                <a:solidFill>
                  <a:srgbClr val="E3EBEE"/>
                </a:solidFill>
                <a:latin typeface="Calibri"/>
              </a:rPr>
              <a:t>One slide per layer of the W3C stack, then all of them answering one question together.</a:t>
            </a:r>
          </a:p>
        </p:txBody>
      </p:sp>
      <p:sp>
        <p:nvSpPr>
          <p:cNvPr id="6" name="Oval 5"/>
          <p:cNvSpPr/>
          <p:nvPr/>
        </p:nvSpPr>
        <p:spPr>
          <a:xfrm>
            <a:off x="58521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1</a:t>
            </a:r>
          </a:p>
        </p:txBody>
      </p:sp>
      <p:sp>
        <p:nvSpPr>
          <p:cNvPr id="7" name="Oval 6"/>
          <p:cNvSpPr/>
          <p:nvPr/>
        </p:nvSpPr>
        <p:spPr>
          <a:xfrm>
            <a:off x="108813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2</a:t>
            </a:r>
          </a:p>
        </p:txBody>
      </p:sp>
      <p:sp>
        <p:nvSpPr>
          <p:cNvPr id="8" name="Oval 7"/>
          <p:cNvSpPr/>
          <p:nvPr/>
        </p:nvSpPr>
        <p:spPr>
          <a:xfrm>
            <a:off x="1554480" y="5623559"/>
            <a:ext cx="365760" cy="365760"/>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200" b="1" i="0">
                <a:solidFill>
                  <a:srgbClr val="17272E"/>
                </a:solidFill>
                <a:latin typeface="Calibri"/>
              </a:rPr>
              <a:t>3</a:t>
            </a:r>
          </a:p>
        </p:txBody>
      </p:sp>
      <p:sp>
        <p:nvSpPr>
          <p:cNvPr id="9" name="Oval 8"/>
          <p:cNvSpPr/>
          <p:nvPr/>
        </p:nvSpPr>
        <p:spPr>
          <a:xfrm>
            <a:off x="2093976"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4</a:t>
            </a:r>
          </a:p>
        </p:txBody>
      </p:sp>
      <p:sp>
        <p:nvSpPr>
          <p:cNvPr id="10" name="Oval 9"/>
          <p:cNvSpPr/>
          <p:nvPr/>
        </p:nvSpPr>
        <p:spPr>
          <a:xfrm>
            <a:off x="2596896"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5</a:t>
            </a:r>
          </a:p>
        </p:txBody>
      </p:sp>
      <p:sp>
        <p:nvSpPr>
          <p:cNvPr id="11" name="Oval 10"/>
          <p:cNvSpPr/>
          <p:nvPr/>
        </p:nvSpPr>
        <p:spPr>
          <a:xfrm>
            <a:off x="3099815"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6</a:t>
            </a:r>
          </a:p>
        </p:txBody>
      </p:sp>
      <p:sp>
        <p:nvSpPr>
          <p:cNvPr id="12" name="Oval 11"/>
          <p:cNvSpPr/>
          <p:nvPr/>
        </p:nvSpPr>
        <p:spPr>
          <a:xfrm>
            <a:off x="3602736"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7</a:t>
            </a:r>
          </a:p>
        </p:txBody>
      </p:sp>
      <p:sp>
        <p:nvSpPr>
          <p:cNvPr id="13" name="Oval 12"/>
          <p:cNvSpPr/>
          <p:nvPr/>
        </p:nvSpPr>
        <p:spPr>
          <a:xfrm>
            <a:off x="4105656"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8</a:t>
            </a:r>
          </a:p>
        </p:txBody>
      </p:sp>
      <p:sp>
        <p:nvSpPr>
          <p:cNvPr id="14" name="Oval 13"/>
          <p:cNvSpPr/>
          <p:nvPr/>
        </p:nvSpPr>
        <p:spPr>
          <a:xfrm>
            <a:off x="4608576"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9</a:t>
            </a:r>
          </a:p>
        </p:txBody>
      </p:sp>
      <p:cxnSp>
        <p:nvCxnSpPr>
          <p:cNvPr id="15" name="Motif edge"/>
          <p:cNvCxnSpPr/>
          <p:nvPr/>
        </p:nvCxnSpPr>
        <p:spPr>
          <a:xfrm flipV="1">
            <a:off x="8257032" y="1568195"/>
            <a:ext cx="1536192" cy="576073"/>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6" name="Motif edge"/>
          <p:cNvCxnSpPr/>
          <p:nvPr/>
        </p:nvCxnSpPr>
        <p:spPr>
          <a:xfrm>
            <a:off x="9793224" y="1568195"/>
            <a:ext cx="1344168" cy="960121"/>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7" name="Motif edge"/>
          <p:cNvCxnSpPr/>
          <p:nvPr/>
        </p:nvCxnSpPr>
        <p:spPr>
          <a:xfrm>
            <a:off x="8257032" y="2144268"/>
            <a:ext cx="960120" cy="1344168"/>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8" name="Motif edge"/>
          <p:cNvCxnSpPr/>
          <p:nvPr/>
        </p:nvCxnSpPr>
        <p:spPr>
          <a:xfrm flipH="1">
            <a:off x="9217152" y="1568195"/>
            <a:ext cx="576072" cy="1920241"/>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9" name="Motif edge"/>
          <p:cNvCxnSpPr/>
          <p:nvPr/>
        </p:nvCxnSpPr>
        <p:spPr>
          <a:xfrm flipH="1">
            <a:off x="10657332" y="2528316"/>
            <a:ext cx="480060" cy="1728216"/>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0" name="Motif edge"/>
          <p:cNvCxnSpPr/>
          <p:nvPr/>
        </p:nvCxnSpPr>
        <p:spPr>
          <a:xfrm>
            <a:off x="9217152" y="3488436"/>
            <a:ext cx="1440180" cy="768096"/>
          </a:xfrm>
          <a:prstGeom prst="line">
            <a:avLst/>
          </a:prstGeom>
          <a:ln w="28575">
            <a:solidFill>
              <a:srgbClr val="E0952B"/>
            </a:solidFill>
            <a:prstDash val="dash"/>
          </a:ln>
        </p:spPr>
        <p:style>
          <a:lnRef idx="2">
            <a:schemeClr val="accent1"/>
          </a:lnRef>
          <a:fillRef idx="0">
            <a:schemeClr val="accent1"/>
          </a:fillRef>
          <a:effectRef idx="1">
            <a:schemeClr val="accent1"/>
          </a:effectRef>
          <a:fontRef idx="minor">
            <a:schemeClr val="tx1"/>
          </a:fontRef>
        </p:style>
      </p:cxnSp>
      <p:cxnSp>
        <p:nvCxnSpPr>
          <p:cNvPr id="21" name="Motif edge"/>
          <p:cNvCxnSpPr/>
          <p:nvPr/>
        </p:nvCxnSpPr>
        <p:spPr>
          <a:xfrm flipH="1">
            <a:off x="8161020" y="3488436"/>
            <a:ext cx="1056132" cy="1248156"/>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2" name="Motif edge"/>
          <p:cNvCxnSpPr/>
          <p:nvPr/>
        </p:nvCxnSpPr>
        <p:spPr>
          <a:xfrm flipH="1">
            <a:off x="9889236" y="4256532"/>
            <a:ext cx="768096" cy="1056132"/>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3" name="Motif edge"/>
          <p:cNvCxnSpPr/>
          <p:nvPr/>
        </p:nvCxnSpPr>
        <p:spPr>
          <a:xfrm>
            <a:off x="8161020" y="4736592"/>
            <a:ext cx="1728216" cy="576072"/>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sp>
        <p:nvSpPr>
          <p:cNvPr id="24" name="Motif node"/>
          <p:cNvSpPr/>
          <p:nvPr/>
        </p:nvSpPr>
        <p:spPr>
          <a:xfrm>
            <a:off x="8113014" y="2000249"/>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Motif node"/>
          <p:cNvSpPr/>
          <p:nvPr/>
        </p:nvSpPr>
        <p:spPr>
          <a:xfrm>
            <a:off x="9591598" y="1366570"/>
            <a:ext cx="403250" cy="403250"/>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otif node"/>
          <p:cNvSpPr/>
          <p:nvPr/>
        </p:nvSpPr>
        <p:spPr>
          <a:xfrm>
            <a:off x="10993374" y="2384298"/>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Motif node"/>
          <p:cNvSpPr/>
          <p:nvPr/>
        </p:nvSpPr>
        <p:spPr>
          <a:xfrm>
            <a:off x="9015526" y="3286810"/>
            <a:ext cx="403250" cy="403250"/>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Motif node"/>
          <p:cNvSpPr/>
          <p:nvPr/>
        </p:nvSpPr>
        <p:spPr>
          <a:xfrm>
            <a:off x="10455706" y="4054906"/>
            <a:ext cx="403250" cy="403250"/>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otif node"/>
          <p:cNvSpPr/>
          <p:nvPr/>
        </p:nvSpPr>
        <p:spPr>
          <a:xfrm>
            <a:off x="8017002" y="4592574"/>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Motif node"/>
          <p:cNvSpPr/>
          <p:nvPr/>
        </p:nvSpPr>
        <p:spPr>
          <a:xfrm>
            <a:off x="9745218" y="5168646"/>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7FD1C1"/>
                </a:solidFill>
                <a:latin typeface="Calibri"/>
              </a:rPr>
              <a:t>What is an ontology? · from RDF to OWL</a:t>
            </a:r>
          </a:p>
        </p:txBody>
      </p:sp>
      <p:sp>
        <p:nvSpPr>
          <p:cNvPr id="32"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7FD1C1"/>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Ontology languages come in layers</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3 · THE BUILDING BLOCKS</a:t>
            </a:r>
          </a:p>
        </p:txBody>
      </p:sp>
      <p:sp>
        <p:nvSpPr>
          <p:cNvPr id="4" name="TextBox 3"/>
          <p:cNvSpPr txBox="1"/>
          <p:nvPr/>
        </p:nvSpPr>
        <p:spPr>
          <a:xfrm>
            <a:off x="548640" y="1600200"/>
            <a:ext cx="6858000" cy="640080"/>
          </a:xfrm>
          <a:prstGeom prst="rect">
            <a:avLst/>
          </a:prstGeom>
          <a:noFill/>
        </p:spPr>
        <p:txBody>
          <a:bodyPr wrap="square" anchor="t" lIns="0" rIns="0" tIns="0" bIns="0">
            <a:noAutofit/>
          </a:bodyPr>
          <a:lstStyle/>
          <a:p>
            <a:pPr algn="l">
              <a:spcAft>
                <a:spcPts val="600"/>
              </a:spcAft>
            </a:pPr>
            <a:r>
              <a:rPr sz="1500" b="0" i="1">
                <a:solidFill>
                  <a:srgbClr val="5B6B70"/>
                </a:solidFill>
                <a:latin typeface="Calibri"/>
              </a:rPr>
              <a:t>Each layer adds terms on top of the one below, and a model can stop at any layer: pick how much meaning the problem needs.</a:t>
            </a:r>
          </a:p>
        </p:txBody>
      </p:sp>
      <p:cxnSp>
        <p:nvCxnSpPr>
          <p:cNvPr id="5" name="Connector 4"/>
          <p:cNvCxnSpPr/>
          <p:nvPr/>
        </p:nvCxnSpPr>
        <p:spPr>
          <a:xfrm flipV="1">
            <a:off x="914400" y="2103120"/>
            <a:ext cx="7452360" cy="1874519"/>
          </a:xfrm>
          <a:prstGeom prst="line">
            <a:avLst/>
          </a:prstGeom>
          <a:ln w="31750">
            <a:solidFill>
              <a:srgbClr val="E0952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 name="Layer: RDF"/>
          <p:cNvSpPr/>
          <p:nvPr/>
        </p:nvSpPr>
        <p:spPr>
          <a:xfrm>
            <a:off x="548640" y="4343400"/>
            <a:ext cx="2148840" cy="1645920"/>
          </a:xfrm>
          <a:prstGeom prst="roundRect">
            <a:avLst>
              <a:gd name="adj" fmla="val 6666"/>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4507992"/>
            <a:ext cx="1783080" cy="365760"/>
          </a:xfrm>
          <a:prstGeom prst="rect">
            <a:avLst/>
          </a:prstGeom>
          <a:noFill/>
        </p:spPr>
        <p:txBody>
          <a:bodyPr wrap="square" anchor="t" lIns="0" rIns="0" tIns="0" bIns="0">
            <a:noAutofit/>
          </a:bodyPr>
          <a:lstStyle/>
          <a:p>
            <a:pPr algn="l">
              <a:spcAft>
                <a:spcPts val="600"/>
              </a:spcAft>
            </a:pPr>
            <a:r>
              <a:rPr sz="2000" b="1" i="0">
                <a:solidFill>
                  <a:srgbClr val="17272E"/>
                </a:solidFill>
                <a:latin typeface="Cambria"/>
              </a:rPr>
              <a:t>RDF</a:t>
            </a:r>
          </a:p>
        </p:txBody>
      </p:sp>
      <p:sp>
        <p:nvSpPr>
          <p:cNvPr id="8" name="TextBox 7"/>
          <p:cNvSpPr txBox="1"/>
          <p:nvPr/>
        </p:nvSpPr>
        <p:spPr>
          <a:xfrm>
            <a:off x="731520" y="4892040"/>
            <a:ext cx="1783080" cy="274320"/>
          </a:xfrm>
          <a:prstGeom prst="rect">
            <a:avLst/>
          </a:prstGeom>
          <a:noFill/>
        </p:spPr>
        <p:txBody>
          <a:bodyPr wrap="square" anchor="t" lIns="0" rIns="0" tIns="0" bIns="0">
            <a:noAutofit/>
          </a:bodyPr>
          <a:lstStyle/>
          <a:p>
            <a:pPr algn="l">
              <a:spcAft>
                <a:spcPts val="600"/>
              </a:spcAft>
            </a:pPr>
            <a:r>
              <a:rPr sz="1200" b="1" i="0">
                <a:solidFill>
                  <a:srgbClr val="1F7A6D"/>
                </a:solidFill>
                <a:latin typeface="Calibri"/>
              </a:rPr>
              <a:t>Blocks 1–2</a:t>
            </a:r>
          </a:p>
        </p:txBody>
      </p:sp>
      <p:sp>
        <p:nvSpPr>
          <p:cNvPr id="9" name="TextBox 8"/>
          <p:cNvSpPr txBox="1"/>
          <p:nvPr/>
        </p:nvSpPr>
        <p:spPr>
          <a:xfrm>
            <a:off x="731520" y="5184648"/>
            <a:ext cx="1783080" cy="1188720"/>
          </a:xfrm>
          <a:prstGeom prst="rect">
            <a:avLst/>
          </a:prstGeom>
          <a:noFill/>
        </p:spPr>
        <p:txBody>
          <a:bodyPr wrap="square" anchor="t" lIns="0" rIns="0" tIns="0" bIns="0">
            <a:noAutofit/>
          </a:bodyPr>
          <a:lstStyle/>
          <a:p>
            <a:pPr algn="l">
              <a:spcAft>
                <a:spcPts val="600"/>
              </a:spcAft>
            </a:pPr>
            <a:r>
              <a:rPr sz="1400" b="0" i="0">
                <a:solidFill>
                  <a:srgbClr val="17272E"/>
                </a:solidFill>
                <a:latin typeface="Calibri"/>
              </a:rPr>
              <a:t>Global names (URIs) and triples; merging is a union</a:t>
            </a:r>
          </a:p>
        </p:txBody>
      </p:sp>
      <p:sp>
        <p:nvSpPr>
          <p:cNvPr id="10" name="Layer: RDFS"/>
          <p:cNvSpPr/>
          <p:nvPr/>
        </p:nvSpPr>
        <p:spPr>
          <a:xfrm>
            <a:off x="2834640" y="3794760"/>
            <a:ext cx="2148840" cy="2194560"/>
          </a:xfrm>
          <a:prstGeom prst="roundRect">
            <a:avLst>
              <a:gd name="adj" fmla="val 5106"/>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017520" y="3959352"/>
            <a:ext cx="1783080" cy="365760"/>
          </a:xfrm>
          <a:prstGeom prst="rect">
            <a:avLst/>
          </a:prstGeom>
          <a:noFill/>
        </p:spPr>
        <p:txBody>
          <a:bodyPr wrap="square" anchor="t" lIns="0" rIns="0" tIns="0" bIns="0">
            <a:noAutofit/>
          </a:bodyPr>
          <a:lstStyle/>
          <a:p>
            <a:pPr algn="l">
              <a:spcAft>
                <a:spcPts val="600"/>
              </a:spcAft>
            </a:pPr>
            <a:r>
              <a:rPr sz="2000" b="1" i="0">
                <a:solidFill>
                  <a:srgbClr val="17272E"/>
                </a:solidFill>
                <a:latin typeface="Cambria"/>
              </a:rPr>
              <a:t>RDFS</a:t>
            </a:r>
          </a:p>
        </p:txBody>
      </p:sp>
      <p:sp>
        <p:nvSpPr>
          <p:cNvPr id="12" name="TextBox 11"/>
          <p:cNvSpPr txBox="1"/>
          <p:nvPr/>
        </p:nvSpPr>
        <p:spPr>
          <a:xfrm>
            <a:off x="3017520" y="4343400"/>
            <a:ext cx="1783080" cy="274320"/>
          </a:xfrm>
          <a:prstGeom prst="rect">
            <a:avLst/>
          </a:prstGeom>
          <a:noFill/>
        </p:spPr>
        <p:txBody>
          <a:bodyPr wrap="square" anchor="t" lIns="0" rIns="0" tIns="0" bIns="0">
            <a:noAutofit/>
          </a:bodyPr>
          <a:lstStyle/>
          <a:p>
            <a:pPr algn="l">
              <a:spcAft>
                <a:spcPts val="600"/>
              </a:spcAft>
            </a:pPr>
            <a:r>
              <a:rPr sz="1200" b="1" i="0">
                <a:solidFill>
                  <a:srgbClr val="1F7A6D"/>
                </a:solidFill>
                <a:latin typeface="Calibri"/>
              </a:rPr>
              <a:t>Block 3</a:t>
            </a:r>
          </a:p>
        </p:txBody>
      </p:sp>
      <p:sp>
        <p:nvSpPr>
          <p:cNvPr id="13" name="TextBox 12"/>
          <p:cNvSpPr txBox="1"/>
          <p:nvPr/>
        </p:nvSpPr>
        <p:spPr>
          <a:xfrm>
            <a:off x="3017520" y="4636008"/>
            <a:ext cx="1783080" cy="1188720"/>
          </a:xfrm>
          <a:prstGeom prst="rect">
            <a:avLst/>
          </a:prstGeom>
          <a:noFill/>
        </p:spPr>
        <p:txBody>
          <a:bodyPr wrap="square" anchor="t" lIns="0" rIns="0" tIns="0" bIns="0">
            <a:noAutofit/>
          </a:bodyPr>
          <a:lstStyle/>
          <a:p>
            <a:pPr algn="l">
              <a:spcAft>
                <a:spcPts val="600"/>
              </a:spcAft>
            </a:pPr>
            <a:r>
              <a:rPr sz="1400" b="0" i="0">
                <a:solidFill>
                  <a:srgbClr val="17272E"/>
                </a:solidFill>
                <a:latin typeface="Calibri"/>
              </a:rPr>
              <a:t>Classes, subclasses, property hierarchies, domain and range</a:t>
            </a:r>
          </a:p>
        </p:txBody>
      </p:sp>
      <p:sp>
        <p:nvSpPr>
          <p:cNvPr id="14" name="Layer: RDFS-Plus"/>
          <p:cNvSpPr/>
          <p:nvPr/>
        </p:nvSpPr>
        <p:spPr>
          <a:xfrm>
            <a:off x="5120640" y="3246120"/>
            <a:ext cx="2148840" cy="2743200"/>
          </a:xfrm>
          <a:prstGeom prst="roundRect">
            <a:avLst>
              <a:gd name="adj" fmla="val 5106"/>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303520" y="3410712"/>
            <a:ext cx="1783080" cy="365760"/>
          </a:xfrm>
          <a:prstGeom prst="rect">
            <a:avLst/>
          </a:prstGeom>
          <a:noFill/>
        </p:spPr>
        <p:txBody>
          <a:bodyPr wrap="square" anchor="t" lIns="0" rIns="0" tIns="0" bIns="0">
            <a:noAutofit/>
          </a:bodyPr>
          <a:lstStyle/>
          <a:p>
            <a:pPr algn="l">
              <a:spcAft>
                <a:spcPts val="600"/>
              </a:spcAft>
            </a:pPr>
            <a:r>
              <a:rPr sz="2000" b="1" i="0">
                <a:solidFill>
                  <a:srgbClr val="FFFFFF"/>
                </a:solidFill>
                <a:latin typeface="Cambria"/>
              </a:rPr>
              <a:t>RDFS-Plus</a:t>
            </a:r>
          </a:p>
        </p:txBody>
      </p:sp>
      <p:sp>
        <p:nvSpPr>
          <p:cNvPr id="16" name="TextBox 15"/>
          <p:cNvSpPr txBox="1"/>
          <p:nvPr/>
        </p:nvSpPr>
        <p:spPr>
          <a:xfrm>
            <a:off x="5303520" y="3794759"/>
            <a:ext cx="1783080" cy="274320"/>
          </a:xfrm>
          <a:prstGeom prst="rect">
            <a:avLst/>
          </a:prstGeom>
          <a:noFill/>
        </p:spPr>
        <p:txBody>
          <a:bodyPr wrap="square" anchor="t" lIns="0" rIns="0" tIns="0" bIns="0">
            <a:noAutofit/>
          </a:bodyPr>
          <a:lstStyle/>
          <a:p>
            <a:pPr algn="l">
              <a:spcAft>
                <a:spcPts val="600"/>
              </a:spcAft>
            </a:pPr>
            <a:r>
              <a:rPr sz="1200" b="1" i="0">
                <a:solidFill>
                  <a:srgbClr val="E0952B"/>
                </a:solidFill>
                <a:latin typeface="Calibri"/>
              </a:rPr>
              <a:t>Block 4</a:t>
            </a:r>
          </a:p>
        </p:txBody>
      </p:sp>
      <p:sp>
        <p:nvSpPr>
          <p:cNvPr id="17" name="TextBox 16"/>
          <p:cNvSpPr txBox="1"/>
          <p:nvPr/>
        </p:nvSpPr>
        <p:spPr>
          <a:xfrm>
            <a:off x="5303520" y="4087368"/>
            <a:ext cx="1783080" cy="1188720"/>
          </a:xfrm>
          <a:prstGeom prst="rect">
            <a:avLst/>
          </a:prstGeom>
          <a:noFill/>
        </p:spPr>
        <p:txBody>
          <a:bodyPr wrap="square" anchor="t" lIns="0" rIns="0" tIns="0" bIns="0">
            <a:noAutofit/>
          </a:bodyPr>
          <a:lstStyle/>
          <a:p>
            <a:pPr algn="l">
              <a:spcAft>
                <a:spcPts val="600"/>
              </a:spcAft>
            </a:pPr>
            <a:r>
              <a:rPr sz="1400" b="0" i="0">
                <a:solidFill>
                  <a:srgbClr val="FFFFFF"/>
                </a:solidFill>
                <a:latin typeface="Calibri"/>
              </a:rPr>
              <a:t>Sameness, inverse and functional properties</a:t>
            </a:r>
          </a:p>
        </p:txBody>
      </p:sp>
      <p:sp>
        <p:nvSpPr>
          <p:cNvPr id="18" name="Layer: OWL"/>
          <p:cNvSpPr/>
          <p:nvPr/>
        </p:nvSpPr>
        <p:spPr>
          <a:xfrm>
            <a:off x="7406640" y="2697479"/>
            <a:ext cx="2148840" cy="3291840"/>
          </a:xfrm>
          <a:prstGeom prst="roundRect">
            <a:avLst>
              <a:gd name="adj" fmla="val 5106"/>
            </a:avLst>
          </a:prstGeom>
          <a:solidFill>
            <a:srgbClr val="17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589519" y="2862072"/>
            <a:ext cx="1783080" cy="365760"/>
          </a:xfrm>
          <a:prstGeom prst="rect">
            <a:avLst/>
          </a:prstGeom>
          <a:noFill/>
        </p:spPr>
        <p:txBody>
          <a:bodyPr wrap="square" anchor="t" lIns="0" rIns="0" tIns="0" bIns="0">
            <a:noAutofit/>
          </a:bodyPr>
          <a:lstStyle/>
          <a:p>
            <a:pPr algn="l">
              <a:spcAft>
                <a:spcPts val="600"/>
              </a:spcAft>
            </a:pPr>
            <a:r>
              <a:rPr sz="2000" b="1" i="0">
                <a:solidFill>
                  <a:srgbClr val="FFFFFF"/>
                </a:solidFill>
                <a:latin typeface="Cambria"/>
              </a:rPr>
              <a:t>OWL</a:t>
            </a:r>
          </a:p>
        </p:txBody>
      </p:sp>
      <p:sp>
        <p:nvSpPr>
          <p:cNvPr id="20" name="TextBox 19"/>
          <p:cNvSpPr txBox="1"/>
          <p:nvPr/>
        </p:nvSpPr>
        <p:spPr>
          <a:xfrm>
            <a:off x="7589519" y="3246120"/>
            <a:ext cx="1783080" cy="274320"/>
          </a:xfrm>
          <a:prstGeom prst="rect">
            <a:avLst/>
          </a:prstGeom>
          <a:noFill/>
        </p:spPr>
        <p:txBody>
          <a:bodyPr wrap="square" anchor="t" lIns="0" rIns="0" tIns="0" bIns="0">
            <a:noAutofit/>
          </a:bodyPr>
          <a:lstStyle/>
          <a:p>
            <a:pPr algn="l">
              <a:spcAft>
                <a:spcPts val="600"/>
              </a:spcAft>
            </a:pPr>
            <a:r>
              <a:rPr sz="1200" b="1" i="0">
                <a:solidFill>
                  <a:srgbClr val="E0952B"/>
                </a:solidFill>
                <a:latin typeface="Calibri"/>
              </a:rPr>
              <a:t>Block 5</a:t>
            </a:r>
          </a:p>
        </p:txBody>
      </p:sp>
      <p:sp>
        <p:nvSpPr>
          <p:cNvPr id="21" name="TextBox 20"/>
          <p:cNvSpPr txBox="1"/>
          <p:nvPr/>
        </p:nvSpPr>
        <p:spPr>
          <a:xfrm>
            <a:off x="7589519" y="3538727"/>
            <a:ext cx="1783080" cy="1188720"/>
          </a:xfrm>
          <a:prstGeom prst="rect">
            <a:avLst/>
          </a:prstGeom>
          <a:noFill/>
        </p:spPr>
        <p:txBody>
          <a:bodyPr wrap="square" anchor="t" lIns="0" rIns="0" tIns="0" bIns="0">
            <a:noAutofit/>
          </a:bodyPr>
          <a:lstStyle/>
          <a:p>
            <a:pPr algn="l">
              <a:spcAft>
                <a:spcPts val="600"/>
              </a:spcAft>
            </a:pPr>
            <a:r>
              <a:rPr sz="1400" b="0" i="0">
                <a:solidFill>
                  <a:srgbClr val="FFFFFF"/>
                </a:solidFill>
                <a:latin typeface="Calibri"/>
              </a:rPr>
              <a:t>Restrictions, set operations, cardinality, profiles</a:t>
            </a:r>
          </a:p>
        </p:txBody>
      </p:sp>
      <p:sp>
        <p:nvSpPr>
          <p:cNvPr id="22" name="Card: SKOS"/>
          <p:cNvSpPr/>
          <p:nvPr/>
        </p:nvSpPr>
        <p:spPr>
          <a:xfrm>
            <a:off x="9829800" y="1691640"/>
            <a:ext cx="1813255" cy="1325880"/>
          </a:xfrm>
          <a:prstGeom prst="roundRect">
            <a:avLst>
              <a:gd name="adj" fmla="val 9655"/>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058400" y="1956816"/>
            <a:ext cx="1356055" cy="411480"/>
          </a:xfrm>
          <a:prstGeom prst="rect">
            <a:avLst/>
          </a:prstGeom>
          <a:noFill/>
        </p:spPr>
        <p:txBody>
          <a:bodyPr wrap="square" anchor="t" lIns="0" rIns="0" tIns="0" bIns="0">
            <a:noAutofit/>
          </a:bodyPr>
          <a:lstStyle/>
          <a:p>
            <a:pPr algn="l">
              <a:spcAft>
                <a:spcPts val="600"/>
              </a:spcAft>
            </a:pPr>
            <a:r>
              <a:rPr sz="1700" b="1" i="0">
                <a:solidFill>
                  <a:srgbClr val="17272E"/>
                </a:solidFill>
                <a:latin typeface="Calibri"/>
              </a:rPr>
              <a:t>SKOS</a:t>
            </a:r>
          </a:p>
        </p:txBody>
      </p:sp>
      <p:sp>
        <p:nvSpPr>
          <p:cNvPr id="24" name="TextBox 23"/>
          <p:cNvSpPr txBox="1"/>
          <p:nvPr/>
        </p:nvSpPr>
        <p:spPr>
          <a:xfrm>
            <a:off x="10058400" y="2377440"/>
            <a:ext cx="1356055" cy="502919"/>
          </a:xfrm>
          <a:prstGeom prst="rect">
            <a:avLst/>
          </a:prstGeom>
          <a:noFill/>
        </p:spPr>
        <p:txBody>
          <a:bodyPr wrap="square" anchor="t" lIns="0" rIns="0" tIns="0" bIns="0">
            <a:noAutofit/>
          </a:bodyPr>
          <a:lstStyle/>
          <a:p>
            <a:pPr algn="l">
              <a:spcAft>
                <a:spcPts val="500"/>
              </a:spcAft>
            </a:pPr>
            <a:r>
              <a:rPr sz="1400" b="0" i="0">
                <a:solidFill>
                  <a:srgbClr val="17272E"/>
                </a:solidFill>
                <a:latin typeface="Calibri"/>
              </a:rPr>
              <a:t>Block 6: concept schemes, built on RDFS-Plus</a:t>
            </a:r>
          </a:p>
        </p:txBody>
      </p:sp>
      <p:sp>
        <p:nvSpPr>
          <p:cNvPr id="25" name="Card: Rules"/>
          <p:cNvSpPr/>
          <p:nvPr/>
        </p:nvSpPr>
        <p:spPr>
          <a:xfrm>
            <a:off x="9829800" y="3154680"/>
            <a:ext cx="1813255" cy="1325880"/>
          </a:xfrm>
          <a:prstGeom prst="roundRect">
            <a:avLst>
              <a:gd name="adj" fmla="val 9655"/>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058400" y="3419856"/>
            <a:ext cx="1356055" cy="411480"/>
          </a:xfrm>
          <a:prstGeom prst="rect">
            <a:avLst/>
          </a:prstGeom>
          <a:noFill/>
        </p:spPr>
        <p:txBody>
          <a:bodyPr wrap="square" anchor="t" lIns="0" rIns="0" tIns="0" bIns="0">
            <a:noAutofit/>
          </a:bodyPr>
          <a:lstStyle/>
          <a:p>
            <a:pPr algn="l">
              <a:spcAft>
                <a:spcPts val="600"/>
              </a:spcAft>
            </a:pPr>
            <a:r>
              <a:rPr sz="1700" b="1" i="0">
                <a:solidFill>
                  <a:srgbClr val="17272E"/>
                </a:solidFill>
                <a:latin typeface="Calibri"/>
              </a:rPr>
              <a:t>Rules</a:t>
            </a:r>
          </a:p>
        </p:txBody>
      </p:sp>
      <p:sp>
        <p:nvSpPr>
          <p:cNvPr id="27" name="TextBox 26"/>
          <p:cNvSpPr txBox="1"/>
          <p:nvPr/>
        </p:nvSpPr>
        <p:spPr>
          <a:xfrm>
            <a:off x="10058400" y="3840480"/>
            <a:ext cx="1356055" cy="502920"/>
          </a:xfrm>
          <a:prstGeom prst="rect">
            <a:avLst/>
          </a:prstGeom>
          <a:noFill/>
        </p:spPr>
        <p:txBody>
          <a:bodyPr wrap="square" anchor="t" lIns="0" rIns="0" tIns="0" bIns="0">
            <a:noAutofit/>
          </a:bodyPr>
          <a:lstStyle/>
          <a:p>
            <a:pPr algn="l">
              <a:spcAft>
                <a:spcPts val="500"/>
              </a:spcAft>
            </a:pPr>
            <a:r>
              <a:rPr sz="1400" b="0" i="0">
                <a:solidFill>
                  <a:srgbClr val="17272E"/>
                </a:solidFill>
                <a:latin typeface="Calibri"/>
              </a:rPr>
              <a:t>Block 7: if-then logic beyond OWL</a:t>
            </a:r>
          </a:p>
        </p:txBody>
      </p:sp>
      <p:sp>
        <p:nvSpPr>
          <p:cNvPr id="28" name="Card: SPARQL"/>
          <p:cNvSpPr/>
          <p:nvPr/>
        </p:nvSpPr>
        <p:spPr>
          <a:xfrm>
            <a:off x="9829800" y="4617720"/>
            <a:ext cx="1813255" cy="1325880"/>
          </a:xfrm>
          <a:prstGeom prst="roundRect">
            <a:avLst>
              <a:gd name="adj" fmla="val 9655"/>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058400" y="4882896"/>
            <a:ext cx="1356055" cy="411480"/>
          </a:xfrm>
          <a:prstGeom prst="rect">
            <a:avLst/>
          </a:prstGeom>
          <a:noFill/>
        </p:spPr>
        <p:txBody>
          <a:bodyPr wrap="square" anchor="t" lIns="0" rIns="0" tIns="0" bIns="0">
            <a:noAutofit/>
          </a:bodyPr>
          <a:lstStyle/>
          <a:p>
            <a:pPr algn="l">
              <a:spcAft>
                <a:spcPts val="600"/>
              </a:spcAft>
            </a:pPr>
            <a:r>
              <a:rPr sz="1700" b="1" i="0">
                <a:solidFill>
                  <a:srgbClr val="17272E"/>
                </a:solidFill>
                <a:latin typeface="Calibri"/>
              </a:rPr>
              <a:t>SPARQL</a:t>
            </a:r>
          </a:p>
        </p:txBody>
      </p:sp>
      <p:sp>
        <p:nvSpPr>
          <p:cNvPr id="30" name="TextBox 29"/>
          <p:cNvSpPr txBox="1"/>
          <p:nvPr/>
        </p:nvSpPr>
        <p:spPr>
          <a:xfrm>
            <a:off x="10058400" y="5303520"/>
            <a:ext cx="1356055" cy="502920"/>
          </a:xfrm>
          <a:prstGeom prst="rect">
            <a:avLst/>
          </a:prstGeom>
          <a:noFill/>
        </p:spPr>
        <p:txBody>
          <a:bodyPr wrap="square" anchor="t" lIns="0" rIns="0" tIns="0" bIns="0">
            <a:noAutofit/>
          </a:bodyPr>
          <a:lstStyle/>
          <a:p>
            <a:pPr algn="l">
              <a:spcAft>
                <a:spcPts val="500"/>
              </a:spcAft>
            </a:pPr>
            <a:r>
              <a:rPr sz="1400" b="0" i="0">
                <a:solidFill>
                  <a:srgbClr val="17272E"/>
                </a:solidFill>
                <a:latin typeface="Calibri"/>
              </a:rPr>
              <a:t>Block 8: queries every layer</a:t>
            </a:r>
          </a:p>
        </p:txBody>
      </p:sp>
      <p:sp>
        <p:nvSpPr>
          <p:cNvPr id="31"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32"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The same layers in the W3C Semantic Web Stack</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3 · THE BUILDING BLOCKS</a:t>
            </a:r>
          </a:p>
        </p:txBody>
      </p:sp>
      <p:pic>
        <p:nvPicPr>
          <p:cNvPr id="4" name="W3C Semantic Web Stack" descr="semantic_web_stack.png"/>
          <p:cNvPicPr>
            <a:picLocks noChangeAspect="1"/>
          </p:cNvPicPr>
          <p:nvPr/>
        </p:nvPicPr>
        <p:blipFill>
          <a:blip r:embed="rId2"/>
          <a:stretch>
            <a:fillRect/>
          </a:stretch>
        </p:blipFill>
        <p:spPr>
          <a:xfrm>
            <a:off x="548640" y="1600200"/>
            <a:ext cx="4180114" cy="4389120"/>
          </a:xfrm>
          <a:prstGeom prst="rect">
            <a:avLst/>
          </a:prstGeom>
        </p:spPr>
      </p:pic>
      <p:sp>
        <p:nvSpPr>
          <p:cNvPr id="5" name="Layer: URI/IRI"/>
          <p:cNvSpPr/>
          <p:nvPr/>
        </p:nvSpPr>
        <p:spPr>
          <a:xfrm>
            <a:off x="604810" y="5522976"/>
            <a:ext cx="3329286" cy="305670"/>
          </a:xfrm>
          <a:prstGeom prst="roundRect">
            <a:avLst>
              <a:gd name="adj" fmla="val 14957"/>
            </a:avLst>
          </a:prstGeom>
          <a:noFill/>
          <a:ln w="31750">
            <a:solidFill>
              <a:srgbClr val="E095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adge 1"/>
          <p:cNvSpPr/>
          <p:nvPr/>
        </p:nvSpPr>
        <p:spPr>
          <a:xfrm>
            <a:off x="495082" y="5413248"/>
            <a:ext cx="274320" cy="274320"/>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200" b="1" i="0">
                <a:solidFill>
                  <a:srgbClr val="17272E"/>
                </a:solidFill>
                <a:latin typeface="Calibri"/>
              </a:rPr>
              <a:t>1</a:t>
            </a:r>
          </a:p>
        </p:txBody>
      </p:sp>
      <p:sp>
        <p:nvSpPr>
          <p:cNvPr id="7" name="Layer: Data interchange: RDF"/>
          <p:cNvSpPr/>
          <p:nvPr/>
        </p:nvSpPr>
        <p:spPr>
          <a:xfrm>
            <a:off x="604810" y="4638185"/>
            <a:ext cx="1733876" cy="779417"/>
          </a:xfrm>
          <a:prstGeom prst="roundRect">
            <a:avLst>
              <a:gd name="adj" fmla="val 5865"/>
            </a:avLst>
          </a:prstGeom>
          <a:noFill/>
          <a:ln w="31750">
            <a:solidFill>
              <a:srgbClr val="E095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adge 2"/>
          <p:cNvSpPr/>
          <p:nvPr/>
        </p:nvSpPr>
        <p:spPr>
          <a:xfrm>
            <a:off x="495082" y="4528457"/>
            <a:ext cx="274320" cy="274320"/>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200" b="1" i="0">
                <a:solidFill>
                  <a:srgbClr val="17272E"/>
                </a:solidFill>
                <a:latin typeface="Calibri"/>
              </a:rPr>
              <a:t>2</a:t>
            </a:r>
          </a:p>
        </p:txBody>
      </p:sp>
      <p:sp>
        <p:nvSpPr>
          <p:cNvPr id="9" name="Layer: RDFS"/>
          <p:cNvSpPr/>
          <p:nvPr/>
        </p:nvSpPr>
        <p:spPr>
          <a:xfrm>
            <a:off x="1684673" y="4129604"/>
            <a:ext cx="1294964" cy="396240"/>
          </a:xfrm>
          <a:prstGeom prst="roundRect">
            <a:avLst>
              <a:gd name="adj" fmla="val 11538"/>
            </a:avLst>
          </a:prstGeom>
          <a:noFill/>
          <a:ln w="31750">
            <a:solidFill>
              <a:srgbClr val="E095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adge 3"/>
          <p:cNvSpPr/>
          <p:nvPr/>
        </p:nvSpPr>
        <p:spPr>
          <a:xfrm>
            <a:off x="1574945" y="4019876"/>
            <a:ext cx="274320" cy="274320"/>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200" b="1" i="0">
                <a:solidFill>
                  <a:srgbClr val="17272E"/>
                </a:solidFill>
                <a:latin typeface="Calibri"/>
              </a:rPr>
              <a:t>3</a:t>
            </a:r>
          </a:p>
        </p:txBody>
      </p:sp>
      <p:sp>
        <p:nvSpPr>
          <p:cNvPr id="11" name="Layer: Ontology: OWL"/>
          <p:cNvSpPr/>
          <p:nvPr/>
        </p:nvSpPr>
        <p:spPr>
          <a:xfrm>
            <a:off x="1684673" y="3558322"/>
            <a:ext cx="1294964" cy="479842"/>
          </a:xfrm>
          <a:prstGeom prst="roundRect">
            <a:avLst>
              <a:gd name="adj" fmla="val 9528"/>
            </a:avLst>
          </a:prstGeom>
          <a:noFill/>
          <a:ln w="31750">
            <a:solidFill>
              <a:srgbClr val="E095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adge 5"/>
          <p:cNvSpPr/>
          <p:nvPr/>
        </p:nvSpPr>
        <p:spPr>
          <a:xfrm>
            <a:off x="1574945" y="3448594"/>
            <a:ext cx="274320" cy="274320"/>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200" b="1" i="0">
                <a:solidFill>
                  <a:srgbClr val="17272E"/>
                </a:solidFill>
                <a:latin typeface="Calibri"/>
              </a:rPr>
              <a:t>5</a:t>
            </a:r>
          </a:p>
        </p:txBody>
      </p:sp>
      <p:sp>
        <p:nvSpPr>
          <p:cNvPr id="13" name="Layer: Rule: RIF"/>
          <p:cNvSpPr/>
          <p:nvPr/>
        </p:nvSpPr>
        <p:spPr>
          <a:xfrm>
            <a:off x="3085011" y="3558322"/>
            <a:ext cx="842118" cy="967522"/>
          </a:xfrm>
          <a:prstGeom prst="roundRect">
            <a:avLst>
              <a:gd name="adj" fmla="val 5429"/>
            </a:avLst>
          </a:prstGeom>
          <a:noFill/>
          <a:ln w="31750">
            <a:solidFill>
              <a:srgbClr val="E095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adge 7"/>
          <p:cNvSpPr/>
          <p:nvPr/>
        </p:nvSpPr>
        <p:spPr>
          <a:xfrm>
            <a:off x="2975283" y="3448594"/>
            <a:ext cx="274320" cy="274320"/>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200" b="1" i="0">
                <a:solidFill>
                  <a:srgbClr val="17272E"/>
                </a:solidFill>
                <a:latin typeface="Calibri"/>
              </a:rPr>
              <a:t>7</a:t>
            </a:r>
          </a:p>
        </p:txBody>
      </p:sp>
      <p:sp>
        <p:nvSpPr>
          <p:cNvPr id="15" name="Layer: Query: SPARQL"/>
          <p:cNvSpPr/>
          <p:nvPr/>
        </p:nvSpPr>
        <p:spPr>
          <a:xfrm>
            <a:off x="737180" y="3558322"/>
            <a:ext cx="842118" cy="967522"/>
          </a:xfrm>
          <a:prstGeom prst="roundRect">
            <a:avLst>
              <a:gd name="adj" fmla="val 5429"/>
            </a:avLst>
          </a:prstGeom>
          <a:noFill/>
          <a:ln w="31750">
            <a:solidFill>
              <a:srgbClr val="E095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adge 8"/>
          <p:cNvSpPr/>
          <p:nvPr/>
        </p:nvSpPr>
        <p:spPr>
          <a:xfrm>
            <a:off x="627452" y="3448594"/>
            <a:ext cx="274320" cy="274320"/>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200" b="1" i="0">
                <a:solidFill>
                  <a:srgbClr val="17272E"/>
                </a:solidFill>
                <a:latin typeface="Calibri"/>
              </a:rPr>
              <a:t>8</a:t>
            </a:r>
          </a:p>
        </p:txBody>
      </p:sp>
      <p:sp>
        <p:nvSpPr>
          <p:cNvPr id="17" name="TextBox 16"/>
          <p:cNvSpPr txBox="1"/>
          <p:nvPr/>
        </p:nvSpPr>
        <p:spPr>
          <a:xfrm>
            <a:off x="548640" y="6044183"/>
            <a:ext cx="4180114"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Semantic Web Stack: W3C, public domain, via Wikimedia Commons</a:t>
            </a:r>
          </a:p>
        </p:txBody>
      </p:sp>
      <p:sp>
        <p:nvSpPr>
          <p:cNvPr id="18" name="Rounded Rectangle 17"/>
          <p:cNvSpPr/>
          <p:nvPr/>
        </p:nvSpPr>
        <p:spPr>
          <a:xfrm>
            <a:off x="1829235" y="3979817"/>
            <a:ext cx="1005840" cy="201168"/>
          </a:xfrm>
          <a:prstGeom prst="roundRect">
            <a:avLst>
              <a:gd name="adj" fmla="val 50000"/>
            </a:avLst>
          </a:prstGeom>
          <a:solidFill>
            <a:srgbClr val="1F7A6D"/>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1000" b="1" i="0">
                <a:solidFill>
                  <a:srgbClr val="FFFFFF"/>
                </a:solidFill>
                <a:latin typeface="Calibri"/>
              </a:rPr>
              <a:t>4 · RDFS-Plus</a:t>
            </a:r>
          </a:p>
        </p:txBody>
      </p:sp>
      <p:sp>
        <p:nvSpPr>
          <p:cNvPr id="19" name="TextBox 18"/>
          <p:cNvSpPr txBox="1"/>
          <p:nvPr/>
        </p:nvSpPr>
        <p:spPr>
          <a:xfrm>
            <a:off x="5257800" y="1600200"/>
            <a:ext cx="6385255" cy="365760"/>
          </a:xfrm>
          <a:prstGeom prst="rect">
            <a:avLst/>
          </a:prstGeom>
          <a:noFill/>
        </p:spPr>
        <p:txBody>
          <a:bodyPr wrap="square" anchor="t" lIns="0" rIns="0" tIns="0" bIns="0">
            <a:noAutofit/>
          </a:bodyPr>
          <a:lstStyle/>
          <a:p>
            <a:pPr algn="l">
              <a:spcAft>
                <a:spcPts val="600"/>
              </a:spcAft>
            </a:pPr>
            <a:r>
              <a:rPr sz="1500" b="1" i="0">
                <a:solidFill>
                  <a:srgbClr val="17272E"/>
                </a:solidFill>
                <a:latin typeface="Calibri"/>
              </a:rPr>
              <a:t>Numbers are the building blocks on the next slides</a:t>
            </a:r>
          </a:p>
        </p:txBody>
      </p:sp>
      <p:graphicFrame>
        <p:nvGraphicFramePr>
          <p:cNvPr id="20" name="Table 19"/>
          <p:cNvGraphicFramePr>
            <a:graphicFrameLocks noGrp="1"/>
          </p:cNvGraphicFramePr>
          <p:nvPr/>
        </p:nvGraphicFramePr>
        <p:xfrm>
          <a:off x="5257800" y="2011680"/>
          <a:ext cx="6385255" cy="3538728"/>
        </p:xfrm>
        <a:graphic>
          <a:graphicData uri="http://schemas.openxmlformats.org/drawingml/2006/table">
            <a:tbl>
              <a:tblPr firstRow="0" bandRow="0">
                <a:tableStyleId>{5C22544A-7EE6-4342-B048-85BDC9FD1C3A}</a:tableStyleId>
              </a:tblPr>
              <a:tblGrid>
                <a:gridCol w="685800"/>
                <a:gridCol w="2514600"/>
                <a:gridCol w="2011680"/>
                <a:gridCol w="1173175"/>
              </a:tblGrid>
              <a:tr h="393192">
                <a:tc>
                  <a:txBody>
                    <a:bodyPr wrap="square"/>
                    <a:lstStyle/>
                    <a:p>
                      <a:r>
                        <a:rPr sz="1300" b="1" i="0">
                          <a:solidFill>
                            <a:srgbClr val="FFFFFF"/>
                          </a:solidFill>
                          <a:latin typeface="Calibri"/>
                        </a:rPr>
                        <a:t>Block</a:t>
                      </a:r>
                    </a:p>
                  </a:txBody>
                  <a:tcPr marL="91440" marR="91440" marT="27432" marB="27432" anchor="ctr">
                    <a:solidFill>
                      <a:srgbClr val="1F7A6D"/>
                    </a:solidFill>
                  </a:tcPr>
                </a:tc>
                <a:tc>
                  <a:txBody>
                    <a:bodyPr wrap="square"/>
                    <a:lstStyle/>
                    <a:p>
                      <a:r>
                        <a:rPr sz="1300" b="1" i="0">
                          <a:solidFill>
                            <a:srgbClr val="FFFFFF"/>
                          </a:solidFill>
                          <a:latin typeface="Calibri"/>
                        </a:rPr>
                        <a:t>Layer</a:t>
                      </a:r>
                    </a:p>
                  </a:txBody>
                  <a:tcPr marL="91440" marR="91440" marT="27432" marB="27432" anchor="ctr">
                    <a:solidFill>
                      <a:srgbClr val="1F7A6D"/>
                    </a:solidFill>
                  </a:tcPr>
                </a:tc>
                <a:tc>
                  <a:txBody>
                    <a:bodyPr wrap="square"/>
                    <a:lstStyle/>
                    <a:p>
                      <a:r>
                        <a:rPr sz="1300" b="1" i="0">
                          <a:solidFill>
                            <a:srgbClr val="FFFFFF"/>
                          </a:solidFill>
                          <a:latin typeface="Calibri"/>
                        </a:rPr>
                        <a:t>Adds</a:t>
                      </a:r>
                    </a:p>
                  </a:txBody>
                  <a:tcPr marL="91440" marR="91440" marT="27432" marB="27432" anchor="ctr">
                    <a:solidFill>
                      <a:srgbClr val="1F7A6D"/>
                    </a:solidFill>
                  </a:tcPr>
                </a:tc>
                <a:tc>
                  <a:txBody>
                    <a:bodyPr wrap="square"/>
                    <a:lstStyle/>
                    <a:p>
                      <a:r>
                        <a:rPr sz="1300" b="1" i="0">
                          <a:solidFill>
                            <a:srgbClr val="FFFFFF"/>
                          </a:solidFill>
                          <a:latin typeface="Calibri"/>
                        </a:rPr>
                        <a:t>Deep dive</a:t>
                      </a:r>
                    </a:p>
                  </a:txBody>
                  <a:tcPr marL="91440" marR="91440" marT="27432" marB="27432" anchor="ctr">
                    <a:solidFill>
                      <a:srgbClr val="1F7A6D"/>
                    </a:solidFill>
                  </a:tcPr>
                </a:tc>
              </a:tr>
              <a:tr h="393192">
                <a:tc>
                  <a:txBody>
                    <a:bodyPr wrap="square"/>
                    <a:lstStyle/>
                    <a:p>
                      <a:r>
                        <a:rPr sz="1300" b="1" i="0">
                          <a:solidFill>
                            <a:srgbClr val="17272E"/>
                          </a:solidFill>
                          <a:latin typeface="Calibri"/>
                        </a:rPr>
                        <a:t>1</a:t>
                      </a:r>
                    </a:p>
                  </a:txBody>
                  <a:tcPr marL="91440" marR="91440" marT="27432" marB="27432" anchor="ctr">
                    <a:solidFill>
                      <a:srgbClr val="FCF1DF"/>
                    </a:solidFill>
                  </a:tcPr>
                </a:tc>
                <a:tc>
                  <a:txBody>
                    <a:bodyPr wrap="square"/>
                    <a:lstStyle/>
                    <a:p>
                      <a:r>
                        <a:rPr sz="1300" b="0" i="0">
                          <a:solidFill>
                            <a:srgbClr val="17272E"/>
                          </a:solidFill>
                          <a:latin typeface="Calibri"/>
                        </a:rPr>
                        <a:t>URI/IRI</a:t>
                      </a:r>
                    </a:p>
                  </a:txBody>
                  <a:tcPr marL="91440" marR="91440" marT="27432" marB="27432" anchor="ctr">
                    <a:solidFill>
                      <a:srgbClr val="FFFFFF"/>
                    </a:solidFill>
                  </a:tcPr>
                </a:tc>
                <a:tc>
                  <a:txBody>
                    <a:bodyPr wrap="square"/>
                    <a:lstStyle/>
                    <a:p>
                      <a:r>
                        <a:rPr sz="1300" b="0" i="0">
                          <a:solidFill>
                            <a:srgbClr val="17272E"/>
                          </a:solidFill>
                          <a:latin typeface="Calibri"/>
                        </a:rPr>
                        <a:t>Global names</a:t>
                      </a:r>
                    </a:p>
                  </a:txBody>
                  <a:tcPr marL="91440" marR="91440" marT="27432" marB="27432" anchor="ctr">
                    <a:solidFill>
                      <a:srgbClr val="FFFFFF"/>
                    </a:solidFill>
                  </a:tcPr>
                </a:tc>
                <a:tc>
                  <a:txBody>
                    <a:bodyPr wrap="square"/>
                    <a:lstStyle/>
                    <a:p>
                      <a:r>
                        <a:rPr sz="1300" b="0" i="0">
                          <a:solidFill>
                            <a:srgbClr val="17272E"/>
                          </a:solidFill>
                          <a:latin typeface="Calibri"/>
                        </a:rPr>
                        <a:t>4</a:t>
                      </a:r>
                    </a:p>
                  </a:txBody>
                  <a:tcPr marL="91440" marR="91440" marT="27432" marB="27432" anchor="ctr">
                    <a:solidFill>
                      <a:srgbClr val="FFFFFF"/>
                    </a:solidFill>
                  </a:tcPr>
                </a:tc>
              </a:tr>
              <a:tr h="393192">
                <a:tc>
                  <a:txBody>
                    <a:bodyPr wrap="square"/>
                    <a:lstStyle/>
                    <a:p>
                      <a:r>
                        <a:rPr sz="1300" b="1" i="0">
                          <a:solidFill>
                            <a:srgbClr val="17272E"/>
                          </a:solidFill>
                          <a:latin typeface="Calibri"/>
                        </a:rPr>
                        <a:t>2</a:t>
                      </a:r>
                    </a:p>
                  </a:txBody>
                  <a:tcPr marL="91440" marR="91440" marT="27432" marB="27432" anchor="ctr">
                    <a:solidFill>
                      <a:srgbClr val="FCF1DF"/>
                    </a:solidFill>
                  </a:tcPr>
                </a:tc>
                <a:tc>
                  <a:txBody>
                    <a:bodyPr wrap="square"/>
                    <a:lstStyle/>
                    <a:p>
                      <a:r>
                        <a:rPr sz="1300" b="0" i="0">
                          <a:solidFill>
                            <a:srgbClr val="17272E"/>
                          </a:solidFill>
                          <a:latin typeface="Calibri"/>
                        </a:rPr>
                        <a:t>RDF</a:t>
                      </a:r>
                    </a:p>
                  </a:txBody>
                  <a:tcPr marL="91440" marR="91440" marT="27432" marB="27432" anchor="ctr">
                    <a:solidFill>
                      <a:srgbClr val="EAF3F0"/>
                    </a:solidFill>
                  </a:tcPr>
                </a:tc>
                <a:tc>
                  <a:txBody>
                    <a:bodyPr wrap="square"/>
                    <a:lstStyle/>
                    <a:p>
                      <a:r>
                        <a:rPr sz="1300" b="0" i="0">
                          <a:solidFill>
                            <a:srgbClr val="17272E"/>
                          </a:solidFill>
                          <a:latin typeface="Calibri"/>
                        </a:rPr>
                        <a:t>Triples, merging</a:t>
                      </a:r>
                    </a:p>
                  </a:txBody>
                  <a:tcPr marL="91440" marR="91440" marT="27432" marB="27432" anchor="ctr">
                    <a:solidFill>
                      <a:srgbClr val="EAF3F0"/>
                    </a:solidFill>
                  </a:tcPr>
                </a:tc>
                <a:tc>
                  <a:txBody>
                    <a:bodyPr wrap="square"/>
                    <a:lstStyle/>
                    <a:p>
                      <a:r>
                        <a:rPr sz="1300" b="0" i="0">
                          <a:solidFill>
                            <a:srgbClr val="17272E"/>
                          </a:solidFill>
                          <a:latin typeface="Calibri"/>
                        </a:rPr>
                        <a:t>4</a:t>
                      </a:r>
                    </a:p>
                  </a:txBody>
                  <a:tcPr marL="91440" marR="91440" marT="27432" marB="27432" anchor="ctr">
                    <a:solidFill>
                      <a:srgbClr val="EAF3F0"/>
                    </a:solidFill>
                  </a:tcPr>
                </a:tc>
              </a:tr>
              <a:tr h="393192">
                <a:tc>
                  <a:txBody>
                    <a:bodyPr wrap="square"/>
                    <a:lstStyle/>
                    <a:p>
                      <a:r>
                        <a:rPr sz="1300" b="1" i="0">
                          <a:solidFill>
                            <a:srgbClr val="17272E"/>
                          </a:solidFill>
                          <a:latin typeface="Calibri"/>
                        </a:rPr>
                        <a:t>3</a:t>
                      </a:r>
                    </a:p>
                  </a:txBody>
                  <a:tcPr marL="91440" marR="91440" marT="27432" marB="27432" anchor="ctr">
                    <a:solidFill>
                      <a:srgbClr val="FCF1DF"/>
                    </a:solidFill>
                  </a:tcPr>
                </a:tc>
                <a:tc>
                  <a:txBody>
                    <a:bodyPr wrap="square"/>
                    <a:lstStyle/>
                    <a:p>
                      <a:r>
                        <a:rPr sz="1300" b="0" i="0">
                          <a:solidFill>
                            <a:srgbClr val="17272E"/>
                          </a:solidFill>
                          <a:latin typeface="Calibri"/>
                        </a:rPr>
                        <a:t>RDFS</a:t>
                      </a:r>
                    </a:p>
                  </a:txBody>
                  <a:tcPr marL="91440" marR="91440" marT="27432" marB="27432" anchor="ctr">
                    <a:solidFill>
                      <a:srgbClr val="FFFFFF"/>
                    </a:solidFill>
                  </a:tcPr>
                </a:tc>
                <a:tc>
                  <a:txBody>
                    <a:bodyPr wrap="square"/>
                    <a:lstStyle/>
                    <a:p>
                      <a:r>
                        <a:rPr sz="1300" b="0" i="0">
                          <a:solidFill>
                            <a:srgbClr val="17272E"/>
                          </a:solidFill>
                          <a:latin typeface="Calibri"/>
                        </a:rPr>
                        <a:t>Classes, hierarchies</a:t>
                      </a:r>
                    </a:p>
                  </a:txBody>
                  <a:tcPr marL="91440" marR="91440" marT="27432" marB="27432" anchor="ctr">
                    <a:solidFill>
                      <a:srgbClr val="FFFFFF"/>
                    </a:solidFill>
                  </a:tcPr>
                </a:tc>
                <a:tc>
                  <a:txBody>
                    <a:bodyPr wrap="square"/>
                    <a:lstStyle/>
                    <a:p>
                      <a:r>
                        <a:rPr sz="1300" b="0" i="0">
                          <a:solidFill>
                            <a:srgbClr val="17272E"/>
                          </a:solidFill>
                          <a:latin typeface="Calibri"/>
                        </a:rPr>
                        <a:t>5</a:t>
                      </a:r>
                    </a:p>
                  </a:txBody>
                  <a:tcPr marL="91440" marR="91440" marT="27432" marB="27432" anchor="ctr">
                    <a:solidFill>
                      <a:srgbClr val="FFFFFF"/>
                    </a:solidFill>
                  </a:tcPr>
                </a:tc>
              </a:tr>
              <a:tr h="393192">
                <a:tc>
                  <a:txBody>
                    <a:bodyPr wrap="square"/>
                    <a:lstStyle/>
                    <a:p>
                      <a:r>
                        <a:rPr sz="1300" b="1" i="0">
                          <a:solidFill>
                            <a:srgbClr val="17272E"/>
                          </a:solidFill>
                          <a:latin typeface="Calibri"/>
                        </a:rPr>
                        <a:t>4</a:t>
                      </a:r>
                    </a:p>
                  </a:txBody>
                  <a:tcPr marL="91440" marR="91440" marT="27432" marB="27432" anchor="ctr">
                    <a:solidFill>
                      <a:srgbClr val="FCF1DF"/>
                    </a:solidFill>
                  </a:tcPr>
                </a:tc>
                <a:tc>
                  <a:txBody>
                    <a:bodyPr wrap="square"/>
                    <a:lstStyle/>
                    <a:p>
                      <a:r>
                        <a:rPr sz="1300" b="0" i="0">
                          <a:solidFill>
                            <a:srgbClr val="17272E"/>
                          </a:solidFill>
                          <a:latin typeface="Calibri"/>
                        </a:rPr>
                        <a:t>RDFS-Plus (a slice of OWL)</a:t>
                      </a:r>
                    </a:p>
                  </a:txBody>
                  <a:tcPr marL="91440" marR="91440" marT="27432" marB="27432" anchor="ctr">
                    <a:solidFill>
                      <a:srgbClr val="EAF3F0"/>
                    </a:solidFill>
                  </a:tcPr>
                </a:tc>
                <a:tc>
                  <a:txBody>
                    <a:bodyPr wrap="square"/>
                    <a:lstStyle/>
                    <a:p>
                      <a:r>
                        <a:rPr sz="1300" b="0" i="0">
                          <a:solidFill>
                            <a:srgbClr val="17272E"/>
                          </a:solidFill>
                          <a:latin typeface="Calibri"/>
                        </a:rPr>
                        <a:t>Sameness</a:t>
                      </a:r>
                    </a:p>
                  </a:txBody>
                  <a:tcPr marL="91440" marR="91440" marT="27432" marB="27432" anchor="ctr">
                    <a:solidFill>
                      <a:srgbClr val="EAF3F0"/>
                    </a:solidFill>
                  </a:tcPr>
                </a:tc>
                <a:tc>
                  <a:txBody>
                    <a:bodyPr wrap="square"/>
                    <a:lstStyle/>
                    <a:p>
                      <a:r>
                        <a:rPr sz="1300" b="0" i="0">
                          <a:solidFill>
                            <a:srgbClr val="17272E"/>
                          </a:solidFill>
                          <a:latin typeface="Calibri"/>
                        </a:rPr>
                        <a:t>5</a:t>
                      </a:r>
                    </a:p>
                  </a:txBody>
                  <a:tcPr marL="91440" marR="91440" marT="27432" marB="27432" anchor="ctr">
                    <a:solidFill>
                      <a:srgbClr val="EAF3F0"/>
                    </a:solidFill>
                  </a:tcPr>
                </a:tc>
              </a:tr>
              <a:tr h="393192">
                <a:tc>
                  <a:txBody>
                    <a:bodyPr wrap="square"/>
                    <a:lstStyle/>
                    <a:p>
                      <a:r>
                        <a:rPr sz="1300" b="1" i="0">
                          <a:solidFill>
                            <a:srgbClr val="17272E"/>
                          </a:solidFill>
                          <a:latin typeface="Calibri"/>
                        </a:rPr>
                        <a:t>5</a:t>
                      </a:r>
                    </a:p>
                  </a:txBody>
                  <a:tcPr marL="91440" marR="91440" marT="27432" marB="27432" anchor="ctr">
                    <a:solidFill>
                      <a:srgbClr val="FCF1DF"/>
                    </a:solidFill>
                  </a:tcPr>
                </a:tc>
                <a:tc>
                  <a:txBody>
                    <a:bodyPr wrap="square"/>
                    <a:lstStyle/>
                    <a:p>
                      <a:r>
                        <a:rPr sz="1300" b="0" i="0">
                          <a:solidFill>
                            <a:srgbClr val="17272E"/>
                          </a:solidFill>
                          <a:latin typeface="Calibri"/>
                        </a:rPr>
                        <a:t>Ontology: OWL</a:t>
                      </a:r>
                    </a:p>
                  </a:txBody>
                  <a:tcPr marL="91440" marR="91440" marT="27432" marB="27432" anchor="ctr">
                    <a:solidFill>
                      <a:srgbClr val="FFFFFF"/>
                    </a:solidFill>
                  </a:tcPr>
                </a:tc>
                <a:tc>
                  <a:txBody>
                    <a:bodyPr wrap="square"/>
                    <a:lstStyle/>
                    <a:p>
                      <a:r>
                        <a:rPr sz="1300" b="0" i="0">
                          <a:solidFill>
                            <a:srgbClr val="17272E"/>
                          </a:solidFill>
                          <a:latin typeface="Calibri"/>
                        </a:rPr>
                        <a:t>Definitions, constraints</a:t>
                      </a:r>
                    </a:p>
                  </a:txBody>
                  <a:tcPr marL="91440" marR="91440" marT="27432" marB="27432" anchor="ctr">
                    <a:solidFill>
                      <a:srgbClr val="FFFFFF"/>
                    </a:solidFill>
                  </a:tcPr>
                </a:tc>
                <a:tc>
                  <a:txBody>
                    <a:bodyPr wrap="square"/>
                    <a:lstStyle/>
                    <a:p>
                      <a:r>
                        <a:rPr sz="1300" b="0" i="0">
                          <a:solidFill>
                            <a:srgbClr val="17272E"/>
                          </a:solidFill>
                          <a:latin typeface="Calibri"/>
                        </a:rPr>
                        <a:t>7</a:t>
                      </a:r>
                    </a:p>
                  </a:txBody>
                  <a:tcPr marL="91440" marR="91440" marT="27432" marB="27432" anchor="ctr">
                    <a:solidFill>
                      <a:srgbClr val="FFFFFF"/>
                    </a:solidFill>
                  </a:tcPr>
                </a:tc>
              </a:tr>
              <a:tr h="393192">
                <a:tc>
                  <a:txBody>
                    <a:bodyPr wrap="square"/>
                    <a:lstStyle/>
                    <a:p>
                      <a:r>
                        <a:rPr sz="1300" b="1" i="0">
                          <a:solidFill>
                            <a:srgbClr val="17272E"/>
                          </a:solidFill>
                          <a:latin typeface="Calibri"/>
                        </a:rPr>
                        <a:t>6</a:t>
                      </a:r>
                    </a:p>
                  </a:txBody>
                  <a:tcPr marL="91440" marR="91440" marT="27432" marB="27432" anchor="ctr">
                    <a:solidFill>
                      <a:srgbClr val="FCF1DF"/>
                    </a:solidFill>
                  </a:tcPr>
                </a:tc>
                <a:tc>
                  <a:txBody>
                    <a:bodyPr wrap="square"/>
                    <a:lstStyle/>
                    <a:p>
                      <a:r>
                        <a:rPr sz="1300" b="0" i="0">
                          <a:solidFill>
                            <a:srgbClr val="17272E"/>
                          </a:solidFill>
                          <a:latin typeface="Calibri"/>
                        </a:rPr>
                        <a:t>SKOS (on RDFS, not drawn)</a:t>
                      </a:r>
                    </a:p>
                  </a:txBody>
                  <a:tcPr marL="91440" marR="91440" marT="27432" marB="27432" anchor="ctr">
                    <a:solidFill>
                      <a:srgbClr val="EAF3F0"/>
                    </a:solidFill>
                  </a:tcPr>
                </a:tc>
                <a:tc>
                  <a:txBody>
                    <a:bodyPr wrap="square"/>
                    <a:lstStyle/>
                    <a:p>
                      <a:r>
                        <a:rPr sz="1300" b="0" i="0">
                          <a:solidFill>
                            <a:srgbClr val="17272E"/>
                          </a:solidFill>
                          <a:latin typeface="Calibri"/>
                        </a:rPr>
                        <a:t>Concept schemes</a:t>
                      </a:r>
                    </a:p>
                  </a:txBody>
                  <a:tcPr marL="91440" marR="91440" marT="27432" marB="27432" anchor="ctr">
                    <a:solidFill>
                      <a:srgbClr val="EAF3F0"/>
                    </a:solidFill>
                  </a:tcPr>
                </a:tc>
                <a:tc>
                  <a:txBody>
                    <a:bodyPr wrap="square"/>
                    <a:lstStyle/>
                    <a:p>
                      <a:r>
                        <a:rPr sz="1300" b="0" i="0">
                          <a:solidFill>
                            <a:srgbClr val="17272E"/>
                          </a:solidFill>
                          <a:latin typeface="Calibri"/>
                        </a:rPr>
                        <a:t>6</a:t>
                      </a:r>
                    </a:p>
                  </a:txBody>
                  <a:tcPr marL="91440" marR="91440" marT="27432" marB="27432" anchor="ctr">
                    <a:solidFill>
                      <a:srgbClr val="EAF3F0"/>
                    </a:solidFill>
                  </a:tcPr>
                </a:tc>
              </a:tr>
              <a:tr h="393192">
                <a:tc>
                  <a:txBody>
                    <a:bodyPr wrap="square"/>
                    <a:lstStyle/>
                    <a:p>
                      <a:r>
                        <a:rPr sz="1300" b="1" i="0">
                          <a:solidFill>
                            <a:srgbClr val="17272E"/>
                          </a:solidFill>
                          <a:latin typeface="Calibri"/>
                        </a:rPr>
                        <a:t>7</a:t>
                      </a:r>
                    </a:p>
                  </a:txBody>
                  <a:tcPr marL="91440" marR="91440" marT="27432" marB="27432" anchor="ctr">
                    <a:solidFill>
                      <a:srgbClr val="FCF1DF"/>
                    </a:solidFill>
                  </a:tcPr>
                </a:tc>
                <a:tc>
                  <a:txBody>
                    <a:bodyPr wrap="square"/>
                    <a:lstStyle/>
                    <a:p>
                      <a:r>
                        <a:rPr sz="1300" b="0" i="0">
                          <a:solidFill>
                            <a:srgbClr val="17272E"/>
                          </a:solidFill>
                          <a:latin typeface="Calibri"/>
                        </a:rPr>
                        <a:t>Rule: RIF</a:t>
                      </a:r>
                    </a:p>
                  </a:txBody>
                  <a:tcPr marL="91440" marR="91440" marT="27432" marB="27432" anchor="ctr">
                    <a:solidFill>
                      <a:srgbClr val="FFFFFF"/>
                    </a:solidFill>
                  </a:tcPr>
                </a:tc>
                <a:tc>
                  <a:txBody>
                    <a:bodyPr wrap="square"/>
                    <a:lstStyle/>
                    <a:p>
                      <a:r>
                        <a:rPr sz="1300" b="0" i="0">
                          <a:solidFill>
                            <a:srgbClr val="17272E"/>
                          </a:solidFill>
                          <a:latin typeface="Calibri"/>
                        </a:rPr>
                        <a:t>If-then rules</a:t>
                      </a:r>
                    </a:p>
                  </a:txBody>
                  <a:tcPr marL="91440" marR="91440" marT="27432" marB="27432" anchor="ctr">
                    <a:solidFill>
                      <a:srgbClr val="FFFFFF"/>
                    </a:solidFill>
                  </a:tcPr>
                </a:tc>
                <a:tc>
                  <a:txBody>
                    <a:bodyPr wrap="square"/>
                    <a:lstStyle/>
                    <a:p>
                      <a:r>
                        <a:rPr sz="1300" b="0" i="0">
                          <a:solidFill>
                            <a:srgbClr val="17272E"/>
                          </a:solidFill>
                          <a:latin typeface="Calibri"/>
                        </a:rPr>
                        <a:t>8</a:t>
                      </a:r>
                    </a:p>
                  </a:txBody>
                  <a:tcPr marL="91440" marR="91440" marT="27432" marB="27432" anchor="ctr">
                    <a:solidFill>
                      <a:srgbClr val="FFFFFF"/>
                    </a:solidFill>
                  </a:tcPr>
                </a:tc>
              </a:tr>
              <a:tr h="393192">
                <a:tc>
                  <a:txBody>
                    <a:bodyPr wrap="square"/>
                    <a:lstStyle/>
                    <a:p>
                      <a:r>
                        <a:rPr sz="1300" b="1" i="0">
                          <a:solidFill>
                            <a:srgbClr val="17272E"/>
                          </a:solidFill>
                          <a:latin typeface="Calibri"/>
                        </a:rPr>
                        <a:t>8</a:t>
                      </a:r>
                    </a:p>
                  </a:txBody>
                  <a:tcPr marL="91440" marR="91440" marT="27432" marB="27432" anchor="ctr">
                    <a:solidFill>
                      <a:srgbClr val="FCF1DF"/>
                    </a:solidFill>
                  </a:tcPr>
                </a:tc>
                <a:tc>
                  <a:txBody>
                    <a:bodyPr wrap="square"/>
                    <a:lstStyle/>
                    <a:p>
                      <a:r>
                        <a:rPr sz="1300" b="0" i="0">
                          <a:solidFill>
                            <a:srgbClr val="17272E"/>
                          </a:solidFill>
                          <a:latin typeface="Calibri"/>
                        </a:rPr>
                        <a:t>Query: SPARQL</a:t>
                      </a:r>
                    </a:p>
                  </a:txBody>
                  <a:tcPr marL="91440" marR="91440" marT="27432" marB="27432" anchor="ctr">
                    <a:solidFill>
                      <a:srgbClr val="EAF3F0"/>
                    </a:solidFill>
                  </a:tcPr>
                </a:tc>
                <a:tc>
                  <a:txBody>
                    <a:bodyPr wrap="square"/>
                    <a:lstStyle/>
                    <a:p>
                      <a:r>
                        <a:rPr sz="1300" b="0" i="0">
                          <a:solidFill>
                            <a:srgbClr val="17272E"/>
                          </a:solidFill>
                          <a:latin typeface="Calibri"/>
                        </a:rPr>
                        <a:t>Questions</a:t>
                      </a:r>
                    </a:p>
                  </a:txBody>
                  <a:tcPr marL="91440" marR="91440" marT="27432" marB="27432" anchor="ctr">
                    <a:solidFill>
                      <a:srgbClr val="EAF3F0"/>
                    </a:solidFill>
                  </a:tcPr>
                </a:tc>
                <a:tc>
                  <a:txBody>
                    <a:bodyPr wrap="square"/>
                    <a:lstStyle/>
                    <a:p>
                      <a:r>
                        <a:rPr sz="1300" b="0" i="0">
                          <a:solidFill>
                            <a:srgbClr val="17272E"/>
                          </a:solidFill>
                          <a:latin typeface="Calibri"/>
                        </a:rPr>
                        <a:t>4</a:t>
                      </a:r>
                    </a:p>
                  </a:txBody>
                  <a:tcPr marL="91440" marR="91440" marT="27432" marB="27432" anchor="ctr">
                    <a:solidFill>
                      <a:srgbClr val="EAF3F0"/>
                    </a:solidFill>
                  </a:tcPr>
                </a:tc>
              </a:tr>
            </a:tbl>
          </a:graphicData>
        </a:graphic>
      </p:graphicFrame>
      <p:sp>
        <p:nvSpPr>
          <p:cNvPr id="21" name="Oval 20"/>
          <p:cNvSpPr/>
          <p:nvPr/>
        </p:nvSpPr>
        <p:spPr>
          <a:xfrm>
            <a:off x="5257800" y="5669280"/>
            <a:ext cx="329184" cy="329184"/>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a:t>
            </a:r>
          </a:p>
        </p:txBody>
      </p:sp>
      <p:sp>
        <p:nvSpPr>
          <p:cNvPr id="22" name="Takeaway"/>
          <p:cNvSpPr txBox="1"/>
          <p:nvPr/>
        </p:nvSpPr>
        <p:spPr>
          <a:xfrm>
            <a:off x="5715000" y="5669280"/>
            <a:ext cx="5928055" cy="329184"/>
          </a:xfrm>
          <a:prstGeom prst="rect">
            <a:avLst/>
          </a:prstGeom>
          <a:noFill/>
        </p:spPr>
        <p:txBody>
          <a:bodyPr wrap="square" anchor="ctr" lIns="0" rIns="0" tIns="0" bIns="0">
            <a:noAutofit/>
          </a:bodyPr>
          <a:lstStyle/>
          <a:p>
            <a:pPr algn="l">
              <a:spcAft>
                <a:spcPts val="600"/>
              </a:spcAft>
            </a:pPr>
            <a:r>
              <a:rPr sz="1400" b="1" i="0">
                <a:solidFill>
                  <a:srgbClr val="17272E"/>
                </a:solidFill>
                <a:latin typeface="Calibri"/>
              </a:rPr>
              <a:t>An ontology lives mid-stack: RDFS and OWL, on top of RDF.</a:t>
            </a:r>
          </a:p>
        </p:txBody>
      </p:sp>
      <p:sp>
        <p:nvSpPr>
          <p:cNvPr id="23"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24"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The rest of the stack, in brief</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3 · THE BUILDING BLOCKS</a:t>
            </a:r>
          </a:p>
        </p:txBody>
      </p:sp>
      <p:pic>
        <p:nvPicPr>
          <p:cNvPr id="4" name="W3C Semantic Web Stack" descr="semantic_web_stack.png"/>
          <p:cNvPicPr>
            <a:picLocks noChangeAspect="1"/>
          </p:cNvPicPr>
          <p:nvPr/>
        </p:nvPicPr>
        <p:blipFill>
          <a:blip r:embed="rId2"/>
          <a:stretch>
            <a:fillRect/>
          </a:stretch>
        </p:blipFill>
        <p:spPr>
          <a:xfrm>
            <a:off x="548640" y="1600200"/>
            <a:ext cx="4180114" cy="4389120"/>
          </a:xfrm>
          <a:prstGeom prst="rect">
            <a:avLst/>
          </a:prstGeom>
        </p:spPr>
      </p:pic>
      <p:sp>
        <p:nvSpPr>
          <p:cNvPr id="5" name="Layer: User interface &amp; applications"/>
          <p:cNvSpPr/>
          <p:nvPr/>
        </p:nvSpPr>
        <p:spPr>
          <a:xfrm>
            <a:off x="604810" y="1656370"/>
            <a:ext cx="3963270" cy="403206"/>
          </a:xfrm>
          <a:prstGeom prst="roundRect">
            <a:avLst>
              <a:gd name="adj" fmla="val 11339"/>
            </a:avLst>
          </a:prstGeom>
          <a:noFill/>
          <a:ln w="31750">
            <a:solidFill>
              <a:srgbClr val="C24E3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adge A"/>
          <p:cNvSpPr/>
          <p:nvPr/>
        </p:nvSpPr>
        <p:spPr>
          <a:xfrm>
            <a:off x="495082" y="1546642"/>
            <a:ext cx="274320" cy="274320"/>
          </a:xfrm>
          <a:prstGeom prst="ellipse">
            <a:avLst/>
          </a:prstGeom>
          <a:solidFill>
            <a:srgbClr val="C24E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200" b="1" i="0">
                <a:solidFill>
                  <a:srgbClr val="FFFFFF"/>
                </a:solidFill>
                <a:latin typeface="Calibri"/>
              </a:rPr>
              <a:t>A</a:t>
            </a:r>
          </a:p>
        </p:txBody>
      </p:sp>
      <p:sp>
        <p:nvSpPr>
          <p:cNvPr id="7" name="Layer: Trust"/>
          <p:cNvSpPr/>
          <p:nvPr/>
        </p:nvSpPr>
        <p:spPr>
          <a:xfrm>
            <a:off x="2764536" y="2157984"/>
            <a:ext cx="1803545" cy="403206"/>
          </a:xfrm>
          <a:prstGeom prst="roundRect">
            <a:avLst>
              <a:gd name="adj" fmla="val 11339"/>
            </a:avLst>
          </a:prstGeom>
          <a:noFill/>
          <a:ln w="31750">
            <a:solidFill>
              <a:srgbClr val="C24E3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adge B"/>
          <p:cNvSpPr/>
          <p:nvPr/>
        </p:nvSpPr>
        <p:spPr>
          <a:xfrm>
            <a:off x="2654808" y="2048256"/>
            <a:ext cx="274320" cy="274320"/>
          </a:xfrm>
          <a:prstGeom prst="ellipse">
            <a:avLst/>
          </a:prstGeom>
          <a:solidFill>
            <a:srgbClr val="C24E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200" b="1" i="0">
                <a:solidFill>
                  <a:srgbClr val="FFFFFF"/>
                </a:solidFill>
                <a:latin typeface="Calibri"/>
              </a:rPr>
              <a:t>B</a:t>
            </a:r>
          </a:p>
        </p:txBody>
      </p:sp>
      <p:sp>
        <p:nvSpPr>
          <p:cNvPr id="9" name="Layer: Proof"/>
          <p:cNvSpPr/>
          <p:nvPr/>
        </p:nvSpPr>
        <p:spPr>
          <a:xfrm>
            <a:off x="2388325" y="2666564"/>
            <a:ext cx="1538804" cy="535577"/>
          </a:xfrm>
          <a:prstGeom prst="roundRect">
            <a:avLst>
              <a:gd name="adj" fmla="val 8536"/>
            </a:avLst>
          </a:prstGeom>
          <a:noFill/>
          <a:ln w="31750">
            <a:solidFill>
              <a:srgbClr val="C24E3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adge C"/>
          <p:cNvSpPr/>
          <p:nvPr/>
        </p:nvSpPr>
        <p:spPr>
          <a:xfrm>
            <a:off x="2278597" y="2556836"/>
            <a:ext cx="274320" cy="274320"/>
          </a:xfrm>
          <a:prstGeom prst="ellipse">
            <a:avLst/>
          </a:prstGeom>
          <a:solidFill>
            <a:srgbClr val="C24E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200" b="1" i="0">
                <a:solidFill>
                  <a:srgbClr val="FFFFFF"/>
                </a:solidFill>
                <a:latin typeface="Calibri"/>
              </a:rPr>
              <a:t>C</a:t>
            </a:r>
          </a:p>
        </p:txBody>
      </p:sp>
      <p:sp>
        <p:nvSpPr>
          <p:cNvPr id="11" name="Layer: Unifying logic"/>
          <p:cNvSpPr/>
          <p:nvPr/>
        </p:nvSpPr>
        <p:spPr>
          <a:xfrm>
            <a:off x="1238794" y="3175145"/>
            <a:ext cx="2117053" cy="270836"/>
          </a:xfrm>
          <a:prstGeom prst="roundRect">
            <a:avLst>
              <a:gd name="adj" fmla="val 16881"/>
            </a:avLst>
          </a:prstGeom>
          <a:noFill/>
          <a:ln w="31750">
            <a:solidFill>
              <a:srgbClr val="C24E3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adge D"/>
          <p:cNvSpPr/>
          <p:nvPr/>
        </p:nvSpPr>
        <p:spPr>
          <a:xfrm>
            <a:off x="1129066" y="3065417"/>
            <a:ext cx="274320" cy="274320"/>
          </a:xfrm>
          <a:prstGeom prst="ellipse">
            <a:avLst/>
          </a:prstGeom>
          <a:solidFill>
            <a:srgbClr val="C24E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200" b="1" i="0">
                <a:solidFill>
                  <a:srgbClr val="FFFFFF"/>
                </a:solidFill>
                <a:latin typeface="Calibri"/>
              </a:rPr>
              <a:t>D</a:t>
            </a:r>
          </a:p>
        </p:txBody>
      </p:sp>
      <p:sp>
        <p:nvSpPr>
          <p:cNvPr id="13" name="Layer: Crypto"/>
          <p:cNvSpPr/>
          <p:nvPr/>
        </p:nvSpPr>
        <p:spPr>
          <a:xfrm>
            <a:off x="4032503" y="2666564"/>
            <a:ext cx="535577" cy="3162082"/>
          </a:xfrm>
          <a:prstGeom prst="roundRect">
            <a:avLst>
              <a:gd name="adj" fmla="val 8536"/>
            </a:avLst>
          </a:prstGeom>
          <a:noFill/>
          <a:ln w="31750">
            <a:solidFill>
              <a:srgbClr val="C24E3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adge E"/>
          <p:cNvSpPr/>
          <p:nvPr/>
        </p:nvSpPr>
        <p:spPr>
          <a:xfrm>
            <a:off x="3922775" y="2556836"/>
            <a:ext cx="274320" cy="274320"/>
          </a:xfrm>
          <a:prstGeom prst="ellipse">
            <a:avLst/>
          </a:prstGeom>
          <a:solidFill>
            <a:srgbClr val="C24E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200" b="1" i="0">
                <a:solidFill>
                  <a:srgbClr val="FFFFFF"/>
                </a:solidFill>
                <a:latin typeface="Calibri"/>
              </a:rPr>
              <a:t>E</a:t>
            </a:r>
          </a:p>
        </p:txBody>
      </p:sp>
      <p:sp>
        <p:nvSpPr>
          <p:cNvPr id="15" name="Layer: XML"/>
          <p:cNvSpPr/>
          <p:nvPr/>
        </p:nvSpPr>
        <p:spPr>
          <a:xfrm>
            <a:off x="2444060" y="5084064"/>
            <a:ext cx="1483069" cy="333538"/>
          </a:xfrm>
          <a:prstGeom prst="roundRect">
            <a:avLst>
              <a:gd name="adj" fmla="val 13707"/>
            </a:avLst>
          </a:prstGeom>
          <a:noFill/>
          <a:ln w="31750">
            <a:solidFill>
              <a:srgbClr val="C24E3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adge F"/>
          <p:cNvSpPr/>
          <p:nvPr/>
        </p:nvSpPr>
        <p:spPr>
          <a:xfrm>
            <a:off x="2334332" y="4974336"/>
            <a:ext cx="274320" cy="274320"/>
          </a:xfrm>
          <a:prstGeom prst="ellipse">
            <a:avLst/>
          </a:prstGeom>
          <a:solidFill>
            <a:srgbClr val="C24E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200" b="1" i="0">
                <a:solidFill>
                  <a:srgbClr val="FFFFFF"/>
                </a:solidFill>
                <a:latin typeface="Calibri"/>
              </a:rPr>
              <a:t>F</a:t>
            </a:r>
          </a:p>
        </p:txBody>
      </p:sp>
      <p:sp>
        <p:nvSpPr>
          <p:cNvPr id="17" name="TextBox 16"/>
          <p:cNvSpPr txBox="1"/>
          <p:nvPr/>
        </p:nvSpPr>
        <p:spPr>
          <a:xfrm>
            <a:off x="548640" y="6044183"/>
            <a:ext cx="4180114"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Semantic Web Stack: W3C, public domain, via Wikimedia Commons</a:t>
            </a:r>
          </a:p>
        </p:txBody>
      </p:sp>
      <p:sp>
        <p:nvSpPr>
          <p:cNvPr id="18" name="TextBox 17"/>
          <p:cNvSpPr txBox="1"/>
          <p:nvPr/>
        </p:nvSpPr>
        <p:spPr>
          <a:xfrm>
            <a:off x="5257800" y="1572768"/>
            <a:ext cx="6385255" cy="365760"/>
          </a:xfrm>
          <a:prstGeom prst="rect">
            <a:avLst/>
          </a:prstGeom>
          <a:noFill/>
        </p:spPr>
        <p:txBody>
          <a:bodyPr wrap="square" anchor="t" lIns="0" rIns="0" tIns="0" bIns="0">
            <a:noAutofit/>
          </a:bodyPr>
          <a:lstStyle/>
          <a:p>
            <a:pPr algn="l">
              <a:spcAft>
                <a:spcPts val="600"/>
              </a:spcAft>
            </a:pPr>
            <a:r>
              <a:rPr sz="1500" b="1" i="0">
                <a:solidFill>
                  <a:srgbClr val="17272E"/>
                </a:solidFill>
                <a:latin typeface="Calibri"/>
              </a:rPr>
              <a:t>Not covered in this review, but useful to recognize</a:t>
            </a:r>
          </a:p>
        </p:txBody>
      </p:sp>
      <p:sp>
        <p:nvSpPr>
          <p:cNvPr id="19" name="Oval 18"/>
          <p:cNvSpPr/>
          <p:nvPr/>
        </p:nvSpPr>
        <p:spPr>
          <a:xfrm>
            <a:off x="5266944" y="2020824"/>
            <a:ext cx="292608" cy="292608"/>
          </a:xfrm>
          <a:prstGeom prst="ellipse">
            <a:avLst/>
          </a:prstGeom>
          <a:solidFill>
            <a:srgbClr val="C24E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A</a:t>
            </a:r>
          </a:p>
        </p:txBody>
      </p:sp>
      <p:sp>
        <p:nvSpPr>
          <p:cNvPr id="20" name="TextBox 19"/>
          <p:cNvSpPr txBox="1"/>
          <p:nvPr/>
        </p:nvSpPr>
        <p:spPr>
          <a:xfrm>
            <a:off x="5715000" y="2011680"/>
            <a:ext cx="5928055" cy="603504"/>
          </a:xfrm>
          <a:prstGeom prst="rect">
            <a:avLst/>
          </a:prstGeom>
          <a:noFill/>
        </p:spPr>
        <p:txBody>
          <a:bodyPr wrap="square" anchor="t" lIns="0" rIns="0" tIns="0" bIns="0">
            <a:noAutofit/>
          </a:bodyPr>
          <a:lstStyle/>
          <a:p>
            <a:pPr algn="l">
              <a:spcAft>
                <a:spcPts val="600"/>
              </a:spcAft>
            </a:pPr>
            <a:r>
              <a:rPr sz="1200" b="1" i="0">
                <a:solidFill>
                  <a:srgbClr val="17272E"/>
                </a:solidFill>
                <a:latin typeface="Calibri"/>
              </a:rPr>
              <a:t>User interface &amp; applications  </a:t>
            </a:r>
            <a:r>
              <a:rPr sz="1200" b="0" i="0">
                <a:solidFill>
                  <a:srgbClr val="5B6B70"/>
                </a:solidFill>
                <a:latin typeface="Calibri"/>
              </a:rPr>
              <a:t>What people actually use: search, dashboards, chat assistants. Built on the layers below; no standard of its own.</a:t>
            </a:r>
          </a:p>
        </p:txBody>
      </p:sp>
      <p:sp>
        <p:nvSpPr>
          <p:cNvPr id="21" name="Oval 20"/>
          <p:cNvSpPr/>
          <p:nvPr/>
        </p:nvSpPr>
        <p:spPr>
          <a:xfrm>
            <a:off x="5266944" y="2642616"/>
            <a:ext cx="292608" cy="292608"/>
          </a:xfrm>
          <a:prstGeom prst="ellipse">
            <a:avLst/>
          </a:prstGeom>
          <a:solidFill>
            <a:srgbClr val="C24E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B</a:t>
            </a:r>
          </a:p>
        </p:txBody>
      </p:sp>
      <p:sp>
        <p:nvSpPr>
          <p:cNvPr id="22" name="TextBox 21"/>
          <p:cNvSpPr txBox="1"/>
          <p:nvPr/>
        </p:nvSpPr>
        <p:spPr>
          <a:xfrm>
            <a:off x="5715000" y="2633472"/>
            <a:ext cx="5928055" cy="603504"/>
          </a:xfrm>
          <a:prstGeom prst="rect">
            <a:avLst/>
          </a:prstGeom>
          <a:noFill/>
        </p:spPr>
        <p:txBody>
          <a:bodyPr wrap="square" anchor="t" lIns="0" rIns="0" tIns="0" bIns="0">
            <a:noAutofit/>
          </a:bodyPr>
          <a:lstStyle/>
          <a:p>
            <a:pPr algn="l">
              <a:spcAft>
                <a:spcPts val="600"/>
              </a:spcAft>
            </a:pPr>
            <a:r>
              <a:rPr sz="1200" b="1" i="0">
                <a:solidFill>
                  <a:srgbClr val="17272E"/>
                </a:solidFill>
                <a:latin typeface="Calibri"/>
              </a:rPr>
              <a:t>Trust  </a:t>
            </a:r>
            <a:r>
              <a:rPr sz="1200" b="0" i="0">
                <a:solidFill>
                  <a:srgbClr val="5B6B70"/>
                </a:solidFill>
                <a:latin typeface="Calibri"/>
              </a:rPr>
              <a:t>Deciding which sources and conclusions to believe when anyone can say anything. Draws on provenance (W3C PROV), proofs and signatures; still largely open.</a:t>
            </a:r>
          </a:p>
        </p:txBody>
      </p:sp>
      <p:sp>
        <p:nvSpPr>
          <p:cNvPr id="23" name="Oval 22"/>
          <p:cNvSpPr/>
          <p:nvPr/>
        </p:nvSpPr>
        <p:spPr>
          <a:xfrm>
            <a:off x="5266944" y="3264408"/>
            <a:ext cx="292608" cy="292608"/>
          </a:xfrm>
          <a:prstGeom prst="ellipse">
            <a:avLst/>
          </a:prstGeom>
          <a:solidFill>
            <a:srgbClr val="C24E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C</a:t>
            </a:r>
          </a:p>
        </p:txBody>
      </p:sp>
      <p:sp>
        <p:nvSpPr>
          <p:cNvPr id="24" name="TextBox 23"/>
          <p:cNvSpPr txBox="1"/>
          <p:nvPr/>
        </p:nvSpPr>
        <p:spPr>
          <a:xfrm>
            <a:off x="5715000" y="3255264"/>
            <a:ext cx="5928055" cy="603504"/>
          </a:xfrm>
          <a:prstGeom prst="rect">
            <a:avLst/>
          </a:prstGeom>
          <a:noFill/>
        </p:spPr>
        <p:txBody>
          <a:bodyPr wrap="square" anchor="t" lIns="0" rIns="0" tIns="0" bIns="0">
            <a:noAutofit/>
          </a:bodyPr>
          <a:lstStyle/>
          <a:p>
            <a:pPr algn="l">
              <a:spcAft>
                <a:spcPts val="600"/>
              </a:spcAft>
            </a:pPr>
            <a:r>
              <a:rPr sz="1200" b="1" i="0">
                <a:solidFill>
                  <a:srgbClr val="17272E"/>
                </a:solidFill>
                <a:latin typeface="Calibri"/>
              </a:rPr>
              <a:t>Proof  </a:t>
            </a:r>
            <a:r>
              <a:rPr sz="1200" b="0" i="0">
                <a:solidFill>
                  <a:srgbClr val="5B6B70"/>
                </a:solidFill>
                <a:latin typeface="Calibri"/>
              </a:rPr>
              <a:t>A record of how a conclusion was derived, so others can check each reasoning step. Explored in research; no W3C standard.</a:t>
            </a:r>
          </a:p>
        </p:txBody>
      </p:sp>
      <p:sp>
        <p:nvSpPr>
          <p:cNvPr id="25" name="Oval 24"/>
          <p:cNvSpPr/>
          <p:nvPr/>
        </p:nvSpPr>
        <p:spPr>
          <a:xfrm>
            <a:off x="5266944" y="3886200"/>
            <a:ext cx="292608" cy="292608"/>
          </a:xfrm>
          <a:prstGeom prst="ellipse">
            <a:avLst/>
          </a:prstGeom>
          <a:solidFill>
            <a:srgbClr val="C24E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D</a:t>
            </a:r>
          </a:p>
        </p:txBody>
      </p:sp>
      <p:sp>
        <p:nvSpPr>
          <p:cNvPr id="26" name="TextBox 25"/>
          <p:cNvSpPr txBox="1"/>
          <p:nvPr/>
        </p:nvSpPr>
        <p:spPr>
          <a:xfrm>
            <a:off x="5715000" y="3877056"/>
            <a:ext cx="5928055" cy="603504"/>
          </a:xfrm>
          <a:prstGeom prst="rect">
            <a:avLst/>
          </a:prstGeom>
          <a:noFill/>
        </p:spPr>
        <p:txBody>
          <a:bodyPr wrap="square" anchor="t" lIns="0" rIns="0" tIns="0" bIns="0">
            <a:noAutofit/>
          </a:bodyPr>
          <a:lstStyle/>
          <a:p>
            <a:pPr algn="l">
              <a:spcAft>
                <a:spcPts val="600"/>
              </a:spcAft>
            </a:pPr>
            <a:r>
              <a:rPr sz="1200" b="1" i="0">
                <a:solidFill>
                  <a:srgbClr val="17272E"/>
                </a:solidFill>
                <a:latin typeface="Calibri"/>
              </a:rPr>
              <a:t>Unifying logic  </a:t>
            </a:r>
            <a:r>
              <a:rPr sz="1200" b="0" i="0">
                <a:solidFill>
                  <a:srgbClr val="5B6B70"/>
                </a:solidFill>
                <a:latin typeface="Calibri"/>
              </a:rPr>
              <a:t>One logical foundation under OWL, rules and queries, so they agree on what follows. A research goal, not a standard.</a:t>
            </a:r>
          </a:p>
        </p:txBody>
      </p:sp>
      <p:sp>
        <p:nvSpPr>
          <p:cNvPr id="27" name="Oval 26"/>
          <p:cNvSpPr/>
          <p:nvPr/>
        </p:nvSpPr>
        <p:spPr>
          <a:xfrm>
            <a:off x="5266944" y="4507992"/>
            <a:ext cx="292608" cy="292608"/>
          </a:xfrm>
          <a:prstGeom prst="ellipse">
            <a:avLst/>
          </a:prstGeom>
          <a:solidFill>
            <a:srgbClr val="C24E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E</a:t>
            </a:r>
          </a:p>
        </p:txBody>
      </p:sp>
      <p:sp>
        <p:nvSpPr>
          <p:cNvPr id="28" name="TextBox 27"/>
          <p:cNvSpPr txBox="1"/>
          <p:nvPr/>
        </p:nvSpPr>
        <p:spPr>
          <a:xfrm>
            <a:off x="5715000" y="4498848"/>
            <a:ext cx="5928055" cy="603504"/>
          </a:xfrm>
          <a:prstGeom prst="rect">
            <a:avLst/>
          </a:prstGeom>
          <a:noFill/>
        </p:spPr>
        <p:txBody>
          <a:bodyPr wrap="square" anchor="t" lIns="0" rIns="0" tIns="0" bIns="0">
            <a:noAutofit/>
          </a:bodyPr>
          <a:lstStyle/>
          <a:p>
            <a:pPr algn="l">
              <a:spcAft>
                <a:spcPts val="600"/>
              </a:spcAft>
            </a:pPr>
            <a:r>
              <a:rPr sz="1200" b="1" i="0">
                <a:solidFill>
                  <a:srgbClr val="17272E"/>
                </a:solidFill>
                <a:latin typeface="Calibri"/>
              </a:rPr>
              <a:t>Crypto  </a:t>
            </a:r>
            <a:r>
              <a:rPr sz="1200" b="0" i="0">
                <a:solidFill>
                  <a:srgbClr val="5B6B70"/>
                </a:solidFill>
                <a:latin typeface="Calibri"/>
              </a:rPr>
              <a:t>Signatures and encryption beside every layer, to show who published a graph and that it is unchanged. RDF Dataset Canonicalization (W3C, 2024) makes graphs signable.</a:t>
            </a:r>
          </a:p>
        </p:txBody>
      </p:sp>
      <p:sp>
        <p:nvSpPr>
          <p:cNvPr id="29" name="Oval 28"/>
          <p:cNvSpPr/>
          <p:nvPr/>
        </p:nvSpPr>
        <p:spPr>
          <a:xfrm>
            <a:off x="5266944" y="5129784"/>
            <a:ext cx="292608" cy="292608"/>
          </a:xfrm>
          <a:prstGeom prst="ellipse">
            <a:avLst/>
          </a:prstGeom>
          <a:solidFill>
            <a:srgbClr val="C24E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F</a:t>
            </a:r>
          </a:p>
        </p:txBody>
      </p:sp>
      <p:sp>
        <p:nvSpPr>
          <p:cNvPr id="30" name="TextBox 29"/>
          <p:cNvSpPr txBox="1"/>
          <p:nvPr/>
        </p:nvSpPr>
        <p:spPr>
          <a:xfrm>
            <a:off x="5715000" y="5120640"/>
            <a:ext cx="5928055" cy="603504"/>
          </a:xfrm>
          <a:prstGeom prst="rect">
            <a:avLst/>
          </a:prstGeom>
          <a:noFill/>
        </p:spPr>
        <p:txBody>
          <a:bodyPr wrap="square" anchor="t" lIns="0" rIns="0" tIns="0" bIns="0">
            <a:noAutofit/>
          </a:bodyPr>
          <a:lstStyle/>
          <a:p>
            <a:pPr algn="l">
              <a:spcAft>
                <a:spcPts val="600"/>
              </a:spcAft>
            </a:pPr>
            <a:r>
              <a:rPr sz="1200" b="1" i="0">
                <a:solidFill>
                  <a:srgbClr val="17272E"/>
                </a:solidFill>
                <a:latin typeface="Calibri"/>
              </a:rPr>
              <a:t>XML  </a:t>
            </a:r>
            <a:r>
              <a:rPr sz="1200" b="0" i="0">
                <a:solidFill>
                  <a:srgbClr val="5B6B70"/>
                </a:solidFill>
                <a:latin typeface="Calibri"/>
              </a:rPr>
              <a:t>An older interchange syntax. It lives on as RDF/XML, one way to write triples, and as XML Schema datatypes such as xsd:integer and xsd:date.</a:t>
            </a:r>
          </a:p>
        </p:txBody>
      </p:sp>
      <p:sp>
        <p:nvSpPr>
          <p:cNvPr id="31" name="Oval 30"/>
          <p:cNvSpPr/>
          <p:nvPr/>
        </p:nvSpPr>
        <p:spPr>
          <a:xfrm>
            <a:off x="5257800" y="5806440"/>
            <a:ext cx="329184" cy="329184"/>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a:t>
            </a:r>
          </a:p>
        </p:txBody>
      </p:sp>
      <p:sp>
        <p:nvSpPr>
          <p:cNvPr id="32" name="Takeaway"/>
          <p:cNvSpPr txBox="1"/>
          <p:nvPr/>
        </p:nvSpPr>
        <p:spPr>
          <a:xfrm>
            <a:off x="5715000" y="5806440"/>
            <a:ext cx="5928055" cy="329184"/>
          </a:xfrm>
          <a:prstGeom prst="rect">
            <a:avLst/>
          </a:prstGeom>
          <a:noFill/>
        </p:spPr>
        <p:txBody>
          <a:bodyPr wrap="square" anchor="ctr" lIns="0" rIns="0" tIns="0" bIns="0">
            <a:noAutofit/>
          </a:bodyPr>
          <a:lstStyle/>
          <a:p>
            <a:pPr algn="l">
              <a:spcAft>
                <a:spcPts val="600"/>
              </a:spcAft>
            </a:pPr>
            <a:r>
              <a:rPr sz="1400" b="1" i="0">
                <a:solidFill>
                  <a:srgbClr val="17272E"/>
                </a:solidFill>
                <a:latin typeface="Calibri"/>
              </a:rPr>
              <a:t>Lower layers say what data means; upper layers would say whether to believe it.</a:t>
            </a:r>
          </a:p>
        </p:txBody>
      </p:sp>
      <p:sp>
        <p:nvSpPr>
          <p:cNvPr id="33"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34"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Names: every thing gets a global identifier</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BUILDING BLOCK 1 OF 8 · NAMES · URI</a:t>
            </a:r>
          </a:p>
        </p:txBody>
      </p:sp>
      <p:sp>
        <p:nvSpPr>
          <p:cNvPr id="4" name="Rounded Rectangle 3"/>
          <p:cNvSpPr/>
          <p:nvPr/>
        </p:nvSpPr>
        <p:spPr>
          <a:xfrm>
            <a:off x="5031943" y="329184"/>
            <a:ext cx="786384" cy="246888"/>
          </a:xfrm>
          <a:prstGeom prst="roundRect">
            <a:avLst>
              <a:gd name="adj" fmla="val 50000"/>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7272E"/>
                </a:solidFill>
                <a:latin typeface="Calibri"/>
              </a:rPr>
              <a:t>URI</a:t>
            </a:r>
          </a:p>
        </p:txBody>
      </p:sp>
      <p:sp>
        <p:nvSpPr>
          <p:cNvPr id="5" name="Rounded Rectangle 4"/>
          <p:cNvSpPr/>
          <p:nvPr/>
        </p:nvSpPr>
        <p:spPr>
          <a:xfrm>
            <a:off x="5864047"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RDF</a:t>
            </a:r>
          </a:p>
        </p:txBody>
      </p:sp>
      <p:sp>
        <p:nvSpPr>
          <p:cNvPr id="6" name="Rounded Rectangle 5"/>
          <p:cNvSpPr/>
          <p:nvPr/>
        </p:nvSpPr>
        <p:spPr>
          <a:xfrm>
            <a:off x="6696151"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RDFS</a:t>
            </a:r>
          </a:p>
        </p:txBody>
      </p:sp>
      <p:sp>
        <p:nvSpPr>
          <p:cNvPr id="7" name="Rounded Rectangle 6"/>
          <p:cNvSpPr/>
          <p:nvPr/>
        </p:nvSpPr>
        <p:spPr>
          <a:xfrm>
            <a:off x="7528255"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RDFS-Plus</a:t>
            </a:r>
          </a:p>
        </p:txBody>
      </p:sp>
      <p:sp>
        <p:nvSpPr>
          <p:cNvPr id="8" name="Rounded Rectangle 7"/>
          <p:cNvSpPr/>
          <p:nvPr/>
        </p:nvSpPr>
        <p:spPr>
          <a:xfrm>
            <a:off x="8360359"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OWL</a:t>
            </a:r>
          </a:p>
        </p:txBody>
      </p:sp>
      <p:sp>
        <p:nvSpPr>
          <p:cNvPr id="9" name="Rounded Rectangle 8"/>
          <p:cNvSpPr/>
          <p:nvPr/>
        </p:nvSpPr>
        <p:spPr>
          <a:xfrm>
            <a:off x="9192463"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SKOS</a:t>
            </a:r>
          </a:p>
        </p:txBody>
      </p:sp>
      <p:sp>
        <p:nvSpPr>
          <p:cNvPr id="10" name="Rounded Rectangle 9"/>
          <p:cNvSpPr/>
          <p:nvPr/>
        </p:nvSpPr>
        <p:spPr>
          <a:xfrm>
            <a:off x="10024567"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Rules</a:t>
            </a:r>
          </a:p>
        </p:txBody>
      </p:sp>
      <p:sp>
        <p:nvSpPr>
          <p:cNvPr id="11" name="Rounded Rectangle 10"/>
          <p:cNvSpPr/>
          <p:nvPr/>
        </p:nvSpPr>
        <p:spPr>
          <a:xfrm>
            <a:off x="10856671"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SPARQL</a:t>
            </a:r>
          </a:p>
        </p:txBody>
      </p:sp>
      <p:sp>
        <p:nvSpPr>
          <p:cNvPr id="12" name="TextBox 11"/>
          <p:cNvSpPr txBox="1"/>
          <p:nvPr/>
        </p:nvSpPr>
        <p:spPr>
          <a:xfrm>
            <a:off x="548640" y="1572768"/>
            <a:ext cx="5440680"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WHAT IT IS</a:t>
            </a:r>
          </a:p>
        </p:txBody>
      </p:sp>
      <p:sp>
        <p:nvSpPr>
          <p:cNvPr id="13" name="TextBox 12"/>
          <p:cNvSpPr txBox="1"/>
          <p:nvPr/>
        </p:nvSpPr>
        <p:spPr>
          <a:xfrm>
            <a:off x="548640" y="1865376"/>
            <a:ext cx="5440680" cy="987551"/>
          </a:xfrm>
          <a:prstGeom prst="rect">
            <a:avLst/>
          </a:prstGeom>
          <a:noFill/>
        </p:spPr>
        <p:txBody>
          <a:bodyPr wrap="square" anchor="t" lIns="0" rIns="0" tIns="0" bIns="0">
            <a:noAutofit/>
          </a:bodyPr>
          <a:lstStyle/>
          <a:p>
            <a:pPr algn="l">
              <a:spcAft>
                <a:spcPts val="600"/>
              </a:spcAft>
            </a:pPr>
            <a:r>
              <a:rPr sz="1400" b="0" i="0">
                <a:solidFill>
                  <a:srgbClr val="17272E"/>
                </a:solidFill>
                <a:latin typeface="Calibri"/>
              </a:rPr>
              <a:t>A URI (Uniform Resource Identifier) is a Web-style name such as http://studio.example/JamesDean. An IRI is the same with any Unicode character allowed. In an ontology everything gets one: individuals, classes and properties alike.</a:t>
            </a:r>
          </a:p>
        </p:txBody>
      </p:sp>
      <p:sp>
        <p:nvSpPr>
          <p:cNvPr id="14" name="TextBox 13"/>
          <p:cNvSpPr txBox="1"/>
          <p:nvPr/>
        </p:nvSpPr>
        <p:spPr>
          <a:xfrm>
            <a:off x="548640" y="2926080"/>
            <a:ext cx="5440680"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KEY TERMS</a:t>
            </a:r>
          </a:p>
        </p:txBody>
      </p:sp>
      <p:sp>
        <p:nvSpPr>
          <p:cNvPr id="15" name="TextBox 14"/>
          <p:cNvSpPr txBox="1"/>
          <p:nvPr/>
        </p:nvSpPr>
        <p:spPr>
          <a:xfrm>
            <a:off x="548640" y="3218688"/>
            <a:ext cx="5440680" cy="2359152"/>
          </a:xfrm>
          <a:prstGeom prst="rect">
            <a:avLst/>
          </a:prstGeom>
          <a:noFill/>
        </p:spPr>
        <p:txBody>
          <a:bodyPr wrap="square" anchor="t" lIns="0" rIns="0" tIns="0" bIns="0">
            <a:noAutofit/>
          </a:bodyPr>
          <a:lstStyle/>
          <a:p>
            <a:pPr algn="l" marL="228600" indent="-228600">
              <a:spcAft>
                <a:spcPts val="500"/>
              </a:spcAft>
              <a:buClr>
                <a:srgbClr val="1F7A6D"/>
              </a:buClr>
              <a:buFont typeface="Arial"/>
              <a:buChar char="•"/>
            </a:pPr>
            <a:r>
              <a:rPr sz="1300" b="1" i="0">
                <a:solidFill>
                  <a:srgbClr val="155E54"/>
                </a:solidFill>
                <a:latin typeface="Calibri"/>
              </a:rPr>
              <a:t>Global</a:t>
            </a:r>
            <a:r>
              <a:rPr sz="1300" b="0" i="0">
                <a:solidFill>
                  <a:srgbClr val="17272E"/>
                </a:solidFill>
                <a:latin typeface="Calibri"/>
              </a:rPr>
              <a:t>  the same URI means the same thing in every file, store and query that uses it.</a:t>
            </a:r>
          </a:p>
          <a:p>
            <a:pPr algn="l" marL="228600" indent="-228600">
              <a:spcAft>
                <a:spcPts val="500"/>
              </a:spcAft>
              <a:buClr>
                <a:srgbClr val="1F7A6D"/>
              </a:buClr>
              <a:buFont typeface="Arial"/>
              <a:buChar char="•"/>
            </a:pPr>
            <a:r>
              <a:rPr sz="1300" b="1" i="0">
                <a:solidFill>
                  <a:srgbClr val="155E54"/>
                </a:solidFill>
                <a:latin typeface="Calibri"/>
              </a:rPr>
              <a:t>Namespace</a:t>
            </a:r>
            <a:r>
              <a:rPr sz="1300" b="0" i="0">
                <a:solidFill>
                  <a:srgbClr val="17272E"/>
                </a:solidFill>
                <a:latin typeface="Calibri"/>
              </a:rPr>
              <a:t>  a URI prefix owned by one publisher, such as http://studio.example/.</a:t>
            </a:r>
          </a:p>
          <a:p>
            <a:pPr algn="l" marL="228600" indent="-228600">
              <a:spcAft>
                <a:spcPts val="500"/>
              </a:spcAft>
              <a:buClr>
                <a:srgbClr val="1F7A6D"/>
              </a:buClr>
              <a:buFont typeface="Arial"/>
              <a:buChar char="•"/>
            </a:pPr>
            <a:r>
              <a:rPr sz="1300" b="1" i="0">
                <a:solidFill>
                  <a:srgbClr val="155E54"/>
                </a:solidFill>
                <a:latin typeface="Calibri"/>
              </a:rPr>
              <a:t>Prefixed name</a:t>
            </a:r>
            <a:r>
              <a:rPr sz="1300" b="0" i="0">
                <a:solidFill>
                  <a:srgbClr val="17272E"/>
                </a:solidFill>
                <a:latin typeface="Calibri"/>
              </a:rPr>
              <a:t>  :JamesDean is shorthand for the full URI once the prefix is declared.</a:t>
            </a:r>
          </a:p>
          <a:p>
            <a:pPr algn="l" marL="228600" indent="-228600">
              <a:spcAft>
                <a:spcPts val="500"/>
              </a:spcAft>
              <a:buClr>
                <a:srgbClr val="1F7A6D"/>
              </a:buClr>
              <a:buFont typeface="Arial"/>
              <a:buChar char="•"/>
            </a:pPr>
            <a:r>
              <a:rPr sz="1300" b="1" i="0">
                <a:solidFill>
                  <a:srgbClr val="155E54"/>
                </a:solidFill>
                <a:latin typeface="Calibri"/>
              </a:rPr>
              <a:t>Literal</a:t>
            </a:r>
            <a:r>
              <a:rPr sz="1300" b="0" i="0">
                <a:solidFill>
                  <a:srgbClr val="17272E"/>
                </a:solidFill>
                <a:latin typeface="Calibri"/>
              </a:rPr>
              <a:t>  a plain value such as "James Dean" or 1955. It has no URI, but can carry a datatype (xsd:integer) or a language tag (@en).</a:t>
            </a:r>
          </a:p>
          <a:p>
            <a:pPr algn="l" marL="228600" indent="-228600">
              <a:spcAft>
                <a:spcPts val="500"/>
              </a:spcAft>
              <a:buClr>
                <a:srgbClr val="1F7A6D"/>
              </a:buClr>
              <a:buFont typeface="Arial"/>
              <a:buChar char="•"/>
            </a:pPr>
            <a:r>
              <a:rPr sz="1300" b="1" i="0">
                <a:solidFill>
                  <a:srgbClr val="155E54"/>
                </a:solidFill>
                <a:latin typeface="Calibri"/>
              </a:rPr>
              <a:t>Nonunique naming</a:t>
            </a:r>
            <a:r>
              <a:rPr sz="1300" b="0" i="0">
                <a:solidFill>
                  <a:srgbClr val="17272E"/>
                </a:solidFill>
                <a:latin typeface="Calibri"/>
              </a:rPr>
              <a:t>  two different URIs can still mean the same thing; nothing forces publishers to agree.</a:t>
            </a:r>
          </a:p>
        </p:txBody>
      </p:sp>
      <p:sp>
        <p:nvSpPr>
          <p:cNvPr id="16" name="Code: Turtle"/>
          <p:cNvSpPr/>
          <p:nvPr/>
        </p:nvSpPr>
        <p:spPr>
          <a:xfrm>
            <a:off x="6355080" y="1600200"/>
            <a:ext cx="5287975" cy="868680"/>
          </a:xfrm>
          <a:prstGeom prst="roundRect">
            <a:avLst>
              <a:gd name="adj" fmla="val 12631"/>
            </a:avLst>
          </a:prstGeom>
          <a:solidFill>
            <a:srgbClr val="1C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180015" y="1709928"/>
            <a:ext cx="1280160" cy="228600"/>
          </a:xfrm>
          <a:prstGeom prst="rect">
            <a:avLst/>
          </a:prstGeom>
          <a:noFill/>
        </p:spPr>
        <p:txBody>
          <a:bodyPr wrap="square" anchor="t" lIns="0" rIns="0" tIns="0" bIns="0">
            <a:noAutofit/>
          </a:bodyPr>
          <a:lstStyle/>
          <a:p>
            <a:pPr algn="r">
              <a:spcAft>
                <a:spcPts val="600"/>
              </a:spcAft>
            </a:pPr>
            <a:r>
              <a:rPr sz="1000" b="1" i="0">
                <a:solidFill>
                  <a:srgbClr val="869AA0"/>
                </a:solidFill>
                <a:latin typeface="Calibri"/>
              </a:rPr>
              <a:t>TURTLE</a:t>
            </a:r>
          </a:p>
        </p:txBody>
      </p:sp>
      <p:sp>
        <p:nvSpPr>
          <p:cNvPr id="18" name="TextBox 17"/>
          <p:cNvSpPr txBox="1"/>
          <p:nvPr/>
        </p:nvSpPr>
        <p:spPr>
          <a:xfrm>
            <a:off x="6583680" y="1801368"/>
            <a:ext cx="4830775" cy="502919"/>
          </a:xfrm>
          <a:prstGeom prst="rect">
            <a:avLst/>
          </a:prstGeom>
          <a:noFill/>
        </p:spPr>
        <p:txBody>
          <a:bodyPr wrap="none" lIns="0" rIns="0" tIns="0" bIns="0">
            <a:noAutofit/>
          </a:bodyPr>
          <a:lstStyle/>
          <a:p>
            <a:pPr>
              <a:lnSpc>
                <a:spcPct val="105000"/>
              </a:lnSpc>
            </a:pPr>
            <a:r>
              <a:rPr sz="1200" b="1" i="0">
                <a:solidFill>
                  <a:srgbClr val="F2B866"/>
                </a:solidFill>
                <a:latin typeface="Consolas"/>
              </a:rPr>
              <a:t>@prefix</a:t>
            </a:r>
            <a:r>
              <a:rPr sz="1200" b="0" i="0">
                <a:solidFill>
                  <a:srgbClr val="E3EBEE"/>
                </a:solidFill>
                <a:latin typeface="Consolas"/>
              </a:rPr>
              <a:t> :    </a:t>
            </a:r>
            <a:r>
              <a:rPr sz="1200" b="0" i="0">
                <a:solidFill>
                  <a:srgbClr val="9AB0B8"/>
                </a:solidFill>
                <a:latin typeface="Consolas"/>
              </a:rPr>
              <a:t>&lt;http://studio.example/&gt;</a:t>
            </a:r>
            <a:r>
              <a:rPr sz="1200" b="0" i="0">
                <a:solidFill>
                  <a:srgbClr val="E3EBEE"/>
                </a:solidFill>
                <a:latin typeface="Consolas"/>
              </a:rPr>
              <a:t> .</a:t>
            </a:r>
          </a:p>
          <a:p>
            <a:pPr>
              <a:lnSpc>
                <a:spcPct val="105000"/>
              </a:lnSpc>
            </a:pPr>
            <a:r>
              <a:rPr sz="1200" b="1" i="0">
                <a:solidFill>
                  <a:srgbClr val="F2B866"/>
                </a:solidFill>
                <a:latin typeface="Consolas"/>
              </a:rPr>
              <a:t>@prefix</a:t>
            </a:r>
            <a:r>
              <a:rPr sz="1200" b="0" i="0">
                <a:solidFill>
                  <a:srgbClr val="E3EBEE"/>
                </a:solidFill>
                <a:latin typeface="Consolas"/>
              </a:rPr>
              <a:t> </a:t>
            </a:r>
            <a:r>
              <a:rPr sz="1200" b="0" i="0">
                <a:solidFill>
                  <a:srgbClr val="A8CFF0"/>
                </a:solidFill>
                <a:latin typeface="Consolas"/>
              </a:rPr>
              <a:t>fan:</a:t>
            </a:r>
            <a:r>
              <a:rPr sz="1200" b="0" i="0">
                <a:solidFill>
                  <a:srgbClr val="E3EBEE"/>
                </a:solidFill>
                <a:latin typeface="Consolas"/>
              </a:rPr>
              <a:t> </a:t>
            </a:r>
            <a:r>
              <a:rPr sz="1200" b="0" i="0">
                <a:solidFill>
                  <a:srgbClr val="9AB0B8"/>
                </a:solidFill>
                <a:latin typeface="Consolas"/>
              </a:rPr>
              <a:t>&lt;http://fanwiki.example/id/&gt;</a:t>
            </a:r>
            <a:r>
              <a:rPr sz="1200" b="0" i="0">
                <a:solidFill>
                  <a:srgbClr val="E3EBEE"/>
                </a:solidFill>
                <a:latin typeface="Consolas"/>
              </a:rPr>
              <a:t> .</a:t>
            </a:r>
          </a:p>
        </p:txBody>
      </p:sp>
      <p:sp>
        <p:nvSpPr>
          <p:cNvPr id="19" name="TextBox 18"/>
          <p:cNvSpPr txBox="1"/>
          <p:nvPr/>
        </p:nvSpPr>
        <p:spPr>
          <a:xfrm>
            <a:off x="6355080" y="2606040"/>
            <a:ext cx="5287975" cy="274320"/>
          </a:xfrm>
          <a:prstGeom prst="rect">
            <a:avLst/>
          </a:prstGeom>
          <a:noFill/>
        </p:spPr>
        <p:txBody>
          <a:bodyPr wrap="square" anchor="t" lIns="0" rIns="0" tIns="0" bIns="0">
            <a:noAutofit/>
          </a:bodyPr>
          <a:lstStyle/>
          <a:p>
            <a:pPr algn="l">
              <a:spcAft>
                <a:spcPts val="600"/>
              </a:spcAft>
            </a:pPr>
            <a:r>
              <a:rPr sz="1300" b="1" i="0">
                <a:solidFill>
                  <a:srgbClr val="5B6B70"/>
                </a:solidFill>
                <a:latin typeface="Calibri"/>
              </a:rPr>
              <a:t>Every building block is named the same way</a:t>
            </a:r>
          </a:p>
        </p:txBody>
      </p:sp>
      <p:graphicFrame>
        <p:nvGraphicFramePr>
          <p:cNvPr id="20" name="Table 19"/>
          <p:cNvGraphicFramePr>
            <a:graphicFrameLocks noGrp="1"/>
          </p:cNvGraphicFramePr>
          <p:nvPr/>
        </p:nvGraphicFramePr>
        <p:xfrm>
          <a:off x="6355080" y="2880360"/>
          <a:ext cx="5287975" cy="1645920"/>
        </p:xfrm>
        <a:graphic>
          <a:graphicData uri="http://schemas.openxmlformats.org/drawingml/2006/table">
            <a:tbl>
              <a:tblPr firstRow="0" bandRow="0">
                <a:tableStyleId>{5C22544A-7EE6-4342-B048-85BDC9FD1C3A}</a:tableStyleId>
              </a:tblPr>
              <a:tblGrid>
                <a:gridCol w="1188720"/>
                <a:gridCol w="1188720"/>
                <a:gridCol w="2910535"/>
              </a:tblGrid>
              <a:tr h="329184">
                <a:tc>
                  <a:txBody>
                    <a:bodyPr wrap="square"/>
                    <a:lstStyle/>
                    <a:p>
                      <a:r>
                        <a:rPr sz="1200" b="1" i="0">
                          <a:solidFill>
                            <a:srgbClr val="FFFFFF"/>
                          </a:solidFill>
                          <a:latin typeface="Calibri"/>
                        </a:rPr>
                        <a:t>Block</a:t>
                      </a:r>
                    </a:p>
                  </a:txBody>
                  <a:tcPr marL="91440" marR="91440" marT="27432" marB="27432" anchor="ctr">
                    <a:solidFill>
                      <a:srgbClr val="1F7A6D"/>
                    </a:solidFill>
                  </a:tcPr>
                </a:tc>
                <a:tc>
                  <a:txBody>
                    <a:bodyPr wrap="square"/>
                    <a:lstStyle/>
                    <a:p>
                      <a:r>
                        <a:rPr sz="1200" b="1" i="0">
                          <a:solidFill>
                            <a:srgbClr val="FFFFFF"/>
                          </a:solidFill>
                          <a:latin typeface="Calibri"/>
                        </a:rPr>
                        <a:t>Written as</a:t>
                      </a:r>
                    </a:p>
                  </a:txBody>
                  <a:tcPr marL="91440" marR="91440" marT="27432" marB="27432" anchor="ctr">
                    <a:solidFill>
                      <a:srgbClr val="1F7A6D"/>
                    </a:solidFill>
                  </a:tcPr>
                </a:tc>
                <a:tc>
                  <a:txBody>
                    <a:bodyPr wrap="square"/>
                    <a:lstStyle/>
                    <a:p>
                      <a:r>
                        <a:rPr sz="1200" b="1" i="0">
                          <a:solidFill>
                            <a:srgbClr val="FFFFFF"/>
                          </a:solidFill>
                          <a:latin typeface="Calibri"/>
                        </a:rPr>
                        <a:t>Stands for</a:t>
                      </a:r>
                    </a:p>
                  </a:txBody>
                  <a:tcPr marL="91440" marR="91440" marT="27432" marB="27432" anchor="ctr">
                    <a:solidFill>
                      <a:srgbClr val="1F7A6D"/>
                    </a:solidFill>
                  </a:tcPr>
                </a:tc>
              </a:tr>
              <a:tr h="329184">
                <a:tc>
                  <a:txBody>
                    <a:bodyPr wrap="square"/>
                    <a:lstStyle/>
                    <a:p>
                      <a:r>
                        <a:rPr sz="1200" b="0" i="0">
                          <a:solidFill>
                            <a:srgbClr val="17272E"/>
                          </a:solidFill>
                          <a:latin typeface="Calibri"/>
                        </a:rPr>
                        <a:t>Individual</a:t>
                      </a:r>
                    </a:p>
                  </a:txBody>
                  <a:tcPr marL="91440" marR="91440" marT="27432" marB="27432" anchor="ctr">
                    <a:solidFill>
                      <a:srgbClr val="FFFFFF"/>
                    </a:solidFill>
                  </a:tcPr>
                </a:tc>
                <a:tc>
                  <a:txBody>
                    <a:bodyPr wrap="square"/>
                    <a:lstStyle/>
                    <a:p>
                      <a:r>
                        <a:rPr sz="1100" b="0" i="0">
                          <a:solidFill>
                            <a:srgbClr val="17272E"/>
                          </a:solidFill>
                          <a:latin typeface="Consolas"/>
                        </a:rPr>
                        <a:t>:JamesDean</a:t>
                      </a:r>
                    </a:p>
                  </a:txBody>
                  <a:tcPr marL="91440" marR="91440" marT="27432" marB="27432" anchor="ctr">
                    <a:solidFill>
                      <a:srgbClr val="FFFFFF"/>
                    </a:solidFill>
                  </a:tcPr>
                </a:tc>
                <a:tc>
                  <a:txBody>
                    <a:bodyPr wrap="square"/>
                    <a:lstStyle/>
                    <a:p>
                      <a:r>
                        <a:rPr sz="1100" b="0" i="0">
                          <a:solidFill>
                            <a:srgbClr val="17272E"/>
                          </a:solidFill>
                          <a:latin typeface="Consolas"/>
                        </a:rPr>
                        <a:t>http://studio.example/JamesDean</a:t>
                      </a:r>
                    </a:p>
                  </a:txBody>
                  <a:tcPr marL="91440" marR="91440" marT="27432" marB="27432" anchor="ctr">
                    <a:solidFill>
                      <a:srgbClr val="FFFFFF"/>
                    </a:solidFill>
                  </a:tcPr>
                </a:tc>
              </a:tr>
              <a:tr h="329184">
                <a:tc>
                  <a:txBody>
                    <a:bodyPr wrap="square"/>
                    <a:lstStyle/>
                    <a:p>
                      <a:r>
                        <a:rPr sz="1200" b="0" i="0">
                          <a:solidFill>
                            <a:srgbClr val="17272E"/>
                          </a:solidFill>
                          <a:latin typeface="Calibri"/>
                        </a:rPr>
                        <a:t>Class</a:t>
                      </a:r>
                    </a:p>
                  </a:txBody>
                  <a:tcPr marL="91440" marR="91440" marT="27432" marB="27432" anchor="ctr">
                    <a:solidFill>
                      <a:srgbClr val="EAF3F0"/>
                    </a:solidFill>
                  </a:tcPr>
                </a:tc>
                <a:tc>
                  <a:txBody>
                    <a:bodyPr wrap="square"/>
                    <a:lstStyle/>
                    <a:p>
                      <a:r>
                        <a:rPr sz="1100" b="0" i="0">
                          <a:solidFill>
                            <a:srgbClr val="17272E"/>
                          </a:solidFill>
                          <a:latin typeface="Consolas"/>
                        </a:rPr>
                        <a:t>:Actor</a:t>
                      </a:r>
                    </a:p>
                  </a:txBody>
                  <a:tcPr marL="91440" marR="91440" marT="27432" marB="27432" anchor="ctr">
                    <a:solidFill>
                      <a:srgbClr val="EAF3F0"/>
                    </a:solidFill>
                  </a:tcPr>
                </a:tc>
                <a:tc>
                  <a:txBody>
                    <a:bodyPr wrap="square"/>
                    <a:lstStyle/>
                    <a:p>
                      <a:r>
                        <a:rPr sz="1100" b="0" i="0">
                          <a:solidFill>
                            <a:srgbClr val="17272E"/>
                          </a:solidFill>
                          <a:latin typeface="Consolas"/>
                        </a:rPr>
                        <a:t>http://studio.example/Actor</a:t>
                      </a:r>
                    </a:p>
                  </a:txBody>
                  <a:tcPr marL="91440" marR="91440" marT="27432" marB="27432" anchor="ctr">
                    <a:solidFill>
                      <a:srgbClr val="EAF3F0"/>
                    </a:solidFill>
                  </a:tcPr>
                </a:tc>
              </a:tr>
              <a:tr h="329184">
                <a:tc>
                  <a:txBody>
                    <a:bodyPr wrap="square"/>
                    <a:lstStyle/>
                    <a:p>
                      <a:r>
                        <a:rPr sz="1200" b="0" i="0">
                          <a:solidFill>
                            <a:srgbClr val="17272E"/>
                          </a:solidFill>
                          <a:latin typeface="Calibri"/>
                        </a:rPr>
                        <a:t>Property</a:t>
                      </a:r>
                    </a:p>
                  </a:txBody>
                  <a:tcPr marL="91440" marR="91440" marT="27432" marB="27432" anchor="ctr">
                    <a:solidFill>
                      <a:srgbClr val="FFFFFF"/>
                    </a:solidFill>
                  </a:tcPr>
                </a:tc>
                <a:tc>
                  <a:txBody>
                    <a:bodyPr wrap="square"/>
                    <a:lstStyle/>
                    <a:p>
                      <a:r>
                        <a:rPr sz="1100" b="0" i="0">
                          <a:solidFill>
                            <a:srgbClr val="17272E"/>
                          </a:solidFill>
                          <a:latin typeface="Consolas"/>
                        </a:rPr>
                        <a:t>:starring</a:t>
                      </a:r>
                    </a:p>
                  </a:txBody>
                  <a:tcPr marL="91440" marR="91440" marT="27432" marB="27432" anchor="ctr">
                    <a:solidFill>
                      <a:srgbClr val="FFFFFF"/>
                    </a:solidFill>
                  </a:tcPr>
                </a:tc>
                <a:tc>
                  <a:txBody>
                    <a:bodyPr wrap="square"/>
                    <a:lstStyle/>
                    <a:p>
                      <a:r>
                        <a:rPr sz="1100" b="0" i="0">
                          <a:solidFill>
                            <a:srgbClr val="17272E"/>
                          </a:solidFill>
                          <a:latin typeface="Consolas"/>
                        </a:rPr>
                        <a:t>http://studio.example/starring</a:t>
                      </a:r>
                    </a:p>
                  </a:txBody>
                  <a:tcPr marL="91440" marR="91440" marT="27432" marB="27432" anchor="ctr">
                    <a:solidFill>
                      <a:srgbClr val="FFFFFF"/>
                    </a:solidFill>
                  </a:tcPr>
                </a:tc>
              </a:tr>
              <a:tr h="329184">
                <a:tc>
                  <a:txBody>
                    <a:bodyPr wrap="square"/>
                    <a:lstStyle/>
                    <a:p>
                      <a:r>
                        <a:rPr sz="1200" b="0" i="0">
                          <a:solidFill>
                            <a:srgbClr val="17272E"/>
                          </a:solidFill>
                          <a:latin typeface="Calibri"/>
                        </a:rPr>
                        <a:t>Standard term</a:t>
                      </a:r>
                    </a:p>
                  </a:txBody>
                  <a:tcPr marL="91440" marR="91440" marT="27432" marB="27432" anchor="ctr">
                    <a:solidFill>
                      <a:srgbClr val="EAF3F0"/>
                    </a:solidFill>
                  </a:tcPr>
                </a:tc>
                <a:tc>
                  <a:txBody>
                    <a:bodyPr wrap="square"/>
                    <a:lstStyle/>
                    <a:p>
                      <a:r>
                        <a:rPr sz="1100" b="0" i="0">
                          <a:solidFill>
                            <a:srgbClr val="17272E"/>
                          </a:solidFill>
                          <a:latin typeface="Consolas"/>
                        </a:rPr>
                        <a:t>rdfs:label</a:t>
                      </a:r>
                    </a:p>
                  </a:txBody>
                  <a:tcPr marL="91440" marR="91440" marT="27432" marB="27432" anchor="ctr">
                    <a:solidFill>
                      <a:srgbClr val="EAF3F0"/>
                    </a:solidFill>
                  </a:tcPr>
                </a:tc>
                <a:tc>
                  <a:txBody>
                    <a:bodyPr wrap="square"/>
                    <a:lstStyle/>
                    <a:p>
                      <a:r>
                        <a:rPr sz="1100" b="0" i="0">
                          <a:solidFill>
                            <a:srgbClr val="17272E"/>
                          </a:solidFill>
                          <a:latin typeface="Consolas"/>
                        </a:rPr>
                        <a:t>http://www.w3.org/2000/01/rdf-schema#label</a:t>
                      </a:r>
                    </a:p>
                  </a:txBody>
                  <a:tcPr marL="91440" marR="91440" marT="27432" marB="27432" anchor="ctr">
                    <a:solidFill>
                      <a:srgbClr val="EAF3F0"/>
                    </a:solidFill>
                  </a:tcPr>
                </a:tc>
              </a:tr>
            </a:tbl>
          </a:graphicData>
        </a:graphic>
      </p:graphicFrame>
      <p:cxnSp>
        <p:nvCxnSpPr>
          <p:cNvPr id="21" name="Edge: same person?"/>
          <p:cNvCxnSpPr/>
          <p:nvPr/>
        </p:nvCxnSpPr>
        <p:spPr>
          <a:xfrm>
            <a:off x="8069579" y="5120640"/>
            <a:ext cx="1561796" cy="0"/>
          </a:xfrm>
          <a:prstGeom prst="line">
            <a:avLst/>
          </a:prstGeom>
          <a:ln w="25400">
            <a:solidFill>
              <a:srgbClr val="C24E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214969" y="4974336"/>
            <a:ext cx="1271016"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100" b="1" i="0">
                <a:solidFill>
                  <a:srgbClr val="C24E36"/>
                </a:solidFill>
                <a:latin typeface="Consolas"/>
              </a:rPr>
              <a:t>same person?</a:t>
            </a:r>
          </a:p>
        </p:txBody>
      </p:sp>
      <p:sp>
        <p:nvSpPr>
          <p:cNvPr id="23" name="Node: :JamesDean"/>
          <p:cNvSpPr/>
          <p:nvPr/>
        </p:nvSpPr>
        <p:spPr>
          <a:xfrm>
            <a:off x="6469380" y="4892040"/>
            <a:ext cx="160020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:JamesDean</a:t>
            </a:r>
          </a:p>
        </p:txBody>
      </p:sp>
      <p:sp>
        <p:nvSpPr>
          <p:cNvPr id="24" name="Node: fan:Dean_James"/>
          <p:cNvSpPr/>
          <p:nvPr/>
        </p:nvSpPr>
        <p:spPr>
          <a:xfrm>
            <a:off x="9631375" y="4892040"/>
            <a:ext cx="192024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fan:Dean_James</a:t>
            </a:r>
          </a:p>
        </p:txBody>
      </p:sp>
      <p:sp>
        <p:nvSpPr>
          <p:cNvPr id="25" name="TextBox 24"/>
          <p:cNvSpPr txBox="1"/>
          <p:nvPr/>
        </p:nvSpPr>
        <p:spPr>
          <a:xfrm>
            <a:off x="6355080" y="5440680"/>
            <a:ext cx="5287975" cy="228600"/>
          </a:xfrm>
          <a:prstGeom prst="rect">
            <a:avLst/>
          </a:prstGeom>
          <a:noFill/>
        </p:spPr>
        <p:txBody>
          <a:bodyPr wrap="square" anchor="t" lIns="0" rIns="0" tIns="0" bIns="0">
            <a:noAutofit/>
          </a:bodyPr>
          <a:lstStyle/>
          <a:p>
            <a:pPr algn="ctr">
              <a:spcAft>
                <a:spcPts val="600"/>
              </a:spcAft>
            </a:pPr>
            <a:r>
              <a:rPr sz="1100" b="0" i="1">
                <a:solidFill>
                  <a:srgbClr val="C24E36"/>
                </a:solidFill>
                <a:latin typeface="Calibri"/>
              </a:rPr>
              <a:t>two publishers, two names: URIs alone can't tell (block 4 can)</a:t>
            </a:r>
          </a:p>
        </p:txBody>
      </p:sp>
      <p:sp>
        <p:nvSpPr>
          <p:cNvPr id="26" name="Adds"/>
          <p:cNvSpPr/>
          <p:nvPr/>
        </p:nvSpPr>
        <p:spPr>
          <a:xfrm>
            <a:off x="548640" y="5669280"/>
            <a:ext cx="5440680" cy="566928"/>
          </a:xfrm>
          <a:prstGeom prst="roundRect">
            <a:avLst>
              <a:gd name="adj" fmla="val 16129"/>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 bIns="18288">
            <a:noAutofit/>
          </a:bodyPr>
          <a:lstStyle/>
          <a:p>
            <a:pPr algn="l"/>
            <a:r>
              <a:rPr sz="1300" b="1" i="0">
                <a:solidFill>
                  <a:srgbClr val="155E54"/>
                </a:solidFill>
                <a:latin typeface="Calibri"/>
              </a:rPr>
              <a:t>Adds to the ontology: </a:t>
            </a:r>
            <a:r>
              <a:rPr sz="1300" b="0" i="0">
                <a:solidFill>
                  <a:srgbClr val="17272E"/>
                </a:solidFill>
                <a:latin typeface="Calibri"/>
              </a:rPr>
              <a:t>a global name for every individual, class and property.</a:t>
            </a:r>
          </a:p>
        </p:txBody>
      </p:sp>
      <p:sp>
        <p:nvSpPr>
          <p:cNvPr id="27" name="Missing"/>
          <p:cNvSpPr/>
          <p:nvPr/>
        </p:nvSpPr>
        <p:spPr>
          <a:xfrm>
            <a:off x="6172200" y="5669280"/>
            <a:ext cx="5470855" cy="566928"/>
          </a:xfrm>
          <a:prstGeom prst="roundRect">
            <a:avLst>
              <a:gd name="adj" fmla="val 16129"/>
            </a:avLst>
          </a:prstGeom>
          <a:solidFill>
            <a:srgbClr val="FCF1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 bIns="18288">
            <a:noAutofit/>
          </a:bodyPr>
          <a:lstStyle/>
          <a:p>
            <a:pPr algn="l"/>
            <a:r>
              <a:rPr sz="1300" b="1" i="0">
                <a:solidFill>
                  <a:srgbClr val="17272E"/>
                </a:solidFill>
                <a:latin typeface="Calibri"/>
              </a:rPr>
              <a:t>Still missing: </a:t>
            </a:r>
            <a:r>
              <a:rPr sz="1300" b="0" i="0">
                <a:solidFill>
                  <a:srgbClr val="17272E"/>
                </a:solidFill>
                <a:latin typeface="Calibri"/>
              </a:rPr>
              <a:t>a name alone says nothing. RDF makes statements with names.</a:t>
            </a:r>
          </a:p>
        </p:txBody>
      </p:sp>
      <p:sp>
        <p:nvSpPr>
          <p:cNvPr id="28"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29"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Statements: every fact is a triple</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BUILDING BLOCK 2 OF 8 · STATEMENTS · RDF</a:t>
            </a:r>
          </a:p>
        </p:txBody>
      </p:sp>
      <p:sp>
        <p:nvSpPr>
          <p:cNvPr id="4" name="Rounded Rectangle 3"/>
          <p:cNvSpPr/>
          <p:nvPr/>
        </p:nvSpPr>
        <p:spPr>
          <a:xfrm>
            <a:off x="5031943"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URI</a:t>
            </a:r>
          </a:p>
        </p:txBody>
      </p:sp>
      <p:sp>
        <p:nvSpPr>
          <p:cNvPr id="5" name="Rounded Rectangle 4"/>
          <p:cNvSpPr/>
          <p:nvPr/>
        </p:nvSpPr>
        <p:spPr>
          <a:xfrm>
            <a:off x="5864047" y="329184"/>
            <a:ext cx="786384" cy="246888"/>
          </a:xfrm>
          <a:prstGeom prst="roundRect">
            <a:avLst>
              <a:gd name="adj" fmla="val 50000"/>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7272E"/>
                </a:solidFill>
                <a:latin typeface="Calibri"/>
              </a:rPr>
              <a:t>RDF</a:t>
            </a:r>
          </a:p>
        </p:txBody>
      </p:sp>
      <p:sp>
        <p:nvSpPr>
          <p:cNvPr id="6" name="Rounded Rectangle 5"/>
          <p:cNvSpPr/>
          <p:nvPr/>
        </p:nvSpPr>
        <p:spPr>
          <a:xfrm>
            <a:off x="6696151"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RDFS</a:t>
            </a:r>
          </a:p>
        </p:txBody>
      </p:sp>
      <p:sp>
        <p:nvSpPr>
          <p:cNvPr id="7" name="Rounded Rectangle 6"/>
          <p:cNvSpPr/>
          <p:nvPr/>
        </p:nvSpPr>
        <p:spPr>
          <a:xfrm>
            <a:off x="7528255"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RDFS-Plus</a:t>
            </a:r>
          </a:p>
        </p:txBody>
      </p:sp>
      <p:sp>
        <p:nvSpPr>
          <p:cNvPr id="8" name="Rounded Rectangle 7"/>
          <p:cNvSpPr/>
          <p:nvPr/>
        </p:nvSpPr>
        <p:spPr>
          <a:xfrm>
            <a:off x="8360359"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OWL</a:t>
            </a:r>
          </a:p>
        </p:txBody>
      </p:sp>
      <p:sp>
        <p:nvSpPr>
          <p:cNvPr id="9" name="Rounded Rectangle 8"/>
          <p:cNvSpPr/>
          <p:nvPr/>
        </p:nvSpPr>
        <p:spPr>
          <a:xfrm>
            <a:off x="9192463"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SKOS</a:t>
            </a:r>
          </a:p>
        </p:txBody>
      </p:sp>
      <p:sp>
        <p:nvSpPr>
          <p:cNvPr id="10" name="Rounded Rectangle 9"/>
          <p:cNvSpPr/>
          <p:nvPr/>
        </p:nvSpPr>
        <p:spPr>
          <a:xfrm>
            <a:off x="10024567"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Rules</a:t>
            </a:r>
          </a:p>
        </p:txBody>
      </p:sp>
      <p:sp>
        <p:nvSpPr>
          <p:cNvPr id="11" name="Rounded Rectangle 10"/>
          <p:cNvSpPr/>
          <p:nvPr/>
        </p:nvSpPr>
        <p:spPr>
          <a:xfrm>
            <a:off x="10856671"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SPARQL</a:t>
            </a:r>
          </a:p>
        </p:txBody>
      </p:sp>
      <p:sp>
        <p:nvSpPr>
          <p:cNvPr id="12" name="TextBox 11"/>
          <p:cNvSpPr txBox="1"/>
          <p:nvPr/>
        </p:nvSpPr>
        <p:spPr>
          <a:xfrm>
            <a:off x="548640" y="1572768"/>
            <a:ext cx="5440680"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WHAT IT IS</a:t>
            </a:r>
          </a:p>
        </p:txBody>
      </p:sp>
      <p:sp>
        <p:nvSpPr>
          <p:cNvPr id="13" name="TextBox 12"/>
          <p:cNvSpPr txBox="1"/>
          <p:nvPr/>
        </p:nvSpPr>
        <p:spPr>
          <a:xfrm>
            <a:off x="548640" y="1865376"/>
            <a:ext cx="5440680" cy="1078992"/>
          </a:xfrm>
          <a:prstGeom prst="rect">
            <a:avLst/>
          </a:prstGeom>
          <a:noFill/>
        </p:spPr>
        <p:txBody>
          <a:bodyPr wrap="square" anchor="t" lIns="0" rIns="0" tIns="0" bIns="0">
            <a:noAutofit/>
          </a:bodyPr>
          <a:lstStyle/>
          <a:p>
            <a:pPr algn="l">
              <a:spcAft>
                <a:spcPts val="600"/>
              </a:spcAft>
            </a:pPr>
            <a:r>
              <a:rPr sz="1400" b="0" i="0">
                <a:solidFill>
                  <a:srgbClr val="17272E"/>
                </a:solidFill>
                <a:latin typeface="Calibri"/>
              </a:rPr>
              <a:t>RDF (Resource Description Framework) writes all information as triples. The subject is the thing described, the predicate is the property, and the object is another thing or a plain value. Triples link up into a graph: things are nodes, properties are arrows.</a:t>
            </a:r>
          </a:p>
        </p:txBody>
      </p:sp>
      <p:sp>
        <p:nvSpPr>
          <p:cNvPr id="14" name="TextBox 13"/>
          <p:cNvSpPr txBox="1"/>
          <p:nvPr/>
        </p:nvSpPr>
        <p:spPr>
          <a:xfrm>
            <a:off x="548640" y="3017520"/>
            <a:ext cx="5440680"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KEY TERMS</a:t>
            </a:r>
          </a:p>
        </p:txBody>
      </p:sp>
      <p:sp>
        <p:nvSpPr>
          <p:cNvPr id="15" name="TextBox 14"/>
          <p:cNvSpPr txBox="1"/>
          <p:nvPr/>
        </p:nvSpPr>
        <p:spPr>
          <a:xfrm>
            <a:off x="548640" y="3310127"/>
            <a:ext cx="5440680" cy="2313432"/>
          </a:xfrm>
          <a:prstGeom prst="rect">
            <a:avLst/>
          </a:prstGeom>
          <a:noFill/>
        </p:spPr>
        <p:txBody>
          <a:bodyPr wrap="square" anchor="t" lIns="0" rIns="0" tIns="0" bIns="0">
            <a:noAutofit/>
          </a:bodyPr>
          <a:lstStyle/>
          <a:p>
            <a:pPr algn="l" marL="228600" indent="-228600">
              <a:spcAft>
                <a:spcPts val="500"/>
              </a:spcAft>
              <a:buClr>
                <a:srgbClr val="1F7A6D"/>
              </a:buClr>
              <a:buFont typeface="Arial"/>
              <a:buChar char="•"/>
            </a:pPr>
            <a:r>
              <a:rPr sz="1200" b="1" i="0">
                <a:solidFill>
                  <a:srgbClr val="155E54"/>
                </a:solidFill>
                <a:latin typeface="Consolas"/>
              </a:rPr>
              <a:t>triple</a:t>
            </a:r>
            <a:r>
              <a:rPr sz="1300" b="0" i="0">
                <a:solidFill>
                  <a:srgbClr val="17272E"/>
                </a:solidFill>
                <a:latin typeface="Calibri"/>
              </a:rPr>
              <a:t>  one statement: :Giant :starring :JamesDean .</a:t>
            </a:r>
          </a:p>
          <a:p>
            <a:pPr algn="l" marL="228600" indent="-228600">
              <a:spcAft>
                <a:spcPts val="500"/>
              </a:spcAft>
              <a:buClr>
                <a:srgbClr val="1F7A6D"/>
              </a:buClr>
              <a:buFont typeface="Arial"/>
              <a:buChar char="•"/>
            </a:pPr>
            <a:r>
              <a:rPr sz="1200" b="1" i="0">
                <a:solidFill>
                  <a:srgbClr val="155E54"/>
                </a:solidFill>
                <a:latin typeface="Consolas"/>
              </a:rPr>
              <a:t>graph</a:t>
            </a:r>
            <a:r>
              <a:rPr sz="1300" b="0" i="0">
                <a:solidFill>
                  <a:srgbClr val="17272E"/>
                </a:solidFill>
                <a:latin typeface="Calibri"/>
              </a:rPr>
              <a:t>  a set of triples; everything said about a thing meets at its node.</a:t>
            </a:r>
          </a:p>
          <a:p>
            <a:pPr algn="l" marL="228600" indent="-228600">
              <a:spcAft>
                <a:spcPts val="500"/>
              </a:spcAft>
              <a:buClr>
                <a:srgbClr val="1F7A6D"/>
              </a:buClr>
              <a:buFont typeface="Arial"/>
              <a:buChar char="•"/>
            </a:pPr>
            <a:r>
              <a:rPr sz="1200" b="1" i="0">
                <a:solidFill>
                  <a:srgbClr val="155E54"/>
                </a:solidFill>
                <a:latin typeface="Consolas"/>
              </a:rPr>
              <a:t>rdf:type</a:t>
            </a:r>
            <a:r>
              <a:rPr sz="1300" b="0" i="0">
                <a:solidFill>
                  <a:srgbClr val="17272E"/>
                </a:solidFill>
                <a:latin typeface="Calibri"/>
              </a:rPr>
              <a:t>  says which class a thing belongs to; in Turtle it is the keyword a.</a:t>
            </a:r>
          </a:p>
          <a:p>
            <a:pPr algn="l" marL="228600" indent="-228600">
              <a:spcAft>
                <a:spcPts val="500"/>
              </a:spcAft>
              <a:buClr>
                <a:srgbClr val="1F7A6D"/>
              </a:buClr>
              <a:buFont typeface="Arial"/>
              <a:buChar char="•"/>
            </a:pPr>
            <a:r>
              <a:rPr sz="1200" b="1" i="0">
                <a:solidFill>
                  <a:srgbClr val="155E54"/>
                </a:solidFill>
                <a:latin typeface="Consolas"/>
              </a:rPr>
              <a:t>merge</a:t>
            </a:r>
            <a:r>
              <a:rPr sz="1300" b="0" i="0">
                <a:solidFill>
                  <a:srgbClr val="17272E"/>
                </a:solidFill>
                <a:latin typeface="Calibri"/>
              </a:rPr>
              <a:t>  combining sources is the union of their triples; equal URIs join by themselves.</a:t>
            </a:r>
          </a:p>
          <a:p>
            <a:pPr algn="l" marL="228600" indent="-228600">
              <a:spcAft>
                <a:spcPts val="500"/>
              </a:spcAft>
              <a:buClr>
                <a:srgbClr val="1F7A6D"/>
              </a:buClr>
              <a:buFont typeface="Arial"/>
              <a:buChar char="•"/>
            </a:pPr>
            <a:r>
              <a:rPr sz="1200" b="1" i="0">
                <a:solidFill>
                  <a:srgbClr val="155E54"/>
                </a:solidFill>
                <a:latin typeface="Consolas"/>
              </a:rPr>
              <a:t>Turtle</a:t>
            </a:r>
            <a:r>
              <a:rPr sz="1300" b="0" i="0">
                <a:solidFill>
                  <a:srgbClr val="17272E"/>
                </a:solidFill>
                <a:latin typeface="Calibri"/>
              </a:rPr>
              <a:t>  the syntax used here. A semicolon repeats the subject, a comma repeats subject and predicate, a full stop ends. N-Triples, RDF/XML, JSON-LD: same triples.</a:t>
            </a:r>
          </a:p>
        </p:txBody>
      </p:sp>
      <p:sp>
        <p:nvSpPr>
          <p:cNvPr id="16" name="Code: Turtle"/>
          <p:cNvSpPr/>
          <p:nvPr/>
        </p:nvSpPr>
        <p:spPr>
          <a:xfrm>
            <a:off x="6355080" y="1600200"/>
            <a:ext cx="5287975" cy="1783080"/>
          </a:xfrm>
          <a:prstGeom prst="roundRect">
            <a:avLst>
              <a:gd name="adj" fmla="val 6153"/>
            </a:avLst>
          </a:prstGeom>
          <a:solidFill>
            <a:srgbClr val="1C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180015" y="1709928"/>
            <a:ext cx="1280160" cy="228600"/>
          </a:xfrm>
          <a:prstGeom prst="rect">
            <a:avLst/>
          </a:prstGeom>
          <a:noFill/>
        </p:spPr>
        <p:txBody>
          <a:bodyPr wrap="square" anchor="t" lIns="0" rIns="0" tIns="0" bIns="0">
            <a:noAutofit/>
          </a:bodyPr>
          <a:lstStyle/>
          <a:p>
            <a:pPr algn="r">
              <a:spcAft>
                <a:spcPts val="600"/>
              </a:spcAft>
            </a:pPr>
            <a:r>
              <a:rPr sz="1000" b="1" i="0">
                <a:solidFill>
                  <a:srgbClr val="869AA0"/>
                </a:solidFill>
                <a:latin typeface="Calibri"/>
              </a:rPr>
              <a:t>TURTLE</a:t>
            </a:r>
          </a:p>
        </p:txBody>
      </p:sp>
      <p:sp>
        <p:nvSpPr>
          <p:cNvPr id="18" name="TextBox 17"/>
          <p:cNvSpPr txBox="1"/>
          <p:nvPr/>
        </p:nvSpPr>
        <p:spPr>
          <a:xfrm>
            <a:off x="6583680" y="1801368"/>
            <a:ext cx="4830775" cy="1417319"/>
          </a:xfrm>
          <a:prstGeom prst="rect">
            <a:avLst/>
          </a:prstGeom>
          <a:noFill/>
        </p:spPr>
        <p:txBody>
          <a:bodyPr wrap="none" lIns="0" rIns="0" tIns="0" bIns="0">
            <a:noAutofit/>
          </a:bodyPr>
          <a:lstStyle/>
          <a:p>
            <a:pPr>
              <a:lnSpc>
                <a:spcPct val="105000"/>
              </a:lnSpc>
            </a:pPr>
            <a:r>
              <a:rPr sz="1200" b="1" i="0">
                <a:solidFill>
                  <a:srgbClr val="F2B866"/>
                </a:solidFill>
                <a:latin typeface="Consolas"/>
              </a:rPr>
              <a:t>@prefix</a:t>
            </a:r>
            <a:r>
              <a:rPr sz="1200" b="0" i="0">
                <a:solidFill>
                  <a:srgbClr val="E3EBEE"/>
                </a:solidFill>
                <a:latin typeface="Consolas"/>
              </a:rPr>
              <a:t> :     </a:t>
            </a:r>
            <a:r>
              <a:rPr sz="1200" b="0" i="0">
                <a:solidFill>
                  <a:srgbClr val="9AB0B8"/>
                </a:solidFill>
                <a:latin typeface="Consolas"/>
              </a:rPr>
              <a:t>&lt;http://studio.example/&gt;</a:t>
            </a:r>
            <a:r>
              <a:rPr sz="1200" b="0" i="0">
                <a:solidFill>
                  <a:srgbClr val="E3EBEE"/>
                </a:solidFill>
                <a:latin typeface="Consolas"/>
              </a:rPr>
              <a:t> .</a:t>
            </a:r>
          </a:p>
          <a:p>
            <a:pPr>
              <a:lnSpc>
                <a:spcPct val="105000"/>
              </a:lnSpc>
            </a:pPr>
            <a:r>
              <a:rPr sz="1200" b="0" i="0">
                <a:solidFill>
                  <a:srgbClr val="E3EBEE"/>
                </a:solidFill>
                <a:latin typeface="Consolas"/>
              </a:rPr>
              <a:t> </a:t>
            </a:r>
          </a:p>
          <a:p>
            <a:pPr>
              <a:lnSpc>
                <a:spcPct val="105000"/>
              </a:lnSpc>
            </a:pPr>
            <a:r>
              <a:rPr sz="1200" b="0" i="0">
                <a:solidFill>
                  <a:srgbClr val="A8CFF0"/>
                </a:solidFill>
                <a:latin typeface="Consolas"/>
              </a:rPr>
              <a:t>:RebelWithoutACause</a:t>
            </a:r>
            <a:r>
              <a:rPr sz="1200" b="0" i="0">
                <a:solidFill>
                  <a:srgbClr val="E3EBEE"/>
                </a:solidFill>
                <a:latin typeface="Consolas"/>
              </a:rPr>
              <a:t> </a:t>
            </a:r>
            <a:r>
              <a:rPr sz="1200" b="1" i="0">
                <a:solidFill>
                  <a:srgbClr val="F2B866"/>
                </a:solidFill>
                <a:latin typeface="Consolas"/>
              </a:rPr>
              <a:t>a</a:t>
            </a:r>
            <a:r>
              <a:rPr sz="1200" b="0" i="0">
                <a:solidFill>
                  <a:srgbClr val="E3EBEE"/>
                </a:solidFill>
                <a:latin typeface="Consolas"/>
              </a:rPr>
              <a:t> </a:t>
            </a:r>
            <a:r>
              <a:rPr sz="1200" b="0" i="0">
                <a:solidFill>
                  <a:srgbClr val="A8CFF0"/>
                </a:solidFill>
                <a:latin typeface="Consolas"/>
              </a:rPr>
              <a:t>:Movie</a:t>
            </a:r>
            <a:r>
              <a:rPr sz="1200" b="0" i="0">
                <a:solidFill>
                  <a:srgbClr val="E3EBEE"/>
                </a:solidFill>
                <a:latin typeface="Consolas"/>
              </a:rPr>
              <a:t> ;</a:t>
            </a:r>
          </a:p>
          <a:p>
            <a:pPr>
              <a:lnSpc>
                <a:spcPct val="105000"/>
              </a:lnSpc>
            </a:pPr>
            <a:r>
              <a:rPr sz="1200" b="0" i="0">
                <a:solidFill>
                  <a:srgbClr val="E3EBEE"/>
                </a:solidFill>
                <a:latin typeface="Consolas"/>
              </a:rPr>
              <a:t>    </a:t>
            </a:r>
            <a:r>
              <a:rPr sz="1200" b="0" i="0">
                <a:solidFill>
                  <a:srgbClr val="A8CFF0"/>
                </a:solidFill>
                <a:latin typeface="Consolas"/>
              </a:rPr>
              <a:t>:movieTitle</a:t>
            </a:r>
            <a:r>
              <a:rPr sz="1200" b="0" i="0">
                <a:solidFill>
                  <a:srgbClr val="E3EBEE"/>
                </a:solidFill>
                <a:latin typeface="Consolas"/>
              </a:rPr>
              <a:t>  </a:t>
            </a:r>
            <a:r>
              <a:rPr sz="1200" b="0" i="0">
                <a:solidFill>
                  <a:srgbClr val="B5D98F"/>
                </a:solidFill>
                <a:latin typeface="Consolas"/>
              </a:rPr>
              <a:t>"Rebel Without a Cause"</a:t>
            </a:r>
            <a:r>
              <a:rPr sz="1200" b="0" i="0">
                <a:solidFill>
                  <a:srgbClr val="E3EBEE"/>
                </a:solidFill>
                <a:latin typeface="Consolas"/>
              </a:rPr>
              <a:t> ;</a:t>
            </a:r>
          </a:p>
          <a:p>
            <a:pPr>
              <a:lnSpc>
                <a:spcPct val="105000"/>
              </a:lnSpc>
            </a:pPr>
            <a:r>
              <a:rPr sz="1200" b="0" i="0">
                <a:solidFill>
                  <a:srgbClr val="E3EBEE"/>
                </a:solidFill>
                <a:latin typeface="Consolas"/>
              </a:rPr>
              <a:t>    </a:t>
            </a:r>
            <a:r>
              <a:rPr sz="1200" b="0" i="0">
                <a:solidFill>
                  <a:srgbClr val="A8CFF0"/>
                </a:solidFill>
                <a:latin typeface="Consolas"/>
              </a:rPr>
              <a:t>:releaseYear</a:t>
            </a:r>
            <a:r>
              <a:rPr sz="1200" b="0" i="0">
                <a:solidFill>
                  <a:srgbClr val="E3EBEE"/>
                </a:solidFill>
                <a:latin typeface="Consolas"/>
              </a:rPr>
              <a:t> </a:t>
            </a:r>
            <a:r>
              <a:rPr sz="1200" b="0" i="0">
                <a:solidFill>
                  <a:srgbClr val="B5D98F"/>
                </a:solidFill>
                <a:latin typeface="Consolas"/>
              </a:rPr>
              <a:t>1955</a:t>
            </a:r>
            <a:r>
              <a:rPr sz="1200" b="0" i="0">
                <a:solidFill>
                  <a:srgbClr val="E3EBEE"/>
                </a:solidFill>
                <a:latin typeface="Consolas"/>
              </a:rPr>
              <a:t> ;</a:t>
            </a:r>
          </a:p>
          <a:p>
            <a:pPr>
              <a:lnSpc>
                <a:spcPct val="105000"/>
              </a:lnSpc>
            </a:pPr>
            <a:r>
              <a:rPr sz="1200" b="0" i="0">
                <a:solidFill>
                  <a:srgbClr val="E3EBEE"/>
                </a:solidFill>
                <a:latin typeface="Consolas"/>
              </a:rPr>
              <a:t>    </a:t>
            </a:r>
            <a:r>
              <a:rPr sz="1200" b="0" i="0">
                <a:solidFill>
                  <a:srgbClr val="A8CFF0"/>
                </a:solidFill>
                <a:latin typeface="Consolas"/>
              </a:rPr>
              <a:t>:directedBy</a:t>
            </a:r>
            <a:r>
              <a:rPr sz="1200" b="0" i="0">
                <a:solidFill>
                  <a:srgbClr val="E3EBEE"/>
                </a:solidFill>
                <a:latin typeface="Consolas"/>
              </a:rPr>
              <a:t>  </a:t>
            </a:r>
            <a:r>
              <a:rPr sz="1200" b="0" i="0">
                <a:solidFill>
                  <a:srgbClr val="A8CFF0"/>
                </a:solidFill>
                <a:latin typeface="Consolas"/>
              </a:rPr>
              <a:t>:NicholasRay</a:t>
            </a:r>
            <a:r>
              <a:rPr sz="1200" b="0" i="0">
                <a:solidFill>
                  <a:srgbClr val="E3EBEE"/>
                </a:solidFill>
                <a:latin typeface="Consolas"/>
              </a:rPr>
              <a:t> ;</a:t>
            </a:r>
          </a:p>
          <a:p>
            <a:pPr>
              <a:lnSpc>
                <a:spcPct val="105000"/>
              </a:lnSpc>
            </a:pPr>
            <a:r>
              <a:rPr sz="1200" b="0" i="0">
                <a:solidFill>
                  <a:srgbClr val="E3EBEE"/>
                </a:solidFill>
                <a:latin typeface="Consolas"/>
              </a:rPr>
              <a:t>    </a:t>
            </a:r>
            <a:r>
              <a:rPr sz="1200" b="0" i="0">
                <a:solidFill>
                  <a:srgbClr val="A8CFF0"/>
                </a:solidFill>
                <a:latin typeface="Consolas"/>
              </a:rPr>
              <a:t>:starring</a:t>
            </a:r>
            <a:r>
              <a:rPr sz="1200" b="0" i="0">
                <a:solidFill>
                  <a:srgbClr val="E3EBEE"/>
                </a:solidFill>
                <a:latin typeface="Consolas"/>
              </a:rPr>
              <a:t>    </a:t>
            </a:r>
            <a:r>
              <a:rPr sz="1200" b="0" i="0">
                <a:solidFill>
                  <a:srgbClr val="A8CFF0"/>
                </a:solidFill>
                <a:latin typeface="Consolas"/>
              </a:rPr>
              <a:t>:JamesDean</a:t>
            </a:r>
            <a:r>
              <a:rPr sz="1200" b="0" i="0">
                <a:solidFill>
                  <a:srgbClr val="E3EBEE"/>
                </a:solidFill>
                <a:latin typeface="Consolas"/>
              </a:rPr>
              <a:t> , </a:t>
            </a:r>
            <a:r>
              <a:rPr sz="1200" b="0" i="0">
                <a:solidFill>
                  <a:srgbClr val="A8CFF0"/>
                </a:solidFill>
                <a:latin typeface="Consolas"/>
              </a:rPr>
              <a:t>:NatalieWood</a:t>
            </a:r>
            <a:r>
              <a:rPr sz="1200" b="0" i="0">
                <a:solidFill>
                  <a:srgbClr val="E3EBEE"/>
                </a:solidFill>
                <a:latin typeface="Consolas"/>
              </a:rPr>
              <a:t> .</a:t>
            </a:r>
          </a:p>
        </p:txBody>
      </p:sp>
      <p:sp>
        <p:nvSpPr>
          <p:cNvPr id="19" name="TextBox 18"/>
          <p:cNvSpPr txBox="1"/>
          <p:nvPr/>
        </p:nvSpPr>
        <p:spPr>
          <a:xfrm>
            <a:off x="6355080" y="3493008"/>
            <a:ext cx="5287975" cy="274320"/>
          </a:xfrm>
          <a:prstGeom prst="rect">
            <a:avLst/>
          </a:prstGeom>
          <a:noFill/>
        </p:spPr>
        <p:txBody>
          <a:bodyPr wrap="square" anchor="t" lIns="0" rIns="0" tIns="0" bIns="0">
            <a:noAutofit/>
          </a:bodyPr>
          <a:lstStyle/>
          <a:p>
            <a:pPr algn="l">
              <a:spcAft>
                <a:spcPts val="600"/>
              </a:spcAft>
            </a:pPr>
            <a:r>
              <a:rPr sz="1300" b="1" i="0">
                <a:solidFill>
                  <a:srgbClr val="5B6B70"/>
                </a:solidFill>
                <a:latin typeface="Calibri"/>
              </a:rPr>
              <a:t>The same block, read as triples</a:t>
            </a:r>
          </a:p>
        </p:txBody>
      </p:sp>
      <p:graphicFrame>
        <p:nvGraphicFramePr>
          <p:cNvPr id="20" name="Table 19"/>
          <p:cNvGraphicFramePr>
            <a:graphicFrameLocks noGrp="1"/>
          </p:cNvGraphicFramePr>
          <p:nvPr/>
        </p:nvGraphicFramePr>
        <p:xfrm>
          <a:off x="6355080" y="3767328"/>
          <a:ext cx="5287974" cy="1810512"/>
        </p:xfrm>
        <a:graphic>
          <a:graphicData uri="http://schemas.openxmlformats.org/drawingml/2006/table">
            <a:tbl>
              <a:tblPr firstRow="0" bandRow="0">
                <a:tableStyleId>{5C22544A-7EE6-4342-B048-85BDC9FD1C3A}</a:tableStyleId>
              </a:tblPr>
              <a:tblGrid>
                <a:gridCol w="1874519"/>
                <a:gridCol w="1325880"/>
                <a:gridCol w="2087575"/>
              </a:tblGrid>
              <a:tr h="301752">
                <a:tc>
                  <a:txBody>
                    <a:bodyPr wrap="square"/>
                    <a:lstStyle/>
                    <a:p>
                      <a:r>
                        <a:rPr sz="1200" b="1" i="0">
                          <a:solidFill>
                            <a:srgbClr val="FFFFFF"/>
                          </a:solidFill>
                          <a:latin typeface="Calibri"/>
                        </a:rPr>
                        <a:t>subject</a:t>
                      </a:r>
                    </a:p>
                  </a:txBody>
                  <a:tcPr marL="91440" marR="91440" marT="27432" marB="27432" anchor="ctr">
                    <a:solidFill>
                      <a:srgbClr val="1F7A6D"/>
                    </a:solidFill>
                  </a:tcPr>
                </a:tc>
                <a:tc>
                  <a:txBody>
                    <a:bodyPr wrap="square"/>
                    <a:lstStyle/>
                    <a:p>
                      <a:r>
                        <a:rPr sz="1200" b="1" i="0">
                          <a:solidFill>
                            <a:srgbClr val="FFFFFF"/>
                          </a:solidFill>
                          <a:latin typeface="Calibri"/>
                        </a:rPr>
                        <a:t>predicate</a:t>
                      </a:r>
                    </a:p>
                  </a:txBody>
                  <a:tcPr marL="91440" marR="91440" marT="27432" marB="27432" anchor="ctr">
                    <a:solidFill>
                      <a:srgbClr val="1F7A6D"/>
                    </a:solidFill>
                  </a:tcPr>
                </a:tc>
                <a:tc>
                  <a:txBody>
                    <a:bodyPr wrap="square"/>
                    <a:lstStyle/>
                    <a:p>
                      <a:r>
                        <a:rPr sz="1200" b="1" i="0">
                          <a:solidFill>
                            <a:srgbClr val="FFFFFF"/>
                          </a:solidFill>
                          <a:latin typeface="Calibri"/>
                        </a:rPr>
                        <a:t>object</a:t>
                      </a:r>
                    </a:p>
                  </a:txBody>
                  <a:tcPr marL="91440" marR="91440" marT="27432" marB="27432" anchor="ctr">
                    <a:solidFill>
                      <a:srgbClr val="1F7A6D"/>
                    </a:solidFill>
                  </a:tcPr>
                </a:tc>
              </a:tr>
              <a:tr h="301752">
                <a:tc>
                  <a:txBody>
                    <a:bodyPr wrap="square"/>
                    <a:lstStyle/>
                    <a:p>
                      <a:r>
                        <a:rPr sz="1100" b="0" i="0">
                          <a:solidFill>
                            <a:srgbClr val="17272E"/>
                          </a:solidFill>
                          <a:latin typeface="Consolas"/>
                        </a:rPr>
                        <a:t>:RebelWithoutACause</a:t>
                      </a:r>
                    </a:p>
                  </a:txBody>
                  <a:tcPr marL="91440" marR="91440" marT="27432" marB="27432" anchor="ctr">
                    <a:solidFill>
                      <a:srgbClr val="FFFFFF"/>
                    </a:solidFill>
                  </a:tcPr>
                </a:tc>
                <a:tc>
                  <a:txBody>
                    <a:bodyPr wrap="square"/>
                    <a:lstStyle/>
                    <a:p>
                      <a:r>
                        <a:rPr sz="1100" b="0" i="0">
                          <a:solidFill>
                            <a:srgbClr val="17272E"/>
                          </a:solidFill>
                          <a:latin typeface="Consolas"/>
                        </a:rPr>
                        <a:t>:movieTitle</a:t>
                      </a:r>
                    </a:p>
                  </a:txBody>
                  <a:tcPr marL="91440" marR="91440" marT="27432" marB="27432" anchor="ctr">
                    <a:solidFill>
                      <a:srgbClr val="FFFFFF"/>
                    </a:solidFill>
                  </a:tcPr>
                </a:tc>
                <a:tc>
                  <a:txBody>
                    <a:bodyPr wrap="square"/>
                    <a:lstStyle/>
                    <a:p>
                      <a:r>
                        <a:rPr sz="1100" b="0" i="0">
                          <a:solidFill>
                            <a:srgbClr val="17272E"/>
                          </a:solidFill>
                          <a:latin typeface="Consolas"/>
                        </a:rPr>
                        <a:t>Rebel Without a Cause</a:t>
                      </a:r>
                    </a:p>
                  </a:txBody>
                  <a:tcPr marL="91440" marR="91440" marT="27432" marB="27432" anchor="ctr">
                    <a:solidFill>
                      <a:srgbClr val="FFFFFF"/>
                    </a:solidFill>
                  </a:tcPr>
                </a:tc>
              </a:tr>
              <a:tr h="301752">
                <a:tc>
                  <a:txBody>
                    <a:bodyPr wrap="square"/>
                    <a:lstStyle/>
                    <a:p>
                      <a:r>
                        <a:rPr sz="1100" b="0" i="0">
                          <a:solidFill>
                            <a:srgbClr val="17272E"/>
                          </a:solidFill>
                          <a:latin typeface="Consolas"/>
                        </a:rPr>
                        <a:t>:RebelWithoutACause</a:t>
                      </a:r>
                    </a:p>
                  </a:txBody>
                  <a:tcPr marL="91440" marR="91440" marT="27432" marB="27432" anchor="ctr">
                    <a:solidFill>
                      <a:srgbClr val="EAF3F0"/>
                    </a:solidFill>
                  </a:tcPr>
                </a:tc>
                <a:tc>
                  <a:txBody>
                    <a:bodyPr wrap="square"/>
                    <a:lstStyle/>
                    <a:p>
                      <a:r>
                        <a:rPr sz="1100" b="0" i="0">
                          <a:solidFill>
                            <a:srgbClr val="17272E"/>
                          </a:solidFill>
                          <a:latin typeface="Consolas"/>
                        </a:rPr>
                        <a:t>:releaseYear</a:t>
                      </a:r>
                    </a:p>
                  </a:txBody>
                  <a:tcPr marL="91440" marR="91440" marT="27432" marB="27432" anchor="ctr">
                    <a:solidFill>
                      <a:srgbClr val="EAF3F0"/>
                    </a:solidFill>
                  </a:tcPr>
                </a:tc>
                <a:tc>
                  <a:txBody>
                    <a:bodyPr wrap="square"/>
                    <a:lstStyle/>
                    <a:p>
                      <a:r>
                        <a:rPr sz="1100" b="0" i="0">
                          <a:solidFill>
                            <a:srgbClr val="17272E"/>
                          </a:solidFill>
                          <a:latin typeface="Consolas"/>
                        </a:rPr>
                        <a:t>1955</a:t>
                      </a:r>
                    </a:p>
                  </a:txBody>
                  <a:tcPr marL="91440" marR="91440" marT="27432" marB="27432" anchor="ctr">
                    <a:solidFill>
                      <a:srgbClr val="EAF3F0"/>
                    </a:solidFill>
                  </a:tcPr>
                </a:tc>
              </a:tr>
              <a:tr h="301752">
                <a:tc>
                  <a:txBody>
                    <a:bodyPr wrap="square"/>
                    <a:lstStyle/>
                    <a:p>
                      <a:r>
                        <a:rPr sz="1100" b="0" i="0">
                          <a:solidFill>
                            <a:srgbClr val="17272E"/>
                          </a:solidFill>
                          <a:latin typeface="Consolas"/>
                        </a:rPr>
                        <a:t>:RebelWithoutACause</a:t>
                      </a:r>
                    </a:p>
                  </a:txBody>
                  <a:tcPr marL="91440" marR="91440" marT="27432" marB="27432" anchor="ctr">
                    <a:solidFill>
                      <a:srgbClr val="FFFFFF"/>
                    </a:solidFill>
                  </a:tcPr>
                </a:tc>
                <a:tc>
                  <a:txBody>
                    <a:bodyPr wrap="square"/>
                    <a:lstStyle/>
                    <a:p>
                      <a:r>
                        <a:rPr sz="1100" b="0" i="0">
                          <a:solidFill>
                            <a:srgbClr val="17272E"/>
                          </a:solidFill>
                          <a:latin typeface="Consolas"/>
                        </a:rPr>
                        <a:t>:directedBy</a:t>
                      </a:r>
                    </a:p>
                  </a:txBody>
                  <a:tcPr marL="91440" marR="91440" marT="27432" marB="27432" anchor="ctr">
                    <a:solidFill>
                      <a:srgbClr val="FFFFFF"/>
                    </a:solidFill>
                  </a:tcPr>
                </a:tc>
                <a:tc>
                  <a:txBody>
                    <a:bodyPr wrap="square"/>
                    <a:lstStyle/>
                    <a:p>
                      <a:r>
                        <a:rPr sz="1100" b="0" i="0">
                          <a:solidFill>
                            <a:srgbClr val="17272E"/>
                          </a:solidFill>
                          <a:latin typeface="Consolas"/>
                        </a:rPr>
                        <a:t>:NicholasRay</a:t>
                      </a:r>
                    </a:p>
                  </a:txBody>
                  <a:tcPr marL="91440" marR="91440" marT="27432" marB="27432" anchor="ctr">
                    <a:solidFill>
                      <a:srgbClr val="FFFFFF"/>
                    </a:solidFill>
                  </a:tcPr>
                </a:tc>
              </a:tr>
              <a:tr h="301752">
                <a:tc>
                  <a:txBody>
                    <a:bodyPr wrap="square"/>
                    <a:lstStyle/>
                    <a:p>
                      <a:r>
                        <a:rPr sz="1100" b="0" i="0">
                          <a:solidFill>
                            <a:srgbClr val="17272E"/>
                          </a:solidFill>
                          <a:latin typeface="Consolas"/>
                        </a:rPr>
                        <a:t>:RebelWithoutACause</a:t>
                      </a:r>
                    </a:p>
                  </a:txBody>
                  <a:tcPr marL="91440" marR="91440" marT="27432" marB="27432" anchor="ctr">
                    <a:solidFill>
                      <a:srgbClr val="EAF3F0"/>
                    </a:solidFill>
                  </a:tcPr>
                </a:tc>
                <a:tc>
                  <a:txBody>
                    <a:bodyPr wrap="square"/>
                    <a:lstStyle/>
                    <a:p>
                      <a:r>
                        <a:rPr sz="1100" b="0" i="0">
                          <a:solidFill>
                            <a:srgbClr val="17272E"/>
                          </a:solidFill>
                          <a:latin typeface="Consolas"/>
                        </a:rPr>
                        <a:t>:starring</a:t>
                      </a:r>
                    </a:p>
                  </a:txBody>
                  <a:tcPr marL="91440" marR="91440" marT="27432" marB="27432" anchor="ctr">
                    <a:solidFill>
                      <a:srgbClr val="EAF3F0"/>
                    </a:solidFill>
                  </a:tcPr>
                </a:tc>
                <a:tc>
                  <a:txBody>
                    <a:bodyPr wrap="square"/>
                    <a:lstStyle/>
                    <a:p>
                      <a:r>
                        <a:rPr sz="1100" b="0" i="0">
                          <a:solidFill>
                            <a:srgbClr val="17272E"/>
                          </a:solidFill>
                          <a:latin typeface="Consolas"/>
                        </a:rPr>
                        <a:t>:JamesDean</a:t>
                      </a:r>
                    </a:p>
                  </a:txBody>
                  <a:tcPr marL="91440" marR="91440" marT="27432" marB="27432" anchor="ctr">
                    <a:solidFill>
                      <a:srgbClr val="EAF3F0"/>
                    </a:solidFill>
                  </a:tcPr>
                </a:tc>
              </a:tr>
              <a:tr h="301752">
                <a:tc>
                  <a:txBody>
                    <a:bodyPr wrap="square"/>
                    <a:lstStyle/>
                    <a:p>
                      <a:r>
                        <a:rPr sz="1100" b="0" i="0">
                          <a:solidFill>
                            <a:srgbClr val="17272E"/>
                          </a:solidFill>
                          <a:latin typeface="Consolas"/>
                        </a:rPr>
                        <a:t>:RebelWithoutACause</a:t>
                      </a:r>
                    </a:p>
                  </a:txBody>
                  <a:tcPr marL="91440" marR="91440" marT="27432" marB="27432" anchor="ctr">
                    <a:solidFill>
                      <a:srgbClr val="FFFFFF"/>
                    </a:solidFill>
                  </a:tcPr>
                </a:tc>
                <a:tc>
                  <a:txBody>
                    <a:bodyPr wrap="square"/>
                    <a:lstStyle/>
                    <a:p>
                      <a:r>
                        <a:rPr sz="1100" b="0" i="0">
                          <a:solidFill>
                            <a:srgbClr val="17272E"/>
                          </a:solidFill>
                          <a:latin typeface="Consolas"/>
                        </a:rPr>
                        <a:t>:starring</a:t>
                      </a:r>
                    </a:p>
                  </a:txBody>
                  <a:tcPr marL="91440" marR="91440" marT="27432" marB="27432" anchor="ctr">
                    <a:solidFill>
                      <a:srgbClr val="FFFFFF"/>
                    </a:solidFill>
                  </a:tcPr>
                </a:tc>
                <a:tc>
                  <a:txBody>
                    <a:bodyPr wrap="square"/>
                    <a:lstStyle/>
                    <a:p>
                      <a:r>
                        <a:rPr sz="1100" b="0" i="0">
                          <a:solidFill>
                            <a:srgbClr val="17272E"/>
                          </a:solidFill>
                          <a:latin typeface="Consolas"/>
                        </a:rPr>
                        <a:t>:NatalieWood</a:t>
                      </a:r>
                    </a:p>
                  </a:txBody>
                  <a:tcPr marL="91440" marR="91440" marT="27432" marB="27432" anchor="ctr">
                    <a:solidFill>
                      <a:srgbClr val="FFFFFF"/>
                    </a:solidFill>
                  </a:tcPr>
                </a:tc>
              </a:tr>
            </a:tbl>
          </a:graphicData>
        </a:graphic>
      </p:graphicFrame>
      <p:sp>
        <p:nvSpPr>
          <p:cNvPr id="21" name="Adds"/>
          <p:cNvSpPr/>
          <p:nvPr/>
        </p:nvSpPr>
        <p:spPr>
          <a:xfrm>
            <a:off x="548640" y="5669280"/>
            <a:ext cx="5440680" cy="566928"/>
          </a:xfrm>
          <a:prstGeom prst="roundRect">
            <a:avLst>
              <a:gd name="adj" fmla="val 16129"/>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 bIns="18288">
            <a:noAutofit/>
          </a:bodyPr>
          <a:lstStyle/>
          <a:p>
            <a:pPr algn="l"/>
            <a:r>
              <a:rPr sz="1300" b="1" i="0">
                <a:solidFill>
                  <a:srgbClr val="155E54"/>
                </a:solidFill>
                <a:latin typeface="Calibri"/>
              </a:rPr>
              <a:t>Adds to the ontology: </a:t>
            </a:r>
            <a:r>
              <a:rPr sz="1300" b="0" i="0">
                <a:solidFill>
                  <a:srgbClr val="17272E"/>
                </a:solidFill>
                <a:latin typeface="Calibri"/>
              </a:rPr>
              <a:t>individuals and the facts about them: the data.</a:t>
            </a:r>
          </a:p>
        </p:txBody>
      </p:sp>
      <p:sp>
        <p:nvSpPr>
          <p:cNvPr id="22" name="Missing"/>
          <p:cNvSpPr/>
          <p:nvPr/>
        </p:nvSpPr>
        <p:spPr>
          <a:xfrm>
            <a:off x="6172200" y="5669280"/>
            <a:ext cx="5470855" cy="566928"/>
          </a:xfrm>
          <a:prstGeom prst="roundRect">
            <a:avLst>
              <a:gd name="adj" fmla="val 16129"/>
            </a:avLst>
          </a:prstGeom>
          <a:solidFill>
            <a:srgbClr val="FCF1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 bIns="18288">
            <a:noAutofit/>
          </a:bodyPr>
          <a:lstStyle/>
          <a:p>
            <a:pPr algn="l"/>
            <a:r>
              <a:rPr sz="1300" b="1" i="0">
                <a:solidFill>
                  <a:srgbClr val="17272E"/>
                </a:solidFill>
                <a:latin typeface="Calibri"/>
              </a:rPr>
              <a:t>Still missing: </a:t>
            </a:r>
            <a:r>
              <a:rPr sz="1300" b="0" i="0">
                <a:solidFill>
                  <a:srgbClr val="17272E"/>
                </a:solidFill>
                <a:latin typeface="Calibri"/>
              </a:rPr>
              <a:t>to a machine, :Actor and :starring are just names. RDFS says what they mean.</a:t>
            </a:r>
          </a:p>
        </p:txBody>
      </p:sp>
      <p:sp>
        <p:nvSpPr>
          <p:cNvPr id="23"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24"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Vocabulary: classes, properties, hierarchies</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BUILDING BLOCK 3 OF 8 · VOCABULARY · RDFS</a:t>
            </a:r>
          </a:p>
        </p:txBody>
      </p:sp>
      <p:sp>
        <p:nvSpPr>
          <p:cNvPr id="4" name="Rounded Rectangle 3"/>
          <p:cNvSpPr/>
          <p:nvPr/>
        </p:nvSpPr>
        <p:spPr>
          <a:xfrm>
            <a:off x="5031943"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URI</a:t>
            </a:r>
          </a:p>
        </p:txBody>
      </p:sp>
      <p:sp>
        <p:nvSpPr>
          <p:cNvPr id="5" name="Rounded Rectangle 4"/>
          <p:cNvSpPr/>
          <p:nvPr/>
        </p:nvSpPr>
        <p:spPr>
          <a:xfrm>
            <a:off x="5864047"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RDF</a:t>
            </a:r>
          </a:p>
        </p:txBody>
      </p:sp>
      <p:sp>
        <p:nvSpPr>
          <p:cNvPr id="6" name="Rounded Rectangle 5"/>
          <p:cNvSpPr/>
          <p:nvPr/>
        </p:nvSpPr>
        <p:spPr>
          <a:xfrm>
            <a:off x="6696151" y="329184"/>
            <a:ext cx="786384" cy="246888"/>
          </a:xfrm>
          <a:prstGeom prst="roundRect">
            <a:avLst>
              <a:gd name="adj" fmla="val 50000"/>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7272E"/>
                </a:solidFill>
                <a:latin typeface="Calibri"/>
              </a:rPr>
              <a:t>RDFS</a:t>
            </a:r>
          </a:p>
        </p:txBody>
      </p:sp>
      <p:sp>
        <p:nvSpPr>
          <p:cNvPr id="7" name="Rounded Rectangle 6"/>
          <p:cNvSpPr/>
          <p:nvPr/>
        </p:nvSpPr>
        <p:spPr>
          <a:xfrm>
            <a:off x="7528255"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RDFS-Plus</a:t>
            </a:r>
          </a:p>
        </p:txBody>
      </p:sp>
      <p:sp>
        <p:nvSpPr>
          <p:cNvPr id="8" name="Rounded Rectangle 7"/>
          <p:cNvSpPr/>
          <p:nvPr/>
        </p:nvSpPr>
        <p:spPr>
          <a:xfrm>
            <a:off x="8360359"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OWL</a:t>
            </a:r>
          </a:p>
        </p:txBody>
      </p:sp>
      <p:sp>
        <p:nvSpPr>
          <p:cNvPr id="9" name="Rounded Rectangle 8"/>
          <p:cNvSpPr/>
          <p:nvPr/>
        </p:nvSpPr>
        <p:spPr>
          <a:xfrm>
            <a:off x="9192463"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SKOS</a:t>
            </a:r>
          </a:p>
        </p:txBody>
      </p:sp>
      <p:sp>
        <p:nvSpPr>
          <p:cNvPr id="10" name="Rounded Rectangle 9"/>
          <p:cNvSpPr/>
          <p:nvPr/>
        </p:nvSpPr>
        <p:spPr>
          <a:xfrm>
            <a:off x="10024567"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Rules</a:t>
            </a:r>
          </a:p>
        </p:txBody>
      </p:sp>
      <p:sp>
        <p:nvSpPr>
          <p:cNvPr id="11" name="Rounded Rectangle 10"/>
          <p:cNvSpPr/>
          <p:nvPr/>
        </p:nvSpPr>
        <p:spPr>
          <a:xfrm>
            <a:off x="10856671"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SPARQL</a:t>
            </a:r>
          </a:p>
        </p:txBody>
      </p:sp>
      <p:sp>
        <p:nvSpPr>
          <p:cNvPr id="12" name="TextBox 11"/>
          <p:cNvSpPr txBox="1"/>
          <p:nvPr/>
        </p:nvSpPr>
        <p:spPr>
          <a:xfrm>
            <a:off x="548640" y="1572768"/>
            <a:ext cx="5440680"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WHAT IT IS</a:t>
            </a:r>
          </a:p>
        </p:txBody>
      </p:sp>
      <p:sp>
        <p:nvSpPr>
          <p:cNvPr id="13" name="TextBox 12"/>
          <p:cNvSpPr txBox="1"/>
          <p:nvPr/>
        </p:nvSpPr>
        <p:spPr>
          <a:xfrm>
            <a:off x="548640" y="1865376"/>
            <a:ext cx="5440680" cy="1078992"/>
          </a:xfrm>
          <a:prstGeom prst="rect">
            <a:avLst/>
          </a:prstGeom>
          <a:noFill/>
        </p:spPr>
        <p:txBody>
          <a:bodyPr wrap="square" anchor="t" lIns="0" rIns="0" tIns="0" bIns="0">
            <a:noAutofit/>
          </a:bodyPr>
          <a:lstStyle/>
          <a:p>
            <a:pPr algn="l">
              <a:spcAft>
                <a:spcPts val="600"/>
              </a:spcAft>
            </a:pPr>
            <a:r>
              <a:rPr sz="1400" b="0" i="0">
                <a:solidFill>
                  <a:srgbClr val="17272E"/>
                </a:solidFill>
                <a:latin typeface="Calibri"/>
              </a:rPr>
              <a:t>RDF Schema is a small vocabulary, itself written as triples, for describing the classes and properties that data uses. Each term stands for an inference rule: when its pattern appears, new triples follow.</a:t>
            </a:r>
          </a:p>
        </p:txBody>
      </p:sp>
      <p:sp>
        <p:nvSpPr>
          <p:cNvPr id="14" name="TextBox 13"/>
          <p:cNvSpPr txBox="1"/>
          <p:nvPr/>
        </p:nvSpPr>
        <p:spPr>
          <a:xfrm>
            <a:off x="548640" y="2834640"/>
            <a:ext cx="5440680"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KEY TERMS</a:t>
            </a:r>
          </a:p>
        </p:txBody>
      </p:sp>
      <p:sp>
        <p:nvSpPr>
          <p:cNvPr id="15" name="TextBox 14"/>
          <p:cNvSpPr txBox="1"/>
          <p:nvPr/>
        </p:nvSpPr>
        <p:spPr>
          <a:xfrm>
            <a:off x="548640" y="3127248"/>
            <a:ext cx="5440680" cy="1901952"/>
          </a:xfrm>
          <a:prstGeom prst="rect">
            <a:avLst/>
          </a:prstGeom>
          <a:noFill/>
        </p:spPr>
        <p:txBody>
          <a:bodyPr wrap="square" anchor="t" lIns="0" rIns="0" tIns="0" bIns="0">
            <a:noAutofit/>
          </a:bodyPr>
          <a:lstStyle/>
          <a:p>
            <a:pPr algn="l" marL="228600" indent="-228600">
              <a:spcAft>
                <a:spcPts val="500"/>
              </a:spcAft>
              <a:buClr>
                <a:srgbClr val="1F7A6D"/>
              </a:buClr>
              <a:buFont typeface="Arial"/>
              <a:buChar char="•"/>
            </a:pPr>
            <a:r>
              <a:rPr sz="1200" b="1" i="0">
                <a:solidFill>
                  <a:srgbClr val="155E54"/>
                </a:solidFill>
                <a:latin typeface="Consolas"/>
              </a:rPr>
              <a:t>rdfs:subClassOf</a:t>
            </a:r>
            <a:r>
              <a:rPr sz="1300" b="0" i="0">
                <a:solidFill>
                  <a:srgbClr val="17272E"/>
                </a:solidFill>
                <a:latin typeface="Calibri"/>
              </a:rPr>
              <a:t>  every member of the subclass is in the superclass: every :Actor is a :Person.</a:t>
            </a:r>
          </a:p>
          <a:p>
            <a:pPr algn="l" marL="228600" indent="-228600">
              <a:spcAft>
                <a:spcPts val="500"/>
              </a:spcAft>
              <a:buClr>
                <a:srgbClr val="1F7A6D"/>
              </a:buClr>
              <a:buFont typeface="Arial"/>
              <a:buChar char="•"/>
            </a:pPr>
            <a:r>
              <a:rPr sz="1200" b="1" i="0">
                <a:solidFill>
                  <a:srgbClr val="155E54"/>
                </a:solidFill>
                <a:latin typeface="Consolas"/>
              </a:rPr>
              <a:t>rdfs:subPropertyOf</a:t>
            </a:r>
            <a:r>
              <a:rPr sz="1300" b="0" i="0">
                <a:solidFill>
                  <a:srgbClr val="17272E"/>
                </a:solidFill>
                <a:latin typeface="Calibri"/>
              </a:rPr>
              <a:t>  what holds with the narrower property holds with the broader one.</a:t>
            </a:r>
          </a:p>
          <a:p>
            <a:pPr algn="l" marL="228600" indent="-228600">
              <a:spcAft>
                <a:spcPts val="500"/>
              </a:spcAft>
              <a:buClr>
                <a:srgbClr val="1F7A6D"/>
              </a:buClr>
              <a:buFont typeface="Arial"/>
              <a:buChar char="•"/>
            </a:pPr>
            <a:r>
              <a:rPr sz="1200" b="1" i="0">
                <a:solidFill>
                  <a:srgbClr val="155E54"/>
                </a:solidFill>
                <a:latin typeface="Consolas"/>
              </a:rPr>
              <a:t>rdfs:domain</a:t>
            </a:r>
            <a:r>
              <a:rPr sz="1300" b="0" i="0">
                <a:solidFill>
                  <a:srgbClr val="17272E"/>
                </a:solidFill>
                <a:latin typeface="Calibri"/>
              </a:rPr>
              <a:t>  whatever has the property belongs to this class.</a:t>
            </a:r>
          </a:p>
          <a:p>
            <a:pPr algn="l" marL="228600" indent="-228600">
              <a:spcAft>
                <a:spcPts val="500"/>
              </a:spcAft>
              <a:buClr>
                <a:srgbClr val="1F7A6D"/>
              </a:buClr>
              <a:buFont typeface="Arial"/>
              <a:buChar char="•"/>
            </a:pPr>
            <a:r>
              <a:rPr sz="1200" b="1" i="0">
                <a:solidFill>
                  <a:srgbClr val="155E54"/>
                </a:solidFill>
                <a:latin typeface="Consolas"/>
              </a:rPr>
              <a:t>rdfs:range</a:t>
            </a:r>
            <a:r>
              <a:rPr sz="1300" b="0" i="0">
                <a:solidFill>
                  <a:srgbClr val="17272E"/>
                </a:solidFill>
                <a:latin typeface="Calibri"/>
              </a:rPr>
              <a:t>  whatever the property points to belongs to this class.</a:t>
            </a:r>
          </a:p>
          <a:p>
            <a:pPr algn="l" marL="228600" indent="-228600">
              <a:spcAft>
                <a:spcPts val="500"/>
              </a:spcAft>
              <a:buClr>
                <a:srgbClr val="1F7A6D"/>
              </a:buClr>
              <a:buFont typeface="Arial"/>
              <a:buChar char="•"/>
            </a:pPr>
            <a:r>
              <a:rPr sz="1200" b="1" i="0">
                <a:solidFill>
                  <a:srgbClr val="155E54"/>
                </a:solidFill>
                <a:latin typeface="Consolas"/>
              </a:rPr>
              <a:t>rdfs:label</a:t>
            </a:r>
            <a:r>
              <a:rPr sz="1300" b="0" i="0">
                <a:solidFill>
                  <a:srgbClr val="17272E"/>
                </a:solidFill>
                <a:latin typeface="Calibri"/>
              </a:rPr>
              <a:t>  a human-readable name; rdfs:comment adds a description.</a:t>
            </a:r>
          </a:p>
        </p:txBody>
      </p:sp>
      <p:sp>
        <p:nvSpPr>
          <p:cNvPr id="16" name="Caution"/>
          <p:cNvSpPr/>
          <p:nvPr/>
        </p:nvSpPr>
        <p:spPr>
          <a:xfrm>
            <a:off x="548640" y="4983480"/>
            <a:ext cx="5440680" cy="548640"/>
          </a:xfrm>
          <a:prstGeom prst="roundRect">
            <a:avLst>
              <a:gd name="adj" fmla="val 16666"/>
            </a:avLst>
          </a:prstGeom>
          <a:solidFill>
            <a:srgbClr val="F8E4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8288" bIns="18288">
            <a:noAutofit/>
          </a:bodyPr>
          <a:lstStyle/>
          <a:p>
            <a:pPr algn="l"/>
            <a:r>
              <a:rPr sz="1200" b="1" i="0">
                <a:solidFill>
                  <a:srgbClr val="C24E36"/>
                </a:solidFill>
                <a:latin typeface="Calibri"/>
              </a:rPr>
              <a:t>Careful: </a:t>
            </a:r>
            <a:r>
              <a:rPr sz="1200" b="0" i="0">
                <a:solidFill>
                  <a:srgbClr val="17272E"/>
                </a:solidFill>
                <a:latin typeface="Calibri"/>
              </a:rPr>
              <a:t>domain and range add types; they never reject data. To validate data, use SHACL (W3C, 2017).</a:t>
            </a:r>
          </a:p>
        </p:txBody>
      </p:sp>
      <p:sp>
        <p:nvSpPr>
          <p:cNvPr id="17" name="Code: Turtle"/>
          <p:cNvSpPr/>
          <p:nvPr/>
        </p:nvSpPr>
        <p:spPr>
          <a:xfrm>
            <a:off x="6355080" y="1600200"/>
            <a:ext cx="5287975" cy="2103120"/>
          </a:xfrm>
          <a:prstGeom prst="roundRect">
            <a:avLst>
              <a:gd name="adj" fmla="val 5217"/>
            </a:avLst>
          </a:prstGeom>
          <a:solidFill>
            <a:srgbClr val="1C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180015" y="1709928"/>
            <a:ext cx="1280160" cy="228600"/>
          </a:xfrm>
          <a:prstGeom prst="rect">
            <a:avLst/>
          </a:prstGeom>
          <a:noFill/>
        </p:spPr>
        <p:txBody>
          <a:bodyPr wrap="square" anchor="t" lIns="0" rIns="0" tIns="0" bIns="0">
            <a:noAutofit/>
          </a:bodyPr>
          <a:lstStyle/>
          <a:p>
            <a:pPr algn="r">
              <a:spcAft>
                <a:spcPts val="600"/>
              </a:spcAft>
            </a:pPr>
            <a:r>
              <a:rPr sz="1000" b="1" i="0">
                <a:solidFill>
                  <a:srgbClr val="869AA0"/>
                </a:solidFill>
                <a:latin typeface="Calibri"/>
              </a:rPr>
              <a:t>TURTLE</a:t>
            </a:r>
          </a:p>
        </p:txBody>
      </p:sp>
      <p:sp>
        <p:nvSpPr>
          <p:cNvPr id="19" name="TextBox 18"/>
          <p:cNvSpPr txBox="1"/>
          <p:nvPr/>
        </p:nvSpPr>
        <p:spPr>
          <a:xfrm>
            <a:off x="6583680" y="1801368"/>
            <a:ext cx="4830775" cy="1737360"/>
          </a:xfrm>
          <a:prstGeom prst="rect">
            <a:avLst/>
          </a:prstGeom>
          <a:noFill/>
        </p:spPr>
        <p:txBody>
          <a:bodyPr wrap="none" lIns="0" rIns="0" tIns="0" bIns="0">
            <a:noAutofit/>
          </a:bodyPr>
          <a:lstStyle/>
          <a:p>
            <a:pPr>
              <a:lnSpc>
                <a:spcPct val="105000"/>
              </a:lnSpc>
            </a:pPr>
            <a:r>
              <a:rPr sz="1200" b="1" i="0">
                <a:solidFill>
                  <a:srgbClr val="F2B866"/>
                </a:solidFill>
                <a:latin typeface="Consolas"/>
              </a:rPr>
              <a:t>@prefix</a:t>
            </a:r>
            <a:r>
              <a:rPr sz="1200" b="0" i="0">
                <a:solidFill>
                  <a:srgbClr val="E3EBEE"/>
                </a:solidFill>
                <a:latin typeface="Consolas"/>
              </a:rPr>
              <a:t> :     </a:t>
            </a:r>
            <a:r>
              <a:rPr sz="1200" b="0" i="0">
                <a:solidFill>
                  <a:srgbClr val="9AB0B8"/>
                </a:solidFill>
                <a:latin typeface="Consolas"/>
              </a:rPr>
              <a:t>&lt;http://studio.example/&gt;</a:t>
            </a:r>
            <a:r>
              <a:rPr sz="1200" b="0" i="0">
                <a:solidFill>
                  <a:srgbClr val="E3EBEE"/>
                </a:solidFill>
                <a:latin typeface="Consolas"/>
              </a:rPr>
              <a:t> .</a:t>
            </a:r>
          </a:p>
          <a:p>
            <a:pPr>
              <a:lnSpc>
                <a:spcPct val="105000"/>
              </a:lnSpc>
            </a:pPr>
            <a:r>
              <a:rPr sz="1200" b="1" i="0">
                <a:solidFill>
                  <a:srgbClr val="F2B866"/>
                </a:solidFill>
                <a:latin typeface="Consolas"/>
              </a:rPr>
              <a:t>@prefix</a:t>
            </a:r>
            <a:r>
              <a:rPr sz="1200" b="0" i="0">
                <a:solidFill>
                  <a:srgbClr val="E3EBEE"/>
                </a:solidFill>
                <a:latin typeface="Consolas"/>
              </a:rPr>
              <a:t> </a:t>
            </a:r>
            <a:r>
              <a:rPr sz="1200" b="0" i="0">
                <a:solidFill>
                  <a:srgbClr val="A8CFF0"/>
                </a:solidFill>
                <a:latin typeface="Consolas"/>
              </a:rPr>
              <a:t>rdfs:</a:t>
            </a:r>
            <a:r>
              <a:rPr sz="1200" b="0" i="0">
                <a:solidFill>
                  <a:srgbClr val="E3EBEE"/>
                </a:solidFill>
                <a:latin typeface="Consolas"/>
              </a:rPr>
              <a:t> </a:t>
            </a:r>
            <a:r>
              <a:rPr sz="1200" b="0" i="0">
                <a:solidFill>
                  <a:srgbClr val="9AB0B8"/>
                </a:solidFill>
                <a:latin typeface="Consolas"/>
              </a:rPr>
              <a:t>&lt;http://www.w3.org/2000/01/rdf-schema#&gt;</a:t>
            </a:r>
            <a:r>
              <a:rPr sz="1200" b="0" i="0">
                <a:solidFill>
                  <a:srgbClr val="E3EBEE"/>
                </a:solidFill>
                <a:latin typeface="Consolas"/>
              </a:rPr>
              <a:t> .</a:t>
            </a:r>
          </a:p>
          <a:p>
            <a:pPr>
              <a:lnSpc>
                <a:spcPct val="105000"/>
              </a:lnSpc>
            </a:pPr>
            <a:r>
              <a:rPr sz="1200" b="0" i="0">
                <a:solidFill>
                  <a:srgbClr val="A8CFF0"/>
                </a:solidFill>
                <a:latin typeface="Consolas"/>
              </a:rPr>
              <a:t>:Actor</a:t>
            </a:r>
            <a:r>
              <a:rPr sz="1200" b="0" i="0">
                <a:solidFill>
                  <a:srgbClr val="E3EBEE"/>
                </a:solidFill>
                <a:latin typeface="Consolas"/>
              </a:rPr>
              <a:t>    </a:t>
            </a:r>
            <a:r>
              <a:rPr sz="1200" b="0" i="0">
                <a:solidFill>
                  <a:srgbClr val="A8CFF0"/>
                </a:solidFill>
                <a:latin typeface="Consolas"/>
              </a:rPr>
              <a:t>rdfs:subClassOf</a:t>
            </a:r>
            <a:r>
              <a:rPr sz="1200" b="0" i="0">
                <a:solidFill>
                  <a:srgbClr val="E3EBEE"/>
                </a:solidFill>
                <a:latin typeface="Consolas"/>
              </a:rPr>
              <a:t> </a:t>
            </a:r>
            <a:r>
              <a:rPr sz="1200" b="0" i="0">
                <a:solidFill>
                  <a:srgbClr val="A8CFF0"/>
                </a:solidFill>
                <a:latin typeface="Consolas"/>
              </a:rPr>
              <a:t>:Person</a:t>
            </a:r>
            <a:r>
              <a:rPr sz="1200" b="0" i="0">
                <a:solidFill>
                  <a:srgbClr val="E3EBEE"/>
                </a:solidFill>
                <a:latin typeface="Consolas"/>
              </a:rPr>
              <a:t> .</a:t>
            </a:r>
          </a:p>
          <a:p>
            <a:pPr>
              <a:lnSpc>
                <a:spcPct val="105000"/>
              </a:lnSpc>
            </a:pPr>
            <a:r>
              <a:rPr sz="1200" b="0" i="0">
                <a:solidFill>
                  <a:srgbClr val="A8CFF0"/>
                </a:solidFill>
                <a:latin typeface="Consolas"/>
              </a:rPr>
              <a:t>:Director</a:t>
            </a:r>
            <a:r>
              <a:rPr sz="1200" b="0" i="0">
                <a:solidFill>
                  <a:srgbClr val="E3EBEE"/>
                </a:solidFill>
                <a:latin typeface="Consolas"/>
              </a:rPr>
              <a:t> </a:t>
            </a:r>
            <a:r>
              <a:rPr sz="1200" b="0" i="0">
                <a:solidFill>
                  <a:srgbClr val="A8CFF0"/>
                </a:solidFill>
                <a:latin typeface="Consolas"/>
              </a:rPr>
              <a:t>rdfs:subClassOf</a:t>
            </a:r>
            <a:r>
              <a:rPr sz="1200" b="0" i="0">
                <a:solidFill>
                  <a:srgbClr val="E3EBEE"/>
                </a:solidFill>
                <a:latin typeface="Consolas"/>
              </a:rPr>
              <a:t> </a:t>
            </a:r>
            <a:r>
              <a:rPr sz="1200" b="0" i="0">
                <a:solidFill>
                  <a:srgbClr val="A8CFF0"/>
                </a:solidFill>
                <a:latin typeface="Consolas"/>
              </a:rPr>
              <a:t>:Person</a:t>
            </a:r>
            <a:r>
              <a:rPr sz="1200" b="0" i="0">
                <a:solidFill>
                  <a:srgbClr val="E3EBEE"/>
                </a:solidFill>
                <a:latin typeface="Consolas"/>
              </a:rPr>
              <a:t> .</a:t>
            </a:r>
          </a:p>
          <a:p>
            <a:pPr>
              <a:lnSpc>
                <a:spcPct val="105000"/>
              </a:lnSpc>
            </a:pPr>
            <a:r>
              <a:rPr sz="1200" b="0" i="0">
                <a:solidFill>
                  <a:srgbClr val="A8CFF0"/>
                </a:solidFill>
                <a:latin typeface="Consolas"/>
              </a:rPr>
              <a:t>:movieTitle</a:t>
            </a:r>
            <a:r>
              <a:rPr sz="1200" b="0" i="0">
                <a:solidFill>
                  <a:srgbClr val="E3EBEE"/>
                </a:solidFill>
                <a:latin typeface="Consolas"/>
              </a:rPr>
              <a:t> </a:t>
            </a:r>
            <a:r>
              <a:rPr sz="1200" b="0" i="0">
                <a:solidFill>
                  <a:srgbClr val="A8CFF0"/>
                </a:solidFill>
                <a:latin typeface="Consolas"/>
              </a:rPr>
              <a:t>rdfs:subPropertyOf</a:t>
            </a:r>
            <a:r>
              <a:rPr sz="1200" b="0" i="0">
                <a:solidFill>
                  <a:srgbClr val="E3EBEE"/>
                </a:solidFill>
                <a:latin typeface="Consolas"/>
              </a:rPr>
              <a:t> </a:t>
            </a:r>
            <a:r>
              <a:rPr sz="1200" b="0" i="0">
                <a:solidFill>
                  <a:srgbClr val="A8CFF0"/>
                </a:solidFill>
                <a:latin typeface="Consolas"/>
              </a:rPr>
              <a:t>rdfs:label</a:t>
            </a:r>
            <a:r>
              <a:rPr sz="1200" b="0" i="0">
                <a:solidFill>
                  <a:srgbClr val="E3EBEE"/>
                </a:solidFill>
                <a:latin typeface="Consolas"/>
              </a:rPr>
              <a:t> .</a:t>
            </a:r>
          </a:p>
          <a:p>
            <a:pPr>
              <a:lnSpc>
                <a:spcPct val="105000"/>
              </a:lnSpc>
            </a:pPr>
            <a:r>
              <a:rPr sz="1200" b="0" i="0">
                <a:solidFill>
                  <a:srgbClr val="A8CFF0"/>
                </a:solidFill>
                <a:latin typeface="Consolas"/>
              </a:rPr>
              <a:t>:personName</a:t>
            </a:r>
            <a:r>
              <a:rPr sz="1200" b="0" i="0">
                <a:solidFill>
                  <a:srgbClr val="E3EBEE"/>
                </a:solidFill>
                <a:latin typeface="Consolas"/>
              </a:rPr>
              <a:t> </a:t>
            </a:r>
            <a:r>
              <a:rPr sz="1200" b="0" i="0">
                <a:solidFill>
                  <a:srgbClr val="A8CFF0"/>
                </a:solidFill>
                <a:latin typeface="Consolas"/>
              </a:rPr>
              <a:t>rdfs:subPropertyOf</a:t>
            </a:r>
            <a:r>
              <a:rPr sz="1200" b="0" i="0">
                <a:solidFill>
                  <a:srgbClr val="E3EBEE"/>
                </a:solidFill>
                <a:latin typeface="Consolas"/>
              </a:rPr>
              <a:t> </a:t>
            </a:r>
            <a:r>
              <a:rPr sz="1200" b="0" i="0">
                <a:solidFill>
                  <a:srgbClr val="A8CFF0"/>
                </a:solidFill>
                <a:latin typeface="Consolas"/>
              </a:rPr>
              <a:t>rdfs:label</a:t>
            </a:r>
            <a:r>
              <a:rPr sz="1200" b="0" i="0">
                <a:solidFill>
                  <a:srgbClr val="E3EBEE"/>
                </a:solidFill>
                <a:latin typeface="Consolas"/>
              </a:rPr>
              <a:t> .</a:t>
            </a:r>
          </a:p>
          <a:p>
            <a:pPr>
              <a:lnSpc>
                <a:spcPct val="105000"/>
              </a:lnSpc>
            </a:pPr>
            <a:r>
              <a:rPr sz="1200" b="0" i="0">
                <a:solidFill>
                  <a:srgbClr val="A8CFF0"/>
                </a:solidFill>
                <a:latin typeface="Consolas"/>
              </a:rPr>
              <a:t>:starring</a:t>
            </a:r>
            <a:r>
              <a:rPr sz="1200" b="0" i="0">
                <a:solidFill>
                  <a:srgbClr val="E3EBEE"/>
                </a:solidFill>
                <a:latin typeface="Consolas"/>
              </a:rPr>
              <a:t>   </a:t>
            </a:r>
            <a:r>
              <a:rPr sz="1200" b="0" i="0">
                <a:solidFill>
                  <a:srgbClr val="A8CFF0"/>
                </a:solidFill>
                <a:latin typeface="Consolas"/>
              </a:rPr>
              <a:t>rdfs:range</a:t>
            </a:r>
            <a:r>
              <a:rPr sz="1200" b="0" i="0">
                <a:solidFill>
                  <a:srgbClr val="E3EBEE"/>
                </a:solidFill>
                <a:latin typeface="Consolas"/>
              </a:rPr>
              <a:t>  </a:t>
            </a:r>
            <a:r>
              <a:rPr sz="1200" b="0" i="0">
                <a:solidFill>
                  <a:srgbClr val="A8CFF0"/>
                </a:solidFill>
                <a:latin typeface="Consolas"/>
              </a:rPr>
              <a:t>:Actor</a:t>
            </a:r>
            <a:r>
              <a:rPr sz="1200" b="0" i="0">
                <a:solidFill>
                  <a:srgbClr val="E3EBEE"/>
                </a:solidFill>
                <a:latin typeface="Consolas"/>
              </a:rPr>
              <a:t> .</a:t>
            </a:r>
          </a:p>
          <a:p>
            <a:pPr>
              <a:lnSpc>
                <a:spcPct val="105000"/>
              </a:lnSpc>
            </a:pPr>
            <a:r>
              <a:rPr sz="1200" b="0" i="0">
                <a:solidFill>
                  <a:srgbClr val="A8CFF0"/>
                </a:solidFill>
                <a:latin typeface="Consolas"/>
              </a:rPr>
              <a:t>:directedBy</a:t>
            </a:r>
            <a:r>
              <a:rPr sz="1200" b="0" i="0">
                <a:solidFill>
                  <a:srgbClr val="E3EBEE"/>
                </a:solidFill>
                <a:latin typeface="Consolas"/>
              </a:rPr>
              <a:t> </a:t>
            </a:r>
            <a:r>
              <a:rPr sz="1200" b="0" i="0">
                <a:solidFill>
                  <a:srgbClr val="A8CFF0"/>
                </a:solidFill>
                <a:latin typeface="Consolas"/>
              </a:rPr>
              <a:t>rdfs:domain</a:t>
            </a:r>
            <a:r>
              <a:rPr sz="1200" b="0" i="0">
                <a:solidFill>
                  <a:srgbClr val="E3EBEE"/>
                </a:solidFill>
                <a:latin typeface="Consolas"/>
              </a:rPr>
              <a:t> </a:t>
            </a:r>
            <a:r>
              <a:rPr sz="1200" b="0" i="0">
                <a:solidFill>
                  <a:srgbClr val="A8CFF0"/>
                </a:solidFill>
                <a:latin typeface="Consolas"/>
              </a:rPr>
              <a:t>:Movie</a:t>
            </a:r>
            <a:r>
              <a:rPr sz="1200" b="0" i="0">
                <a:solidFill>
                  <a:srgbClr val="E3EBEE"/>
                </a:solidFill>
                <a:latin typeface="Consolas"/>
              </a:rPr>
              <a:t> ;</a:t>
            </a:r>
          </a:p>
          <a:p>
            <a:pPr>
              <a:lnSpc>
                <a:spcPct val="105000"/>
              </a:lnSpc>
            </a:pPr>
            <a:r>
              <a:rPr sz="1200" b="0" i="0">
                <a:solidFill>
                  <a:srgbClr val="E3EBEE"/>
                </a:solidFill>
                <a:latin typeface="Consolas"/>
              </a:rPr>
              <a:t>            </a:t>
            </a:r>
            <a:r>
              <a:rPr sz="1200" b="0" i="0">
                <a:solidFill>
                  <a:srgbClr val="A8CFF0"/>
                </a:solidFill>
                <a:latin typeface="Consolas"/>
              </a:rPr>
              <a:t>rdfs:range</a:t>
            </a:r>
            <a:r>
              <a:rPr sz="1200" b="0" i="0">
                <a:solidFill>
                  <a:srgbClr val="E3EBEE"/>
                </a:solidFill>
                <a:latin typeface="Consolas"/>
              </a:rPr>
              <a:t>  </a:t>
            </a:r>
            <a:r>
              <a:rPr sz="1200" b="0" i="0">
                <a:solidFill>
                  <a:srgbClr val="A8CFF0"/>
                </a:solidFill>
                <a:latin typeface="Consolas"/>
              </a:rPr>
              <a:t>:Director</a:t>
            </a:r>
            <a:r>
              <a:rPr sz="1200" b="0" i="0">
                <a:solidFill>
                  <a:srgbClr val="E3EBEE"/>
                </a:solidFill>
                <a:latin typeface="Consolas"/>
              </a:rPr>
              <a:t> .</a:t>
            </a:r>
          </a:p>
        </p:txBody>
      </p:sp>
      <p:sp>
        <p:nvSpPr>
          <p:cNvPr id="20" name="TextBox 19"/>
          <p:cNvSpPr txBox="1"/>
          <p:nvPr/>
        </p:nvSpPr>
        <p:spPr>
          <a:xfrm>
            <a:off x="6355080" y="3813048"/>
            <a:ext cx="5287975" cy="274320"/>
          </a:xfrm>
          <a:prstGeom prst="rect">
            <a:avLst/>
          </a:prstGeom>
          <a:noFill/>
        </p:spPr>
        <p:txBody>
          <a:bodyPr wrap="square" anchor="t" lIns="0" rIns="0" tIns="0" bIns="0">
            <a:noAutofit/>
          </a:bodyPr>
          <a:lstStyle/>
          <a:p>
            <a:pPr algn="l">
              <a:spcAft>
                <a:spcPts val="600"/>
              </a:spcAft>
            </a:pPr>
            <a:r>
              <a:rPr sz="1300" b="1" i="0">
                <a:solidFill>
                  <a:srgbClr val="5B6B70"/>
                </a:solidFill>
                <a:latin typeface="Calibri"/>
              </a:rPr>
              <a:t>Inferred by an RDFS reasoner: 4 of 14 new type triples</a:t>
            </a:r>
          </a:p>
        </p:txBody>
      </p:sp>
      <p:graphicFrame>
        <p:nvGraphicFramePr>
          <p:cNvPr id="21" name="Table 20"/>
          <p:cNvGraphicFramePr>
            <a:graphicFrameLocks noGrp="1"/>
          </p:cNvGraphicFramePr>
          <p:nvPr/>
        </p:nvGraphicFramePr>
        <p:xfrm>
          <a:off x="6355080" y="4087368"/>
          <a:ext cx="5287975" cy="1371600"/>
        </p:xfrm>
        <a:graphic>
          <a:graphicData uri="http://schemas.openxmlformats.org/drawingml/2006/table">
            <a:tbl>
              <a:tblPr firstRow="0" bandRow="0">
                <a:tableStyleId>{5C22544A-7EE6-4342-B048-85BDC9FD1C3A}</a:tableStyleId>
              </a:tblPr>
              <a:tblGrid>
                <a:gridCol w="1828800"/>
                <a:gridCol w="1280160"/>
                <a:gridCol w="2179015"/>
              </a:tblGrid>
              <a:tr h="274320">
                <a:tc>
                  <a:txBody>
                    <a:bodyPr wrap="square"/>
                    <a:lstStyle/>
                    <a:p>
                      <a:r>
                        <a:rPr sz="1200" b="1" i="0">
                          <a:solidFill>
                            <a:srgbClr val="FFFFFF"/>
                          </a:solidFill>
                          <a:latin typeface="Calibri"/>
                        </a:rPr>
                        <a:t>subject</a:t>
                      </a:r>
                    </a:p>
                  </a:txBody>
                  <a:tcPr marL="91440" marR="91440" marT="27432" marB="27432" anchor="ctr">
                    <a:solidFill>
                      <a:srgbClr val="E0952B"/>
                    </a:solidFill>
                  </a:tcPr>
                </a:tc>
                <a:tc>
                  <a:txBody>
                    <a:bodyPr wrap="square"/>
                    <a:lstStyle/>
                    <a:p>
                      <a:r>
                        <a:rPr sz="1200" b="1" i="0">
                          <a:solidFill>
                            <a:srgbClr val="FFFFFF"/>
                          </a:solidFill>
                          <a:latin typeface="Calibri"/>
                        </a:rPr>
                        <a:t>predicate</a:t>
                      </a:r>
                    </a:p>
                  </a:txBody>
                  <a:tcPr marL="91440" marR="91440" marT="27432" marB="27432" anchor="ctr">
                    <a:solidFill>
                      <a:srgbClr val="E0952B"/>
                    </a:solidFill>
                  </a:tcPr>
                </a:tc>
                <a:tc>
                  <a:txBody>
                    <a:bodyPr wrap="square"/>
                    <a:lstStyle/>
                    <a:p>
                      <a:r>
                        <a:rPr sz="1200" b="1" i="0">
                          <a:solidFill>
                            <a:srgbClr val="FFFFFF"/>
                          </a:solidFill>
                          <a:latin typeface="Calibri"/>
                        </a:rPr>
                        <a:t>object</a:t>
                      </a:r>
                    </a:p>
                  </a:txBody>
                  <a:tcPr marL="91440" marR="91440" marT="27432" marB="27432" anchor="ctr">
                    <a:solidFill>
                      <a:srgbClr val="E0952B"/>
                    </a:solidFill>
                  </a:tcPr>
                </a:tc>
              </a:tr>
              <a:tr h="274320">
                <a:tc>
                  <a:txBody>
                    <a:bodyPr wrap="square"/>
                    <a:lstStyle/>
                    <a:p>
                      <a:r>
                        <a:rPr sz="1100" b="0" i="0">
                          <a:solidFill>
                            <a:srgbClr val="17272E"/>
                          </a:solidFill>
                          <a:latin typeface="Consolas"/>
                        </a:rPr>
                        <a:t>:JamesDean</a:t>
                      </a:r>
                    </a:p>
                  </a:txBody>
                  <a:tcPr marL="91440" marR="91440" marT="27432" marB="27432" anchor="ctr">
                    <a:solidFill>
                      <a:srgbClr val="FFFFFF"/>
                    </a:solidFill>
                  </a:tcPr>
                </a:tc>
                <a:tc>
                  <a:txBody>
                    <a:bodyPr wrap="square"/>
                    <a:lstStyle/>
                    <a:p>
                      <a:r>
                        <a:rPr sz="1100" b="0" i="0">
                          <a:solidFill>
                            <a:srgbClr val="17272E"/>
                          </a:solidFill>
                          <a:latin typeface="Consolas"/>
                        </a:rPr>
                        <a:t>rdf:type</a:t>
                      </a:r>
                    </a:p>
                  </a:txBody>
                  <a:tcPr marL="91440" marR="91440" marT="27432" marB="27432" anchor="ctr">
                    <a:solidFill>
                      <a:srgbClr val="FFFFFF"/>
                    </a:solidFill>
                  </a:tcPr>
                </a:tc>
                <a:tc>
                  <a:txBody>
                    <a:bodyPr wrap="square"/>
                    <a:lstStyle/>
                    <a:p>
                      <a:r>
                        <a:rPr sz="1100" b="0" i="0">
                          <a:solidFill>
                            <a:srgbClr val="17272E"/>
                          </a:solidFill>
                          <a:latin typeface="Consolas"/>
                        </a:rPr>
                        <a:t>:Actor</a:t>
                      </a:r>
                    </a:p>
                  </a:txBody>
                  <a:tcPr marL="91440" marR="91440" marT="27432" marB="27432" anchor="ctr">
                    <a:solidFill>
                      <a:srgbClr val="FFFFFF"/>
                    </a:solidFill>
                  </a:tcPr>
                </a:tc>
              </a:tr>
              <a:tr h="274320">
                <a:tc>
                  <a:txBody>
                    <a:bodyPr wrap="square"/>
                    <a:lstStyle/>
                    <a:p>
                      <a:r>
                        <a:rPr sz="1100" b="0" i="0">
                          <a:solidFill>
                            <a:srgbClr val="17272E"/>
                          </a:solidFill>
                          <a:latin typeface="Consolas"/>
                        </a:rPr>
                        <a:t>:JamesDean</a:t>
                      </a:r>
                    </a:p>
                  </a:txBody>
                  <a:tcPr marL="91440" marR="91440" marT="27432" marB="27432" anchor="ctr">
                    <a:solidFill>
                      <a:srgbClr val="EAF3F0"/>
                    </a:solidFill>
                  </a:tcPr>
                </a:tc>
                <a:tc>
                  <a:txBody>
                    <a:bodyPr wrap="square"/>
                    <a:lstStyle/>
                    <a:p>
                      <a:r>
                        <a:rPr sz="1100" b="0" i="0">
                          <a:solidFill>
                            <a:srgbClr val="17272E"/>
                          </a:solidFill>
                          <a:latin typeface="Consolas"/>
                        </a:rPr>
                        <a:t>rdf:type</a:t>
                      </a:r>
                    </a:p>
                  </a:txBody>
                  <a:tcPr marL="91440" marR="91440" marT="27432" marB="27432" anchor="ctr">
                    <a:solidFill>
                      <a:srgbClr val="EAF3F0"/>
                    </a:solidFill>
                  </a:tcPr>
                </a:tc>
                <a:tc>
                  <a:txBody>
                    <a:bodyPr wrap="square"/>
                    <a:lstStyle/>
                    <a:p>
                      <a:r>
                        <a:rPr sz="1100" b="0" i="0">
                          <a:solidFill>
                            <a:srgbClr val="17272E"/>
                          </a:solidFill>
                          <a:latin typeface="Consolas"/>
                        </a:rPr>
                        <a:t>:Person</a:t>
                      </a:r>
                    </a:p>
                  </a:txBody>
                  <a:tcPr marL="91440" marR="91440" marT="27432" marB="27432" anchor="ctr">
                    <a:solidFill>
                      <a:srgbClr val="EAF3F0"/>
                    </a:solidFill>
                  </a:tcPr>
                </a:tc>
              </a:tr>
              <a:tr h="274320">
                <a:tc>
                  <a:txBody>
                    <a:bodyPr wrap="square"/>
                    <a:lstStyle/>
                    <a:p>
                      <a:r>
                        <a:rPr sz="1100" b="0" i="0">
                          <a:solidFill>
                            <a:srgbClr val="17272E"/>
                          </a:solidFill>
                          <a:latin typeface="Consolas"/>
                        </a:rPr>
                        <a:t>:NicholasRay</a:t>
                      </a:r>
                    </a:p>
                  </a:txBody>
                  <a:tcPr marL="91440" marR="91440" marT="27432" marB="27432" anchor="ctr">
                    <a:solidFill>
                      <a:srgbClr val="FFFFFF"/>
                    </a:solidFill>
                  </a:tcPr>
                </a:tc>
                <a:tc>
                  <a:txBody>
                    <a:bodyPr wrap="square"/>
                    <a:lstStyle/>
                    <a:p>
                      <a:r>
                        <a:rPr sz="1100" b="0" i="0">
                          <a:solidFill>
                            <a:srgbClr val="17272E"/>
                          </a:solidFill>
                          <a:latin typeface="Consolas"/>
                        </a:rPr>
                        <a:t>rdf:type</a:t>
                      </a:r>
                    </a:p>
                  </a:txBody>
                  <a:tcPr marL="91440" marR="91440" marT="27432" marB="27432" anchor="ctr">
                    <a:solidFill>
                      <a:srgbClr val="FFFFFF"/>
                    </a:solidFill>
                  </a:tcPr>
                </a:tc>
                <a:tc>
                  <a:txBody>
                    <a:bodyPr wrap="square"/>
                    <a:lstStyle/>
                    <a:p>
                      <a:r>
                        <a:rPr sz="1100" b="0" i="0">
                          <a:solidFill>
                            <a:srgbClr val="17272E"/>
                          </a:solidFill>
                          <a:latin typeface="Consolas"/>
                        </a:rPr>
                        <a:t>:Director</a:t>
                      </a:r>
                    </a:p>
                  </a:txBody>
                  <a:tcPr marL="91440" marR="91440" marT="27432" marB="27432" anchor="ctr">
                    <a:solidFill>
                      <a:srgbClr val="FFFFFF"/>
                    </a:solidFill>
                  </a:tcPr>
                </a:tc>
              </a:tr>
              <a:tr h="274320">
                <a:tc>
                  <a:txBody>
                    <a:bodyPr wrap="square"/>
                    <a:lstStyle/>
                    <a:p>
                      <a:r>
                        <a:rPr sz="1100" b="0" i="0">
                          <a:solidFill>
                            <a:srgbClr val="17272E"/>
                          </a:solidFill>
                          <a:latin typeface="Consolas"/>
                        </a:rPr>
                        <a:t>:NicholasRay</a:t>
                      </a:r>
                    </a:p>
                  </a:txBody>
                  <a:tcPr marL="91440" marR="91440" marT="27432" marB="27432" anchor="ctr">
                    <a:solidFill>
                      <a:srgbClr val="EAF3F0"/>
                    </a:solidFill>
                  </a:tcPr>
                </a:tc>
                <a:tc>
                  <a:txBody>
                    <a:bodyPr wrap="square"/>
                    <a:lstStyle/>
                    <a:p>
                      <a:r>
                        <a:rPr sz="1100" b="0" i="0">
                          <a:solidFill>
                            <a:srgbClr val="17272E"/>
                          </a:solidFill>
                          <a:latin typeface="Consolas"/>
                        </a:rPr>
                        <a:t>rdf:type</a:t>
                      </a:r>
                    </a:p>
                  </a:txBody>
                  <a:tcPr marL="91440" marR="91440" marT="27432" marB="27432" anchor="ctr">
                    <a:solidFill>
                      <a:srgbClr val="EAF3F0"/>
                    </a:solidFill>
                  </a:tcPr>
                </a:tc>
                <a:tc>
                  <a:txBody>
                    <a:bodyPr wrap="square"/>
                    <a:lstStyle/>
                    <a:p>
                      <a:r>
                        <a:rPr sz="1100" b="0" i="0">
                          <a:solidFill>
                            <a:srgbClr val="17272E"/>
                          </a:solidFill>
                          <a:latin typeface="Consolas"/>
                        </a:rPr>
                        <a:t>:Person</a:t>
                      </a:r>
                    </a:p>
                  </a:txBody>
                  <a:tcPr marL="91440" marR="91440" marT="27432" marB="27432" anchor="ctr">
                    <a:solidFill>
                      <a:srgbClr val="EAF3F0"/>
                    </a:solidFill>
                  </a:tcPr>
                </a:tc>
              </a:tr>
            </a:tbl>
          </a:graphicData>
        </a:graphic>
      </p:graphicFrame>
      <p:sp>
        <p:nvSpPr>
          <p:cNvPr id="22" name="Adds"/>
          <p:cNvSpPr/>
          <p:nvPr/>
        </p:nvSpPr>
        <p:spPr>
          <a:xfrm>
            <a:off x="548640" y="5669280"/>
            <a:ext cx="5440680" cy="566928"/>
          </a:xfrm>
          <a:prstGeom prst="roundRect">
            <a:avLst>
              <a:gd name="adj" fmla="val 16129"/>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 bIns="18288">
            <a:noAutofit/>
          </a:bodyPr>
          <a:lstStyle/>
          <a:p>
            <a:pPr algn="l"/>
            <a:r>
              <a:rPr sz="1300" b="1" i="0">
                <a:solidFill>
                  <a:srgbClr val="155E54"/>
                </a:solidFill>
                <a:latin typeface="Calibri"/>
              </a:rPr>
              <a:t>Adds to the ontology: </a:t>
            </a:r>
            <a:r>
              <a:rPr sz="1300" b="0" i="0">
                <a:solidFill>
                  <a:srgbClr val="17272E"/>
                </a:solidFill>
                <a:latin typeface="Calibri"/>
              </a:rPr>
              <a:t>classes, properties and hierarchies: the schema.</a:t>
            </a:r>
          </a:p>
        </p:txBody>
      </p:sp>
      <p:sp>
        <p:nvSpPr>
          <p:cNvPr id="23" name="Missing"/>
          <p:cNvSpPr/>
          <p:nvPr/>
        </p:nvSpPr>
        <p:spPr>
          <a:xfrm>
            <a:off x="6172200" y="5669280"/>
            <a:ext cx="5470855" cy="566928"/>
          </a:xfrm>
          <a:prstGeom prst="roundRect">
            <a:avLst>
              <a:gd name="adj" fmla="val 16129"/>
            </a:avLst>
          </a:prstGeom>
          <a:solidFill>
            <a:srgbClr val="FCF1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 bIns="18288">
            <a:noAutofit/>
          </a:bodyPr>
          <a:lstStyle/>
          <a:p>
            <a:pPr algn="l"/>
            <a:r>
              <a:rPr sz="1300" b="1" i="0">
                <a:solidFill>
                  <a:srgbClr val="17272E"/>
                </a:solidFill>
                <a:latin typeface="Calibri"/>
              </a:rPr>
              <a:t>Still missing: </a:t>
            </a:r>
            <a:r>
              <a:rPr sz="1300" b="0" i="0">
                <a:solidFill>
                  <a:srgbClr val="17272E"/>
                </a:solidFill>
                <a:latin typeface="Calibri"/>
              </a:rPr>
              <a:t>no way to say two names mean the same thing. RDFS-Plus adds that.</a:t>
            </a:r>
          </a:p>
        </p:txBody>
      </p:sp>
      <p:sp>
        <p:nvSpPr>
          <p:cNvPr id="24"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25"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Sameness: when two names mean one thing</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BUILDING BLOCK 4 OF 8 · SAMENESS · RDFS-PLUS</a:t>
            </a:r>
          </a:p>
        </p:txBody>
      </p:sp>
      <p:sp>
        <p:nvSpPr>
          <p:cNvPr id="4" name="Rounded Rectangle 3"/>
          <p:cNvSpPr/>
          <p:nvPr/>
        </p:nvSpPr>
        <p:spPr>
          <a:xfrm>
            <a:off x="5031943"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URI</a:t>
            </a:r>
          </a:p>
        </p:txBody>
      </p:sp>
      <p:sp>
        <p:nvSpPr>
          <p:cNvPr id="5" name="Rounded Rectangle 4"/>
          <p:cNvSpPr/>
          <p:nvPr/>
        </p:nvSpPr>
        <p:spPr>
          <a:xfrm>
            <a:off x="5864047"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RDF</a:t>
            </a:r>
          </a:p>
        </p:txBody>
      </p:sp>
      <p:sp>
        <p:nvSpPr>
          <p:cNvPr id="6" name="Rounded Rectangle 5"/>
          <p:cNvSpPr/>
          <p:nvPr/>
        </p:nvSpPr>
        <p:spPr>
          <a:xfrm>
            <a:off x="6696151"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RDFS</a:t>
            </a:r>
          </a:p>
        </p:txBody>
      </p:sp>
      <p:sp>
        <p:nvSpPr>
          <p:cNvPr id="7" name="Rounded Rectangle 6"/>
          <p:cNvSpPr/>
          <p:nvPr/>
        </p:nvSpPr>
        <p:spPr>
          <a:xfrm>
            <a:off x="7528255" y="329184"/>
            <a:ext cx="786384" cy="246888"/>
          </a:xfrm>
          <a:prstGeom prst="roundRect">
            <a:avLst>
              <a:gd name="adj" fmla="val 50000"/>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7272E"/>
                </a:solidFill>
                <a:latin typeface="Calibri"/>
              </a:rPr>
              <a:t>RDFS-Plus</a:t>
            </a:r>
          </a:p>
        </p:txBody>
      </p:sp>
      <p:sp>
        <p:nvSpPr>
          <p:cNvPr id="8" name="Rounded Rectangle 7"/>
          <p:cNvSpPr/>
          <p:nvPr/>
        </p:nvSpPr>
        <p:spPr>
          <a:xfrm>
            <a:off x="8360359"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OWL</a:t>
            </a:r>
          </a:p>
        </p:txBody>
      </p:sp>
      <p:sp>
        <p:nvSpPr>
          <p:cNvPr id="9" name="Rounded Rectangle 8"/>
          <p:cNvSpPr/>
          <p:nvPr/>
        </p:nvSpPr>
        <p:spPr>
          <a:xfrm>
            <a:off x="9192463"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SKOS</a:t>
            </a:r>
          </a:p>
        </p:txBody>
      </p:sp>
      <p:sp>
        <p:nvSpPr>
          <p:cNvPr id="10" name="Rounded Rectangle 9"/>
          <p:cNvSpPr/>
          <p:nvPr/>
        </p:nvSpPr>
        <p:spPr>
          <a:xfrm>
            <a:off x="10024567"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Rules</a:t>
            </a:r>
          </a:p>
        </p:txBody>
      </p:sp>
      <p:sp>
        <p:nvSpPr>
          <p:cNvPr id="11" name="Rounded Rectangle 10"/>
          <p:cNvSpPr/>
          <p:nvPr/>
        </p:nvSpPr>
        <p:spPr>
          <a:xfrm>
            <a:off x="10856671"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SPARQL</a:t>
            </a:r>
          </a:p>
        </p:txBody>
      </p:sp>
      <p:sp>
        <p:nvSpPr>
          <p:cNvPr id="12" name="TextBox 11"/>
          <p:cNvSpPr txBox="1"/>
          <p:nvPr/>
        </p:nvSpPr>
        <p:spPr>
          <a:xfrm>
            <a:off x="548640" y="1572768"/>
            <a:ext cx="5440680"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WHAT IT IS</a:t>
            </a:r>
          </a:p>
        </p:txBody>
      </p:sp>
      <p:sp>
        <p:nvSpPr>
          <p:cNvPr id="13" name="TextBox 12"/>
          <p:cNvSpPr txBox="1"/>
          <p:nvPr/>
        </p:nvSpPr>
        <p:spPr>
          <a:xfrm>
            <a:off x="548640" y="1865376"/>
            <a:ext cx="5440680" cy="1078992"/>
          </a:xfrm>
          <a:prstGeom prst="rect">
            <a:avLst/>
          </a:prstGeom>
          <a:noFill/>
        </p:spPr>
        <p:txBody>
          <a:bodyPr wrap="square" anchor="t" lIns="0" rIns="0" tIns="0" bIns="0">
            <a:noAutofit/>
          </a:bodyPr>
          <a:lstStyle/>
          <a:p>
            <a:pPr algn="l">
              <a:spcAft>
                <a:spcPts val="600"/>
              </a:spcAft>
            </a:pPr>
            <a:r>
              <a:rPr sz="1400" b="0" i="0">
                <a:solidFill>
                  <a:srgbClr val="17272E"/>
                </a:solidFill>
                <a:latin typeface="Calibri"/>
              </a:rPr>
              <a:t>RDFS-Plus is not a separate W3C standard. It is the small, practical slice of OWL that Semantic Web for the Working Ontologist teaches first: terms for aligning sources and for describing how properties behave.</a:t>
            </a:r>
          </a:p>
        </p:txBody>
      </p:sp>
      <p:sp>
        <p:nvSpPr>
          <p:cNvPr id="14" name="TextBox 13"/>
          <p:cNvSpPr txBox="1"/>
          <p:nvPr/>
        </p:nvSpPr>
        <p:spPr>
          <a:xfrm>
            <a:off x="548640" y="2834640"/>
            <a:ext cx="5440680"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KEY TERMS</a:t>
            </a:r>
          </a:p>
        </p:txBody>
      </p:sp>
      <p:sp>
        <p:nvSpPr>
          <p:cNvPr id="15" name="TextBox 14"/>
          <p:cNvSpPr txBox="1"/>
          <p:nvPr/>
        </p:nvSpPr>
        <p:spPr>
          <a:xfrm>
            <a:off x="548640" y="3127248"/>
            <a:ext cx="5440680" cy="2450592"/>
          </a:xfrm>
          <a:prstGeom prst="rect">
            <a:avLst/>
          </a:prstGeom>
          <a:noFill/>
        </p:spPr>
        <p:txBody>
          <a:bodyPr wrap="square" anchor="t" lIns="0" rIns="0" tIns="0" bIns="0">
            <a:noAutofit/>
          </a:bodyPr>
          <a:lstStyle/>
          <a:p>
            <a:pPr algn="l" marL="228600" indent="-228600">
              <a:spcAft>
                <a:spcPts val="500"/>
              </a:spcAft>
              <a:buClr>
                <a:srgbClr val="1F7A6D"/>
              </a:buClr>
              <a:buFont typeface="Arial"/>
              <a:buChar char="•"/>
            </a:pPr>
            <a:r>
              <a:rPr sz="1200" b="1" i="0">
                <a:solidFill>
                  <a:srgbClr val="155E54"/>
                </a:solidFill>
                <a:latin typeface="Consolas"/>
              </a:rPr>
              <a:t>owl:equivalentClass</a:t>
            </a:r>
            <a:r>
              <a:rPr sz="1300" b="0" i="0">
                <a:solidFill>
                  <a:srgbClr val="17272E"/>
                </a:solidFill>
                <a:latin typeface="Calibri"/>
              </a:rPr>
              <a:t>  two vocabularies' classes mean the same: fan:Star = :Actor.</a:t>
            </a:r>
          </a:p>
          <a:p>
            <a:pPr algn="l" marL="228600" indent="-228600">
              <a:spcAft>
                <a:spcPts val="500"/>
              </a:spcAft>
              <a:buClr>
                <a:srgbClr val="1F7A6D"/>
              </a:buClr>
              <a:buFont typeface="Arial"/>
              <a:buChar char="•"/>
            </a:pPr>
            <a:r>
              <a:rPr sz="1200" b="1" i="0">
                <a:solidFill>
                  <a:srgbClr val="155E54"/>
                </a:solidFill>
                <a:latin typeface="Consolas"/>
              </a:rPr>
              <a:t>owl:equivalentProperty</a:t>
            </a:r>
            <a:r>
              <a:rPr sz="1300" b="0" i="0">
                <a:solidFill>
                  <a:srgbClr val="17272E"/>
                </a:solidFill>
                <a:latin typeface="Calibri"/>
              </a:rPr>
              <a:t>  the same for properties: fan:name = :personName.</a:t>
            </a:r>
          </a:p>
          <a:p>
            <a:pPr algn="l" marL="228600" indent="-228600">
              <a:spcAft>
                <a:spcPts val="500"/>
              </a:spcAft>
              <a:buClr>
                <a:srgbClr val="1F7A6D"/>
              </a:buClr>
              <a:buFont typeface="Arial"/>
              <a:buChar char="•"/>
            </a:pPr>
            <a:r>
              <a:rPr sz="1200" b="1" i="0">
                <a:solidFill>
                  <a:srgbClr val="155E54"/>
                </a:solidFill>
                <a:latin typeface="Consolas"/>
              </a:rPr>
              <a:t>owl:sameAs</a:t>
            </a:r>
            <a:r>
              <a:rPr sz="1300" b="0" i="0">
                <a:solidFill>
                  <a:srgbClr val="17272E"/>
                </a:solidFill>
                <a:latin typeface="Calibri"/>
              </a:rPr>
              <a:t>  two URIs name one individual.</a:t>
            </a:r>
          </a:p>
          <a:p>
            <a:pPr algn="l" marL="228600" indent="-228600">
              <a:spcAft>
                <a:spcPts val="500"/>
              </a:spcAft>
              <a:buClr>
                <a:srgbClr val="1F7A6D"/>
              </a:buClr>
              <a:buFont typeface="Arial"/>
              <a:buChar char="•"/>
            </a:pPr>
            <a:r>
              <a:rPr sz="1200" b="1" i="0">
                <a:solidFill>
                  <a:srgbClr val="155E54"/>
                </a:solidFill>
                <a:latin typeface="Consolas"/>
              </a:rPr>
              <a:t>owl:inverseOf</a:t>
            </a:r>
            <a:r>
              <a:rPr sz="1300" b="0" i="0">
                <a:solidFill>
                  <a:srgbClr val="17272E"/>
                </a:solidFill>
                <a:latin typeface="Calibri"/>
              </a:rPr>
              <a:t>  :starredIn is :starring read backwards.</a:t>
            </a:r>
          </a:p>
          <a:p>
            <a:pPr algn="l" marL="228600" indent="-228600">
              <a:spcAft>
                <a:spcPts val="500"/>
              </a:spcAft>
              <a:buClr>
                <a:srgbClr val="1F7A6D"/>
              </a:buClr>
              <a:buFont typeface="Arial"/>
              <a:buChar char="•"/>
            </a:pPr>
            <a:r>
              <a:rPr sz="1200" b="1" i="0">
                <a:solidFill>
                  <a:srgbClr val="155E54"/>
                </a:solidFill>
                <a:latin typeface="Consolas"/>
              </a:rPr>
              <a:t>owl:TransitiveProperty</a:t>
            </a:r>
            <a:r>
              <a:rPr sz="1300" b="0" i="0">
                <a:solidFill>
                  <a:srgbClr val="17272E"/>
                </a:solidFill>
                <a:latin typeface="Calibri"/>
              </a:rPr>
              <a:t>  chains through: part of a part is a part.</a:t>
            </a:r>
          </a:p>
          <a:p>
            <a:pPr algn="l" marL="228600" indent="-228600">
              <a:spcAft>
                <a:spcPts val="500"/>
              </a:spcAft>
              <a:buClr>
                <a:srgbClr val="1F7A6D"/>
              </a:buClr>
              <a:buFont typeface="Arial"/>
              <a:buChar char="•"/>
            </a:pPr>
            <a:r>
              <a:rPr sz="1200" b="1" i="0">
                <a:solidFill>
                  <a:srgbClr val="155E54"/>
                </a:solidFill>
                <a:latin typeface="Consolas"/>
              </a:rPr>
              <a:t>owl:InverseFunctionalProperty</a:t>
            </a:r>
            <a:r>
              <a:rPr sz="1300" b="0" i="0">
                <a:solidFill>
                  <a:srgbClr val="17272E"/>
                </a:solidFill>
                <a:latin typeface="Calibri"/>
              </a:rPr>
              <a:t>  a value identifies its subject, so sharing one implies sameAs.</a:t>
            </a:r>
          </a:p>
        </p:txBody>
      </p:sp>
      <p:sp>
        <p:nvSpPr>
          <p:cNvPr id="16" name="Code: Turtle"/>
          <p:cNvSpPr/>
          <p:nvPr/>
        </p:nvSpPr>
        <p:spPr>
          <a:xfrm>
            <a:off x="6355080" y="1600200"/>
            <a:ext cx="5287975" cy="1600200"/>
          </a:xfrm>
          <a:prstGeom prst="roundRect">
            <a:avLst>
              <a:gd name="adj" fmla="val 6857"/>
            </a:avLst>
          </a:prstGeom>
          <a:solidFill>
            <a:srgbClr val="1C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180015" y="1709928"/>
            <a:ext cx="1280160" cy="228600"/>
          </a:xfrm>
          <a:prstGeom prst="rect">
            <a:avLst/>
          </a:prstGeom>
          <a:noFill/>
        </p:spPr>
        <p:txBody>
          <a:bodyPr wrap="square" anchor="t" lIns="0" rIns="0" tIns="0" bIns="0">
            <a:noAutofit/>
          </a:bodyPr>
          <a:lstStyle/>
          <a:p>
            <a:pPr algn="r">
              <a:spcAft>
                <a:spcPts val="600"/>
              </a:spcAft>
            </a:pPr>
            <a:r>
              <a:rPr sz="1000" b="1" i="0">
                <a:solidFill>
                  <a:srgbClr val="869AA0"/>
                </a:solidFill>
                <a:latin typeface="Calibri"/>
              </a:rPr>
              <a:t>TURTLE</a:t>
            </a:r>
          </a:p>
        </p:txBody>
      </p:sp>
      <p:sp>
        <p:nvSpPr>
          <p:cNvPr id="18" name="TextBox 17"/>
          <p:cNvSpPr txBox="1"/>
          <p:nvPr/>
        </p:nvSpPr>
        <p:spPr>
          <a:xfrm>
            <a:off x="6583680" y="1801368"/>
            <a:ext cx="4830775" cy="1234440"/>
          </a:xfrm>
          <a:prstGeom prst="rect">
            <a:avLst/>
          </a:prstGeom>
          <a:noFill/>
        </p:spPr>
        <p:txBody>
          <a:bodyPr wrap="none" lIns="0" rIns="0" tIns="0" bIns="0">
            <a:noAutofit/>
          </a:bodyPr>
          <a:lstStyle/>
          <a:p>
            <a:pPr>
              <a:lnSpc>
                <a:spcPct val="105000"/>
              </a:lnSpc>
            </a:pPr>
            <a:r>
              <a:rPr sz="1100" b="1" i="0">
                <a:solidFill>
                  <a:srgbClr val="F2B866"/>
                </a:solidFill>
                <a:latin typeface="Consolas"/>
              </a:rPr>
              <a:t>@prefix</a:t>
            </a:r>
            <a:r>
              <a:rPr sz="1100" b="0" i="0">
                <a:solidFill>
                  <a:srgbClr val="E3EBEE"/>
                </a:solidFill>
                <a:latin typeface="Consolas"/>
              </a:rPr>
              <a:t> :    </a:t>
            </a:r>
            <a:r>
              <a:rPr sz="1100" b="0" i="0">
                <a:solidFill>
                  <a:srgbClr val="9AB0B8"/>
                </a:solidFill>
                <a:latin typeface="Consolas"/>
              </a:rPr>
              <a:t>&lt;http://studio.example/&gt;</a:t>
            </a:r>
            <a:r>
              <a:rPr sz="1100" b="0" i="0">
                <a:solidFill>
                  <a:srgbClr val="E3EBEE"/>
                </a:solidFill>
                <a:latin typeface="Consolas"/>
              </a:rPr>
              <a:t> .</a:t>
            </a:r>
          </a:p>
          <a:p>
            <a:pPr>
              <a:lnSpc>
                <a:spcPct val="105000"/>
              </a:lnSpc>
            </a:pPr>
            <a:r>
              <a:rPr sz="1100" b="1" i="0">
                <a:solidFill>
                  <a:srgbClr val="F2B866"/>
                </a:solidFill>
                <a:latin typeface="Consolas"/>
              </a:rPr>
              <a:t>@prefix</a:t>
            </a:r>
            <a:r>
              <a:rPr sz="1100" b="0" i="0">
                <a:solidFill>
                  <a:srgbClr val="E3EBEE"/>
                </a:solidFill>
                <a:latin typeface="Consolas"/>
              </a:rPr>
              <a:t> </a:t>
            </a:r>
            <a:r>
              <a:rPr sz="1100" b="0" i="0">
                <a:solidFill>
                  <a:srgbClr val="A8CFF0"/>
                </a:solidFill>
                <a:latin typeface="Consolas"/>
              </a:rPr>
              <a:t>fan:</a:t>
            </a:r>
            <a:r>
              <a:rPr sz="1100" b="0" i="0">
                <a:solidFill>
                  <a:srgbClr val="E3EBEE"/>
                </a:solidFill>
                <a:latin typeface="Consolas"/>
              </a:rPr>
              <a:t> </a:t>
            </a:r>
            <a:r>
              <a:rPr sz="1100" b="0" i="0">
                <a:solidFill>
                  <a:srgbClr val="9AB0B8"/>
                </a:solidFill>
                <a:latin typeface="Consolas"/>
              </a:rPr>
              <a:t>&lt;http://fanwiki.example/id/&gt;</a:t>
            </a:r>
            <a:r>
              <a:rPr sz="1100" b="0" i="0">
                <a:solidFill>
                  <a:srgbClr val="E3EBEE"/>
                </a:solidFill>
                <a:latin typeface="Consolas"/>
              </a:rPr>
              <a:t> .</a:t>
            </a:r>
          </a:p>
          <a:p>
            <a:pPr>
              <a:lnSpc>
                <a:spcPct val="105000"/>
              </a:lnSpc>
            </a:pPr>
            <a:r>
              <a:rPr sz="1100" b="1" i="0">
                <a:solidFill>
                  <a:srgbClr val="F2B866"/>
                </a:solidFill>
                <a:latin typeface="Consolas"/>
              </a:rPr>
              <a:t>@prefix</a:t>
            </a:r>
            <a:r>
              <a:rPr sz="1100" b="0" i="0">
                <a:solidFill>
                  <a:srgbClr val="E3EBEE"/>
                </a:solidFill>
                <a:latin typeface="Consolas"/>
              </a:rPr>
              <a:t> </a:t>
            </a:r>
            <a:r>
              <a:rPr sz="1100" b="0" i="0">
                <a:solidFill>
                  <a:srgbClr val="A8CFF0"/>
                </a:solidFill>
                <a:latin typeface="Consolas"/>
              </a:rPr>
              <a:t>owl:</a:t>
            </a:r>
            <a:r>
              <a:rPr sz="1100" b="0" i="0">
                <a:solidFill>
                  <a:srgbClr val="E3EBEE"/>
                </a:solidFill>
                <a:latin typeface="Consolas"/>
              </a:rPr>
              <a:t> </a:t>
            </a:r>
            <a:r>
              <a:rPr sz="1100" b="0" i="0">
                <a:solidFill>
                  <a:srgbClr val="9AB0B8"/>
                </a:solidFill>
                <a:latin typeface="Consolas"/>
              </a:rPr>
              <a:t>&lt;http://www.w3.org/2002/07/owl#&gt;</a:t>
            </a:r>
            <a:r>
              <a:rPr sz="1100" b="0" i="0">
                <a:solidFill>
                  <a:srgbClr val="E3EBEE"/>
                </a:solidFill>
                <a:latin typeface="Consolas"/>
              </a:rPr>
              <a:t> .</a:t>
            </a:r>
          </a:p>
          <a:p>
            <a:pPr>
              <a:lnSpc>
                <a:spcPct val="105000"/>
              </a:lnSpc>
            </a:pPr>
            <a:r>
              <a:rPr sz="1100" b="0" i="0">
                <a:solidFill>
                  <a:srgbClr val="A8CFF0"/>
                </a:solidFill>
                <a:latin typeface="Consolas"/>
              </a:rPr>
              <a:t>fan:Star</a:t>
            </a:r>
            <a:r>
              <a:rPr sz="1100" b="0" i="0">
                <a:solidFill>
                  <a:srgbClr val="E3EBEE"/>
                </a:solidFill>
                <a:latin typeface="Consolas"/>
              </a:rPr>
              <a:t>       </a:t>
            </a:r>
            <a:r>
              <a:rPr sz="1100" b="0" i="0">
                <a:solidFill>
                  <a:srgbClr val="A8CFF0"/>
                </a:solidFill>
                <a:latin typeface="Consolas"/>
              </a:rPr>
              <a:t>owl:equivalentClass</a:t>
            </a:r>
            <a:r>
              <a:rPr sz="1100" b="0" i="0">
                <a:solidFill>
                  <a:srgbClr val="E3EBEE"/>
                </a:solidFill>
                <a:latin typeface="Consolas"/>
              </a:rPr>
              <a:t>    </a:t>
            </a:r>
            <a:r>
              <a:rPr sz="1100" b="0" i="0">
                <a:solidFill>
                  <a:srgbClr val="A8CFF0"/>
                </a:solidFill>
                <a:latin typeface="Consolas"/>
              </a:rPr>
              <a:t>:Actor</a:t>
            </a:r>
            <a:r>
              <a:rPr sz="1100" b="0" i="0">
                <a:solidFill>
                  <a:srgbClr val="E3EBEE"/>
                </a:solidFill>
                <a:latin typeface="Consolas"/>
              </a:rPr>
              <a:t> .</a:t>
            </a:r>
          </a:p>
          <a:p>
            <a:pPr>
              <a:lnSpc>
                <a:spcPct val="105000"/>
              </a:lnSpc>
            </a:pPr>
            <a:r>
              <a:rPr sz="1100" b="0" i="0">
                <a:solidFill>
                  <a:srgbClr val="A8CFF0"/>
                </a:solidFill>
                <a:latin typeface="Consolas"/>
              </a:rPr>
              <a:t>fan:name</a:t>
            </a:r>
            <a:r>
              <a:rPr sz="1100" b="0" i="0">
                <a:solidFill>
                  <a:srgbClr val="E3EBEE"/>
                </a:solidFill>
                <a:latin typeface="Consolas"/>
              </a:rPr>
              <a:t>       </a:t>
            </a:r>
            <a:r>
              <a:rPr sz="1100" b="0" i="0">
                <a:solidFill>
                  <a:srgbClr val="A8CFF0"/>
                </a:solidFill>
                <a:latin typeface="Consolas"/>
              </a:rPr>
              <a:t>owl:equivalentProperty</a:t>
            </a:r>
            <a:r>
              <a:rPr sz="1100" b="0" i="0">
                <a:solidFill>
                  <a:srgbClr val="E3EBEE"/>
                </a:solidFill>
                <a:latin typeface="Consolas"/>
              </a:rPr>
              <a:t> </a:t>
            </a:r>
            <a:r>
              <a:rPr sz="1100" b="0" i="0">
                <a:solidFill>
                  <a:srgbClr val="A8CFF0"/>
                </a:solidFill>
                <a:latin typeface="Consolas"/>
              </a:rPr>
              <a:t>:personName</a:t>
            </a:r>
            <a:r>
              <a:rPr sz="1100" b="0" i="0">
                <a:solidFill>
                  <a:srgbClr val="E3EBEE"/>
                </a:solidFill>
                <a:latin typeface="Consolas"/>
              </a:rPr>
              <a:t> .</a:t>
            </a:r>
          </a:p>
          <a:p>
            <a:pPr>
              <a:lnSpc>
                <a:spcPct val="105000"/>
              </a:lnSpc>
            </a:pPr>
            <a:r>
              <a:rPr sz="1100" b="0" i="0">
                <a:solidFill>
                  <a:srgbClr val="A8CFF0"/>
                </a:solidFill>
                <a:latin typeface="Consolas"/>
              </a:rPr>
              <a:t>fan:registryId</a:t>
            </a:r>
            <a:r>
              <a:rPr sz="1100" b="0" i="0">
                <a:solidFill>
                  <a:srgbClr val="E3EBEE"/>
                </a:solidFill>
                <a:latin typeface="Consolas"/>
              </a:rPr>
              <a:t> </a:t>
            </a:r>
            <a:r>
              <a:rPr sz="1100" b="0" i="0">
                <a:solidFill>
                  <a:srgbClr val="A8CFF0"/>
                </a:solidFill>
                <a:latin typeface="Consolas"/>
              </a:rPr>
              <a:t>owl:equivalentProperty</a:t>
            </a:r>
            <a:r>
              <a:rPr sz="1100" b="0" i="0">
                <a:solidFill>
                  <a:srgbClr val="E3EBEE"/>
                </a:solidFill>
                <a:latin typeface="Consolas"/>
              </a:rPr>
              <a:t> </a:t>
            </a:r>
            <a:r>
              <a:rPr sz="1100" b="0" i="0">
                <a:solidFill>
                  <a:srgbClr val="A8CFF0"/>
                </a:solidFill>
                <a:latin typeface="Consolas"/>
              </a:rPr>
              <a:t>:registryId</a:t>
            </a:r>
            <a:r>
              <a:rPr sz="1100" b="0" i="0">
                <a:solidFill>
                  <a:srgbClr val="E3EBEE"/>
                </a:solidFill>
                <a:latin typeface="Consolas"/>
              </a:rPr>
              <a:t> .</a:t>
            </a:r>
          </a:p>
          <a:p>
            <a:pPr>
              <a:lnSpc>
                <a:spcPct val="105000"/>
              </a:lnSpc>
            </a:pPr>
            <a:r>
              <a:rPr sz="1100" b="0" i="0">
                <a:solidFill>
                  <a:srgbClr val="A8CFF0"/>
                </a:solidFill>
                <a:latin typeface="Consolas"/>
              </a:rPr>
              <a:t>:registryId</a:t>
            </a:r>
            <a:r>
              <a:rPr sz="1100" b="0" i="0">
                <a:solidFill>
                  <a:srgbClr val="E3EBEE"/>
                </a:solidFill>
                <a:latin typeface="Consolas"/>
              </a:rPr>
              <a:t> </a:t>
            </a:r>
            <a:r>
              <a:rPr sz="1100" b="1" i="0">
                <a:solidFill>
                  <a:srgbClr val="F2B866"/>
                </a:solidFill>
                <a:latin typeface="Consolas"/>
              </a:rPr>
              <a:t>a</a:t>
            </a:r>
            <a:r>
              <a:rPr sz="1100" b="0" i="0">
                <a:solidFill>
                  <a:srgbClr val="E3EBEE"/>
                </a:solidFill>
                <a:latin typeface="Consolas"/>
              </a:rPr>
              <a:t> </a:t>
            </a:r>
            <a:r>
              <a:rPr sz="1100" b="0" i="0">
                <a:solidFill>
                  <a:srgbClr val="A8CFF0"/>
                </a:solidFill>
                <a:latin typeface="Consolas"/>
              </a:rPr>
              <a:t>owl:InverseFunctionalProperty</a:t>
            </a:r>
            <a:r>
              <a:rPr sz="1100" b="0" i="0">
                <a:solidFill>
                  <a:srgbClr val="E3EBEE"/>
                </a:solidFill>
                <a:latin typeface="Consolas"/>
              </a:rPr>
              <a:t> .</a:t>
            </a:r>
          </a:p>
        </p:txBody>
      </p:sp>
      <p:cxnSp>
        <p:nvCxnSpPr>
          <p:cNvPr id="19" name="Edge: fan:registryId"/>
          <p:cNvCxnSpPr/>
          <p:nvPr/>
        </p:nvCxnSpPr>
        <p:spPr>
          <a:xfrm>
            <a:off x="7750955" y="3840480"/>
            <a:ext cx="858077" cy="50292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954697" y="3945635"/>
            <a:ext cx="1444752"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100" b="1" i="0">
                <a:solidFill>
                  <a:srgbClr val="1F7A6D"/>
                </a:solidFill>
                <a:latin typeface="Consolas"/>
              </a:rPr>
              <a:t>fan:registryId</a:t>
            </a:r>
          </a:p>
        </p:txBody>
      </p:sp>
      <p:cxnSp>
        <p:nvCxnSpPr>
          <p:cNvPr id="21" name="Edge: :registryId"/>
          <p:cNvCxnSpPr/>
          <p:nvPr/>
        </p:nvCxnSpPr>
        <p:spPr>
          <a:xfrm flipH="1">
            <a:off x="9421759" y="3840480"/>
            <a:ext cx="929923" cy="50292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751847" y="3945635"/>
            <a:ext cx="1184148"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100" b="1" i="0">
                <a:solidFill>
                  <a:srgbClr val="1F7A6D"/>
                </a:solidFill>
                <a:latin typeface="Consolas"/>
              </a:rPr>
              <a:t>:registryId</a:t>
            </a:r>
          </a:p>
        </p:txBody>
      </p:sp>
      <p:cxnSp>
        <p:nvCxnSpPr>
          <p:cNvPr id="23" name="Edge: owl:sameAs"/>
          <p:cNvCxnSpPr/>
          <p:nvPr/>
        </p:nvCxnSpPr>
        <p:spPr>
          <a:xfrm>
            <a:off x="8321040" y="3611880"/>
            <a:ext cx="1653235" cy="0"/>
          </a:xfrm>
          <a:prstGeom prst="line">
            <a:avLst/>
          </a:prstGeom>
          <a:ln w="25400">
            <a:solidFill>
              <a:srgbClr val="E0952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599017" y="3465576"/>
            <a:ext cx="1097280"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100" b="1" i="0">
                <a:solidFill>
                  <a:srgbClr val="E0952B"/>
                </a:solidFill>
                <a:latin typeface="Consolas"/>
              </a:rPr>
              <a:t>owl:sameAs</a:t>
            </a:r>
          </a:p>
        </p:txBody>
      </p:sp>
      <p:sp>
        <p:nvSpPr>
          <p:cNvPr id="25" name="Node: fan:Dean_James"/>
          <p:cNvSpPr/>
          <p:nvPr/>
        </p:nvSpPr>
        <p:spPr>
          <a:xfrm>
            <a:off x="6400800" y="3383280"/>
            <a:ext cx="192024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fan:Dean_James</a:t>
            </a:r>
          </a:p>
        </p:txBody>
      </p:sp>
      <p:sp>
        <p:nvSpPr>
          <p:cNvPr id="26" name="Node: :JamesDean"/>
          <p:cNvSpPr/>
          <p:nvPr/>
        </p:nvSpPr>
        <p:spPr>
          <a:xfrm>
            <a:off x="9974275" y="3383280"/>
            <a:ext cx="160020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:JamesDean</a:t>
            </a:r>
          </a:p>
        </p:txBody>
      </p:sp>
      <p:sp>
        <p:nvSpPr>
          <p:cNvPr id="27" name="Node: &quot;P-0015&quot;"/>
          <p:cNvSpPr/>
          <p:nvPr/>
        </p:nvSpPr>
        <p:spPr>
          <a:xfrm>
            <a:off x="8450427" y="4343400"/>
            <a:ext cx="1097280" cy="457200"/>
          </a:xfrm>
          <a:prstGeom prst="rect">
            <a:avLst/>
          </a:prstGeom>
          <a:solidFill>
            <a:srgbClr val="FFFFFF"/>
          </a:solidFill>
          <a:ln w="19050">
            <a:solidFill>
              <a:srgbClr val="1F7A6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0" i="0">
                <a:solidFill>
                  <a:srgbClr val="17272E"/>
                </a:solidFill>
                <a:latin typeface="Calibri"/>
              </a:rPr>
              <a:t>"P-0015"</a:t>
            </a:r>
          </a:p>
        </p:txBody>
      </p:sp>
      <p:sp>
        <p:nvSpPr>
          <p:cNvPr id="28" name="TextBox 27"/>
          <p:cNvSpPr txBox="1"/>
          <p:nvPr/>
        </p:nvSpPr>
        <p:spPr>
          <a:xfrm>
            <a:off x="6355080" y="4983480"/>
            <a:ext cx="5287975" cy="594360"/>
          </a:xfrm>
          <a:prstGeom prst="rect">
            <a:avLst/>
          </a:prstGeom>
          <a:noFill/>
        </p:spPr>
        <p:txBody>
          <a:bodyPr wrap="square" anchor="t" lIns="0" rIns="0" tIns="0" bIns="0">
            <a:noAutofit/>
          </a:bodyPr>
          <a:lstStyle/>
          <a:p>
            <a:pPr algn="l">
              <a:spcAft>
                <a:spcPts val="200"/>
              </a:spcAft>
            </a:pPr>
            <a:r>
              <a:rPr sz="1300" b="1" i="0">
                <a:solidFill>
                  <a:srgbClr val="17272E"/>
                </a:solidFill>
                <a:latin typeface="Calibri"/>
              </a:rPr>
              <a:t>“Where was the star of Giant born?”</a:t>
            </a:r>
          </a:p>
          <a:p>
            <a:pPr algn="l">
              <a:spcAft>
                <a:spcPts val="200"/>
              </a:spcAft>
            </a:pPr>
            <a:r>
              <a:rPr sz="1300" b="1" i="0">
                <a:solidFill>
                  <a:srgbClr val="C24E36"/>
                </a:solidFill>
                <a:latin typeface="Calibri"/>
              </a:rPr>
              <a:t>0 rows before alignment  →  </a:t>
            </a:r>
            <a:r>
              <a:rPr sz="1300" b="1" i="0">
                <a:solidFill>
                  <a:srgbClr val="E0952B"/>
                </a:solidFill>
                <a:latin typeface="Calibri"/>
              </a:rPr>
              <a:t>“Marion, Indiana” after inference</a:t>
            </a:r>
          </a:p>
        </p:txBody>
      </p:sp>
      <p:sp>
        <p:nvSpPr>
          <p:cNvPr id="29" name="Adds"/>
          <p:cNvSpPr/>
          <p:nvPr/>
        </p:nvSpPr>
        <p:spPr>
          <a:xfrm>
            <a:off x="548640" y="5669280"/>
            <a:ext cx="5440680" cy="566928"/>
          </a:xfrm>
          <a:prstGeom prst="roundRect">
            <a:avLst>
              <a:gd name="adj" fmla="val 16129"/>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 bIns="18288">
            <a:noAutofit/>
          </a:bodyPr>
          <a:lstStyle/>
          <a:p>
            <a:pPr algn="l"/>
            <a:r>
              <a:rPr sz="1300" b="1" i="0">
                <a:solidFill>
                  <a:srgbClr val="155E54"/>
                </a:solidFill>
                <a:latin typeface="Calibri"/>
              </a:rPr>
              <a:t>Adds to the ontology: </a:t>
            </a:r>
            <a:r>
              <a:rPr sz="1300" b="0" i="0">
                <a:solidFill>
                  <a:srgbClr val="17272E"/>
                </a:solidFill>
                <a:latin typeface="Calibri"/>
              </a:rPr>
              <a:t>links between vocabularies and between identities.</a:t>
            </a:r>
          </a:p>
        </p:txBody>
      </p:sp>
      <p:sp>
        <p:nvSpPr>
          <p:cNvPr id="30" name="Missing"/>
          <p:cNvSpPr/>
          <p:nvPr/>
        </p:nvSpPr>
        <p:spPr>
          <a:xfrm>
            <a:off x="6172200" y="5669280"/>
            <a:ext cx="5470855" cy="566928"/>
          </a:xfrm>
          <a:prstGeom prst="roundRect">
            <a:avLst>
              <a:gd name="adj" fmla="val 16129"/>
            </a:avLst>
          </a:prstGeom>
          <a:solidFill>
            <a:srgbClr val="FCF1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 bIns="18288">
            <a:noAutofit/>
          </a:bodyPr>
          <a:lstStyle/>
          <a:p>
            <a:pPr algn="l"/>
            <a:r>
              <a:rPr sz="1300" b="1" i="0">
                <a:solidFill>
                  <a:srgbClr val="17272E"/>
                </a:solidFill>
                <a:latin typeface="Calibri"/>
              </a:rPr>
              <a:t>Still missing: </a:t>
            </a:r>
            <a:r>
              <a:rPr sz="1300" b="0" i="0">
                <a:solidFill>
                  <a:srgbClr val="17272E"/>
                </a:solidFill>
                <a:latin typeface="Calibri"/>
              </a:rPr>
              <a:t>can't define a class by conditions on its members. OWL can.</a:t>
            </a:r>
          </a:p>
        </p:txBody>
      </p:sp>
      <p:sp>
        <p:nvSpPr>
          <p:cNvPr id="31"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32"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Definitions: classes from conditions</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BUILDING BLOCK 5 OF 8 · DEFINITIONS · OWL</a:t>
            </a:r>
          </a:p>
        </p:txBody>
      </p:sp>
      <p:sp>
        <p:nvSpPr>
          <p:cNvPr id="4" name="Rounded Rectangle 3"/>
          <p:cNvSpPr/>
          <p:nvPr/>
        </p:nvSpPr>
        <p:spPr>
          <a:xfrm>
            <a:off x="5031943"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URI</a:t>
            </a:r>
          </a:p>
        </p:txBody>
      </p:sp>
      <p:sp>
        <p:nvSpPr>
          <p:cNvPr id="5" name="Rounded Rectangle 4"/>
          <p:cNvSpPr/>
          <p:nvPr/>
        </p:nvSpPr>
        <p:spPr>
          <a:xfrm>
            <a:off x="5864047"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RDF</a:t>
            </a:r>
          </a:p>
        </p:txBody>
      </p:sp>
      <p:sp>
        <p:nvSpPr>
          <p:cNvPr id="6" name="Rounded Rectangle 5"/>
          <p:cNvSpPr/>
          <p:nvPr/>
        </p:nvSpPr>
        <p:spPr>
          <a:xfrm>
            <a:off x="6696151"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RDFS</a:t>
            </a:r>
          </a:p>
        </p:txBody>
      </p:sp>
      <p:sp>
        <p:nvSpPr>
          <p:cNvPr id="7" name="Rounded Rectangle 6"/>
          <p:cNvSpPr/>
          <p:nvPr/>
        </p:nvSpPr>
        <p:spPr>
          <a:xfrm>
            <a:off x="7528255"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RDFS-Plus</a:t>
            </a:r>
          </a:p>
        </p:txBody>
      </p:sp>
      <p:sp>
        <p:nvSpPr>
          <p:cNvPr id="8" name="Rounded Rectangle 7"/>
          <p:cNvSpPr/>
          <p:nvPr/>
        </p:nvSpPr>
        <p:spPr>
          <a:xfrm>
            <a:off x="8360359" y="329184"/>
            <a:ext cx="786384" cy="246888"/>
          </a:xfrm>
          <a:prstGeom prst="roundRect">
            <a:avLst>
              <a:gd name="adj" fmla="val 50000"/>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7272E"/>
                </a:solidFill>
                <a:latin typeface="Calibri"/>
              </a:rPr>
              <a:t>OWL</a:t>
            </a:r>
          </a:p>
        </p:txBody>
      </p:sp>
      <p:sp>
        <p:nvSpPr>
          <p:cNvPr id="9" name="Rounded Rectangle 8"/>
          <p:cNvSpPr/>
          <p:nvPr/>
        </p:nvSpPr>
        <p:spPr>
          <a:xfrm>
            <a:off x="9192463"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SKOS</a:t>
            </a:r>
          </a:p>
        </p:txBody>
      </p:sp>
      <p:sp>
        <p:nvSpPr>
          <p:cNvPr id="10" name="Rounded Rectangle 9"/>
          <p:cNvSpPr/>
          <p:nvPr/>
        </p:nvSpPr>
        <p:spPr>
          <a:xfrm>
            <a:off x="10024567"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Rules</a:t>
            </a:r>
          </a:p>
        </p:txBody>
      </p:sp>
      <p:sp>
        <p:nvSpPr>
          <p:cNvPr id="11" name="Rounded Rectangle 10"/>
          <p:cNvSpPr/>
          <p:nvPr/>
        </p:nvSpPr>
        <p:spPr>
          <a:xfrm>
            <a:off x="10856671"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SPARQL</a:t>
            </a:r>
          </a:p>
        </p:txBody>
      </p:sp>
      <p:sp>
        <p:nvSpPr>
          <p:cNvPr id="12" name="TextBox 11"/>
          <p:cNvSpPr txBox="1"/>
          <p:nvPr/>
        </p:nvSpPr>
        <p:spPr>
          <a:xfrm>
            <a:off x="548640" y="1572768"/>
            <a:ext cx="5440680"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WHAT IT IS</a:t>
            </a:r>
          </a:p>
        </p:txBody>
      </p:sp>
      <p:sp>
        <p:nvSpPr>
          <p:cNvPr id="13" name="TextBox 12"/>
          <p:cNvSpPr txBox="1"/>
          <p:nvPr/>
        </p:nvSpPr>
        <p:spPr>
          <a:xfrm>
            <a:off x="548640" y="1865376"/>
            <a:ext cx="5440680" cy="1170432"/>
          </a:xfrm>
          <a:prstGeom prst="rect">
            <a:avLst/>
          </a:prstGeom>
          <a:noFill/>
        </p:spPr>
        <p:txBody>
          <a:bodyPr wrap="square" anchor="t" lIns="0" rIns="0" tIns="0" bIns="0">
            <a:noAutofit/>
          </a:bodyPr>
          <a:lstStyle/>
          <a:p>
            <a:pPr algn="l">
              <a:spcAft>
                <a:spcPts val="600"/>
              </a:spcAft>
            </a:pPr>
            <a:r>
              <a:rPr sz="1400" b="0" i="0">
                <a:solidFill>
                  <a:srgbClr val="17272E"/>
                </a:solidFill>
                <a:latin typeface="Calibri"/>
              </a:rPr>
              <a:t>OWL, the Web Ontology Language (OWL 2 since 2009), is the most expressive layer. Its axioms define a class by the values its members have, combine classes like sets, and count values. A reasoner then sorts individuals into classes and finds contradictions.</a:t>
            </a:r>
          </a:p>
        </p:txBody>
      </p:sp>
      <p:sp>
        <p:nvSpPr>
          <p:cNvPr id="14" name="TextBox 13"/>
          <p:cNvSpPr txBox="1"/>
          <p:nvPr/>
        </p:nvSpPr>
        <p:spPr>
          <a:xfrm>
            <a:off x="548640" y="3017520"/>
            <a:ext cx="5440680"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KEY TERMS</a:t>
            </a:r>
          </a:p>
        </p:txBody>
      </p:sp>
      <p:sp>
        <p:nvSpPr>
          <p:cNvPr id="15" name="TextBox 14"/>
          <p:cNvSpPr txBox="1"/>
          <p:nvPr/>
        </p:nvSpPr>
        <p:spPr>
          <a:xfrm>
            <a:off x="548640" y="3310127"/>
            <a:ext cx="5440680" cy="2313432"/>
          </a:xfrm>
          <a:prstGeom prst="rect">
            <a:avLst/>
          </a:prstGeom>
          <a:noFill/>
        </p:spPr>
        <p:txBody>
          <a:bodyPr wrap="square" anchor="t" lIns="0" rIns="0" tIns="0" bIns="0">
            <a:noAutofit/>
          </a:bodyPr>
          <a:lstStyle/>
          <a:p>
            <a:pPr algn="l" marL="228600" indent="-228600">
              <a:spcAft>
                <a:spcPts val="500"/>
              </a:spcAft>
              <a:buClr>
                <a:srgbClr val="1F7A6D"/>
              </a:buClr>
              <a:buFont typeface="Arial"/>
              <a:buChar char="•"/>
            </a:pPr>
            <a:r>
              <a:rPr sz="1200" b="1" i="0">
                <a:solidFill>
                  <a:srgbClr val="155E54"/>
                </a:solidFill>
                <a:latin typeface="Consolas"/>
              </a:rPr>
              <a:t>owl:Restriction</a:t>
            </a:r>
            <a:r>
              <a:rPr sz="1300" b="0" i="0">
                <a:solidFill>
                  <a:srgbClr val="17272E"/>
                </a:solidFill>
                <a:latin typeface="Calibri"/>
              </a:rPr>
              <a:t>  a class defined by a condition: hasValue, someValuesFrom, allValuesFrom.</a:t>
            </a:r>
          </a:p>
          <a:p>
            <a:pPr algn="l" marL="228600" indent="-228600">
              <a:spcAft>
                <a:spcPts val="500"/>
              </a:spcAft>
              <a:buClr>
                <a:srgbClr val="1F7A6D"/>
              </a:buClr>
              <a:buFont typeface="Arial"/>
              <a:buChar char="•"/>
            </a:pPr>
            <a:r>
              <a:rPr sz="1200" b="1" i="0">
                <a:solidFill>
                  <a:srgbClr val="155E54"/>
                </a:solidFill>
                <a:latin typeface="Consolas"/>
              </a:rPr>
              <a:t>owl:unionOf</a:t>
            </a:r>
            <a:r>
              <a:rPr sz="1300" b="0" i="0">
                <a:solidFill>
                  <a:srgbClr val="17272E"/>
                </a:solidFill>
                <a:latin typeface="Calibri"/>
              </a:rPr>
              <a:t>  and intersectionOf, complementOf, disjointWith: classes as sets.</a:t>
            </a:r>
          </a:p>
          <a:p>
            <a:pPr algn="l" marL="228600" indent="-228600">
              <a:spcAft>
                <a:spcPts val="500"/>
              </a:spcAft>
              <a:buClr>
                <a:srgbClr val="1F7A6D"/>
              </a:buClr>
              <a:buFont typeface="Arial"/>
              <a:buChar char="•"/>
            </a:pPr>
            <a:r>
              <a:rPr sz="1200" b="1" i="0">
                <a:solidFill>
                  <a:srgbClr val="155E54"/>
                </a:solidFill>
                <a:latin typeface="Consolas"/>
              </a:rPr>
              <a:t>owl:maxCardinality</a:t>
            </a:r>
            <a:r>
              <a:rPr sz="1300" b="0" i="0">
                <a:solidFill>
                  <a:srgbClr val="17272E"/>
                </a:solidFill>
                <a:latin typeface="Calibri"/>
              </a:rPr>
              <a:t>  and min, exact: count values. A movie has at most one director.</a:t>
            </a:r>
          </a:p>
          <a:p>
            <a:pPr algn="l" marL="228600" indent="-228600">
              <a:spcAft>
                <a:spcPts val="500"/>
              </a:spcAft>
              <a:buClr>
                <a:srgbClr val="1F7A6D"/>
              </a:buClr>
              <a:buFont typeface="Arial"/>
              <a:buChar char="•"/>
            </a:pPr>
            <a:r>
              <a:rPr sz="1200" b="1" i="0">
                <a:solidFill>
                  <a:srgbClr val="155E54"/>
                </a:solidFill>
                <a:latin typeface="Consolas"/>
              </a:rPr>
              <a:t>owl:propertyChainAxiom</a:t>
            </a:r>
            <a:r>
              <a:rPr sz="1300" b="0" i="0">
                <a:solidFill>
                  <a:srgbClr val="17272E"/>
                </a:solidFill>
                <a:latin typeface="Calibri"/>
              </a:rPr>
              <a:t>  OWL 2: derive a property from a path of others; hasKey for ids.</a:t>
            </a:r>
          </a:p>
          <a:p>
            <a:pPr algn="l" marL="228600" indent="-228600">
              <a:spcAft>
                <a:spcPts val="500"/>
              </a:spcAft>
              <a:buClr>
                <a:srgbClr val="1F7A6D"/>
              </a:buClr>
              <a:buFont typeface="Arial"/>
              <a:buChar char="•"/>
            </a:pPr>
            <a:r>
              <a:rPr sz="1200" b="1" i="0">
                <a:solidFill>
                  <a:srgbClr val="155E54"/>
                </a:solidFill>
                <a:latin typeface="Consolas"/>
              </a:rPr>
              <a:t>Profiles</a:t>
            </a:r>
            <a:r>
              <a:rPr sz="1300" b="0" i="0">
                <a:solidFill>
                  <a:srgbClr val="17272E"/>
                </a:solidFill>
                <a:latin typeface="Calibri"/>
              </a:rPr>
              <a:t>  DL, EL, QL, RL: subsets trading expressivity for guaranteed or fast reasoning.</a:t>
            </a:r>
          </a:p>
        </p:txBody>
      </p:sp>
      <p:sp>
        <p:nvSpPr>
          <p:cNvPr id="16" name="Code: Turtle"/>
          <p:cNvSpPr/>
          <p:nvPr/>
        </p:nvSpPr>
        <p:spPr>
          <a:xfrm>
            <a:off x="6355080" y="1600200"/>
            <a:ext cx="5287975" cy="1371600"/>
          </a:xfrm>
          <a:prstGeom prst="roundRect">
            <a:avLst>
              <a:gd name="adj" fmla="val 8000"/>
            </a:avLst>
          </a:prstGeom>
          <a:solidFill>
            <a:srgbClr val="1C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180015" y="1709928"/>
            <a:ext cx="1280160" cy="228600"/>
          </a:xfrm>
          <a:prstGeom prst="rect">
            <a:avLst/>
          </a:prstGeom>
          <a:noFill/>
        </p:spPr>
        <p:txBody>
          <a:bodyPr wrap="square" anchor="t" lIns="0" rIns="0" tIns="0" bIns="0">
            <a:noAutofit/>
          </a:bodyPr>
          <a:lstStyle/>
          <a:p>
            <a:pPr algn="r">
              <a:spcAft>
                <a:spcPts val="600"/>
              </a:spcAft>
            </a:pPr>
            <a:r>
              <a:rPr sz="1000" b="1" i="0">
                <a:solidFill>
                  <a:srgbClr val="869AA0"/>
                </a:solidFill>
                <a:latin typeface="Calibri"/>
              </a:rPr>
              <a:t>TURTLE</a:t>
            </a:r>
          </a:p>
        </p:txBody>
      </p:sp>
      <p:sp>
        <p:nvSpPr>
          <p:cNvPr id="18" name="TextBox 17"/>
          <p:cNvSpPr txBox="1"/>
          <p:nvPr/>
        </p:nvSpPr>
        <p:spPr>
          <a:xfrm>
            <a:off x="6583680" y="1801368"/>
            <a:ext cx="4830775" cy="1005840"/>
          </a:xfrm>
          <a:prstGeom prst="rect">
            <a:avLst/>
          </a:prstGeom>
          <a:noFill/>
        </p:spPr>
        <p:txBody>
          <a:bodyPr wrap="none" lIns="0" rIns="0" tIns="0" bIns="0">
            <a:noAutofit/>
          </a:bodyPr>
          <a:lstStyle/>
          <a:p>
            <a:pPr>
              <a:lnSpc>
                <a:spcPct val="105000"/>
              </a:lnSpc>
            </a:pPr>
            <a:r>
              <a:rPr sz="1200" b="0" i="0">
                <a:solidFill>
                  <a:srgbClr val="A8CFF0"/>
                </a:solidFill>
                <a:latin typeface="Consolas"/>
              </a:rPr>
              <a:t>:JamesDeanMovie</a:t>
            </a:r>
            <a:r>
              <a:rPr sz="1200" b="0" i="0">
                <a:solidFill>
                  <a:srgbClr val="E3EBEE"/>
                </a:solidFill>
                <a:latin typeface="Consolas"/>
              </a:rPr>
              <a:t> </a:t>
            </a:r>
            <a:r>
              <a:rPr sz="1200" b="0" i="0">
                <a:solidFill>
                  <a:srgbClr val="A8CFF0"/>
                </a:solidFill>
                <a:latin typeface="Consolas"/>
              </a:rPr>
              <a:t>owl:equivalentClass</a:t>
            </a:r>
            <a:r>
              <a:rPr sz="1200" b="0" i="0">
                <a:solidFill>
                  <a:srgbClr val="E3EBEE"/>
                </a:solidFill>
                <a:latin typeface="Consolas"/>
              </a:rPr>
              <a:t> [</a:t>
            </a:r>
          </a:p>
          <a:p>
            <a:pPr>
              <a:lnSpc>
                <a:spcPct val="105000"/>
              </a:lnSpc>
            </a:pPr>
            <a:r>
              <a:rPr sz="1200" b="0" i="0">
                <a:solidFill>
                  <a:srgbClr val="E3EBEE"/>
                </a:solidFill>
                <a:latin typeface="Consolas"/>
              </a:rPr>
              <a:t>    </a:t>
            </a:r>
            <a:r>
              <a:rPr sz="1200" b="1" i="0">
                <a:solidFill>
                  <a:srgbClr val="F2B866"/>
                </a:solidFill>
                <a:latin typeface="Consolas"/>
              </a:rPr>
              <a:t>a</a:t>
            </a:r>
            <a:r>
              <a:rPr sz="1200" b="0" i="0">
                <a:solidFill>
                  <a:srgbClr val="E3EBEE"/>
                </a:solidFill>
                <a:latin typeface="Consolas"/>
              </a:rPr>
              <a:t> </a:t>
            </a:r>
            <a:r>
              <a:rPr sz="1200" b="0" i="0">
                <a:solidFill>
                  <a:srgbClr val="A8CFF0"/>
                </a:solidFill>
                <a:latin typeface="Consolas"/>
              </a:rPr>
              <a:t>owl:Restriction</a:t>
            </a:r>
            <a:r>
              <a:rPr sz="1200" b="0" i="0">
                <a:solidFill>
                  <a:srgbClr val="E3EBEE"/>
                </a:solidFill>
                <a:latin typeface="Consolas"/>
              </a:rPr>
              <a:t> ;</a:t>
            </a:r>
          </a:p>
          <a:p>
            <a:pPr>
              <a:lnSpc>
                <a:spcPct val="105000"/>
              </a:lnSpc>
            </a:pPr>
            <a:r>
              <a:rPr sz="1200" b="0" i="0">
                <a:solidFill>
                  <a:srgbClr val="E3EBEE"/>
                </a:solidFill>
                <a:latin typeface="Consolas"/>
              </a:rPr>
              <a:t>    </a:t>
            </a:r>
            <a:r>
              <a:rPr sz="1200" b="0" i="0">
                <a:solidFill>
                  <a:srgbClr val="A8CFF0"/>
                </a:solidFill>
                <a:latin typeface="Consolas"/>
              </a:rPr>
              <a:t>owl:onProperty</a:t>
            </a:r>
            <a:r>
              <a:rPr sz="1200" b="0" i="0">
                <a:solidFill>
                  <a:srgbClr val="E3EBEE"/>
                </a:solidFill>
                <a:latin typeface="Consolas"/>
              </a:rPr>
              <a:t> </a:t>
            </a:r>
            <a:r>
              <a:rPr sz="1200" b="0" i="0">
                <a:solidFill>
                  <a:srgbClr val="A8CFF0"/>
                </a:solidFill>
                <a:latin typeface="Consolas"/>
              </a:rPr>
              <a:t>:starring</a:t>
            </a:r>
            <a:r>
              <a:rPr sz="1200" b="0" i="0">
                <a:solidFill>
                  <a:srgbClr val="E3EBEE"/>
                </a:solidFill>
                <a:latin typeface="Consolas"/>
              </a:rPr>
              <a:t> ;</a:t>
            </a:r>
          </a:p>
          <a:p>
            <a:pPr>
              <a:lnSpc>
                <a:spcPct val="105000"/>
              </a:lnSpc>
            </a:pPr>
            <a:r>
              <a:rPr sz="1200" b="0" i="0">
                <a:solidFill>
                  <a:srgbClr val="E3EBEE"/>
                </a:solidFill>
                <a:latin typeface="Consolas"/>
              </a:rPr>
              <a:t>    </a:t>
            </a:r>
            <a:r>
              <a:rPr sz="1200" b="0" i="0">
                <a:solidFill>
                  <a:srgbClr val="A8CFF0"/>
                </a:solidFill>
                <a:latin typeface="Consolas"/>
              </a:rPr>
              <a:t>owl:hasValue</a:t>
            </a:r>
            <a:r>
              <a:rPr sz="1200" b="0" i="0">
                <a:solidFill>
                  <a:srgbClr val="E3EBEE"/>
                </a:solidFill>
                <a:latin typeface="Consolas"/>
              </a:rPr>
              <a:t>   </a:t>
            </a:r>
            <a:r>
              <a:rPr sz="1200" b="0" i="0">
                <a:solidFill>
                  <a:srgbClr val="A8CFF0"/>
                </a:solidFill>
                <a:latin typeface="Consolas"/>
              </a:rPr>
              <a:t>:JamesDean</a:t>
            </a:r>
          </a:p>
          <a:p>
            <a:pPr>
              <a:lnSpc>
                <a:spcPct val="105000"/>
              </a:lnSpc>
            </a:pPr>
            <a:r>
              <a:rPr sz="1200" b="0" i="0">
                <a:solidFill>
                  <a:srgbClr val="E3EBEE"/>
                </a:solidFill>
                <a:latin typeface="Consolas"/>
              </a:rPr>
              <a:t>] .</a:t>
            </a:r>
          </a:p>
        </p:txBody>
      </p:sp>
      <p:sp>
        <p:nvSpPr>
          <p:cNvPr id="19" name="TextBox 18"/>
          <p:cNvSpPr txBox="1"/>
          <p:nvPr/>
        </p:nvSpPr>
        <p:spPr>
          <a:xfrm>
            <a:off x="6355080" y="3081528"/>
            <a:ext cx="5287975" cy="274320"/>
          </a:xfrm>
          <a:prstGeom prst="rect">
            <a:avLst/>
          </a:prstGeom>
          <a:noFill/>
        </p:spPr>
        <p:txBody>
          <a:bodyPr wrap="square" anchor="t" lIns="0" rIns="0" tIns="0" bIns="0">
            <a:noAutofit/>
          </a:bodyPr>
          <a:lstStyle/>
          <a:p>
            <a:pPr algn="l">
              <a:spcAft>
                <a:spcPts val="600"/>
              </a:spcAft>
            </a:pPr>
            <a:r>
              <a:rPr sz="1300" b="1" i="0">
                <a:solidFill>
                  <a:srgbClr val="5B6B70"/>
                </a:solidFill>
                <a:latin typeface="Calibri"/>
              </a:rPr>
              <a:t>Inferred by OWL RL: who belongs to :JamesDeanMovie</a:t>
            </a:r>
          </a:p>
        </p:txBody>
      </p:sp>
      <p:graphicFrame>
        <p:nvGraphicFramePr>
          <p:cNvPr id="20" name="Table 19"/>
          <p:cNvGraphicFramePr>
            <a:graphicFrameLocks noGrp="1"/>
          </p:cNvGraphicFramePr>
          <p:nvPr/>
        </p:nvGraphicFramePr>
        <p:xfrm>
          <a:off x="6355080" y="3355848"/>
          <a:ext cx="5287975" cy="1207008"/>
        </p:xfrm>
        <a:graphic>
          <a:graphicData uri="http://schemas.openxmlformats.org/drawingml/2006/table">
            <a:tbl>
              <a:tblPr firstRow="0" bandRow="0">
                <a:tableStyleId>{5C22544A-7EE6-4342-B048-85BDC9FD1C3A}</a:tableStyleId>
              </a:tblPr>
              <a:tblGrid>
                <a:gridCol w="2194560"/>
                <a:gridCol w="1188720"/>
                <a:gridCol w="1904695"/>
              </a:tblGrid>
              <a:tr h="301752">
                <a:tc>
                  <a:txBody>
                    <a:bodyPr wrap="square"/>
                    <a:lstStyle/>
                    <a:p>
                      <a:r>
                        <a:rPr sz="1200" b="1" i="0">
                          <a:solidFill>
                            <a:srgbClr val="FFFFFF"/>
                          </a:solidFill>
                          <a:latin typeface="Calibri"/>
                        </a:rPr>
                        <a:t>subject</a:t>
                      </a:r>
                    </a:p>
                  </a:txBody>
                  <a:tcPr marL="91440" marR="91440" marT="27432" marB="27432" anchor="ctr">
                    <a:solidFill>
                      <a:srgbClr val="E0952B"/>
                    </a:solidFill>
                  </a:tcPr>
                </a:tc>
                <a:tc>
                  <a:txBody>
                    <a:bodyPr wrap="square"/>
                    <a:lstStyle/>
                    <a:p>
                      <a:r>
                        <a:rPr sz="1200" b="1" i="0">
                          <a:solidFill>
                            <a:srgbClr val="FFFFFF"/>
                          </a:solidFill>
                          <a:latin typeface="Calibri"/>
                        </a:rPr>
                        <a:t>predicate</a:t>
                      </a:r>
                    </a:p>
                  </a:txBody>
                  <a:tcPr marL="91440" marR="91440" marT="27432" marB="27432" anchor="ctr">
                    <a:solidFill>
                      <a:srgbClr val="E0952B"/>
                    </a:solidFill>
                  </a:tcPr>
                </a:tc>
                <a:tc>
                  <a:txBody>
                    <a:bodyPr wrap="square"/>
                    <a:lstStyle/>
                    <a:p>
                      <a:r>
                        <a:rPr sz="1200" b="1" i="0">
                          <a:solidFill>
                            <a:srgbClr val="FFFFFF"/>
                          </a:solidFill>
                          <a:latin typeface="Calibri"/>
                        </a:rPr>
                        <a:t>object</a:t>
                      </a:r>
                    </a:p>
                  </a:txBody>
                  <a:tcPr marL="91440" marR="91440" marT="27432" marB="27432" anchor="ctr">
                    <a:solidFill>
                      <a:srgbClr val="E0952B"/>
                    </a:solidFill>
                  </a:tcPr>
                </a:tc>
              </a:tr>
              <a:tr h="301752">
                <a:tc>
                  <a:txBody>
                    <a:bodyPr wrap="square"/>
                    <a:lstStyle/>
                    <a:p>
                      <a:r>
                        <a:rPr sz="1100" b="0" i="0">
                          <a:solidFill>
                            <a:srgbClr val="17272E"/>
                          </a:solidFill>
                          <a:latin typeface="Consolas"/>
                        </a:rPr>
                        <a:t>:EastOfEden</a:t>
                      </a:r>
                    </a:p>
                  </a:txBody>
                  <a:tcPr marL="91440" marR="91440" marT="27432" marB="27432" anchor="ctr">
                    <a:solidFill>
                      <a:srgbClr val="FFFFFF"/>
                    </a:solidFill>
                  </a:tcPr>
                </a:tc>
                <a:tc>
                  <a:txBody>
                    <a:bodyPr wrap="square"/>
                    <a:lstStyle/>
                    <a:p>
                      <a:r>
                        <a:rPr sz="1100" b="0" i="0">
                          <a:solidFill>
                            <a:srgbClr val="17272E"/>
                          </a:solidFill>
                          <a:latin typeface="Consolas"/>
                        </a:rPr>
                        <a:t>rdf:type</a:t>
                      </a:r>
                    </a:p>
                  </a:txBody>
                  <a:tcPr marL="91440" marR="91440" marT="27432" marB="27432" anchor="ctr">
                    <a:solidFill>
                      <a:srgbClr val="FFFFFF"/>
                    </a:solidFill>
                  </a:tcPr>
                </a:tc>
                <a:tc>
                  <a:txBody>
                    <a:bodyPr wrap="square"/>
                    <a:lstStyle/>
                    <a:p>
                      <a:r>
                        <a:rPr sz="1100" b="0" i="0">
                          <a:solidFill>
                            <a:srgbClr val="17272E"/>
                          </a:solidFill>
                          <a:latin typeface="Consolas"/>
                        </a:rPr>
                        <a:t>:JamesDeanMovie</a:t>
                      </a:r>
                    </a:p>
                  </a:txBody>
                  <a:tcPr marL="91440" marR="91440" marT="27432" marB="27432" anchor="ctr">
                    <a:solidFill>
                      <a:srgbClr val="FFFFFF"/>
                    </a:solidFill>
                  </a:tcPr>
                </a:tc>
              </a:tr>
              <a:tr h="301752">
                <a:tc>
                  <a:txBody>
                    <a:bodyPr wrap="square"/>
                    <a:lstStyle/>
                    <a:p>
                      <a:r>
                        <a:rPr sz="1100" b="0" i="0">
                          <a:solidFill>
                            <a:srgbClr val="17272E"/>
                          </a:solidFill>
                          <a:latin typeface="Consolas"/>
                        </a:rPr>
                        <a:t>:Giant</a:t>
                      </a:r>
                    </a:p>
                  </a:txBody>
                  <a:tcPr marL="91440" marR="91440" marT="27432" marB="27432" anchor="ctr">
                    <a:solidFill>
                      <a:srgbClr val="EAF3F0"/>
                    </a:solidFill>
                  </a:tcPr>
                </a:tc>
                <a:tc>
                  <a:txBody>
                    <a:bodyPr wrap="square"/>
                    <a:lstStyle/>
                    <a:p>
                      <a:r>
                        <a:rPr sz="1100" b="0" i="0">
                          <a:solidFill>
                            <a:srgbClr val="17272E"/>
                          </a:solidFill>
                          <a:latin typeface="Consolas"/>
                        </a:rPr>
                        <a:t>rdf:type</a:t>
                      </a:r>
                    </a:p>
                  </a:txBody>
                  <a:tcPr marL="91440" marR="91440" marT="27432" marB="27432" anchor="ctr">
                    <a:solidFill>
                      <a:srgbClr val="EAF3F0"/>
                    </a:solidFill>
                  </a:tcPr>
                </a:tc>
                <a:tc>
                  <a:txBody>
                    <a:bodyPr wrap="square"/>
                    <a:lstStyle/>
                    <a:p>
                      <a:r>
                        <a:rPr sz="1100" b="0" i="0">
                          <a:solidFill>
                            <a:srgbClr val="17272E"/>
                          </a:solidFill>
                          <a:latin typeface="Consolas"/>
                        </a:rPr>
                        <a:t>:JamesDeanMovie</a:t>
                      </a:r>
                    </a:p>
                  </a:txBody>
                  <a:tcPr marL="91440" marR="91440" marT="27432" marB="27432" anchor="ctr">
                    <a:solidFill>
                      <a:srgbClr val="EAF3F0"/>
                    </a:solidFill>
                  </a:tcPr>
                </a:tc>
              </a:tr>
              <a:tr h="301752">
                <a:tc>
                  <a:txBody>
                    <a:bodyPr wrap="square"/>
                    <a:lstStyle/>
                    <a:p>
                      <a:r>
                        <a:rPr sz="1100" b="0" i="0">
                          <a:solidFill>
                            <a:srgbClr val="17272E"/>
                          </a:solidFill>
                          <a:latin typeface="Consolas"/>
                        </a:rPr>
                        <a:t>:RebelWithoutACause</a:t>
                      </a:r>
                    </a:p>
                  </a:txBody>
                  <a:tcPr marL="91440" marR="91440" marT="27432" marB="27432" anchor="ctr">
                    <a:solidFill>
                      <a:srgbClr val="FFFFFF"/>
                    </a:solidFill>
                  </a:tcPr>
                </a:tc>
                <a:tc>
                  <a:txBody>
                    <a:bodyPr wrap="square"/>
                    <a:lstStyle/>
                    <a:p>
                      <a:r>
                        <a:rPr sz="1100" b="0" i="0">
                          <a:solidFill>
                            <a:srgbClr val="17272E"/>
                          </a:solidFill>
                          <a:latin typeface="Consolas"/>
                        </a:rPr>
                        <a:t>rdf:type</a:t>
                      </a:r>
                    </a:p>
                  </a:txBody>
                  <a:tcPr marL="91440" marR="91440" marT="27432" marB="27432" anchor="ctr">
                    <a:solidFill>
                      <a:srgbClr val="FFFFFF"/>
                    </a:solidFill>
                  </a:tcPr>
                </a:tc>
                <a:tc>
                  <a:txBody>
                    <a:bodyPr wrap="square"/>
                    <a:lstStyle/>
                    <a:p>
                      <a:r>
                        <a:rPr sz="1100" b="0" i="0">
                          <a:solidFill>
                            <a:srgbClr val="17272E"/>
                          </a:solidFill>
                          <a:latin typeface="Consolas"/>
                        </a:rPr>
                        <a:t>:JamesDeanMovie</a:t>
                      </a:r>
                    </a:p>
                  </a:txBody>
                  <a:tcPr marL="91440" marR="91440" marT="27432" marB="27432" anchor="ctr">
                    <a:solidFill>
                      <a:srgbClr val="FFFFFF"/>
                    </a:solidFill>
                  </a:tcPr>
                </a:tc>
              </a:tr>
            </a:tbl>
          </a:graphicData>
        </a:graphic>
      </p:graphicFrame>
      <p:sp>
        <p:nvSpPr>
          <p:cNvPr id="21" name="Open world"/>
          <p:cNvSpPr/>
          <p:nvPr/>
        </p:nvSpPr>
        <p:spPr>
          <a:xfrm>
            <a:off x="6355080" y="4754880"/>
            <a:ext cx="5287975" cy="777240"/>
          </a:xfrm>
          <a:prstGeom prst="roundRect">
            <a:avLst>
              <a:gd name="adj" fmla="val 11764"/>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8288" bIns="18288">
            <a:noAutofit/>
          </a:bodyPr>
          <a:lstStyle/>
          <a:p>
            <a:pPr algn="l"/>
            <a:r>
              <a:rPr sz="1200" b="1" i="0">
                <a:solidFill>
                  <a:srgbClr val="17272E"/>
                </a:solidFill>
                <a:latin typeface="Calibri"/>
              </a:rPr>
              <a:t>Open world: </a:t>
            </a:r>
            <a:r>
              <a:rPr sz="1200" b="0" i="0">
                <a:solidFill>
                  <a:srgbClr val="17272E"/>
                </a:solidFill>
                <a:latin typeface="Calibri"/>
              </a:rPr>
              <a:t>a missing fact is unknown, not false. Give a max-one-director movie two directors and OWL concludes they are one person (Part 7).</a:t>
            </a:r>
          </a:p>
        </p:txBody>
      </p:sp>
      <p:sp>
        <p:nvSpPr>
          <p:cNvPr id="22" name="Adds"/>
          <p:cNvSpPr/>
          <p:nvPr/>
        </p:nvSpPr>
        <p:spPr>
          <a:xfrm>
            <a:off x="548640" y="5669280"/>
            <a:ext cx="5440680" cy="566928"/>
          </a:xfrm>
          <a:prstGeom prst="roundRect">
            <a:avLst>
              <a:gd name="adj" fmla="val 16129"/>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 bIns="18288">
            <a:noAutofit/>
          </a:bodyPr>
          <a:lstStyle/>
          <a:p>
            <a:pPr algn="l"/>
            <a:r>
              <a:rPr sz="1300" b="1" i="0">
                <a:solidFill>
                  <a:srgbClr val="155E54"/>
                </a:solidFill>
                <a:latin typeface="Calibri"/>
              </a:rPr>
              <a:t>Adds to the ontology: </a:t>
            </a:r>
            <a:r>
              <a:rPr sz="1300" b="0" i="0">
                <a:solidFill>
                  <a:srgbClr val="17272E"/>
                </a:solidFill>
                <a:latin typeface="Calibri"/>
              </a:rPr>
              <a:t>formal definitions and constraints: the axioms.</a:t>
            </a:r>
          </a:p>
        </p:txBody>
      </p:sp>
      <p:sp>
        <p:nvSpPr>
          <p:cNvPr id="23" name="Missing"/>
          <p:cNvSpPr/>
          <p:nvPr/>
        </p:nvSpPr>
        <p:spPr>
          <a:xfrm>
            <a:off x="6172200" y="5669280"/>
            <a:ext cx="5470855" cy="566928"/>
          </a:xfrm>
          <a:prstGeom prst="roundRect">
            <a:avLst>
              <a:gd name="adj" fmla="val 16129"/>
            </a:avLst>
          </a:prstGeom>
          <a:solidFill>
            <a:srgbClr val="FCF1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 bIns="18288">
            <a:noAutofit/>
          </a:bodyPr>
          <a:lstStyle/>
          <a:p>
            <a:pPr algn="l"/>
            <a:r>
              <a:rPr sz="1300" b="1" i="0">
                <a:solidFill>
                  <a:srgbClr val="17272E"/>
                </a:solidFill>
                <a:latin typeface="Calibri"/>
              </a:rPr>
              <a:t>Still missing: </a:t>
            </a:r>
            <a:r>
              <a:rPr sz="1300" b="0" i="0">
                <a:solidFill>
                  <a:srgbClr val="17272E"/>
                </a:solidFill>
                <a:latin typeface="Calibri"/>
              </a:rPr>
              <a:t>some if-then logic fits no OWL pattern. Rules cover it.</a:t>
            </a:r>
          </a:p>
        </p:txBody>
      </p:sp>
      <p:sp>
        <p:nvSpPr>
          <p:cNvPr id="24"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25"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Concepts: taxonomies and thesauri as linked data</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BUILDING BLOCK 6 OF 8 · CONCEPTS · SKOS</a:t>
            </a:r>
          </a:p>
        </p:txBody>
      </p:sp>
      <p:sp>
        <p:nvSpPr>
          <p:cNvPr id="4" name="Rounded Rectangle 3"/>
          <p:cNvSpPr/>
          <p:nvPr/>
        </p:nvSpPr>
        <p:spPr>
          <a:xfrm>
            <a:off x="5031943"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URI</a:t>
            </a:r>
          </a:p>
        </p:txBody>
      </p:sp>
      <p:sp>
        <p:nvSpPr>
          <p:cNvPr id="5" name="Rounded Rectangle 4"/>
          <p:cNvSpPr/>
          <p:nvPr/>
        </p:nvSpPr>
        <p:spPr>
          <a:xfrm>
            <a:off x="5864047"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RDF</a:t>
            </a:r>
          </a:p>
        </p:txBody>
      </p:sp>
      <p:sp>
        <p:nvSpPr>
          <p:cNvPr id="6" name="Rounded Rectangle 5"/>
          <p:cNvSpPr/>
          <p:nvPr/>
        </p:nvSpPr>
        <p:spPr>
          <a:xfrm>
            <a:off x="6696151"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RDFS</a:t>
            </a:r>
          </a:p>
        </p:txBody>
      </p:sp>
      <p:sp>
        <p:nvSpPr>
          <p:cNvPr id="7" name="Rounded Rectangle 6"/>
          <p:cNvSpPr/>
          <p:nvPr/>
        </p:nvSpPr>
        <p:spPr>
          <a:xfrm>
            <a:off x="7528255"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RDFS-Plus</a:t>
            </a:r>
          </a:p>
        </p:txBody>
      </p:sp>
      <p:sp>
        <p:nvSpPr>
          <p:cNvPr id="8" name="Rounded Rectangle 7"/>
          <p:cNvSpPr/>
          <p:nvPr/>
        </p:nvSpPr>
        <p:spPr>
          <a:xfrm>
            <a:off x="8360359"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OWL</a:t>
            </a:r>
          </a:p>
        </p:txBody>
      </p:sp>
      <p:sp>
        <p:nvSpPr>
          <p:cNvPr id="9" name="Rounded Rectangle 8"/>
          <p:cNvSpPr/>
          <p:nvPr/>
        </p:nvSpPr>
        <p:spPr>
          <a:xfrm>
            <a:off x="9192463" y="329184"/>
            <a:ext cx="786384" cy="246888"/>
          </a:xfrm>
          <a:prstGeom prst="roundRect">
            <a:avLst>
              <a:gd name="adj" fmla="val 50000"/>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7272E"/>
                </a:solidFill>
                <a:latin typeface="Calibri"/>
              </a:rPr>
              <a:t>SKOS</a:t>
            </a:r>
          </a:p>
        </p:txBody>
      </p:sp>
      <p:sp>
        <p:nvSpPr>
          <p:cNvPr id="10" name="Rounded Rectangle 9"/>
          <p:cNvSpPr/>
          <p:nvPr/>
        </p:nvSpPr>
        <p:spPr>
          <a:xfrm>
            <a:off x="10024567"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Rules</a:t>
            </a:r>
          </a:p>
        </p:txBody>
      </p:sp>
      <p:sp>
        <p:nvSpPr>
          <p:cNvPr id="11" name="Rounded Rectangle 10"/>
          <p:cNvSpPr/>
          <p:nvPr/>
        </p:nvSpPr>
        <p:spPr>
          <a:xfrm>
            <a:off x="10856671"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SPARQL</a:t>
            </a:r>
          </a:p>
        </p:txBody>
      </p:sp>
      <p:sp>
        <p:nvSpPr>
          <p:cNvPr id="12" name="TextBox 11"/>
          <p:cNvSpPr txBox="1"/>
          <p:nvPr/>
        </p:nvSpPr>
        <p:spPr>
          <a:xfrm>
            <a:off x="548640" y="1572768"/>
            <a:ext cx="5440680"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WHAT IT IS</a:t>
            </a:r>
          </a:p>
        </p:txBody>
      </p:sp>
      <p:sp>
        <p:nvSpPr>
          <p:cNvPr id="13" name="TextBox 12"/>
          <p:cNvSpPr txBox="1"/>
          <p:nvPr/>
        </p:nvSpPr>
        <p:spPr>
          <a:xfrm>
            <a:off x="548640" y="1865376"/>
            <a:ext cx="5440680" cy="1170432"/>
          </a:xfrm>
          <a:prstGeom prst="rect">
            <a:avLst/>
          </a:prstGeom>
          <a:noFill/>
        </p:spPr>
        <p:txBody>
          <a:bodyPr wrap="square" anchor="t" lIns="0" rIns="0" tIns="0" bIns="0">
            <a:noAutofit/>
          </a:bodyPr>
          <a:lstStyle/>
          <a:p>
            <a:pPr algn="l">
              <a:spcAft>
                <a:spcPts val="600"/>
              </a:spcAft>
            </a:pPr>
            <a:r>
              <a:rPr sz="1400" b="0" i="0">
                <a:solidFill>
                  <a:srgbClr val="17272E"/>
                </a:solidFill>
                <a:latin typeface="Calibri"/>
              </a:rPr>
              <a:t>SKOS (Simple Knowledge Organization System, W3C 2009) publishes controlled vocabularies, taxonomies and thesauri on the Web. Its unit is the concept: a subject you tag things with, rather than a class of things. It is built on RDFS-Plus.</a:t>
            </a:r>
          </a:p>
        </p:txBody>
      </p:sp>
      <p:sp>
        <p:nvSpPr>
          <p:cNvPr id="14" name="TextBox 13"/>
          <p:cNvSpPr txBox="1"/>
          <p:nvPr/>
        </p:nvSpPr>
        <p:spPr>
          <a:xfrm>
            <a:off x="548640" y="3017520"/>
            <a:ext cx="5440680"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KEY TERMS</a:t>
            </a:r>
          </a:p>
        </p:txBody>
      </p:sp>
      <p:sp>
        <p:nvSpPr>
          <p:cNvPr id="15" name="TextBox 14"/>
          <p:cNvSpPr txBox="1"/>
          <p:nvPr/>
        </p:nvSpPr>
        <p:spPr>
          <a:xfrm>
            <a:off x="548640" y="3310127"/>
            <a:ext cx="5440680" cy="1627632"/>
          </a:xfrm>
          <a:prstGeom prst="rect">
            <a:avLst/>
          </a:prstGeom>
          <a:noFill/>
        </p:spPr>
        <p:txBody>
          <a:bodyPr wrap="square" anchor="t" lIns="0" rIns="0" tIns="0" bIns="0">
            <a:noAutofit/>
          </a:bodyPr>
          <a:lstStyle/>
          <a:p>
            <a:pPr algn="l" marL="228600" indent="-228600">
              <a:spcAft>
                <a:spcPts val="500"/>
              </a:spcAft>
              <a:buClr>
                <a:srgbClr val="1F7A6D"/>
              </a:buClr>
              <a:buFont typeface="Arial"/>
              <a:buChar char="•"/>
            </a:pPr>
            <a:r>
              <a:rPr sz="1200" b="1" i="0">
                <a:solidFill>
                  <a:srgbClr val="155E54"/>
                </a:solidFill>
                <a:latin typeface="Consolas"/>
              </a:rPr>
              <a:t>skos:Concept</a:t>
            </a:r>
            <a:r>
              <a:rPr sz="1300" b="0" i="0">
                <a:solidFill>
                  <a:srgbClr val="17272E"/>
                </a:solidFill>
                <a:latin typeface="Calibri"/>
              </a:rPr>
              <a:t>  a subject term; skos:ConceptScheme is the vocabulary it belongs to.</a:t>
            </a:r>
          </a:p>
          <a:p>
            <a:pPr algn="l" marL="228600" indent="-228600">
              <a:spcAft>
                <a:spcPts val="500"/>
              </a:spcAft>
              <a:buClr>
                <a:srgbClr val="1F7A6D"/>
              </a:buClr>
              <a:buFont typeface="Arial"/>
              <a:buChar char="•"/>
            </a:pPr>
            <a:r>
              <a:rPr sz="1200" b="1" i="0">
                <a:solidFill>
                  <a:srgbClr val="155E54"/>
                </a:solidFill>
                <a:latin typeface="Consolas"/>
              </a:rPr>
              <a:t>skos:prefLabel</a:t>
            </a:r>
            <a:r>
              <a:rPr sz="1300" b="0" i="0">
                <a:solidFill>
                  <a:srgbClr val="17272E"/>
                </a:solidFill>
                <a:latin typeface="Calibri"/>
              </a:rPr>
              <a:t>  the preferred name; skos:altLabel holds synonyms.</a:t>
            </a:r>
          </a:p>
          <a:p>
            <a:pPr algn="l" marL="228600" indent="-228600">
              <a:spcAft>
                <a:spcPts val="500"/>
              </a:spcAft>
              <a:buClr>
                <a:srgbClr val="1F7A6D"/>
              </a:buClr>
              <a:buFont typeface="Arial"/>
              <a:buChar char="•"/>
            </a:pPr>
            <a:r>
              <a:rPr sz="1200" b="1" i="0">
                <a:solidFill>
                  <a:srgbClr val="155E54"/>
                </a:solidFill>
                <a:latin typeface="Consolas"/>
              </a:rPr>
              <a:t>skos:broader</a:t>
            </a:r>
            <a:r>
              <a:rPr sz="1300" b="0" i="0">
                <a:solidFill>
                  <a:srgbClr val="17272E"/>
                </a:solidFill>
                <a:latin typeface="Calibri"/>
              </a:rPr>
              <a:t>  and narrower, related: the hierarchy and cross-links.</a:t>
            </a:r>
          </a:p>
          <a:p>
            <a:pPr algn="l" marL="228600" indent="-228600">
              <a:spcAft>
                <a:spcPts val="500"/>
              </a:spcAft>
              <a:buClr>
                <a:srgbClr val="1F7A6D"/>
              </a:buClr>
              <a:buFont typeface="Arial"/>
              <a:buChar char="•"/>
            </a:pPr>
            <a:r>
              <a:rPr sz="1200" b="1" i="0">
                <a:solidFill>
                  <a:srgbClr val="155E54"/>
                </a:solidFill>
                <a:latin typeface="Consolas"/>
              </a:rPr>
              <a:t>skos:exactMatch</a:t>
            </a:r>
            <a:r>
              <a:rPr sz="1300" b="0" i="0">
                <a:solidFill>
                  <a:srgbClr val="17272E"/>
                </a:solidFill>
                <a:latin typeface="Calibri"/>
              </a:rPr>
              <a:t>  and closeMatch, broadMatch: link to another vocabulary's concept.</a:t>
            </a:r>
          </a:p>
        </p:txBody>
      </p:sp>
      <p:sp>
        <p:nvSpPr>
          <p:cNvPr id="16" name="Concept or class"/>
          <p:cNvSpPr/>
          <p:nvPr/>
        </p:nvSpPr>
        <p:spPr>
          <a:xfrm>
            <a:off x="548640" y="4937760"/>
            <a:ext cx="5440680" cy="594360"/>
          </a:xfrm>
          <a:prstGeom prst="roundRect">
            <a:avLst>
              <a:gd name="adj" fmla="val 15384"/>
            </a:avLst>
          </a:prstGeom>
          <a:solidFill>
            <a:srgbClr val="FCF1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8288" bIns="18288">
            <a:noAutofit/>
          </a:bodyPr>
          <a:lstStyle/>
          <a:p>
            <a:pPr algn="l"/>
            <a:r>
              <a:rPr sz="1200" b="1" i="0">
                <a:solidFill>
                  <a:srgbClr val="17272E"/>
                </a:solidFill>
                <a:latin typeface="Calibri"/>
              </a:rPr>
              <a:t>Concept or class? </a:t>
            </a:r>
            <a:r>
              <a:rPr sz="1200" b="0" i="0">
                <a:solidFill>
                  <a:srgbClr val="17272E"/>
                </a:solidFill>
                <a:latin typeface="Calibri"/>
              </a:rPr>
              <a:t>A movie is tagged with g:Drama; it is not an instance of a Drama class. Use SKOS for subjects and tags, classes for kinds of things.</a:t>
            </a:r>
          </a:p>
        </p:txBody>
      </p:sp>
      <p:sp>
        <p:nvSpPr>
          <p:cNvPr id="17" name="Code: Turtle"/>
          <p:cNvSpPr/>
          <p:nvPr/>
        </p:nvSpPr>
        <p:spPr>
          <a:xfrm>
            <a:off x="6355080" y="1600200"/>
            <a:ext cx="5287975" cy="1554480"/>
          </a:xfrm>
          <a:prstGeom prst="roundRect">
            <a:avLst>
              <a:gd name="adj" fmla="val 7058"/>
            </a:avLst>
          </a:prstGeom>
          <a:solidFill>
            <a:srgbClr val="1C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180015" y="1709928"/>
            <a:ext cx="1280160" cy="228600"/>
          </a:xfrm>
          <a:prstGeom prst="rect">
            <a:avLst/>
          </a:prstGeom>
          <a:noFill/>
        </p:spPr>
        <p:txBody>
          <a:bodyPr wrap="square" anchor="t" lIns="0" rIns="0" tIns="0" bIns="0">
            <a:noAutofit/>
          </a:bodyPr>
          <a:lstStyle/>
          <a:p>
            <a:pPr algn="r">
              <a:spcAft>
                <a:spcPts val="600"/>
              </a:spcAft>
            </a:pPr>
            <a:r>
              <a:rPr sz="1000" b="1" i="0">
                <a:solidFill>
                  <a:srgbClr val="869AA0"/>
                </a:solidFill>
                <a:latin typeface="Calibri"/>
              </a:rPr>
              <a:t>TURTLE</a:t>
            </a:r>
          </a:p>
        </p:txBody>
      </p:sp>
      <p:sp>
        <p:nvSpPr>
          <p:cNvPr id="19" name="TextBox 18"/>
          <p:cNvSpPr txBox="1"/>
          <p:nvPr/>
        </p:nvSpPr>
        <p:spPr>
          <a:xfrm>
            <a:off x="6583680" y="1801368"/>
            <a:ext cx="4830775" cy="1188719"/>
          </a:xfrm>
          <a:prstGeom prst="rect">
            <a:avLst/>
          </a:prstGeom>
          <a:noFill/>
        </p:spPr>
        <p:txBody>
          <a:bodyPr wrap="none" lIns="0" rIns="0" tIns="0" bIns="0">
            <a:noAutofit/>
          </a:bodyPr>
          <a:lstStyle/>
          <a:p>
            <a:pPr>
              <a:lnSpc>
                <a:spcPct val="105000"/>
              </a:lnSpc>
            </a:pPr>
            <a:r>
              <a:rPr sz="1200" b="0" i="0">
                <a:solidFill>
                  <a:srgbClr val="A8CFF0"/>
                </a:solidFill>
                <a:latin typeface="Consolas"/>
              </a:rPr>
              <a:t>g:TeenDrama</a:t>
            </a:r>
            <a:r>
              <a:rPr sz="1200" b="0" i="0">
                <a:solidFill>
                  <a:srgbClr val="E3EBEE"/>
                </a:solidFill>
                <a:latin typeface="Consolas"/>
              </a:rPr>
              <a:t> </a:t>
            </a:r>
            <a:r>
              <a:rPr sz="1200" b="1" i="0">
                <a:solidFill>
                  <a:srgbClr val="F2B866"/>
                </a:solidFill>
                <a:latin typeface="Consolas"/>
              </a:rPr>
              <a:t>a</a:t>
            </a:r>
            <a:r>
              <a:rPr sz="1200" b="0" i="0">
                <a:solidFill>
                  <a:srgbClr val="E3EBEE"/>
                </a:solidFill>
                <a:latin typeface="Consolas"/>
              </a:rPr>
              <a:t> </a:t>
            </a:r>
            <a:r>
              <a:rPr sz="1200" b="0" i="0">
                <a:solidFill>
                  <a:srgbClr val="A8CFF0"/>
                </a:solidFill>
                <a:latin typeface="Consolas"/>
              </a:rPr>
              <a:t>skos:Concept</a:t>
            </a:r>
            <a:r>
              <a:rPr sz="1200" b="0" i="0">
                <a:solidFill>
                  <a:srgbClr val="E3EBEE"/>
                </a:solidFill>
                <a:latin typeface="Consolas"/>
              </a:rPr>
              <a:t> ;</a:t>
            </a:r>
          </a:p>
          <a:p>
            <a:pPr>
              <a:lnSpc>
                <a:spcPct val="105000"/>
              </a:lnSpc>
            </a:pPr>
            <a:r>
              <a:rPr sz="1200" b="0" i="0">
                <a:solidFill>
                  <a:srgbClr val="E3EBEE"/>
                </a:solidFill>
                <a:latin typeface="Consolas"/>
              </a:rPr>
              <a:t>    </a:t>
            </a:r>
            <a:r>
              <a:rPr sz="1200" b="0" i="0">
                <a:solidFill>
                  <a:srgbClr val="A8CFF0"/>
                </a:solidFill>
                <a:latin typeface="Consolas"/>
              </a:rPr>
              <a:t>skos:prefLabel</a:t>
            </a:r>
            <a:r>
              <a:rPr sz="1200" b="0" i="0">
                <a:solidFill>
                  <a:srgbClr val="E3EBEE"/>
                </a:solidFill>
                <a:latin typeface="Consolas"/>
              </a:rPr>
              <a:t> </a:t>
            </a:r>
            <a:r>
              <a:rPr sz="1200" b="0" i="0">
                <a:solidFill>
                  <a:srgbClr val="B5D98F"/>
                </a:solidFill>
                <a:latin typeface="Consolas"/>
              </a:rPr>
              <a:t>"Teen drama"@en</a:t>
            </a:r>
            <a:r>
              <a:rPr sz="1200" b="0" i="0">
                <a:solidFill>
                  <a:srgbClr val="E3EBEE"/>
                </a:solidFill>
                <a:latin typeface="Consolas"/>
              </a:rPr>
              <a:t> ;</a:t>
            </a:r>
          </a:p>
          <a:p>
            <a:pPr>
              <a:lnSpc>
                <a:spcPct val="105000"/>
              </a:lnSpc>
            </a:pPr>
            <a:r>
              <a:rPr sz="1200" b="0" i="0">
                <a:solidFill>
                  <a:srgbClr val="E3EBEE"/>
                </a:solidFill>
                <a:latin typeface="Consolas"/>
              </a:rPr>
              <a:t>    </a:t>
            </a:r>
            <a:r>
              <a:rPr sz="1200" b="0" i="0">
                <a:solidFill>
                  <a:srgbClr val="A8CFF0"/>
                </a:solidFill>
                <a:latin typeface="Consolas"/>
              </a:rPr>
              <a:t>skos:altLabel</a:t>
            </a:r>
            <a:r>
              <a:rPr sz="1200" b="0" i="0">
                <a:solidFill>
                  <a:srgbClr val="E3EBEE"/>
                </a:solidFill>
                <a:latin typeface="Consolas"/>
              </a:rPr>
              <a:t>  </a:t>
            </a:r>
            <a:r>
              <a:rPr sz="1200" b="0" i="0">
                <a:solidFill>
                  <a:srgbClr val="B5D98F"/>
                </a:solidFill>
                <a:latin typeface="Consolas"/>
              </a:rPr>
              <a:t>"Coming-of-age"@en</a:t>
            </a:r>
            <a:r>
              <a:rPr sz="1200" b="0" i="0">
                <a:solidFill>
                  <a:srgbClr val="E3EBEE"/>
                </a:solidFill>
                <a:latin typeface="Consolas"/>
              </a:rPr>
              <a:t> ;</a:t>
            </a:r>
          </a:p>
          <a:p>
            <a:pPr>
              <a:lnSpc>
                <a:spcPct val="105000"/>
              </a:lnSpc>
            </a:pPr>
            <a:r>
              <a:rPr sz="1200" b="0" i="0">
                <a:solidFill>
                  <a:srgbClr val="E3EBEE"/>
                </a:solidFill>
                <a:latin typeface="Consolas"/>
              </a:rPr>
              <a:t>    </a:t>
            </a:r>
            <a:r>
              <a:rPr sz="1200" b="0" i="0">
                <a:solidFill>
                  <a:srgbClr val="A8CFF0"/>
                </a:solidFill>
                <a:latin typeface="Consolas"/>
              </a:rPr>
              <a:t>skos:broader</a:t>
            </a:r>
            <a:r>
              <a:rPr sz="1200" b="0" i="0">
                <a:solidFill>
                  <a:srgbClr val="E3EBEE"/>
                </a:solidFill>
                <a:latin typeface="Consolas"/>
              </a:rPr>
              <a:t>   </a:t>
            </a:r>
            <a:r>
              <a:rPr sz="1200" b="0" i="0">
                <a:solidFill>
                  <a:srgbClr val="A8CFF0"/>
                </a:solidFill>
                <a:latin typeface="Consolas"/>
              </a:rPr>
              <a:t>g:Drama</a:t>
            </a:r>
            <a:r>
              <a:rPr sz="1200" b="0" i="0">
                <a:solidFill>
                  <a:srgbClr val="E3EBEE"/>
                </a:solidFill>
                <a:latin typeface="Consolas"/>
              </a:rPr>
              <a:t> .</a:t>
            </a:r>
          </a:p>
          <a:p>
            <a:pPr>
              <a:lnSpc>
                <a:spcPct val="105000"/>
              </a:lnSpc>
            </a:pPr>
            <a:r>
              <a:rPr sz="1200" b="0" i="0">
                <a:solidFill>
                  <a:srgbClr val="E3EBEE"/>
                </a:solidFill>
                <a:latin typeface="Consolas"/>
              </a:rPr>
              <a:t> </a:t>
            </a:r>
          </a:p>
          <a:p>
            <a:pPr>
              <a:lnSpc>
                <a:spcPct val="105000"/>
              </a:lnSpc>
            </a:pPr>
            <a:r>
              <a:rPr sz="1200" b="0" i="0">
                <a:solidFill>
                  <a:srgbClr val="A8CFF0"/>
                </a:solidFill>
                <a:latin typeface="Consolas"/>
              </a:rPr>
              <a:t>:RebelWithoutACause</a:t>
            </a:r>
            <a:r>
              <a:rPr sz="1200" b="0" i="0">
                <a:solidFill>
                  <a:srgbClr val="E3EBEE"/>
                </a:solidFill>
                <a:latin typeface="Consolas"/>
              </a:rPr>
              <a:t> </a:t>
            </a:r>
            <a:r>
              <a:rPr sz="1200" b="0" i="0">
                <a:solidFill>
                  <a:srgbClr val="A8CFF0"/>
                </a:solidFill>
                <a:latin typeface="Consolas"/>
              </a:rPr>
              <a:t>:genre</a:t>
            </a:r>
            <a:r>
              <a:rPr sz="1200" b="0" i="0">
                <a:solidFill>
                  <a:srgbClr val="E3EBEE"/>
                </a:solidFill>
                <a:latin typeface="Consolas"/>
              </a:rPr>
              <a:t> </a:t>
            </a:r>
            <a:r>
              <a:rPr sz="1200" b="0" i="0">
                <a:solidFill>
                  <a:srgbClr val="A8CFF0"/>
                </a:solidFill>
                <a:latin typeface="Consolas"/>
              </a:rPr>
              <a:t>g:TeenDrama</a:t>
            </a:r>
            <a:r>
              <a:rPr sz="1200" b="0" i="0">
                <a:solidFill>
                  <a:srgbClr val="E3EBEE"/>
                </a:solidFill>
                <a:latin typeface="Consolas"/>
              </a:rPr>
              <a:t> .</a:t>
            </a:r>
          </a:p>
        </p:txBody>
      </p:sp>
      <p:cxnSp>
        <p:nvCxnSpPr>
          <p:cNvPr id="20" name="Edge: exactMatch"/>
          <p:cNvCxnSpPr/>
          <p:nvPr/>
        </p:nvCxnSpPr>
        <p:spPr>
          <a:xfrm>
            <a:off x="8458200" y="3657600"/>
            <a:ext cx="1333195" cy="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576157" y="3511296"/>
            <a:ext cx="1097280"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100" b="1" i="0">
                <a:solidFill>
                  <a:srgbClr val="1F7A6D"/>
                </a:solidFill>
                <a:latin typeface="Consolas"/>
              </a:rPr>
              <a:t>exactMatch</a:t>
            </a:r>
          </a:p>
        </p:txBody>
      </p:sp>
      <p:cxnSp>
        <p:nvCxnSpPr>
          <p:cNvPr id="22" name="Edge: broader"/>
          <p:cNvCxnSpPr/>
          <p:nvPr/>
        </p:nvCxnSpPr>
        <p:spPr>
          <a:xfrm flipV="1">
            <a:off x="7338060" y="3886200"/>
            <a:ext cx="365760" cy="73152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828282" y="4105656"/>
            <a:ext cx="836676"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100" b="1" i="0">
                <a:solidFill>
                  <a:srgbClr val="1F7A6D"/>
                </a:solidFill>
                <a:latin typeface="Consolas"/>
              </a:rPr>
              <a:t>broader</a:t>
            </a:r>
          </a:p>
        </p:txBody>
      </p:sp>
      <p:cxnSp>
        <p:nvCxnSpPr>
          <p:cNvPr id="24" name="Edge: broader"/>
          <p:cNvCxnSpPr/>
          <p:nvPr/>
        </p:nvCxnSpPr>
        <p:spPr>
          <a:xfrm flipH="1" flipV="1">
            <a:off x="8108266" y="3886200"/>
            <a:ext cx="928467" cy="73152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428482" y="4105656"/>
            <a:ext cx="836676"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100" b="1" i="0">
                <a:solidFill>
                  <a:srgbClr val="1F7A6D"/>
                </a:solidFill>
                <a:latin typeface="Consolas"/>
              </a:rPr>
              <a:t>broader</a:t>
            </a:r>
          </a:p>
        </p:txBody>
      </p:sp>
      <p:sp>
        <p:nvSpPr>
          <p:cNvPr id="26" name="Node: g:Drama"/>
          <p:cNvSpPr/>
          <p:nvPr/>
        </p:nvSpPr>
        <p:spPr>
          <a:xfrm>
            <a:off x="7178040" y="3429000"/>
            <a:ext cx="128016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g:Drama</a:t>
            </a:r>
          </a:p>
        </p:txBody>
      </p:sp>
      <p:sp>
        <p:nvSpPr>
          <p:cNvPr id="27" name="Node: lib:DramaFilms"/>
          <p:cNvSpPr/>
          <p:nvPr/>
        </p:nvSpPr>
        <p:spPr>
          <a:xfrm>
            <a:off x="9791395" y="3429000"/>
            <a:ext cx="1783080" cy="457200"/>
          </a:xfrm>
          <a:prstGeom prst="roundRect">
            <a:avLst>
              <a:gd name="adj" fmla="val 50000"/>
            </a:avLst>
          </a:prstGeom>
          <a:solidFill>
            <a:srgbClr val="FFFFFF"/>
          </a:solidFill>
          <a:ln w="19050">
            <a:solidFill>
              <a:srgbClr val="5B6B7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5B6B70"/>
                </a:solidFill>
                <a:latin typeface="Consolas"/>
              </a:rPr>
              <a:t>lib:DramaFilms</a:t>
            </a:r>
          </a:p>
        </p:txBody>
      </p:sp>
      <p:sp>
        <p:nvSpPr>
          <p:cNvPr id="28" name="Node: g:TeenDrama"/>
          <p:cNvSpPr/>
          <p:nvPr/>
        </p:nvSpPr>
        <p:spPr>
          <a:xfrm>
            <a:off x="6469380" y="4617720"/>
            <a:ext cx="150876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g:TeenDrama</a:t>
            </a:r>
          </a:p>
        </p:txBody>
      </p:sp>
      <p:sp>
        <p:nvSpPr>
          <p:cNvPr id="29" name="Node: g:FamilyDrama"/>
          <p:cNvSpPr/>
          <p:nvPr/>
        </p:nvSpPr>
        <p:spPr>
          <a:xfrm>
            <a:off x="8481059" y="4617720"/>
            <a:ext cx="169164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g:FamilyDrama</a:t>
            </a:r>
          </a:p>
        </p:txBody>
      </p:sp>
      <p:sp>
        <p:nvSpPr>
          <p:cNvPr id="30" name="TextBox 29"/>
          <p:cNvSpPr txBox="1"/>
          <p:nvPr/>
        </p:nvSpPr>
        <p:spPr>
          <a:xfrm>
            <a:off x="9722815" y="3977639"/>
            <a:ext cx="1920240" cy="457200"/>
          </a:xfrm>
          <a:prstGeom prst="rect">
            <a:avLst/>
          </a:prstGeom>
          <a:noFill/>
        </p:spPr>
        <p:txBody>
          <a:bodyPr wrap="square" anchor="t" lIns="0" rIns="0" tIns="0" bIns="0">
            <a:noAutofit/>
          </a:bodyPr>
          <a:lstStyle/>
          <a:p>
            <a:pPr algn="r">
              <a:spcAft>
                <a:spcPts val="600"/>
              </a:spcAft>
            </a:pPr>
            <a:r>
              <a:rPr sz="1100" b="0" i="1">
                <a:solidFill>
                  <a:srgbClr val="5B6B70"/>
                </a:solidFill>
                <a:latin typeface="Calibri"/>
              </a:rPr>
              <a:t>another library's vocabulary, linked not merged</a:t>
            </a:r>
          </a:p>
        </p:txBody>
      </p:sp>
      <p:sp>
        <p:nvSpPr>
          <p:cNvPr id="31" name="Adds"/>
          <p:cNvSpPr/>
          <p:nvPr/>
        </p:nvSpPr>
        <p:spPr>
          <a:xfrm>
            <a:off x="548640" y="5669280"/>
            <a:ext cx="5440680" cy="566928"/>
          </a:xfrm>
          <a:prstGeom prst="roundRect">
            <a:avLst>
              <a:gd name="adj" fmla="val 16129"/>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 bIns="18288">
            <a:noAutofit/>
          </a:bodyPr>
          <a:lstStyle/>
          <a:p>
            <a:pPr algn="l"/>
            <a:r>
              <a:rPr sz="1300" b="1" i="0">
                <a:solidFill>
                  <a:srgbClr val="155E54"/>
                </a:solidFill>
                <a:latin typeface="Calibri"/>
              </a:rPr>
              <a:t>Adds to the ontology: </a:t>
            </a:r>
            <a:r>
              <a:rPr sz="1300" b="0" i="0">
                <a:solidFill>
                  <a:srgbClr val="17272E"/>
                </a:solidFill>
                <a:latin typeface="Calibri"/>
              </a:rPr>
              <a:t>shared subject vocabularies for tagging, browsing and search.</a:t>
            </a:r>
          </a:p>
        </p:txBody>
      </p:sp>
      <p:sp>
        <p:nvSpPr>
          <p:cNvPr id="32" name="Missing"/>
          <p:cNvSpPr/>
          <p:nvPr/>
        </p:nvSpPr>
        <p:spPr>
          <a:xfrm>
            <a:off x="6172200" y="5669280"/>
            <a:ext cx="5470855" cy="566928"/>
          </a:xfrm>
          <a:prstGeom prst="roundRect">
            <a:avLst>
              <a:gd name="adj" fmla="val 16129"/>
            </a:avLst>
          </a:prstGeom>
          <a:solidFill>
            <a:srgbClr val="FCF1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 bIns="18288">
            <a:noAutofit/>
          </a:bodyPr>
          <a:lstStyle/>
          <a:p>
            <a:pPr algn="l"/>
            <a:r>
              <a:rPr sz="1300" b="1" i="0">
                <a:solidFill>
                  <a:srgbClr val="17272E"/>
                </a:solidFill>
                <a:latin typeface="Calibri"/>
              </a:rPr>
              <a:t>Still missing: </a:t>
            </a:r>
            <a:r>
              <a:rPr sz="1300" b="0" i="0">
                <a:solidFill>
                  <a:srgbClr val="17272E"/>
                </a:solidFill>
                <a:latin typeface="Calibri"/>
              </a:rPr>
              <a:t>deriving new relationships with if-then logic. Rules do that.</a:t>
            </a:r>
          </a:p>
        </p:txBody>
      </p:sp>
      <p:sp>
        <p:nvSpPr>
          <p:cNvPr id="33"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34"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Derivations: if-then rules beyond OWL</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BUILDING BLOCK 7 OF 8 · DERIVATIONS · RULES</a:t>
            </a:r>
          </a:p>
        </p:txBody>
      </p:sp>
      <p:sp>
        <p:nvSpPr>
          <p:cNvPr id="4" name="Rounded Rectangle 3"/>
          <p:cNvSpPr/>
          <p:nvPr/>
        </p:nvSpPr>
        <p:spPr>
          <a:xfrm>
            <a:off x="5031943"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URI</a:t>
            </a:r>
          </a:p>
        </p:txBody>
      </p:sp>
      <p:sp>
        <p:nvSpPr>
          <p:cNvPr id="5" name="Rounded Rectangle 4"/>
          <p:cNvSpPr/>
          <p:nvPr/>
        </p:nvSpPr>
        <p:spPr>
          <a:xfrm>
            <a:off x="5864047"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RDF</a:t>
            </a:r>
          </a:p>
        </p:txBody>
      </p:sp>
      <p:sp>
        <p:nvSpPr>
          <p:cNvPr id="6" name="Rounded Rectangle 5"/>
          <p:cNvSpPr/>
          <p:nvPr/>
        </p:nvSpPr>
        <p:spPr>
          <a:xfrm>
            <a:off x="6696151"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RDFS</a:t>
            </a:r>
          </a:p>
        </p:txBody>
      </p:sp>
      <p:sp>
        <p:nvSpPr>
          <p:cNvPr id="7" name="Rounded Rectangle 6"/>
          <p:cNvSpPr/>
          <p:nvPr/>
        </p:nvSpPr>
        <p:spPr>
          <a:xfrm>
            <a:off x="7528255"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RDFS-Plus</a:t>
            </a:r>
          </a:p>
        </p:txBody>
      </p:sp>
      <p:sp>
        <p:nvSpPr>
          <p:cNvPr id="8" name="Rounded Rectangle 7"/>
          <p:cNvSpPr/>
          <p:nvPr/>
        </p:nvSpPr>
        <p:spPr>
          <a:xfrm>
            <a:off x="8360359"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OWL</a:t>
            </a:r>
          </a:p>
        </p:txBody>
      </p:sp>
      <p:sp>
        <p:nvSpPr>
          <p:cNvPr id="9" name="Rounded Rectangle 8"/>
          <p:cNvSpPr/>
          <p:nvPr/>
        </p:nvSpPr>
        <p:spPr>
          <a:xfrm>
            <a:off x="9192463"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SKOS</a:t>
            </a:r>
          </a:p>
        </p:txBody>
      </p:sp>
      <p:sp>
        <p:nvSpPr>
          <p:cNvPr id="10" name="Rounded Rectangle 9"/>
          <p:cNvSpPr/>
          <p:nvPr/>
        </p:nvSpPr>
        <p:spPr>
          <a:xfrm>
            <a:off x="10024567" y="329184"/>
            <a:ext cx="786384" cy="246888"/>
          </a:xfrm>
          <a:prstGeom prst="roundRect">
            <a:avLst>
              <a:gd name="adj" fmla="val 50000"/>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7272E"/>
                </a:solidFill>
                <a:latin typeface="Calibri"/>
              </a:rPr>
              <a:t>Rules</a:t>
            </a:r>
          </a:p>
        </p:txBody>
      </p:sp>
      <p:sp>
        <p:nvSpPr>
          <p:cNvPr id="11" name="Rounded Rectangle 10"/>
          <p:cNvSpPr/>
          <p:nvPr/>
        </p:nvSpPr>
        <p:spPr>
          <a:xfrm>
            <a:off x="10856671" y="329184"/>
            <a:ext cx="786384" cy="246888"/>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5B6B70"/>
                </a:solidFill>
                <a:latin typeface="Calibri"/>
              </a:rPr>
              <a:t>SPARQL</a:t>
            </a:r>
          </a:p>
        </p:txBody>
      </p:sp>
      <p:sp>
        <p:nvSpPr>
          <p:cNvPr id="12" name="TextBox 11"/>
          <p:cNvSpPr txBox="1"/>
          <p:nvPr/>
        </p:nvSpPr>
        <p:spPr>
          <a:xfrm>
            <a:off x="548640" y="1572768"/>
            <a:ext cx="5440680"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WHAT IT IS</a:t>
            </a:r>
          </a:p>
        </p:txBody>
      </p:sp>
      <p:sp>
        <p:nvSpPr>
          <p:cNvPr id="13" name="TextBox 12"/>
          <p:cNvSpPr txBox="1"/>
          <p:nvPr/>
        </p:nvSpPr>
        <p:spPr>
          <a:xfrm>
            <a:off x="548640" y="1865376"/>
            <a:ext cx="5440680" cy="1444751"/>
          </a:xfrm>
          <a:prstGeom prst="rect">
            <a:avLst/>
          </a:prstGeom>
          <a:noFill/>
        </p:spPr>
        <p:txBody>
          <a:bodyPr wrap="square" anchor="t" lIns="0" rIns="0" tIns="0" bIns="0">
            <a:noAutofit/>
          </a:bodyPr>
          <a:lstStyle/>
          <a:p>
            <a:pPr algn="l">
              <a:spcAft>
                <a:spcPts val="600"/>
              </a:spcAft>
            </a:pPr>
            <a:r>
              <a:rPr sz="1400" b="0" i="0">
                <a:solidFill>
                  <a:srgbClr val="17272E"/>
                </a:solidFill>
                <a:latin typeface="Calibri"/>
              </a:rPr>
              <a:t>A rule says: IF this pattern is in the graph, THEN add that triple. RIF, the Rule Interchange Format (W3C, 2010), is the standard for exchanging rules between rule engines. In practice, rules are often written as SPARQL CONSTRUCT queries or in an engine's own rule language.</a:t>
            </a:r>
          </a:p>
        </p:txBody>
      </p:sp>
      <p:sp>
        <p:nvSpPr>
          <p:cNvPr id="14" name="TextBox 13"/>
          <p:cNvSpPr txBox="1"/>
          <p:nvPr/>
        </p:nvSpPr>
        <p:spPr>
          <a:xfrm>
            <a:off x="548640" y="3291840"/>
            <a:ext cx="5440680"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WHAT TO KNOW</a:t>
            </a:r>
          </a:p>
        </p:txBody>
      </p:sp>
      <p:sp>
        <p:nvSpPr>
          <p:cNvPr id="15" name="TextBox 14"/>
          <p:cNvSpPr txBox="1"/>
          <p:nvPr/>
        </p:nvSpPr>
        <p:spPr>
          <a:xfrm>
            <a:off x="548640" y="3584448"/>
            <a:ext cx="5440680" cy="1993392"/>
          </a:xfrm>
          <a:prstGeom prst="rect">
            <a:avLst/>
          </a:prstGeom>
          <a:noFill/>
        </p:spPr>
        <p:txBody>
          <a:bodyPr wrap="square" anchor="t" lIns="0" rIns="0" tIns="0" bIns="0">
            <a:noAutofit/>
          </a:bodyPr>
          <a:lstStyle/>
          <a:p>
            <a:pPr algn="l" marL="228600" indent="-228600">
              <a:spcAft>
                <a:spcPts val="500"/>
              </a:spcAft>
              <a:buClr>
                <a:srgbClr val="1F7A6D"/>
              </a:buClr>
              <a:buFont typeface="Arial"/>
              <a:buChar char="•"/>
            </a:pPr>
            <a:r>
              <a:rPr sz="1300" b="1" i="0">
                <a:solidFill>
                  <a:srgbClr val="155E54"/>
                </a:solidFill>
                <a:latin typeface="Calibri"/>
              </a:rPr>
              <a:t>Rules run the other layers</a:t>
            </a:r>
            <a:r>
              <a:rPr sz="1300" b="0" i="0">
                <a:solidFill>
                  <a:srgbClr val="17272E"/>
                </a:solidFill>
                <a:latin typeface="Calibri"/>
              </a:rPr>
              <a:t>  RDFS and OWL RL are rule sets; owlrl, used for this deck, runs OWL as rules.</a:t>
            </a:r>
          </a:p>
          <a:p>
            <a:pPr algn="l" marL="228600" indent="-228600">
              <a:spcAft>
                <a:spcPts val="500"/>
              </a:spcAft>
              <a:buClr>
                <a:srgbClr val="1F7A6D"/>
              </a:buClr>
              <a:buFont typeface="Arial"/>
              <a:buChar char="•"/>
            </a:pPr>
            <a:r>
              <a:rPr sz="1300" b="1" i="0">
                <a:solidFill>
                  <a:srgbClr val="155E54"/>
                </a:solidFill>
                <a:latin typeface="Calibri"/>
              </a:rPr>
              <a:t>Use them to derive</a:t>
            </a:r>
            <a:r>
              <a:rPr sz="1300" b="0" i="0">
                <a:solidFill>
                  <a:srgbClr val="17272E"/>
                </a:solidFill>
                <a:latin typeface="Calibri"/>
              </a:rPr>
              <a:t>  “worked with” = starred in a movie someone directed.</a:t>
            </a:r>
          </a:p>
          <a:p>
            <a:pPr algn="l" marL="228600" indent="-228600">
              <a:spcAft>
                <a:spcPts val="500"/>
              </a:spcAft>
              <a:buClr>
                <a:srgbClr val="1F7A6D"/>
              </a:buClr>
              <a:buFont typeface="Arial"/>
              <a:buChar char="•"/>
            </a:pPr>
            <a:r>
              <a:rPr sz="1300" b="1" i="0">
                <a:solidFill>
                  <a:srgbClr val="155E54"/>
                </a:solidFill>
                <a:latin typeface="Calibri"/>
              </a:rPr>
              <a:t>OWL 2 covers some rules</a:t>
            </a:r>
            <a:r>
              <a:rPr sz="1300" b="0" i="0">
                <a:solidFill>
                  <a:srgbClr val="17272E"/>
                </a:solidFill>
                <a:latin typeface="Calibri"/>
              </a:rPr>
              <a:t>  property chains and keys express common rules as axioms.</a:t>
            </a:r>
          </a:p>
          <a:p>
            <a:pPr algn="l" marL="228600" indent="-228600">
              <a:spcAft>
                <a:spcPts val="500"/>
              </a:spcAft>
              <a:buClr>
                <a:srgbClr val="1F7A6D"/>
              </a:buClr>
              <a:buFont typeface="Arial"/>
              <a:buChar char="•"/>
            </a:pPr>
            <a:r>
              <a:rPr sz="1300" b="1" i="0">
                <a:solidFill>
                  <a:srgbClr val="155E54"/>
                </a:solidFill>
                <a:latin typeface="Calibri"/>
              </a:rPr>
              <a:t>Trade-off</a:t>
            </a:r>
            <a:r>
              <a:rPr sz="1300" b="0" i="0">
                <a:solidFill>
                  <a:srgbClr val="17272E"/>
                </a:solidFill>
                <a:latin typeface="Calibri"/>
              </a:rPr>
              <a:t>  large rule sets are hard to maintain, and unrestricted rules carry no guarantee of an answer.</a:t>
            </a:r>
          </a:p>
        </p:txBody>
      </p:sp>
      <p:sp>
        <p:nvSpPr>
          <p:cNvPr id="16" name="TextBox 15"/>
          <p:cNvSpPr txBox="1"/>
          <p:nvPr/>
        </p:nvSpPr>
        <p:spPr>
          <a:xfrm>
            <a:off x="6355080" y="1572768"/>
            <a:ext cx="5287975"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AS A RULE: SPARQL CONSTRUCT</a:t>
            </a:r>
          </a:p>
        </p:txBody>
      </p:sp>
      <p:sp>
        <p:nvSpPr>
          <p:cNvPr id="17" name="Code: SPARQL"/>
          <p:cNvSpPr/>
          <p:nvPr/>
        </p:nvSpPr>
        <p:spPr>
          <a:xfrm>
            <a:off x="6355080" y="1847088"/>
            <a:ext cx="5287975" cy="1508760"/>
          </a:xfrm>
          <a:prstGeom prst="roundRect">
            <a:avLst>
              <a:gd name="adj" fmla="val 7272"/>
            </a:avLst>
          </a:prstGeom>
          <a:solidFill>
            <a:srgbClr val="1C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180015" y="1956816"/>
            <a:ext cx="1280160" cy="228600"/>
          </a:xfrm>
          <a:prstGeom prst="rect">
            <a:avLst/>
          </a:prstGeom>
          <a:noFill/>
        </p:spPr>
        <p:txBody>
          <a:bodyPr wrap="square" anchor="t" lIns="0" rIns="0" tIns="0" bIns="0">
            <a:noAutofit/>
          </a:bodyPr>
          <a:lstStyle/>
          <a:p>
            <a:pPr algn="r">
              <a:spcAft>
                <a:spcPts val="600"/>
              </a:spcAft>
            </a:pPr>
            <a:r>
              <a:rPr sz="1000" b="1" i="0">
                <a:solidFill>
                  <a:srgbClr val="869AA0"/>
                </a:solidFill>
                <a:latin typeface="Calibri"/>
              </a:rPr>
              <a:t>SPARQL</a:t>
            </a:r>
          </a:p>
        </p:txBody>
      </p:sp>
      <p:sp>
        <p:nvSpPr>
          <p:cNvPr id="19" name="TextBox 18"/>
          <p:cNvSpPr txBox="1"/>
          <p:nvPr/>
        </p:nvSpPr>
        <p:spPr>
          <a:xfrm>
            <a:off x="6583680" y="2048256"/>
            <a:ext cx="4830775" cy="1143000"/>
          </a:xfrm>
          <a:prstGeom prst="rect">
            <a:avLst/>
          </a:prstGeom>
          <a:noFill/>
        </p:spPr>
        <p:txBody>
          <a:bodyPr wrap="none" lIns="0" rIns="0" tIns="0" bIns="0">
            <a:noAutofit/>
          </a:bodyPr>
          <a:lstStyle/>
          <a:p>
            <a:pPr>
              <a:lnSpc>
                <a:spcPct val="105000"/>
              </a:lnSpc>
            </a:pPr>
            <a:r>
              <a:rPr sz="1100" b="1" i="0">
                <a:solidFill>
                  <a:srgbClr val="F2B866"/>
                </a:solidFill>
                <a:latin typeface="Consolas"/>
              </a:rPr>
              <a:t>PREFIX</a:t>
            </a:r>
            <a:r>
              <a:rPr sz="1100" b="0" i="0">
                <a:solidFill>
                  <a:srgbClr val="E3EBEE"/>
                </a:solidFill>
                <a:latin typeface="Consolas"/>
              </a:rPr>
              <a:t> : </a:t>
            </a:r>
            <a:r>
              <a:rPr sz="1100" b="0" i="0">
                <a:solidFill>
                  <a:srgbClr val="9AB0B8"/>
                </a:solidFill>
                <a:latin typeface="Consolas"/>
              </a:rPr>
              <a:t>&lt;http://studio.example/&gt;</a:t>
            </a:r>
          </a:p>
          <a:p>
            <a:pPr>
              <a:lnSpc>
                <a:spcPct val="105000"/>
              </a:lnSpc>
            </a:pPr>
            <a:r>
              <a:rPr sz="1100" b="0" i="0">
                <a:solidFill>
                  <a:srgbClr val="E3EBEE"/>
                </a:solidFill>
                <a:latin typeface="Consolas"/>
              </a:rPr>
              <a:t> </a:t>
            </a:r>
          </a:p>
          <a:p>
            <a:pPr>
              <a:lnSpc>
                <a:spcPct val="105000"/>
              </a:lnSpc>
            </a:pPr>
            <a:r>
              <a:rPr sz="1100" b="1" i="0">
                <a:solidFill>
                  <a:srgbClr val="F2B866"/>
                </a:solidFill>
                <a:latin typeface="Consolas"/>
              </a:rPr>
              <a:t>CONSTRUCT</a:t>
            </a:r>
            <a:r>
              <a:rPr sz="1100" b="0" i="0">
                <a:solidFill>
                  <a:srgbClr val="E3EBEE"/>
                </a:solidFill>
                <a:latin typeface="Consolas"/>
              </a:rPr>
              <a:t> { </a:t>
            </a:r>
            <a:r>
              <a:rPr sz="1100" b="1" i="0">
                <a:solidFill>
                  <a:srgbClr val="7FD1C1"/>
                </a:solidFill>
                <a:latin typeface="Consolas"/>
              </a:rPr>
              <a:t>?actor</a:t>
            </a:r>
            <a:r>
              <a:rPr sz="1100" b="0" i="0">
                <a:solidFill>
                  <a:srgbClr val="E3EBEE"/>
                </a:solidFill>
                <a:latin typeface="Consolas"/>
              </a:rPr>
              <a:t> </a:t>
            </a:r>
            <a:r>
              <a:rPr sz="1100" b="0" i="0">
                <a:solidFill>
                  <a:srgbClr val="A8CFF0"/>
                </a:solidFill>
                <a:latin typeface="Consolas"/>
              </a:rPr>
              <a:t>:workedWith</a:t>
            </a:r>
            <a:r>
              <a:rPr sz="1100" b="0" i="0">
                <a:solidFill>
                  <a:srgbClr val="E3EBEE"/>
                </a:solidFill>
                <a:latin typeface="Consolas"/>
              </a:rPr>
              <a:t> </a:t>
            </a:r>
            <a:r>
              <a:rPr sz="1100" b="1" i="0">
                <a:solidFill>
                  <a:srgbClr val="7FD1C1"/>
                </a:solidFill>
                <a:latin typeface="Consolas"/>
              </a:rPr>
              <a:t>?director</a:t>
            </a:r>
            <a:r>
              <a:rPr sz="1100" b="0" i="0">
                <a:solidFill>
                  <a:srgbClr val="E3EBEE"/>
                </a:solidFill>
                <a:latin typeface="Consolas"/>
              </a:rPr>
              <a:t> }</a:t>
            </a:r>
          </a:p>
          <a:p>
            <a:pPr>
              <a:lnSpc>
                <a:spcPct val="105000"/>
              </a:lnSpc>
            </a:pPr>
            <a:r>
              <a:rPr sz="1100" b="1" i="0">
                <a:solidFill>
                  <a:srgbClr val="F2B866"/>
                </a:solidFill>
                <a:latin typeface="Consolas"/>
              </a:rPr>
              <a:t>WHERE</a:t>
            </a:r>
            <a:r>
              <a:rPr sz="1100" b="0" i="0">
                <a:solidFill>
                  <a:srgbClr val="E3EBEE"/>
                </a:solidFill>
                <a:latin typeface="Consolas"/>
              </a:rPr>
              <a:t> {</a:t>
            </a:r>
          </a:p>
          <a:p>
            <a:pPr>
              <a:lnSpc>
                <a:spcPct val="105000"/>
              </a:lnSpc>
            </a:pPr>
            <a:r>
              <a:rPr sz="1100" b="0" i="0">
                <a:solidFill>
                  <a:srgbClr val="E3EBEE"/>
                </a:solidFill>
                <a:latin typeface="Consolas"/>
              </a:rPr>
              <a:t>  </a:t>
            </a:r>
            <a:r>
              <a:rPr sz="1100" b="1" i="0">
                <a:solidFill>
                  <a:srgbClr val="7FD1C1"/>
                </a:solidFill>
                <a:latin typeface="Consolas"/>
              </a:rPr>
              <a:t>?movie</a:t>
            </a:r>
            <a:r>
              <a:rPr sz="1100" b="0" i="0">
                <a:solidFill>
                  <a:srgbClr val="E3EBEE"/>
                </a:solidFill>
                <a:latin typeface="Consolas"/>
              </a:rPr>
              <a:t> </a:t>
            </a:r>
            <a:r>
              <a:rPr sz="1100" b="0" i="0">
                <a:solidFill>
                  <a:srgbClr val="A8CFF0"/>
                </a:solidFill>
                <a:latin typeface="Consolas"/>
              </a:rPr>
              <a:t>:starring</a:t>
            </a:r>
            <a:r>
              <a:rPr sz="1100" b="0" i="0">
                <a:solidFill>
                  <a:srgbClr val="E3EBEE"/>
                </a:solidFill>
                <a:latin typeface="Consolas"/>
              </a:rPr>
              <a:t>   </a:t>
            </a:r>
            <a:r>
              <a:rPr sz="1100" b="1" i="0">
                <a:solidFill>
                  <a:srgbClr val="7FD1C1"/>
                </a:solidFill>
                <a:latin typeface="Consolas"/>
              </a:rPr>
              <a:t>?actor</a:t>
            </a:r>
            <a:r>
              <a:rPr sz="1100" b="0" i="0">
                <a:solidFill>
                  <a:srgbClr val="E3EBEE"/>
                </a:solidFill>
                <a:latin typeface="Consolas"/>
              </a:rPr>
              <a:t> ;</a:t>
            </a:r>
          </a:p>
          <a:p>
            <a:pPr>
              <a:lnSpc>
                <a:spcPct val="105000"/>
              </a:lnSpc>
            </a:pPr>
            <a:r>
              <a:rPr sz="1100" b="0" i="0">
                <a:solidFill>
                  <a:srgbClr val="E3EBEE"/>
                </a:solidFill>
                <a:latin typeface="Consolas"/>
              </a:rPr>
              <a:t>         </a:t>
            </a:r>
            <a:r>
              <a:rPr sz="1100" b="0" i="0">
                <a:solidFill>
                  <a:srgbClr val="A8CFF0"/>
                </a:solidFill>
                <a:latin typeface="Consolas"/>
              </a:rPr>
              <a:t>:directedBy</a:t>
            </a:r>
            <a:r>
              <a:rPr sz="1100" b="0" i="0">
                <a:solidFill>
                  <a:srgbClr val="E3EBEE"/>
                </a:solidFill>
                <a:latin typeface="Consolas"/>
              </a:rPr>
              <a:t> </a:t>
            </a:r>
            <a:r>
              <a:rPr sz="1100" b="1" i="0">
                <a:solidFill>
                  <a:srgbClr val="7FD1C1"/>
                </a:solidFill>
                <a:latin typeface="Consolas"/>
              </a:rPr>
              <a:t>?director</a:t>
            </a:r>
            <a:r>
              <a:rPr sz="1100" b="0" i="0">
                <a:solidFill>
                  <a:srgbClr val="E3EBEE"/>
                </a:solidFill>
                <a:latin typeface="Consolas"/>
              </a:rPr>
              <a:t> .</a:t>
            </a:r>
          </a:p>
          <a:p>
            <a:pPr>
              <a:lnSpc>
                <a:spcPct val="105000"/>
              </a:lnSpc>
            </a:pPr>
            <a:r>
              <a:rPr sz="1100" b="0" i="0">
                <a:solidFill>
                  <a:srgbClr val="E3EBEE"/>
                </a:solidFill>
                <a:latin typeface="Consolas"/>
              </a:rPr>
              <a:t>}</a:t>
            </a:r>
          </a:p>
        </p:txBody>
      </p:sp>
      <p:sp>
        <p:nvSpPr>
          <p:cNvPr id="20" name="TextBox 19"/>
          <p:cNvSpPr txBox="1"/>
          <p:nvPr/>
        </p:nvSpPr>
        <p:spPr>
          <a:xfrm>
            <a:off x="6355080" y="3447288"/>
            <a:ext cx="5287975"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AS AN OWL 2 AXIOM: PROPERTY CHAIN</a:t>
            </a:r>
          </a:p>
        </p:txBody>
      </p:sp>
      <p:sp>
        <p:nvSpPr>
          <p:cNvPr id="21" name="Code: Turtle"/>
          <p:cNvSpPr/>
          <p:nvPr/>
        </p:nvSpPr>
        <p:spPr>
          <a:xfrm>
            <a:off x="6355080" y="3721608"/>
            <a:ext cx="5287975" cy="685800"/>
          </a:xfrm>
          <a:prstGeom prst="roundRect">
            <a:avLst>
              <a:gd name="adj" fmla="val 16000"/>
            </a:avLst>
          </a:prstGeom>
          <a:solidFill>
            <a:srgbClr val="1C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180015" y="3831336"/>
            <a:ext cx="1280160" cy="228600"/>
          </a:xfrm>
          <a:prstGeom prst="rect">
            <a:avLst/>
          </a:prstGeom>
          <a:noFill/>
        </p:spPr>
        <p:txBody>
          <a:bodyPr wrap="square" anchor="t" lIns="0" rIns="0" tIns="0" bIns="0">
            <a:noAutofit/>
          </a:bodyPr>
          <a:lstStyle/>
          <a:p>
            <a:pPr algn="r">
              <a:spcAft>
                <a:spcPts val="600"/>
              </a:spcAft>
            </a:pPr>
            <a:r>
              <a:rPr sz="1000" b="1" i="0">
                <a:solidFill>
                  <a:srgbClr val="869AA0"/>
                </a:solidFill>
                <a:latin typeface="Calibri"/>
              </a:rPr>
              <a:t>TURTLE</a:t>
            </a:r>
          </a:p>
        </p:txBody>
      </p:sp>
      <p:sp>
        <p:nvSpPr>
          <p:cNvPr id="23" name="TextBox 22"/>
          <p:cNvSpPr txBox="1"/>
          <p:nvPr/>
        </p:nvSpPr>
        <p:spPr>
          <a:xfrm>
            <a:off x="6583680" y="3922776"/>
            <a:ext cx="4830775" cy="320040"/>
          </a:xfrm>
          <a:prstGeom prst="rect">
            <a:avLst/>
          </a:prstGeom>
          <a:noFill/>
        </p:spPr>
        <p:txBody>
          <a:bodyPr wrap="none" lIns="0" rIns="0" tIns="0" bIns="0">
            <a:noAutofit/>
          </a:bodyPr>
          <a:lstStyle/>
          <a:p>
            <a:pPr>
              <a:lnSpc>
                <a:spcPct val="105000"/>
              </a:lnSpc>
            </a:pPr>
            <a:r>
              <a:rPr sz="1100" b="0" i="0">
                <a:solidFill>
                  <a:srgbClr val="A8CFF0"/>
                </a:solidFill>
                <a:latin typeface="Consolas"/>
              </a:rPr>
              <a:t>:starredIn</a:t>
            </a:r>
            <a:r>
              <a:rPr sz="1100" b="0" i="0">
                <a:solidFill>
                  <a:srgbClr val="E3EBEE"/>
                </a:solidFill>
                <a:latin typeface="Consolas"/>
              </a:rPr>
              <a:t>  </a:t>
            </a:r>
            <a:r>
              <a:rPr sz="1100" b="0" i="0">
                <a:solidFill>
                  <a:srgbClr val="A8CFF0"/>
                </a:solidFill>
                <a:latin typeface="Consolas"/>
              </a:rPr>
              <a:t>owl:inverseOf</a:t>
            </a:r>
            <a:r>
              <a:rPr sz="1100" b="0" i="0">
                <a:solidFill>
                  <a:srgbClr val="E3EBEE"/>
                </a:solidFill>
                <a:latin typeface="Consolas"/>
              </a:rPr>
              <a:t> </a:t>
            </a:r>
            <a:r>
              <a:rPr sz="1100" b="0" i="0">
                <a:solidFill>
                  <a:srgbClr val="A8CFF0"/>
                </a:solidFill>
                <a:latin typeface="Consolas"/>
              </a:rPr>
              <a:t>:starring</a:t>
            </a:r>
            <a:r>
              <a:rPr sz="1100" b="0" i="0">
                <a:solidFill>
                  <a:srgbClr val="E3EBEE"/>
                </a:solidFill>
                <a:latin typeface="Consolas"/>
              </a:rPr>
              <a:t> .</a:t>
            </a:r>
          </a:p>
          <a:p>
            <a:pPr>
              <a:lnSpc>
                <a:spcPct val="105000"/>
              </a:lnSpc>
            </a:pPr>
            <a:r>
              <a:rPr sz="1100" b="0" i="0">
                <a:solidFill>
                  <a:srgbClr val="A8CFF0"/>
                </a:solidFill>
                <a:latin typeface="Consolas"/>
              </a:rPr>
              <a:t>:workedWith</a:t>
            </a:r>
            <a:r>
              <a:rPr sz="1100" b="0" i="0">
                <a:solidFill>
                  <a:srgbClr val="E3EBEE"/>
                </a:solidFill>
                <a:latin typeface="Consolas"/>
              </a:rPr>
              <a:t> </a:t>
            </a:r>
            <a:r>
              <a:rPr sz="1100" b="0" i="0">
                <a:solidFill>
                  <a:srgbClr val="A8CFF0"/>
                </a:solidFill>
                <a:latin typeface="Consolas"/>
              </a:rPr>
              <a:t>owl:propertyChainAxiom</a:t>
            </a:r>
            <a:r>
              <a:rPr sz="1100" b="0" i="0">
                <a:solidFill>
                  <a:srgbClr val="E3EBEE"/>
                </a:solidFill>
                <a:latin typeface="Consolas"/>
              </a:rPr>
              <a:t> ( </a:t>
            </a:r>
            <a:r>
              <a:rPr sz="1100" b="0" i="0">
                <a:solidFill>
                  <a:srgbClr val="A8CFF0"/>
                </a:solidFill>
                <a:latin typeface="Consolas"/>
              </a:rPr>
              <a:t>:starredIn</a:t>
            </a:r>
            <a:r>
              <a:rPr sz="1100" b="0" i="0">
                <a:solidFill>
                  <a:srgbClr val="E3EBEE"/>
                </a:solidFill>
                <a:latin typeface="Consolas"/>
              </a:rPr>
              <a:t> </a:t>
            </a:r>
            <a:r>
              <a:rPr sz="1100" b="0" i="0">
                <a:solidFill>
                  <a:srgbClr val="A8CFF0"/>
                </a:solidFill>
                <a:latin typeface="Consolas"/>
              </a:rPr>
              <a:t>:directedBy</a:t>
            </a:r>
            <a:r>
              <a:rPr sz="1100" b="0" i="0">
                <a:solidFill>
                  <a:srgbClr val="E3EBEE"/>
                </a:solidFill>
                <a:latin typeface="Consolas"/>
              </a:rPr>
              <a:t> ) .</a:t>
            </a:r>
          </a:p>
        </p:txBody>
      </p:sp>
      <p:graphicFrame>
        <p:nvGraphicFramePr>
          <p:cNvPr id="24" name="Table 23"/>
          <p:cNvGraphicFramePr>
            <a:graphicFrameLocks noGrp="1"/>
          </p:cNvGraphicFramePr>
          <p:nvPr/>
        </p:nvGraphicFramePr>
        <p:xfrm>
          <a:off x="6355080" y="4526280"/>
          <a:ext cx="5287975" cy="987552"/>
        </p:xfrm>
        <a:graphic>
          <a:graphicData uri="http://schemas.openxmlformats.org/drawingml/2006/table">
            <a:tbl>
              <a:tblPr firstRow="0" bandRow="0">
                <a:tableStyleId>{5C22544A-7EE6-4342-B048-85BDC9FD1C3A}</a:tableStyleId>
              </a:tblPr>
              <a:tblGrid>
                <a:gridCol w="1600200"/>
                <a:gridCol w="1600200"/>
                <a:gridCol w="2087575"/>
              </a:tblGrid>
              <a:tr h="246888">
                <a:tc>
                  <a:txBody>
                    <a:bodyPr wrap="square"/>
                    <a:lstStyle/>
                    <a:p>
                      <a:r>
                        <a:rPr sz="1100" b="1" i="0">
                          <a:solidFill>
                            <a:srgbClr val="FFFFFF"/>
                          </a:solidFill>
                          <a:latin typeface="Calibri"/>
                        </a:rPr>
                        <a:t>subject</a:t>
                      </a:r>
                    </a:p>
                  </a:txBody>
                  <a:tcPr marL="91440" marR="91440" marT="27432" marB="27432" anchor="ctr">
                    <a:solidFill>
                      <a:srgbClr val="E0952B"/>
                    </a:solidFill>
                  </a:tcPr>
                </a:tc>
                <a:tc>
                  <a:txBody>
                    <a:bodyPr wrap="square"/>
                    <a:lstStyle/>
                    <a:p>
                      <a:r>
                        <a:rPr sz="1100" b="1" i="0">
                          <a:solidFill>
                            <a:srgbClr val="FFFFFF"/>
                          </a:solidFill>
                          <a:latin typeface="Calibri"/>
                        </a:rPr>
                        <a:t>predicate</a:t>
                      </a:r>
                    </a:p>
                  </a:txBody>
                  <a:tcPr marL="91440" marR="91440" marT="27432" marB="27432" anchor="ctr">
                    <a:solidFill>
                      <a:srgbClr val="E0952B"/>
                    </a:solidFill>
                  </a:tcPr>
                </a:tc>
                <a:tc>
                  <a:txBody>
                    <a:bodyPr wrap="square"/>
                    <a:lstStyle/>
                    <a:p>
                      <a:r>
                        <a:rPr sz="1100" b="1" i="0">
                          <a:solidFill>
                            <a:srgbClr val="FFFFFF"/>
                          </a:solidFill>
                          <a:latin typeface="Calibri"/>
                        </a:rPr>
                        <a:t>object</a:t>
                      </a:r>
                    </a:p>
                  </a:txBody>
                  <a:tcPr marL="91440" marR="91440" marT="27432" marB="27432" anchor="ctr">
                    <a:solidFill>
                      <a:srgbClr val="E0952B"/>
                    </a:solidFill>
                  </a:tcPr>
                </a:tc>
              </a:tr>
              <a:tr h="246888">
                <a:tc>
                  <a:txBody>
                    <a:bodyPr wrap="square"/>
                    <a:lstStyle/>
                    <a:p>
                      <a:r>
                        <a:rPr sz="1000" b="0" i="0">
                          <a:solidFill>
                            <a:srgbClr val="17272E"/>
                          </a:solidFill>
                          <a:latin typeface="Consolas"/>
                        </a:rPr>
                        <a:t>:JamesDean</a:t>
                      </a:r>
                    </a:p>
                  </a:txBody>
                  <a:tcPr marL="91440" marR="91440" marT="27432" marB="27432" anchor="ctr">
                    <a:solidFill>
                      <a:srgbClr val="FFFFFF"/>
                    </a:solidFill>
                  </a:tcPr>
                </a:tc>
                <a:tc>
                  <a:txBody>
                    <a:bodyPr wrap="square"/>
                    <a:lstStyle/>
                    <a:p>
                      <a:r>
                        <a:rPr sz="1000" b="0" i="0">
                          <a:solidFill>
                            <a:srgbClr val="17272E"/>
                          </a:solidFill>
                          <a:latin typeface="Consolas"/>
                        </a:rPr>
                        <a:t>:workedWith</a:t>
                      </a:r>
                    </a:p>
                  </a:txBody>
                  <a:tcPr marL="91440" marR="91440" marT="27432" marB="27432" anchor="ctr">
                    <a:solidFill>
                      <a:srgbClr val="FFFFFF"/>
                    </a:solidFill>
                  </a:tcPr>
                </a:tc>
                <a:tc>
                  <a:txBody>
                    <a:bodyPr wrap="square"/>
                    <a:lstStyle/>
                    <a:p>
                      <a:r>
                        <a:rPr sz="1000" b="0" i="0">
                          <a:solidFill>
                            <a:srgbClr val="17272E"/>
                          </a:solidFill>
                          <a:latin typeface="Consolas"/>
                        </a:rPr>
                        <a:t>:EliaKazan</a:t>
                      </a:r>
                    </a:p>
                  </a:txBody>
                  <a:tcPr marL="91440" marR="91440" marT="27432" marB="27432" anchor="ctr">
                    <a:solidFill>
                      <a:srgbClr val="FFFFFF"/>
                    </a:solidFill>
                  </a:tcPr>
                </a:tc>
              </a:tr>
              <a:tr h="246888">
                <a:tc>
                  <a:txBody>
                    <a:bodyPr wrap="square"/>
                    <a:lstStyle/>
                    <a:p>
                      <a:r>
                        <a:rPr sz="1000" b="0" i="0">
                          <a:solidFill>
                            <a:srgbClr val="17272E"/>
                          </a:solidFill>
                          <a:latin typeface="Consolas"/>
                        </a:rPr>
                        <a:t>:JamesDean</a:t>
                      </a:r>
                    </a:p>
                  </a:txBody>
                  <a:tcPr marL="91440" marR="91440" marT="27432" marB="27432" anchor="ctr">
                    <a:solidFill>
                      <a:srgbClr val="EAF3F0"/>
                    </a:solidFill>
                  </a:tcPr>
                </a:tc>
                <a:tc>
                  <a:txBody>
                    <a:bodyPr wrap="square"/>
                    <a:lstStyle/>
                    <a:p>
                      <a:r>
                        <a:rPr sz="1000" b="0" i="0">
                          <a:solidFill>
                            <a:srgbClr val="17272E"/>
                          </a:solidFill>
                          <a:latin typeface="Consolas"/>
                        </a:rPr>
                        <a:t>:workedWith</a:t>
                      </a:r>
                    </a:p>
                  </a:txBody>
                  <a:tcPr marL="91440" marR="91440" marT="27432" marB="27432" anchor="ctr">
                    <a:solidFill>
                      <a:srgbClr val="EAF3F0"/>
                    </a:solidFill>
                  </a:tcPr>
                </a:tc>
                <a:tc>
                  <a:txBody>
                    <a:bodyPr wrap="square"/>
                    <a:lstStyle/>
                    <a:p>
                      <a:r>
                        <a:rPr sz="1000" b="0" i="0">
                          <a:solidFill>
                            <a:srgbClr val="17272E"/>
                          </a:solidFill>
                          <a:latin typeface="Consolas"/>
                        </a:rPr>
                        <a:t>:GeorgeStevens</a:t>
                      </a:r>
                    </a:p>
                  </a:txBody>
                  <a:tcPr marL="91440" marR="91440" marT="27432" marB="27432" anchor="ctr">
                    <a:solidFill>
                      <a:srgbClr val="EAF3F0"/>
                    </a:solidFill>
                  </a:tcPr>
                </a:tc>
              </a:tr>
              <a:tr h="246888">
                <a:tc>
                  <a:txBody>
                    <a:bodyPr wrap="square"/>
                    <a:lstStyle/>
                    <a:p>
                      <a:r>
                        <a:rPr sz="1000" b="0" i="0">
                          <a:solidFill>
                            <a:srgbClr val="17272E"/>
                          </a:solidFill>
                          <a:latin typeface="Consolas"/>
                        </a:rPr>
                        <a:t>:JamesDean</a:t>
                      </a:r>
                    </a:p>
                  </a:txBody>
                  <a:tcPr marL="91440" marR="91440" marT="27432" marB="27432" anchor="ctr">
                    <a:solidFill>
                      <a:srgbClr val="FFFFFF"/>
                    </a:solidFill>
                  </a:tcPr>
                </a:tc>
                <a:tc>
                  <a:txBody>
                    <a:bodyPr wrap="square"/>
                    <a:lstStyle/>
                    <a:p>
                      <a:r>
                        <a:rPr sz="1000" b="0" i="0">
                          <a:solidFill>
                            <a:srgbClr val="17272E"/>
                          </a:solidFill>
                          <a:latin typeface="Consolas"/>
                        </a:rPr>
                        <a:t>:workedWith</a:t>
                      </a:r>
                    </a:p>
                  </a:txBody>
                  <a:tcPr marL="91440" marR="91440" marT="27432" marB="27432" anchor="ctr">
                    <a:solidFill>
                      <a:srgbClr val="FFFFFF"/>
                    </a:solidFill>
                  </a:tcPr>
                </a:tc>
                <a:tc>
                  <a:txBody>
                    <a:bodyPr wrap="square"/>
                    <a:lstStyle/>
                    <a:p>
                      <a:r>
                        <a:rPr sz="1000" b="0" i="0">
                          <a:solidFill>
                            <a:srgbClr val="17272E"/>
                          </a:solidFill>
                          <a:latin typeface="Consolas"/>
                        </a:rPr>
                        <a:t>:NicholasRay</a:t>
                      </a:r>
                    </a:p>
                  </a:txBody>
                  <a:tcPr marL="91440" marR="91440" marT="27432" marB="27432" anchor="ctr">
                    <a:solidFill>
                      <a:srgbClr val="FFFFFF"/>
                    </a:solidFill>
                  </a:tcPr>
                </a:tc>
              </a:tr>
            </a:tbl>
          </a:graphicData>
        </a:graphic>
      </p:graphicFrame>
      <p:sp>
        <p:nvSpPr>
          <p:cNvPr id="25" name="Adds"/>
          <p:cNvSpPr/>
          <p:nvPr/>
        </p:nvSpPr>
        <p:spPr>
          <a:xfrm>
            <a:off x="548640" y="5669280"/>
            <a:ext cx="5440680" cy="566928"/>
          </a:xfrm>
          <a:prstGeom prst="roundRect">
            <a:avLst>
              <a:gd name="adj" fmla="val 16129"/>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 bIns="18288">
            <a:noAutofit/>
          </a:bodyPr>
          <a:lstStyle/>
          <a:p>
            <a:pPr algn="l"/>
            <a:r>
              <a:rPr sz="1300" b="1" i="0">
                <a:solidFill>
                  <a:srgbClr val="155E54"/>
                </a:solidFill>
                <a:latin typeface="Calibri"/>
              </a:rPr>
              <a:t>Adds to the ontology: </a:t>
            </a:r>
            <a:r>
              <a:rPr sz="1300" b="0" i="0">
                <a:solidFill>
                  <a:srgbClr val="17272E"/>
                </a:solidFill>
                <a:latin typeface="Calibri"/>
              </a:rPr>
              <a:t>derived relationships, written as if-then logic.</a:t>
            </a:r>
          </a:p>
        </p:txBody>
      </p:sp>
      <p:sp>
        <p:nvSpPr>
          <p:cNvPr id="26" name="Missing"/>
          <p:cNvSpPr/>
          <p:nvPr/>
        </p:nvSpPr>
        <p:spPr>
          <a:xfrm>
            <a:off x="6172200" y="5669280"/>
            <a:ext cx="5470855" cy="566928"/>
          </a:xfrm>
          <a:prstGeom prst="roundRect">
            <a:avLst>
              <a:gd name="adj" fmla="val 16129"/>
            </a:avLst>
          </a:prstGeom>
          <a:solidFill>
            <a:srgbClr val="FCF1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 bIns="18288">
            <a:noAutofit/>
          </a:bodyPr>
          <a:lstStyle/>
          <a:p>
            <a:pPr algn="l"/>
            <a:r>
              <a:rPr sz="1300" b="1" i="0">
                <a:solidFill>
                  <a:srgbClr val="17272E"/>
                </a:solidFill>
                <a:latin typeface="Calibri"/>
              </a:rPr>
              <a:t>Still missing: </a:t>
            </a:r>
            <a:r>
              <a:rPr sz="1300" b="0" i="0">
                <a:solidFill>
                  <a:srgbClr val="17272E"/>
                </a:solidFill>
                <a:latin typeface="Calibri"/>
              </a:rPr>
              <a:t>a way for applications to ask. SPARQL is the query language.</a:t>
            </a:r>
          </a:p>
        </p:txBody>
      </p:sp>
      <p:sp>
        <p:nvSpPr>
          <p:cNvPr id="27"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28"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Questions: query asserted and inferred facts alike</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BUILDING BLOCK 8 OF 8 · QUESTIONS · SPARQL</a:t>
            </a:r>
          </a:p>
        </p:txBody>
      </p:sp>
      <p:sp>
        <p:nvSpPr>
          <p:cNvPr id="4" name="Rounded Rectangle 3"/>
          <p:cNvSpPr/>
          <p:nvPr/>
        </p:nvSpPr>
        <p:spPr>
          <a:xfrm>
            <a:off x="5031943"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URI</a:t>
            </a:r>
          </a:p>
        </p:txBody>
      </p:sp>
      <p:sp>
        <p:nvSpPr>
          <p:cNvPr id="5" name="Rounded Rectangle 4"/>
          <p:cNvSpPr/>
          <p:nvPr/>
        </p:nvSpPr>
        <p:spPr>
          <a:xfrm>
            <a:off x="5864047"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RDF</a:t>
            </a:r>
          </a:p>
        </p:txBody>
      </p:sp>
      <p:sp>
        <p:nvSpPr>
          <p:cNvPr id="6" name="Rounded Rectangle 5"/>
          <p:cNvSpPr/>
          <p:nvPr/>
        </p:nvSpPr>
        <p:spPr>
          <a:xfrm>
            <a:off x="6696151"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RDFS</a:t>
            </a:r>
          </a:p>
        </p:txBody>
      </p:sp>
      <p:sp>
        <p:nvSpPr>
          <p:cNvPr id="7" name="Rounded Rectangle 6"/>
          <p:cNvSpPr/>
          <p:nvPr/>
        </p:nvSpPr>
        <p:spPr>
          <a:xfrm>
            <a:off x="7528255"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RDFS-Plus</a:t>
            </a:r>
          </a:p>
        </p:txBody>
      </p:sp>
      <p:sp>
        <p:nvSpPr>
          <p:cNvPr id="8" name="Rounded Rectangle 7"/>
          <p:cNvSpPr/>
          <p:nvPr/>
        </p:nvSpPr>
        <p:spPr>
          <a:xfrm>
            <a:off x="8360359"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OWL</a:t>
            </a:r>
          </a:p>
        </p:txBody>
      </p:sp>
      <p:sp>
        <p:nvSpPr>
          <p:cNvPr id="9" name="Rounded Rectangle 8"/>
          <p:cNvSpPr/>
          <p:nvPr/>
        </p:nvSpPr>
        <p:spPr>
          <a:xfrm>
            <a:off x="9192463"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SKOS</a:t>
            </a:r>
          </a:p>
        </p:txBody>
      </p:sp>
      <p:sp>
        <p:nvSpPr>
          <p:cNvPr id="10" name="Rounded Rectangle 9"/>
          <p:cNvSpPr/>
          <p:nvPr/>
        </p:nvSpPr>
        <p:spPr>
          <a:xfrm>
            <a:off x="10024567" y="329184"/>
            <a:ext cx="786384" cy="246888"/>
          </a:xfrm>
          <a:prstGeom prst="roundRect">
            <a:avLst>
              <a:gd name="adj" fmla="val 50000"/>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55E54"/>
                </a:solidFill>
                <a:latin typeface="Calibri"/>
              </a:rPr>
              <a:t>Rules</a:t>
            </a:r>
          </a:p>
        </p:txBody>
      </p:sp>
      <p:sp>
        <p:nvSpPr>
          <p:cNvPr id="11" name="Rounded Rectangle 10"/>
          <p:cNvSpPr/>
          <p:nvPr/>
        </p:nvSpPr>
        <p:spPr>
          <a:xfrm>
            <a:off x="10856671" y="329184"/>
            <a:ext cx="786384" cy="246888"/>
          </a:xfrm>
          <a:prstGeom prst="roundRect">
            <a:avLst>
              <a:gd name="adj" fmla="val 50000"/>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900" b="1" i="0">
                <a:solidFill>
                  <a:srgbClr val="17272E"/>
                </a:solidFill>
                <a:latin typeface="Calibri"/>
              </a:rPr>
              <a:t>SPARQL</a:t>
            </a:r>
          </a:p>
        </p:txBody>
      </p:sp>
      <p:sp>
        <p:nvSpPr>
          <p:cNvPr id="12" name="TextBox 11"/>
          <p:cNvSpPr txBox="1"/>
          <p:nvPr/>
        </p:nvSpPr>
        <p:spPr>
          <a:xfrm>
            <a:off x="548640" y="1572768"/>
            <a:ext cx="5440680"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WHAT IT IS</a:t>
            </a:r>
          </a:p>
        </p:txBody>
      </p:sp>
      <p:sp>
        <p:nvSpPr>
          <p:cNvPr id="13" name="TextBox 12"/>
          <p:cNvSpPr txBox="1"/>
          <p:nvPr/>
        </p:nvSpPr>
        <p:spPr>
          <a:xfrm>
            <a:off x="548640" y="1865376"/>
            <a:ext cx="5440680" cy="1170432"/>
          </a:xfrm>
          <a:prstGeom prst="rect">
            <a:avLst/>
          </a:prstGeom>
          <a:noFill/>
        </p:spPr>
        <p:txBody>
          <a:bodyPr wrap="square" anchor="t" lIns="0" rIns="0" tIns="0" bIns="0">
            <a:noAutofit/>
          </a:bodyPr>
          <a:lstStyle/>
          <a:p>
            <a:pPr algn="l">
              <a:spcAft>
                <a:spcPts val="600"/>
              </a:spcAft>
            </a:pPr>
            <a:r>
              <a:rPr sz="1400" b="0" i="0">
                <a:solidFill>
                  <a:srgbClr val="17272E"/>
                </a:solidFill>
                <a:latin typeface="Calibri"/>
              </a:rPr>
              <a:t>SPARQL (W3C; version 1.1 since 2013) is the query language for RDF. A query is a graph pattern: triples with ?variables standing in for the unknowns. The engine returns every way the pattern matches the graph.</a:t>
            </a:r>
          </a:p>
        </p:txBody>
      </p:sp>
      <p:sp>
        <p:nvSpPr>
          <p:cNvPr id="14" name="TextBox 13"/>
          <p:cNvSpPr txBox="1"/>
          <p:nvPr/>
        </p:nvSpPr>
        <p:spPr>
          <a:xfrm>
            <a:off x="548640" y="3017520"/>
            <a:ext cx="5440680"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KEY TERMS</a:t>
            </a:r>
          </a:p>
        </p:txBody>
      </p:sp>
      <p:sp>
        <p:nvSpPr>
          <p:cNvPr id="15" name="TextBox 14"/>
          <p:cNvSpPr txBox="1"/>
          <p:nvPr/>
        </p:nvSpPr>
        <p:spPr>
          <a:xfrm>
            <a:off x="548640" y="3310127"/>
            <a:ext cx="5440680" cy="2313432"/>
          </a:xfrm>
          <a:prstGeom prst="rect">
            <a:avLst/>
          </a:prstGeom>
          <a:noFill/>
        </p:spPr>
        <p:txBody>
          <a:bodyPr wrap="square" anchor="t" lIns="0" rIns="0" tIns="0" bIns="0">
            <a:noAutofit/>
          </a:bodyPr>
          <a:lstStyle/>
          <a:p>
            <a:pPr algn="l" marL="228600" indent="-228600">
              <a:spcAft>
                <a:spcPts val="500"/>
              </a:spcAft>
              <a:buClr>
                <a:srgbClr val="1F7A6D"/>
              </a:buClr>
              <a:buFont typeface="Arial"/>
              <a:buChar char="•"/>
            </a:pPr>
            <a:r>
              <a:rPr sz="1200" b="1" i="0">
                <a:solidFill>
                  <a:srgbClr val="155E54"/>
                </a:solidFill>
                <a:latin typeface="Consolas"/>
              </a:rPr>
              <a:t>SELECT</a:t>
            </a:r>
            <a:r>
              <a:rPr sz="1300" b="0" i="0">
                <a:solidFill>
                  <a:srgbClr val="17272E"/>
                </a:solidFill>
                <a:latin typeface="Calibri"/>
              </a:rPr>
              <a:t>  returns a table of variable bindings, as in SQL.</a:t>
            </a:r>
          </a:p>
          <a:p>
            <a:pPr algn="l" marL="228600" indent="-228600">
              <a:spcAft>
                <a:spcPts val="500"/>
              </a:spcAft>
              <a:buClr>
                <a:srgbClr val="1F7A6D"/>
              </a:buClr>
              <a:buFont typeface="Arial"/>
              <a:buChar char="•"/>
            </a:pPr>
            <a:r>
              <a:rPr sz="1200" b="1" i="0">
                <a:solidFill>
                  <a:srgbClr val="155E54"/>
                </a:solidFill>
                <a:latin typeface="Consolas"/>
              </a:rPr>
              <a:t>ASK</a:t>
            </a:r>
            <a:r>
              <a:rPr sz="1300" b="0" i="0">
                <a:solidFill>
                  <a:srgbClr val="17272E"/>
                </a:solidFill>
                <a:latin typeface="Calibri"/>
              </a:rPr>
              <a:t>  returns yes or no; handy for testing a model.</a:t>
            </a:r>
          </a:p>
          <a:p>
            <a:pPr algn="l" marL="228600" indent="-228600">
              <a:spcAft>
                <a:spcPts val="500"/>
              </a:spcAft>
              <a:buClr>
                <a:srgbClr val="1F7A6D"/>
              </a:buClr>
              <a:buFont typeface="Arial"/>
              <a:buChar char="•"/>
            </a:pPr>
            <a:r>
              <a:rPr sz="1200" b="1" i="0">
                <a:solidFill>
                  <a:srgbClr val="155E54"/>
                </a:solidFill>
                <a:latin typeface="Consolas"/>
              </a:rPr>
              <a:t>CONSTRUCT</a:t>
            </a:r>
            <a:r>
              <a:rPr sz="1300" b="0" i="0">
                <a:solidFill>
                  <a:srgbClr val="17272E"/>
                </a:solidFill>
                <a:latin typeface="Calibri"/>
              </a:rPr>
              <a:t>  builds new triples from a template, so it can act as a rule.</a:t>
            </a:r>
          </a:p>
          <a:p>
            <a:pPr algn="l" marL="228600" indent="-228600">
              <a:spcAft>
                <a:spcPts val="500"/>
              </a:spcAft>
              <a:buClr>
                <a:srgbClr val="1F7A6D"/>
              </a:buClr>
              <a:buFont typeface="Arial"/>
              <a:buChar char="•"/>
            </a:pPr>
            <a:r>
              <a:rPr sz="1200" b="1" i="0">
                <a:solidFill>
                  <a:srgbClr val="155E54"/>
                </a:solidFill>
                <a:latin typeface="Consolas"/>
              </a:rPr>
              <a:t>DESCRIBE</a:t>
            </a:r>
            <a:r>
              <a:rPr sz="1300" b="0" i="0">
                <a:solidFill>
                  <a:srgbClr val="17272E"/>
                </a:solidFill>
                <a:latin typeface="Calibri"/>
              </a:rPr>
              <a:t>  returns what the store knows about a resource.</a:t>
            </a:r>
          </a:p>
          <a:p>
            <a:pPr algn="l" marL="228600" indent="-228600">
              <a:spcAft>
                <a:spcPts val="500"/>
              </a:spcAft>
              <a:buClr>
                <a:srgbClr val="1F7A6D"/>
              </a:buClr>
              <a:buFont typeface="Arial"/>
              <a:buChar char="•"/>
            </a:pPr>
            <a:r>
              <a:rPr sz="1200" b="1" i="0">
                <a:solidFill>
                  <a:srgbClr val="155E54"/>
                </a:solidFill>
                <a:latin typeface="Consolas"/>
              </a:rPr>
              <a:t>skos:broader*</a:t>
            </a:r>
            <a:r>
              <a:rPr sz="1300" b="0" i="0">
                <a:solidFill>
                  <a:srgbClr val="17272E"/>
                </a:solidFill>
                <a:latin typeface="Calibri"/>
              </a:rPr>
              <a:t>  a property path: follow a link any number of times.</a:t>
            </a:r>
          </a:p>
          <a:p>
            <a:pPr algn="l" marL="228600" indent="-228600">
              <a:spcAft>
                <a:spcPts val="500"/>
              </a:spcAft>
              <a:buClr>
                <a:srgbClr val="1F7A6D"/>
              </a:buClr>
              <a:buFont typeface="Arial"/>
              <a:buChar char="•"/>
            </a:pPr>
            <a:r>
              <a:rPr sz="1200" b="1" i="0">
                <a:solidFill>
                  <a:srgbClr val="155E54"/>
                </a:solidFill>
                <a:latin typeface="Consolas"/>
              </a:rPr>
              <a:t>SERVICE</a:t>
            </a:r>
            <a:r>
              <a:rPr sz="1300" b="0" i="0">
                <a:solidFill>
                  <a:srgbClr val="17272E"/>
                </a:solidFill>
                <a:latin typeface="Calibri"/>
              </a:rPr>
              <a:t>  sends part of a query to a remote SPARQL endpoint.</a:t>
            </a:r>
          </a:p>
        </p:txBody>
      </p:sp>
      <p:sp>
        <p:nvSpPr>
          <p:cNvPr id="16" name="Code: SPARQL"/>
          <p:cNvSpPr/>
          <p:nvPr/>
        </p:nvSpPr>
        <p:spPr>
          <a:xfrm>
            <a:off x="6355080" y="1600200"/>
            <a:ext cx="5287975" cy="2377440"/>
          </a:xfrm>
          <a:prstGeom prst="roundRect">
            <a:avLst>
              <a:gd name="adj" fmla="val 4615"/>
            </a:avLst>
          </a:prstGeom>
          <a:solidFill>
            <a:srgbClr val="1C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180015" y="1709928"/>
            <a:ext cx="1280160" cy="228600"/>
          </a:xfrm>
          <a:prstGeom prst="rect">
            <a:avLst/>
          </a:prstGeom>
          <a:noFill/>
        </p:spPr>
        <p:txBody>
          <a:bodyPr wrap="square" anchor="t" lIns="0" rIns="0" tIns="0" bIns="0">
            <a:noAutofit/>
          </a:bodyPr>
          <a:lstStyle/>
          <a:p>
            <a:pPr algn="r">
              <a:spcAft>
                <a:spcPts val="600"/>
              </a:spcAft>
            </a:pPr>
            <a:r>
              <a:rPr sz="1000" b="1" i="0">
                <a:solidFill>
                  <a:srgbClr val="869AA0"/>
                </a:solidFill>
                <a:latin typeface="Calibri"/>
              </a:rPr>
              <a:t>SPARQL</a:t>
            </a:r>
          </a:p>
        </p:txBody>
      </p:sp>
      <p:sp>
        <p:nvSpPr>
          <p:cNvPr id="18" name="TextBox 17"/>
          <p:cNvSpPr txBox="1"/>
          <p:nvPr/>
        </p:nvSpPr>
        <p:spPr>
          <a:xfrm>
            <a:off x="6583680" y="1801368"/>
            <a:ext cx="4830775" cy="2011680"/>
          </a:xfrm>
          <a:prstGeom prst="rect">
            <a:avLst/>
          </a:prstGeom>
          <a:noFill/>
        </p:spPr>
        <p:txBody>
          <a:bodyPr wrap="none" lIns="0" rIns="0" tIns="0" bIns="0">
            <a:noAutofit/>
          </a:bodyPr>
          <a:lstStyle/>
          <a:p>
            <a:pPr>
              <a:lnSpc>
                <a:spcPct val="105000"/>
              </a:lnSpc>
            </a:pPr>
            <a:r>
              <a:rPr sz="1200" b="1" i="0">
                <a:solidFill>
                  <a:srgbClr val="F2B866"/>
                </a:solidFill>
                <a:latin typeface="Consolas"/>
              </a:rPr>
              <a:t>PREFIX</a:t>
            </a:r>
            <a:r>
              <a:rPr sz="1200" b="0" i="0">
                <a:solidFill>
                  <a:srgbClr val="E3EBEE"/>
                </a:solidFill>
                <a:latin typeface="Consolas"/>
              </a:rPr>
              <a:t> : </a:t>
            </a:r>
            <a:r>
              <a:rPr sz="1200" b="0" i="0">
                <a:solidFill>
                  <a:srgbClr val="9AB0B8"/>
                </a:solidFill>
                <a:latin typeface="Consolas"/>
              </a:rPr>
              <a:t>&lt;http://studio.example/&gt;</a:t>
            </a:r>
          </a:p>
          <a:p>
            <a:pPr>
              <a:lnSpc>
                <a:spcPct val="105000"/>
              </a:lnSpc>
            </a:pPr>
            <a:r>
              <a:rPr sz="1200" b="1" i="0">
                <a:solidFill>
                  <a:srgbClr val="F2B866"/>
                </a:solidFill>
                <a:latin typeface="Consolas"/>
              </a:rPr>
              <a:t>SELECT</a:t>
            </a:r>
            <a:r>
              <a:rPr sz="1200" b="0" i="0">
                <a:solidFill>
                  <a:srgbClr val="E3EBEE"/>
                </a:solidFill>
                <a:latin typeface="Consolas"/>
              </a:rPr>
              <a:t> </a:t>
            </a:r>
            <a:r>
              <a:rPr sz="1200" b="1" i="0">
                <a:solidFill>
                  <a:srgbClr val="7FD1C1"/>
                </a:solidFill>
                <a:latin typeface="Consolas"/>
              </a:rPr>
              <a:t>?title</a:t>
            </a:r>
            <a:r>
              <a:rPr sz="1200" b="0" i="0">
                <a:solidFill>
                  <a:srgbClr val="E3EBEE"/>
                </a:solidFill>
                <a:latin typeface="Consolas"/>
              </a:rPr>
              <a:t> </a:t>
            </a:r>
            <a:r>
              <a:rPr sz="1200" b="1" i="0">
                <a:solidFill>
                  <a:srgbClr val="7FD1C1"/>
                </a:solidFill>
                <a:latin typeface="Consolas"/>
              </a:rPr>
              <a:t>?year</a:t>
            </a:r>
            <a:r>
              <a:rPr sz="1200" b="0" i="0">
                <a:solidFill>
                  <a:srgbClr val="E3EBEE"/>
                </a:solidFill>
                <a:latin typeface="Consolas"/>
              </a:rPr>
              <a:t> </a:t>
            </a:r>
            <a:r>
              <a:rPr sz="1200" b="1" i="0">
                <a:solidFill>
                  <a:srgbClr val="7FD1C1"/>
                </a:solidFill>
                <a:latin typeface="Consolas"/>
              </a:rPr>
              <a:t>?directorName</a:t>
            </a:r>
          </a:p>
          <a:p>
            <a:pPr>
              <a:lnSpc>
                <a:spcPct val="105000"/>
              </a:lnSpc>
            </a:pPr>
            <a:r>
              <a:rPr sz="1200" b="1" i="0">
                <a:solidFill>
                  <a:srgbClr val="F2B866"/>
                </a:solidFill>
                <a:latin typeface="Consolas"/>
              </a:rPr>
              <a:t>WHERE</a:t>
            </a:r>
            <a:r>
              <a:rPr sz="1200" b="0" i="0">
                <a:solidFill>
                  <a:srgbClr val="E3EBEE"/>
                </a:solidFill>
                <a:latin typeface="Consolas"/>
              </a:rPr>
              <a:t> {</a:t>
            </a:r>
          </a:p>
          <a:p>
            <a:pPr>
              <a:lnSpc>
                <a:spcPct val="105000"/>
              </a:lnSpc>
            </a:pPr>
            <a:r>
              <a:rPr sz="1200" b="0" i="0">
                <a:solidFill>
                  <a:srgbClr val="E3EBEE"/>
                </a:solidFill>
                <a:latin typeface="Consolas"/>
              </a:rPr>
              <a:t>  </a:t>
            </a:r>
            <a:r>
              <a:rPr sz="1200" b="1" i="0">
                <a:solidFill>
                  <a:srgbClr val="7FD1C1"/>
                </a:solidFill>
                <a:latin typeface="Consolas"/>
              </a:rPr>
              <a:t>?movie</a:t>
            </a:r>
            <a:r>
              <a:rPr sz="1200" b="0" i="0">
                <a:solidFill>
                  <a:srgbClr val="E3EBEE"/>
                </a:solidFill>
                <a:latin typeface="Consolas"/>
              </a:rPr>
              <a:t> </a:t>
            </a:r>
            <a:r>
              <a:rPr sz="1200" b="0" i="0">
                <a:solidFill>
                  <a:srgbClr val="A8CFF0"/>
                </a:solidFill>
                <a:latin typeface="Consolas"/>
              </a:rPr>
              <a:t>:starring</a:t>
            </a:r>
            <a:r>
              <a:rPr sz="1200" b="0" i="0">
                <a:solidFill>
                  <a:srgbClr val="E3EBEE"/>
                </a:solidFill>
                <a:latin typeface="Consolas"/>
              </a:rPr>
              <a:t>    </a:t>
            </a:r>
            <a:r>
              <a:rPr sz="1200" b="0" i="0">
                <a:solidFill>
                  <a:srgbClr val="A8CFF0"/>
                </a:solidFill>
                <a:latin typeface="Consolas"/>
              </a:rPr>
              <a:t>:JamesDean</a:t>
            </a:r>
            <a:r>
              <a:rPr sz="1200" b="0" i="0">
                <a:solidFill>
                  <a:srgbClr val="E3EBEE"/>
                </a:solidFill>
                <a:latin typeface="Consolas"/>
              </a:rPr>
              <a:t> ;</a:t>
            </a:r>
          </a:p>
          <a:p>
            <a:pPr>
              <a:lnSpc>
                <a:spcPct val="105000"/>
              </a:lnSpc>
            </a:pPr>
            <a:r>
              <a:rPr sz="1200" b="0" i="0">
                <a:solidFill>
                  <a:srgbClr val="E3EBEE"/>
                </a:solidFill>
                <a:latin typeface="Consolas"/>
              </a:rPr>
              <a:t>         </a:t>
            </a:r>
            <a:r>
              <a:rPr sz="1200" b="0" i="0">
                <a:solidFill>
                  <a:srgbClr val="A8CFF0"/>
                </a:solidFill>
                <a:latin typeface="Consolas"/>
              </a:rPr>
              <a:t>:movieTitle</a:t>
            </a:r>
            <a:r>
              <a:rPr sz="1200" b="0" i="0">
                <a:solidFill>
                  <a:srgbClr val="E3EBEE"/>
                </a:solidFill>
                <a:latin typeface="Consolas"/>
              </a:rPr>
              <a:t>  </a:t>
            </a:r>
            <a:r>
              <a:rPr sz="1200" b="1" i="0">
                <a:solidFill>
                  <a:srgbClr val="7FD1C1"/>
                </a:solidFill>
                <a:latin typeface="Consolas"/>
              </a:rPr>
              <a:t>?title</a:t>
            </a:r>
            <a:r>
              <a:rPr sz="1200" b="0" i="0">
                <a:solidFill>
                  <a:srgbClr val="E3EBEE"/>
                </a:solidFill>
                <a:latin typeface="Consolas"/>
              </a:rPr>
              <a:t> ;</a:t>
            </a:r>
          </a:p>
          <a:p>
            <a:pPr>
              <a:lnSpc>
                <a:spcPct val="105000"/>
              </a:lnSpc>
            </a:pPr>
            <a:r>
              <a:rPr sz="1200" b="0" i="0">
                <a:solidFill>
                  <a:srgbClr val="E3EBEE"/>
                </a:solidFill>
                <a:latin typeface="Consolas"/>
              </a:rPr>
              <a:t>         </a:t>
            </a:r>
            <a:r>
              <a:rPr sz="1200" b="0" i="0">
                <a:solidFill>
                  <a:srgbClr val="A8CFF0"/>
                </a:solidFill>
                <a:latin typeface="Consolas"/>
              </a:rPr>
              <a:t>:releaseYear</a:t>
            </a:r>
            <a:r>
              <a:rPr sz="1200" b="0" i="0">
                <a:solidFill>
                  <a:srgbClr val="E3EBEE"/>
                </a:solidFill>
                <a:latin typeface="Consolas"/>
              </a:rPr>
              <a:t> </a:t>
            </a:r>
            <a:r>
              <a:rPr sz="1200" b="1" i="0">
                <a:solidFill>
                  <a:srgbClr val="7FD1C1"/>
                </a:solidFill>
                <a:latin typeface="Consolas"/>
              </a:rPr>
              <a:t>?year</a:t>
            </a:r>
            <a:r>
              <a:rPr sz="1200" b="0" i="0">
                <a:solidFill>
                  <a:srgbClr val="E3EBEE"/>
                </a:solidFill>
                <a:latin typeface="Consolas"/>
              </a:rPr>
              <a:t> ;</a:t>
            </a:r>
          </a:p>
          <a:p>
            <a:pPr>
              <a:lnSpc>
                <a:spcPct val="105000"/>
              </a:lnSpc>
            </a:pPr>
            <a:r>
              <a:rPr sz="1200" b="0" i="0">
                <a:solidFill>
                  <a:srgbClr val="E3EBEE"/>
                </a:solidFill>
                <a:latin typeface="Consolas"/>
              </a:rPr>
              <a:t>         </a:t>
            </a:r>
            <a:r>
              <a:rPr sz="1200" b="0" i="0">
                <a:solidFill>
                  <a:srgbClr val="A8CFF0"/>
                </a:solidFill>
                <a:latin typeface="Consolas"/>
              </a:rPr>
              <a:t>:directedBy</a:t>
            </a:r>
            <a:r>
              <a:rPr sz="1200" b="0" i="0">
                <a:solidFill>
                  <a:srgbClr val="E3EBEE"/>
                </a:solidFill>
                <a:latin typeface="Consolas"/>
              </a:rPr>
              <a:t>  </a:t>
            </a:r>
            <a:r>
              <a:rPr sz="1200" b="1" i="0">
                <a:solidFill>
                  <a:srgbClr val="7FD1C1"/>
                </a:solidFill>
                <a:latin typeface="Consolas"/>
              </a:rPr>
              <a:t>?director</a:t>
            </a:r>
            <a:r>
              <a:rPr sz="1200" b="0" i="0">
                <a:solidFill>
                  <a:srgbClr val="E3EBEE"/>
                </a:solidFill>
                <a:latin typeface="Consolas"/>
              </a:rPr>
              <a:t> .</a:t>
            </a:r>
          </a:p>
          <a:p>
            <a:pPr>
              <a:lnSpc>
                <a:spcPct val="105000"/>
              </a:lnSpc>
            </a:pPr>
            <a:r>
              <a:rPr sz="1200" b="0" i="0">
                <a:solidFill>
                  <a:srgbClr val="E3EBEE"/>
                </a:solidFill>
                <a:latin typeface="Consolas"/>
              </a:rPr>
              <a:t>  </a:t>
            </a:r>
            <a:r>
              <a:rPr sz="1200" b="1" i="0">
                <a:solidFill>
                  <a:srgbClr val="7FD1C1"/>
                </a:solidFill>
                <a:latin typeface="Consolas"/>
              </a:rPr>
              <a:t>?director</a:t>
            </a:r>
            <a:r>
              <a:rPr sz="1200" b="0" i="0">
                <a:solidFill>
                  <a:srgbClr val="E3EBEE"/>
                </a:solidFill>
                <a:latin typeface="Consolas"/>
              </a:rPr>
              <a:t> </a:t>
            </a:r>
            <a:r>
              <a:rPr sz="1200" b="0" i="0">
                <a:solidFill>
                  <a:srgbClr val="A8CFF0"/>
                </a:solidFill>
                <a:latin typeface="Consolas"/>
              </a:rPr>
              <a:t>:personName</a:t>
            </a:r>
            <a:r>
              <a:rPr sz="1200" b="0" i="0">
                <a:solidFill>
                  <a:srgbClr val="E3EBEE"/>
                </a:solidFill>
                <a:latin typeface="Consolas"/>
              </a:rPr>
              <a:t> </a:t>
            </a:r>
            <a:r>
              <a:rPr sz="1200" b="1" i="0">
                <a:solidFill>
                  <a:srgbClr val="7FD1C1"/>
                </a:solidFill>
                <a:latin typeface="Consolas"/>
              </a:rPr>
              <a:t>?directorName</a:t>
            </a:r>
            <a:r>
              <a:rPr sz="1200" b="0" i="0">
                <a:solidFill>
                  <a:srgbClr val="E3EBEE"/>
                </a:solidFill>
                <a:latin typeface="Consolas"/>
              </a:rPr>
              <a:t> .</a:t>
            </a:r>
          </a:p>
          <a:p>
            <a:pPr>
              <a:lnSpc>
                <a:spcPct val="105000"/>
              </a:lnSpc>
            </a:pPr>
            <a:r>
              <a:rPr sz="1200" b="0" i="0">
                <a:solidFill>
                  <a:srgbClr val="E3EBEE"/>
                </a:solidFill>
                <a:latin typeface="Consolas"/>
              </a:rPr>
              <a:t>}</a:t>
            </a:r>
          </a:p>
          <a:p>
            <a:pPr>
              <a:lnSpc>
                <a:spcPct val="105000"/>
              </a:lnSpc>
            </a:pPr>
            <a:r>
              <a:rPr sz="1200" b="1" i="0">
                <a:solidFill>
                  <a:srgbClr val="F2B866"/>
                </a:solidFill>
                <a:latin typeface="Consolas"/>
              </a:rPr>
              <a:t>ORDER BY</a:t>
            </a:r>
            <a:r>
              <a:rPr sz="1200" b="0" i="0">
                <a:solidFill>
                  <a:srgbClr val="E3EBEE"/>
                </a:solidFill>
                <a:latin typeface="Consolas"/>
              </a:rPr>
              <a:t> </a:t>
            </a:r>
            <a:r>
              <a:rPr sz="1200" b="1" i="0">
                <a:solidFill>
                  <a:srgbClr val="7FD1C1"/>
                </a:solidFill>
                <a:latin typeface="Consolas"/>
              </a:rPr>
              <a:t>?year</a:t>
            </a:r>
            <a:r>
              <a:rPr sz="1200" b="0" i="0">
                <a:solidFill>
                  <a:srgbClr val="E3EBEE"/>
                </a:solidFill>
                <a:latin typeface="Consolas"/>
              </a:rPr>
              <a:t> </a:t>
            </a:r>
            <a:r>
              <a:rPr sz="1200" b="1" i="0">
                <a:solidFill>
                  <a:srgbClr val="7FD1C1"/>
                </a:solidFill>
                <a:latin typeface="Consolas"/>
              </a:rPr>
              <a:t>?title</a:t>
            </a:r>
          </a:p>
        </p:txBody>
      </p:sp>
      <p:sp>
        <p:nvSpPr>
          <p:cNvPr id="19" name="TextBox 18"/>
          <p:cNvSpPr txBox="1"/>
          <p:nvPr/>
        </p:nvSpPr>
        <p:spPr>
          <a:xfrm>
            <a:off x="6355080" y="4087368"/>
            <a:ext cx="5287975" cy="274320"/>
          </a:xfrm>
          <a:prstGeom prst="rect">
            <a:avLst/>
          </a:prstGeom>
          <a:noFill/>
        </p:spPr>
        <p:txBody>
          <a:bodyPr wrap="square" anchor="t" lIns="0" rIns="0" tIns="0" bIns="0">
            <a:noAutofit/>
          </a:bodyPr>
          <a:lstStyle/>
          <a:p>
            <a:pPr algn="l">
              <a:spcAft>
                <a:spcPts val="600"/>
              </a:spcAft>
            </a:pPr>
            <a:r>
              <a:rPr sz="1300" b="1" i="0">
                <a:solidFill>
                  <a:srgbClr val="5B6B70"/>
                </a:solidFill>
                <a:latin typeface="Calibri"/>
              </a:rPr>
              <a:t>Result over data/studio.ttl</a:t>
            </a:r>
          </a:p>
        </p:txBody>
      </p:sp>
      <p:graphicFrame>
        <p:nvGraphicFramePr>
          <p:cNvPr id="20" name="Table 19"/>
          <p:cNvGraphicFramePr>
            <a:graphicFrameLocks noGrp="1"/>
          </p:cNvGraphicFramePr>
          <p:nvPr/>
        </p:nvGraphicFramePr>
        <p:xfrm>
          <a:off x="6355080" y="4361688"/>
          <a:ext cx="5287975" cy="1133856"/>
        </p:xfrm>
        <a:graphic>
          <a:graphicData uri="http://schemas.openxmlformats.org/drawingml/2006/table">
            <a:tbl>
              <a:tblPr firstRow="0" bandRow="0">
                <a:tableStyleId>{5C22544A-7EE6-4342-B048-85BDC9FD1C3A}</a:tableStyleId>
              </a:tblPr>
              <a:tblGrid>
                <a:gridCol w="2377440"/>
                <a:gridCol w="731520"/>
                <a:gridCol w="2179015"/>
              </a:tblGrid>
              <a:tr h="283464">
                <a:tc>
                  <a:txBody>
                    <a:bodyPr wrap="square"/>
                    <a:lstStyle/>
                    <a:p>
                      <a:r>
                        <a:rPr sz="1200" b="1" i="0">
                          <a:solidFill>
                            <a:srgbClr val="FFFFFF"/>
                          </a:solidFill>
                          <a:latin typeface="Calibri"/>
                        </a:rPr>
                        <a:t>title</a:t>
                      </a:r>
                    </a:p>
                  </a:txBody>
                  <a:tcPr marL="91440" marR="91440" marT="27432" marB="27432" anchor="ctr">
                    <a:solidFill>
                      <a:srgbClr val="1F7A6D"/>
                    </a:solidFill>
                  </a:tcPr>
                </a:tc>
                <a:tc>
                  <a:txBody>
                    <a:bodyPr wrap="square"/>
                    <a:lstStyle/>
                    <a:p>
                      <a:r>
                        <a:rPr sz="1200" b="1" i="0">
                          <a:solidFill>
                            <a:srgbClr val="FFFFFF"/>
                          </a:solidFill>
                          <a:latin typeface="Calibri"/>
                        </a:rPr>
                        <a:t>year</a:t>
                      </a:r>
                    </a:p>
                  </a:txBody>
                  <a:tcPr marL="91440" marR="91440" marT="27432" marB="27432" anchor="ctr">
                    <a:solidFill>
                      <a:srgbClr val="1F7A6D"/>
                    </a:solidFill>
                  </a:tcPr>
                </a:tc>
                <a:tc>
                  <a:txBody>
                    <a:bodyPr wrap="square"/>
                    <a:lstStyle/>
                    <a:p>
                      <a:r>
                        <a:rPr sz="1200" b="1" i="0">
                          <a:solidFill>
                            <a:srgbClr val="FFFFFF"/>
                          </a:solidFill>
                          <a:latin typeface="Calibri"/>
                        </a:rPr>
                        <a:t>directorName</a:t>
                      </a:r>
                    </a:p>
                  </a:txBody>
                  <a:tcPr marL="91440" marR="91440" marT="27432" marB="27432" anchor="ctr">
                    <a:solidFill>
                      <a:srgbClr val="1F7A6D"/>
                    </a:solidFill>
                  </a:tcPr>
                </a:tc>
              </a:tr>
              <a:tr h="283464">
                <a:tc>
                  <a:txBody>
                    <a:bodyPr wrap="square"/>
                    <a:lstStyle/>
                    <a:p>
                      <a:r>
                        <a:rPr sz="1200" b="0" i="0">
                          <a:solidFill>
                            <a:srgbClr val="17272E"/>
                          </a:solidFill>
                          <a:latin typeface="Calibri"/>
                        </a:rPr>
                        <a:t>East of Eden</a:t>
                      </a:r>
                    </a:p>
                  </a:txBody>
                  <a:tcPr marL="91440" marR="91440" marT="27432" marB="27432" anchor="ctr">
                    <a:solidFill>
                      <a:srgbClr val="FFFFFF"/>
                    </a:solidFill>
                  </a:tcPr>
                </a:tc>
                <a:tc>
                  <a:txBody>
                    <a:bodyPr wrap="square"/>
                    <a:lstStyle/>
                    <a:p>
                      <a:r>
                        <a:rPr sz="1200" b="0" i="0">
                          <a:solidFill>
                            <a:srgbClr val="17272E"/>
                          </a:solidFill>
                          <a:latin typeface="Calibri"/>
                        </a:rPr>
                        <a:t>1955</a:t>
                      </a:r>
                    </a:p>
                  </a:txBody>
                  <a:tcPr marL="91440" marR="91440" marT="27432" marB="27432" anchor="ctr">
                    <a:solidFill>
                      <a:srgbClr val="FFFFFF"/>
                    </a:solidFill>
                  </a:tcPr>
                </a:tc>
                <a:tc>
                  <a:txBody>
                    <a:bodyPr wrap="square"/>
                    <a:lstStyle/>
                    <a:p>
                      <a:r>
                        <a:rPr sz="1200" b="0" i="0">
                          <a:solidFill>
                            <a:srgbClr val="17272E"/>
                          </a:solidFill>
                          <a:latin typeface="Calibri"/>
                        </a:rPr>
                        <a:t>Elia Kazan</a:t>
                      </a:r>
                    </a:p>
                  </a:txBody>
                  <a:tcPr marL="91440" marR="91440" marT="27432" marB="27432" anchor="ctr">
                    <a:solidFill>
                      <a:srgbClr val="FFFFFF"/>
                    </a:solidFill>
                  </a:tcPr>
                </a:tc>
              </a:tr>
              <a:tr h="283464">
                <a:tc>
                  <a:txBody>
                    <a:bodyPr wrap="square"/>
                    <a:lstStyle/>
                    <a:p>
                      <a:r>
                        <a:rPr sz="1200" b="0" i="0">
                          <a:solidFill>
                            <a:srgbClr val="17272E"/>
                          </a:solidFill>
                          <a:latin typeface="Calibri"/>
                        </a:rPr>
                        <a:t>Rebel Without a Cause</a:t>
                      </a:r>
                    </a:p>
                  </a:txBody>
                  <a:tcPr marL="91440" marR="91440" marT="27432" marB="27432" anchor="ctr">
                    <a:solidFill>
                      <a:srgbClr val="EAF3F0"/>
                    </a:solidFill>
                  </a:tcPr>
                </a:tc>
                <a:tc>
                  <a:txBody>
                    <a:bodyPr wrap="square"/>
                    <a:lstStyle/>
                    <a:p>
                      <a:r>
                        <a:rPr sz="1200" b="0" i="0">
                          <a:solidFill>
                            <a:srgbClr val="17272E"/>
                          </a:solidFill>
                          <a:latin typeface="Calibri"/>
                        </a:rPr>
                        <a:t>1955</a:t>
                      </a:r>
                    </a:p>
                  </a:txBody>
                  <a:tcPr marL="91440" marR="91440" marT="27432" marB="27432" anchor="ctr">
                    <a:solidFill>
                      <a:srgbClr val="EAF3F0"/>
                    </a:solidFill>
                  </a:tcPr>
                </a:tc>
                <a:tc>
                  <a:txBody>
                    <a:bodyPr wrap="square"/>
                    <a:lstStyle/>
                    <a:p>
                      <a:r>
                        <a:rPr sz="1200" b="0" i="0">
                          <a:solidFill>
                            <a:srgbClr val="17272E"/>
                          </a:solidFill>
                          <a:latin typeface="Calibri"/>
                        </a:rPr>
                        <a:t>Nicholas Ray</a:t>
                      </a:r>
                    </a:p>
                  </a:txBody>
                  <a:tcPr marL="91440" marR="91440" marT="27432" marB="27432" anchor="ctr">
                    <a:solidFill>
                      <a:srgbClr val="EAF3F0"/>
                    </a:solidFill>
                  </a:tcPr>
                </a:tc>
              </a:tr>
              <a:tr h="283464">
                <a:tc>
                  <a:txBody>
                    <a:bodyPr wrap="square"/>
                    <a:lstStyle/>
                    <a:p>
                      <a:r>
                        <a:rPr sz="1200" b="0" i="0">
                          <a:solidFill>
                            <a:srgbClr val="17272E"/>
                          </a:solidFill>
                          <a:latin typeface="Calibri"/>
                        </a:rPr>
                        <a:t>Giant</a:t>
                      </a:r>
                    </a:p>
                  </a:txBody>
                  <a:tcPr marL="91440" marR="91440" marT="27432" marB="27432" anchor="ctr">
                    <a:solidFill>
                      <a:srgbClr val="FFFFFF"/>
                    </a:solidFill>
                  </a:tcPr>
                </a:tc>
                <a:tc>
                  <a:txBody>
                    <a:bodyPr wrap="square"/>
                    <a:lstStyle/>
                    <a:p>
                      <a:r>
                        <a:rPr sz="1200" b="0" i="0">
                          <a:solidFill>
                            <a:srgbClr val="17272E"/>
                          </a:solidFill>
                          <a:latin typeface="Calibri"/>
                        </a:rPr>
                        <a:t>1956</a:t>
                      </a:r>
                    </a:p>
                  </a:txBody>
                  <a:tcPr marL="91440" marR="91440" marT="27432" marB="27432" anchor="ctr">
                    <a:solidFill>
                      <a:srgbClr val="FFFFFF"/>
                    </a:solidFill>
                  </a:tcPr>
                </a:tc>
                <a:tc>
                  <a:txBody>
                    <a:bodyPr wrap="square"/>
                    <a:lstStyle/>
                    <a:p>
                      <a:r>
                        <a:rPr sz="1200" b="0" i="0">
                          <a:solidFill>
                            <a:srgbClr val="17272E"/>
                          </a:solidFill>
                          <a:latin typeface="Calibri"/>
                        </a:rPr>
                        <a:t>George Stevens</a:t>
                      </a:r>
                    </a:p>
                  </a:txBody>
                  <a:tcPr marL="91440" marR="91440" marT="27432" marB="27432" anchor="ctr">
                    <a:solidFill>
                      <a:srgbClr val="FFFFFF"/>
                    </a:solidFill>
                  </a:tcPr>
                </a:tc>
              </a:tr>
            </a:tbl>
          </a:graphicData>
        </a:graphic>
      </p:graphicFrame>
      <p:sp>
        <p:nvSpPr>
          <p:cNvPr id="21" name="Adds"/>
          <p:cNvSpPr/>
          <p:nvPr/>
        </p:nvSpPr>
        <p:spPr>
          <a:xfrm>
            <a:off x="548640" y="5669280"/>
            <a:ext cx="5440680" cy="566928"/>
          </a:xfrm>
          <a:prstGeom prst="roundRect">
            <a:avLst>
              <a:gd name="adj" fmla="val 16129"/>
            </a:avLst>
          </a:prstGeom>
          <a:solidFill>
            <a:srgbClr val="C6E8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 bIns="18288">
            <a:noAutofit/>
          </a:bodyPr>
          <a:lstStyle/>
          <a:p>
            <a:pPr algn="l"/>
            <a:r>
              <a:rPr sz="1300" b="1" i="0">
                <a:solidFill>
                  <a:srgbClr val="155E54"/>
                </a:solidFill>
                <a:latin typeface="Calibri"/>
              </a:rPr>
              <a:t>Adds to the ontology: </a:t>
            </a:r>
            <a:r>
              <a:rPr sz="1300" b="0" i="0">
                <a:solidFill>
                  <a:srgbClr val="17272E"/>
                </a:solidFill>
                <a:latin typeface="Calibri"/>
              </a:rPr>
              <a:t>a standard way for applications to ask the model and the data.</a:t>
            </a:r>
          </a:p>
        </p:txBody>
      </p:sp>
      <p:sp>
        <p:nvSpPr>
          <p:cNvPr id="22" name="Missing"/>
          <p:cNvSpPr/>
          <p:nvPr/>
        </p:nvSpPr>
        <p:spPr>
          <a:xfrm>
            <a:off x="6172200" y="5669280"/>
            <a:ext cx="5470855" cy="566928"/>
          </a:xfrm>
          <a:prstGeom prst="roundRect">
            <a:avLst>
              <a:gd name="adj" fmla="val 16129"/>
            </a:avLst>
          </a:prstGeom>
          <a:solidFill>
            <a:srgbClr val="FCF1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 bIns="18288">
            <a:noAutofit/>
          </a:bodyPr>
          <a:lstStyle/>
          <a:p>
            <a:pPr algn="l"/>
            <a:r>
              <a:rPr sz="1300" b="1" i="0">
                <a:solidFill>
                  <a:srgbClr val="17272E"/>
                </a:solidFill>
                <a:latin typeface="Calibri"/>
              </a:rPr>
              <a:t>Next: </a:t>
            </a:r>
            <a:r>
              <a:rPr sz="1300" b="0" i="0">
                <a:solidFill>
                  <a:srgbClr val="17272E"/>
                </a:solidFill>
                <a:latin typeface="Calibri"/>
              </a:rPr>
              <a:t>all eight blocks answering one question together.</a:t>
            </a:r>
          </a:p>
        </p:txBody>
      </p:sp>
      <p:sp>
        <p:nvSpPr>
          <p:cNvPr id="23"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24"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Merge, reason, query: the layers as one system</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3 · THE BUILDING BLOCKS TOGETHER</a:t>
            </a:r>
          </a:p>
        </p:txBody>
      </p:sp>
      <p:sp>
        <p:nvSpPr>
          <p:cNvPr id="4" name="Step: Sources"/>
          <p:cNvSpPr/>
          <p:nvPr/>
        </p:nvSpPr>
        <p:spPr>
          <a:xfrm>
            <a:off x="548640" y="1691640"/>
            <a:ext cx="1920240" cy="1828800"/>
          </a:xfrm>
          <a:prstGeom prst="roundRect">
            <a:avLst>
              <a:gd name="adj" fmla="val 6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13232" y="1828800"/>
            <a:ext cx="1591056" cy="54864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Sources</a:t>
            </a:r>
          </a:p>
        </p:txBody>
      </p:sp>
      <p:sp>
        <p:nvSpPr>
          <p:cNvPr id="6" name="TextBox 5"/>
          <p:cNvSpPr txBox="1"/>
          <p:nvPr/>
        </p:nvSpPr>
        <p:spPr>
          <a:xfrm>
            <a:off x="713232" y="2286000"/>
            <a:ext cx="1591056" cy="1188720"/>
          </a:xfrm>
          <a:prstGeom prst="rect">
            <a:avLst/>
          </a:prstGeom>
          <a:noFill/>
        </p:spPr>
        <p:txBody>
          <a:bodyPr wrap="square" anchor="t" lIns="0" rIns="0" tIns="0" bIns="0">
            <a:noAutofit/>
          </a:bodyPr>
          <a:lstStyle/>
          <a:p>
            <a:pPr algn="l">
              <a:spcAft>
                <a:spcPts val="600"/>
              </a:spcAft>
            </a:pPr>
            <a:r>
              <a:rPr sz="1300" b="0" i="0">
                <a:solidFill>
                  <a:srgbClr val="17272E"/>
                </a:solidFill>
                <a:latin typeface="Calibri"/>
              </a:rPr>
              <a:t>Studio catalogue and fan wiki: 32 triples, two names for James Dean</a:t>
            </a:r>
          </a:p>
        </p:txBody>
      </p:sp>
      <p:cxnSp>
        <p:nvCxnSpPr>
          <p:cNvPr id="7" name="Connector 6"/>
          <p:cNvCxnSpPr/>
          <p:nvPr/>
        </p:nvCxnSpPr>
        <p:spPr>
          <a:xfrm>
            <a:off x="2514600" y="2606040"/>
            <a:ext cx="281863" cy="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Step: Merge"/>
          <p:cNvSpPr/>
          <p:nvPr/>
        </p:nvSpPr>
        <p:spPr>
          <a:xfrm>
            <a:off x="2842183" y="1691640"/>
            <a:ext cx="1920240" cy="1828800"/>
          </a:xfrm>
          <a:prstGeom prst="roundRect">
            <a:avLst>
              <a:gd name="adj" fmla="val 6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006775" y="1828800"/>
            <a:ext cx="1591056" cy="54864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Merge</a:t>
            </a:r>
          </a:p>
        </p:txBody>
      </p:sp>
      <p:sp>
        <p:nvSpPr>
          <p:cNvPr id="10" name="TextBox 9"/>
          <p:cNvSpPr txBox="1"/>
          <p:nvPr/>
        </p:nvSpPr>
        <p:spPr>
          <a:xfrm>
            <a:off x="3006775" y="2286000"/>
            <a:ext cx="1591056" cy="1188720"/>
          </a:xfrm>
          <a:prstGeom prst="rect">
            <a:avLst/>
          </a:prstGeom>
          <a:noFill/>
        </p:spPr>
        <p:txBody>
          <a:bodyPr wrap="square" anchor="t" lIns="0" rIns="0" tIns="0" bIns="0">
            <a:noAutofit/>
          </a:bodyPr>
          <a:lstStyle/>
          <a:p>
            <a:pPr algn="l">
              <a:spcAft>
                <a:spcPts val="600"/>
              </a:spcAft>
            </a:pPr>
            <a:r>
              <a:rPr sz="1300" b="0" i="0">
                <a:solidFill>
                  <a:srgbClr val="17272E"/>
                </a:solidFill>
                <a:latin typeface="Calibri"/>
              </a:rPr>
              <a:t>URI + RDF: parse into triples and take the union; equal URIs join</a:t>
            </a:r>
          </a:p>
        </p:txBody>
      </p:sp>
      <p:cxnSp>
        <p:nvCxnSpPr>
          <p:cNvPr id="11" name="Connector 10"/>
          <p:cNvCxnSpPr/>
          <p:nvPr/>
        </p:nvCxnSpPr>
        <p:spPr>
          <a:xfrm>
            <a:off x="4808143" y="2606040"/>
            <a:ext cx="281864" cy="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Step: Reason"/>
          <p:cNvSpPr/>
          <p:nvPr/>
        </p:nvSpPr>
        <p:spPr>
          <a:xfrm>
            <a:off x="5135727" y="1691640"/>
            <a:ext cx="1920240" cy="1828800"/>
          </a:xfrm>
          <a:prstGeom prst="roundRect">
            <a:avLst>
              <a:gd name="adj" fmla="val 6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300319" y="1828800"/>
            <a:ext cx="1591056" cy="548640"/>
          </a:xfrm>
          <a:prstGeom prst="rect">
            <a:avLst/>
          </a:prstGeom>
          <a:noFill/>
        </p:spPr>
        <p:txBody>
          <a:bodyPr wrap="square" anchor="t" lIns="0" rIns="0" tIns="0" bIns="0">
            <a:noAutofit/>
          </a:bodyPr>
          <a:lstStyle/>
          <a:p>
            <a:pPr algn="l">
              <a:spcAft>
                <a:spcPts val="600"/>
              </a:spcAft>
            </a:pPr>
            <a:r>
              <a:rPr sz="1600" b="1" i="0">
                <a:solidFill>
                  <a:srgbClr val="FFFFFF"/>
                </a:solidFill>
                <a:latin typeface="Calibri"/>
              </a:rPr>
              <a:t>Reason</a:t>
            </a:r>
          </a:p>
        </p:txBody>
      </p:sp>
      <p:sp>
        <p:nvSpPr>
          <p:cNvPr id="14" name="TextBox 13"/>
          <p:cNvSpPr txBox="1"/>
          <p:nvPr/>
        </p:nvSpPr>
        <p:spPr>
          <a:xfrm>
            <a:off x="5300319" y="2286000"/>
            <a:ext cx="1591056" cy="1188720"/>
          </a:xfrm>
          <a:prstGeom prst="rect">
            <a:avLst/>
          </a:prstGeom>
          <a:noFill/>
        </p:spPr>
        <p:txBody>
          <a:bodyPr wrap="square" anchor="t" lIns="0" rIns="0" tIns="0" bIns="0">
            <a:noAutofit/>
          </a:bodyPr>
          <a:lstStyle/>
          <a:p>
            <a:pPr algn="l">
              <a:spcAft>
                <a:spcPts val="600"/>
              </a:spcAft>
            </a:pPr>
            <a:r>
              <a:rPr sz="1300" b="0" i="0">
                <a:solidFill>
                  <a:srgbClr val="FFFFFF"/>
                </a:solidFill>
                <a:latin typeface="Calibri"/>
              </a:rPr>
              <a:t>Rules from RDFS, RDFS-Plus and OWL add 83 triples nobody typed in</a:t>
            </a:r>
          </a:p>
        </p:txBody>
      </p:sp>
      <p:cxnSp>
        <p:nvCxnSpPr>
          <p:cNvPr id="15" name="Connector 14"/>
          <p:cNvCxnSpPr/>
          <p:nvPr/>
        </p:nvCxnSpPr>
        <p:spPr>
          <a:xfrm>
            <a:off x="7101687" y="2606040"/>
            <a:ext cx="281864" cy="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Step: Query"/>
          <p:cNvSpPr/>
          <p:nvPr/>
        </p:nvSpPr>
        <p:spPr>
          <a:xfrm>
            <a:off x="7429271" y="1691640"/>
            <a:ext cx="1920240" cy="1828800"/>
          </a:xfrm>
          <a:prstGeom prst="roundRect">
            <a:avLst>
              <a:gd name="adj" fmla="val 6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593863" y="1828800"/>
            <a:ext cx="1591056" cy="54864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Query</a:t>
            </a:r>
          </a:p>
        </p:txBody>
      </p:sp>
      <p:sp>
        <p:nvSpPr>
          <p:cNvPr id="18" name="TextBox 17"/>
          <p:cNvSpPr txBox="1"/>
          <p:nvPr/>
        </p:nvSpPr>
        <p:spPr>
          <a:xfrm>
            <a:off x="7593863" y="2286000"/>
            <a:ext cx="1591056" cy="1188720"/>
          </a:xfrm>
          <a:prstGeom prst="rect">
            <a:avLst/>
          </a:prstGeom>
          <a:noFill/>
        </p:spPr>
        <p:txBody>
          <a:bodyPr wrap="square" anchor="t" lIns="0" rIns="0" tIns="0" bIns="0">
            <a:noAutofit/>
          </a:bodyPr>
          <a:lstStyle/>
          <a:p>
            <a:pPr algn="l">
              <a:spcAft>
                <a:spcPts val="600"/>
              </a:spcAft>
            </a:pPr>
            <a:r>
              <a:rPr sz="1300" b="0" i="0">
                <a:solidFill>
                  <a:srgbClr val="17272E"/>
                </a:solidFill>
                <a:latin typeface="Calibri"/>
              </a:rPr>
              <a:t>SPARQL matches one pattern over asserted and inferred triples</a:t>
            </a:r>
          </a:p>
        </p:txBody>
      </p:sp>
      <p:cxnSp>
        <p:nvCxnSpPr>
          <p:cNvPr id="19" name="Connector 18"/>
          <p:cNvCxnSpPr/>
          <p:nvPr/>
        </p:nvCxnSpPr>
        <p:spPr>
          <a:xfrm>
            <a:off x="9395231" y="2606040"/>
            <a:ext cx="281864" cy="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Step: Answer"/>
          <p:cNvSpPr/>
          <p:nvPr/>
        </p:nvSpPr>
        <p:spPr>
          <a:xfrm>
            <a:off x="9722815" y="1691640"/>
            <a:ext cx="1920240" cy="1828800"/>
          </a:xfrm>
          <a:prstGeom prst="roundRect">
            <a:avLst>
              <a:gd name="adj" fmla="val 6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887407" y="1828800"/>
            <a:ext cx="1591056" cy="54864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Answer</a:t>
            </a:r>
          </a:p>
        </p:txBody>
      </p:sp>
      <p:sp>
        <p:nvSpPr>
          <p:cNvPr id="22" name="TextBox 21"/>
          <p:cNvSpPr txBox="1"/>
          <p:nvPr/>
        </p:nvSpPr>
        <p:spPr>
          <a:xfrm>
            <a:off x="9887407" y="2286000"/>
            <a:ext cx="1591056" cy="1188720"/>
          </a:xfrm>
          <a:prstGeom prst="rect">
            <a:avLst/>
          </a:prstGeom>
          <a:noFill/>
        </p:spPr>
        <p:txBody>
          <a:bodyPr wrap="square" anchor="t" lIns="0" rIns="0" tIns="0" bIns="0">
            <a:noAutofit/>
          </a:bodyPr>
          <a:lstStyle/>
          <a:p>
            <a:pPr algn="l">
              <a:spcAft>
                <a:spcPts val="600"/>
              </a:spcAft>
            </a:pPr>
            <a:r>
              <a:rPr sz="1300" b="0" i="0">
                <a:solidFill>
                  <a:srgbClr val="17272E"/>
                </a:solidFill>
                <a:latin typeface="Calibri"/>
              </a:rPr>
              <a:t>James Dean, born in Marion, Indiana, worked with three directors</a:t>
            </a:r>
          </a:p>
        </p:txBody>
      </p:sp>
      <p:cxnSp>
        <p:nvCxnSpPr>
          <p:cNvPr id="23" name="Connector 22"/>
          <p:cNvCxnSpPr/>
          <p:nvPr/>
        </p:nvCxnSpPr>
        <p:spPr>
          <a:xfrm>
            <a:off x="6095847" y="3566160"/>
            <a:ext cx="0" cy="365760"/>
          </a:xfrm>
          <a:prstGeom prst="line">
            <a:avLst/>
          </a:prstGeom>
          <a:ln w="25400">
            <a:solidFill>
              <a:srgbClr val="E0952B"/>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3718407" y="3931920"/>
            <a:ext cx="4754880" cy="777240"/>
          </a:xfrm>
          <a:prstGeom prst="roundRect">
            <a:avLst>
              <a:gd name="adj" fmla="val 11764"/>
            </a:avLst>
          </a:prstGeom>
          <a:solidFill>
            <a:srgbClr val="FCF1DF"/>
          </a:solidFill>
          <a:ln w="12700">
            <a:solidFill>
              <a:srgbClr val="E0952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noAutofit/>
          </a:bodyPr>
          <a:lstStyle/>
          <a:p>
            <a:pPr algn="ctr"/>
            <a:r>
              <a:rPr sz="1400" b="0" i="0">
                <a:solidFill>
                  <a:srgbClr val="17272E"/>
                </a:solidFill>
                <a:latin typeface="Calibri"/>
              </a:rPr>
              <a:t>The ontology: 48 triples of RDFS, RDFS-Plus, OWL and SKOS, stored in the same graph as the data</a:t>
            </a:r>
          </a:p>
        </p:txBody>
      </p:sp>
      <p:sp>
        <p:nvSpPr>
          <p:cNvPr id="25" name="Oval 24"/>
          <p:cNvSpPr/>
          <p:nvPr/>
        </p:nvSpPr>
        <p:spPr>
          <a:xfrm>
            <a:off x="548640" y="4983480"/>
            <a:ext cx="329184" cy="329184"/>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a:t>
            </a:r>
          </a:p>
        </p:txBody>
      </p:sp>
      <p:sp>
        <p:nvSpPr>
          <p:cNvPr id="26" name="Takeaway"/>
          <p:cNvSpPr txBox="1"/>
          <p:nvPr/>
        </p:nvSpPr>
        <p:spPr>
          <a:xfrm>
            <a:off x="1005840" y="4983480"/>
            <a:ext cx="10637215" cy="329184"/>
          </a:xfrm>
          <a:prstGeom prst="rect">
            <a:avLst/>
          </a:prstGeom>
          <a:noFill/>
        </p:spPr>
        <p:txBody>
          <a:bodyPr wrap="square" anchor="ctr" lIns="0" rIns="0" tIns="0" bIns="0">
            <a:noAutofit/>
          </a:bodyPr>
          <a:lstStyle/>
          <a:p>
            <a:pPr algn="l">
              <a:spcAft>
                <a:spcPts val="600"/>
              </a:spcAft>
            </a:pPr>
            <a:r>
              <a:rPr sz="1400" b="1" i="0">
                <a:solidFill>
                  <a:srgbClr val="17272E"/>
                </a:solidFill>
                <a:latin typeface="Calibri"/>
              </a:rPr>
              <a:t>The data says what happened; the ontology says what it means; reasoning and SPARQL turn both into answers.</a:t>
            </a:r>
          </a:p>
        </p:txBody>
      </p:sp>
      <p:sp>
        <p:nvSpPr>
          <p:cNvPr id="27" name="Layer: URI"/>
          <p:cNvSpPr/>
          <p:nvPr/>
        </p:nvSpPr>
        <p:spPr>
          <a:xfrm>
            <a:off x="548640" y="5577840"/>
            <a:ext cx="1266786" cy="548640"/>
          </a:xfrm>
          <a:prstGeom prst="roundRect">
            <a:avLst>
              <a:gd name="adj" fmla="val 50000"/>
            </a:avLst>
          </a:prstGeom>
          <a:solidFill>
            <a:srgbClr val="FFFFFF"/>
          </a:solidFill>
          <a:ln w="12700">
            <a:solidFill>
              <a:srgbClr val="1F7A6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noAutofit/>
          </a:bodyPr>
          <a:lstStyle/>
          <a:p>
            <a:pPr algn="ctr"/>
            <a:r>
              <a:rPr sz="1200" b="1" i="0">
                <a:solidFill>
                  <a:srgbClr val="1F7A6D"/>
                </a:solidFill>
                <a:latin typeface="Calibri"/>
              </a:rPr>
              <a:t>URI</a:t>
            </a:r>
          </a:p>
          <a:p>
            <a:pPr algn="ctr"/>
            <a:r>
              <a:rPr sz="1000" b="0" i="0">
                <a:solidFill>
                  <a:srgbClr val="5B6B70"/>
                </a:solidFill>
                <a:latin typeface="Calibri"/>
              </a:rPr>
              <a:t>Names</a:t>
            </a:r>
          </a:p>
        </p:txBody>
      </p:sp>
      <p:sp>
        <p:nvSpPr>
          <p:cNvPr id="28" name="Layer: RDF"/>
          <p:cNvSpPr/>
          <p:nvPr/>
        </p:nvSpPr>
        <p:spPr>
          <a:xfrm>
            <a:off x="1952586" y="5577840"/>
            <a:ext cx="1266786" cy="548640"/>
          </a:xfrm>
          <a:prstGeom prst="roundRect">
            <a:avLst>
              <a:gd name="adj" fmla="val 50000"/>
            </a:avLst>
          </a:prstGeom>
          <a:solidFill>
            <a:srgbClr val="FFFFFF"/>
          </a:solidFill>
          <a:ln w="12700">
            <a:solidFill>
              <a:srgbClr val="1F7A6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noAutofit/>
          </a:bodyPr>
          <a:lstStyle/>
          <a:p>
            <a:pPr algn="ctr"/>
            <a:r>
              <a:rPr sz="1200" b="1" i="0">
                <a:solidFill>
                  <a:srgbClr val="1F7A6D"/>
                </a:solidFill>
                <a:latin typeface="Calibri"/>
              </a:rPr>
              <a:t>RDF</a:t>
            </a:r>
          </a:p>
          <a:p>
            <a:pPr algn="ctr"/>
            <a:r>
              <a:rPr sz="1000" b="0" i="0">
                <a:solidFill>
                  <a:srgbClr val="5B6B70"/>
                </a:solidFill>
                <a:latin typeface="Calibri"/>
              </a:rPr>
              <a:t>Statements</a:t>
            </a:r>
          </a:p>
        </p:txBody>
      </p:sp>
      <p:sp>
        <p:nvSpPr>
          <p:cNvPr id="29" name="Layer: RDFS"/>
          <p:cNvSpPr/>
          <p:nvPr/>
        </p:nvSpPr>
        <p:spPr>
          <a:xfrm>
            <a:off x="3356533" y="5577840"/>
            <a:ext cx="1266786" cy="548640"/>
          </a:xfrm>
          <a:prstGeom prst="roundRect">
            <a:avLst>
              <a:gd name="adj" fmla="val 50000"/>
            </a:avLst>
          </a:prstGeom>
          <a:solidFill>
            <a:srgbClr val="FFFFFF"/>
          </a:solidFill>
          <a:ln w="12700">
            <a:solidFill>
              <a:srgbClr val="1F7A6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noAutofit/>
          </a:bodyPr>
          <a:lstStyle/>
          <a:p>
            <a:pPr algn="ctr"/>
            <a:r>
              <a:rPr sz="1200" b="1" i="0">
                <a:solidFill>
                  <a:srgbClr val="1F7A6D"/>
                </a:solidFill>
                <a:latin typeface="Calibri"/>
              </a:rPr>
              <a:t>RDFS</a:t>
            </a:r>
          </a:p>
          <a:p>
            <a:pPr algn="ctr"/>
            <a:r>
              <a:rPr sz="1000" b="0" i="0">
                <a:solidFill>
                  <a:srgbClr val="5B6B70"/>
                </a:solidFill>
                <a:latin typeface="Calibri"/>
              </a:rPr>
              <a:t>Vocabulary</a:t>
            </a:r>
          </a:p>
        </p:txBody>
      </p:sp>
      <p:sp>
        <p:nvSpPr>
          <p:cNvPr id="30" name="Layer: RDFS-Plus"/>
          <p:cNvSpPr/>
          <p:nvPr/>
        </p:nvSpPr>
        <p:spPr>
          <a:xfrm>
            <a:off x="4760480" y="5577840"/>
            <a:ext cx="1266786" cy="548640"/>
          </a:xfrm>
          <a:prstGeom prst="roundRect">
            <a:avLst>
              <a:gd name="adj" fmla="val 50000"/>
            </a:avLst>
          </a:prstGeom>
          <a:solidFill>
            <a:srgbClr val="FFFFFF"/>
          </a:solidFill>
          <a:ln w="12700">
            <a:solidFill>
              <a:srgbClr val="1F7A6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noAutofit/>
          </a:bodyPr>
          <a:lstStyle/>
          <a:p>
            <a:pPr algn="ctr"/>
            <a:r>
              <a:rPr sz="1200" b="1" i="0">
                <a:solidFill>
                  <a:srgbClr val="1F7A6D"/>
                </a:solidFill>
                <a:latin typeface="Calibri"/>
              </a:rPr>
              <a:t>RDFS-Plus</a:t>
            </a:r>
          </a:p>
          <a:p>
            <a:pPr algn="ctr"/>
            <a:r>
              <a:rPr sz="1000" b="0" i="0">
                <a:solidFill>
                  <a:srgbClr val="5B6B70"/>
                </a:solidFill>
                <a:latin typeface="Calibri"/>
              </a:rPr>
              <a:t>Sameness</a:t>
            </a:r>
          </a:p>
        </p:txBody>
      </p:sp>
      <p:sp>
        <p:nvSpPr>
          <p:cNvPr id="31" name="Layer: OWL"/>
          <p:cNvSpPr/>
          <p:nvPr/>
        </p:nvSpPr>
        <p:spPr>
          <a:xfrm>
            <a:off x="6164427" y="5577840"/>
            <a:ext cx="1266786" cy="548640"/>
          </a:xfrm>
          <a:prstGeom prst="roundRect">
            <a:avLst>
              <a:gd name="adj" fmla="val 50000"/>
            </a:avLst>
          </a:prstGeom>
          <a:solidFill>
            <a:srgbClr val="FFFFFF"/>
          </a:solidFill>
          <a:ln w="12700">
            <a:solidFill>
              <a:srgbClr val="1F7A6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noAutofit/>
          </a:bodyPr>
          <a:lstStyle/>
          <a:p>
            <a:pPr algn="ctr"/>
            <a:r>
              <a:rPr sz="1200" b="1" i="0">
                <a:solidFill>
                  <a:srgbClr val="1F7A6D"/>
                </a:solidFill>
                <a:latin typeface="Calibri"/>
              </a:rPr>
              <a:t>OWL</a:t>
            </a:r>
          </a:p>
          <a:p>
            <a:pPr algn="ctr"/>
            <a:r>
              <a:rPr sz="1000" b="0" i="0">
                <a:solidFill>
                  <a:srgbClr val="5B6B70"/>
                </a:solidFill>
                <a:latin typeface="Calibri"/>
              </a:rPr>
              <a:t>Definitions</a:t>
            </a:r>
          </a:p>
        </p:txBody>
      </p:sp>
      <p:sp>
        <p:nvSpPr>
          <p:cNvPr id="32" name="Layer: SKOS"/>
          <p:cNvSpPr/>
          <p:nvPr/>
        </p:nvSpPr>
        <p:spPr>
          <a:xfrm>
            <a:off x="7568374" y="5577840"/>
            <a:ext cx="1266786" cy="548640"/>
          </a:xfrm>
          <a:prstGeom prst="roundRect">
            <a:avLst>
              <a:gd name="adj" fmla="val 50000"/>
            </a:avLst>
          </a:prstGeom>
          <a:solidFill>
            <a:srgbClr val="FFFFFF"/>
          </a:solidFill>
          <a:ln w="12700">
            <a:solidFill>
              <a:srgbClr val="1F7A6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noAutofit/>
          </a:bodyPr>
          <a:lstStyle/>
          <a:p>
            <a:pPr algn="ctr"/>
            <a:r>
              <a:rPr sz="1200" b="1" i="0">
                <a:solidFill>
                  <a:srgbClr val="1F7A6D"/>
                </a:solidFill>
                <a:latin typeface="Calibri"/>
              </a:rPr>
              <a:t>SKOS</a:t>
            </a:r>
          </a:p>
          <a:p>
            <a:pPr algn="ctr"/>
            <a:r>
              <a:rPr sz="1000" b="0" i="0">
                <a:solidFill>
                  <a:srgbClr val="5B6B70"/>
                </a:solidFill>
                <a:latin typeface="Calibri"/>
              </a:rPr>
              <a:t>Concepts</a:t>
            </a:r>
          </a:p>
        </p:txBody>
      </p:sp>
      <p:sp>
        <p:nvSpPr>
          <p:cNvPr id="33" name="Layer: Rules"/>
          <p:cNvSpPr/>
          <p:nvPr/>
        </p:nvSpPr>
        <p:spPr>
          <a:xfrm>
            <a:off x="8972321" y="5577840"/>
            <a:ext cx="1266786" cy="548640"/>
          </a:xfrm>
          <a:prstGeom prst="roundRect">
            <a:avLst>
              <a:gd name="adj" fmla="val 50000"/>
            </a:avLst>
          </a:prstGeom>
          <a:solidFill>
            <a:srgbClr val="FFFFFF"/>
          </a:solidFill>
          <a:ln w="12700">
            <a:solidFill>
              <a:srgbClr val="1F7A6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noAutofit/>
          </a:bodyPr>
          <a:lstStyle/>
          <a:p>
            <a:pPr algn="ctr"/>
            <a:r>
              <a:rPr sz="1200" b="1" i="0">
                <a:solidFill>
                  <a:srgbClr val="1F7A6D"/>
                </a:solidFill>
                <a:latin typeface="Calibri"/>
              </a:rPr>
              <a:t>Rules</a:t>
            </a:r>
          </a:p>
          <a:p>
            <a:pPr algn="ctr"/>
            <a:r>
              <a:rPr sz="1000" b="0" i="0">
                <a:solidFill>
                  <a:srgbClr val="5B6B70"/>
                </a:solidFill>
                <a:latin typeface="Calibri"/>
              </a:rPr>
              <a:t>Derivations</a:t>
            </a:r>
          </a:p>
        </p:txBody>
      </p:sp>
      <p:sp>
        <p:nvSpPr>
          <p:cNvPr id="34" name="Layer: SPARQL"/>
          <p:cNvSpPr/>
          <p:nvPr/>
        </p:nvSpPr>
        <p:spPr>
          <a:xfrm>
            <a:off x="10376268" y="5577840"/>
            <a:ext cx="1266786" cy="548640"/>
          </a:xfrm>
          <a:prstGeom prst="roundRect">
            <a:avLst>
              <a:gd name="adj" fmla="val 50000"/>
            </a:avLst>
          </a:prstGeom>
          <a:solidFill>
            <a:srgbClr val="FFFFFF"/>
          </a:solidFill>
          <a:ln w="12700">
            <a:solidFill>
              <a:srgbClr val="1F7A6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noAutofit/>
          </a:bodyPr>
          <a:lstStyle/>
          <a:p>
            <a:pPr algn="ctr"/>
            <a:r>
              <a:rPr sz="1200" b="1" i="0">
                <a:solidFill>
                  <a:srgbClr val="1F7A6D"/>
                </a:solidFill>
                <a:latin typeface="Calibri"/>
              </a:rPr>
              <a:t>SPARQL</a:t>
            </a:r>
          </a:p>
          <a:p>
            <a:pPr algn="ctr"/>
            <a:r>
              <a:rPr sz="1000" b="0" i="0">
                <a:solidFill>
                  <a:srgbClr val="5B6B70"/>
                </a:solidFill>
                <a:latin typeface="Calibri"/>
              </a:rPr>
              <a:t>Questions</a:t>
            </a:r>
          </a:p>
        </p:txBody>
      </p:sp>
      <p:sp>
        <p:nvSpPr>
          <p:cNvPr id="35"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36"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One question that needs every layer</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3 · THE BUILDING BLOCKS TOGETHER</a:t>
            </a:r>
          </a:p>
        </p:txBody>
      </p:sp>
      <p:sp>
        <p:nvSpPr>
          <p:cNvPr id="4" name="TextBox 3"/>
          <p:cNvSpPr txBox="1"/>
          <p:nvPr/>
        </p:nvSpPr>
        <p:spPr>
          <a:xfrm>
            <a:off x="548640" y="1554480"/>
            <a:ext cx="11094415" cy="365760"/>
          </a:xfrm>
          <a:prstGeom prst="rect">
            <a:avLst/>
          </a:prstGeom>
          <a:noFill/>
        </p:spPr>
        <p:txBody>
          <a:bodyPr wrap="square" anchor="t" lIns="0" rIns="0" tIns="0" bIns="0">
            <a:noAutofit/>
          </a:bodyPr>
          <a:lstStyle/>
          <a:p>
            <a:pPr algn="l">
              <a:spcAft>
                <a:spcPts val="600"/>
              </a:spcAft>
            </a:pPr>
            <a:r>
              <a:rPr sz="1700" b="1" i="0">
                <a:solidFill>
                  <a:srgbClr val="155E54"/>
                </a:solidFill>
                <a:latin typeface="Calibri"/>
              </a:rPr>
              <a:t>“Where were the stars of drama films born, and which directors did they work with?”</a:t>
            </a:r>
          </a:p>
        </p:txBody>
      </p:sp>
      <p:sp>
        <p:nvSpPr>
          <p:cNvPr id="5" name="TextBox 4"/>
          <p:cNvSpPr txBox="1"/>
          <p:nvPr/>
        </p:nvSpPr>
        <p:spPr>
          <a:xfrm>
            <a:off x="548640" y="2011680"/>
            <a:ext cx="6766560"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THE QUERY'S PATTERN, LINE BY LINE</a:t>
            </a:r>
          </a:p>
        </p:txBody>
      </p:sp>
      <p:graphicFrame>
        <p:nvGraphicFramePr>
          <p:cNvPr id="6" name="Table 5"/>
          <p:cNvGraphicFramePr>
            <a:graphicFrameLocks noGrp="1"/>
          </p:cNvGraphicFramePr>
          <p:nvPr/>
        </p:nvGraphicFramePr>
        <p:xfrm>
          <a:off x="548640" y="2286000"/>
          <a:ext cx="6766560" cy="3438144"/>
        </p:xfrm>
        <a:graphic>
          <a:graphicData uri="http://schemas.openxmlformats.org/drawingml/2006/table">
            <a:tbl>
              <a:tblPr firstRow="0" bandRow="0">
                <a:tableStyleId>{5C22544A-7EE6-4342-B048-85BDC9FD1C3A}</a:tableStyleId>
              </a:tblPr>
              <a:tblGrid>
                <a:gridCol w="3291840"/>
                <a:gridCol w="914400"/>
                <a:gridCol w="2560320"/>
              </a:tblGrid>
              <a:tr h="429768">
                <a:tc>
                  <a:txBody>
                    <a:bodyPr wrap="square"/>
                    <a:lstStyle/>
                    <a:p>
                      <a:r>
                        <a:rPr sz="1200" b="1" i="0">
                          <a:solidFill>
                            <a:srgbClr val="FFFFFF"/>
                          </a:solidFill>
                          <a:latin typeface="Calibri"/>
                        </a:rPr>
                        <a:t>Pattern line</a:t>
                      </a:r>
                    </a:p>
                  </a:txBody>
                  <a:tcPr marL="91440" marR="91440" marT="27432" marB="27432" anchor="ctr">
                    <a:solidFill>
                      <a:srgbClr val="1F7A6D"/>
                    </a:solidFill>
                  </a:tcPr>
                </a:tc>
                <a:tc>
                  <a:txBody>
                    <a:bodyPr wrap="square"/>
                    <a:lstStyle/>
                    <a:p>
                      <a:r>
                        <a:rPr sz="1200" b="1" i="0">
                          <a:solidFill>
                            <a:srgbClr val="FFFFFF"/>
                          </a:solidFill>
                          <a:latin typeface="Calibri"/>
                        </a:rPr>
                        <a:t>Layer</a:t>
                      </a:r>
                    </a:p>
                  </a:txBody>
                  <a:tcPr marL="91440" marR="91440" marT="27432" marB="27432" anchor="ctr">
                    <a:solidFill>
                      <a:srgbClr val="1F7A6D"/>
                    </a:solidFill>
                  </a:tcPr>
                </a:tc>
                <a:tc>
                  <a:txBody>
                    <a:bodyPr wrap="square"/>
                    <a:lstStyle/>
                    <a:p>
                      <a:r>
                        <a:rPr sz="1200" b="1" i="0">
                          <a:solidFill>
                            <a:srgbClr val="FFFFFF"/>
                          </a:solidFill>
                          <a:latin typeface="Calibri"/>
                        </a:rPr>
                        <a:t>Why it matches</a:t>
                      </a:r>
                    </a:p>
                  </a:txBody>
                  <a:tcPr marL="91440" marR="91440" marT="27432" marB="27432" anchor="ctr">
                    <a:solidFill>
                      <a:srgbClr val="1F7A6D"/>
                    </a:solidFill>
                  </a:tcPr>
                </a:tc>
              </a:tr>
              <a:tr h="429768">
                <a:tc>
                  <a:txBody>
                    <a:bodyPr wrap="square"/>
                    <a:lstStyle/>
                    <a:p>
                      <a:r>
                        <a:rPr sz="1100" b="0" i="0">
                          <a:solidFill>
                            <a:srgbClr val="17272E"/>
                          </a:solidFill>
                          <a:latin typeface="Consolas"/>
                        </a:rPr>
                        <a:t>?movie :genre/skos:broader* g:Drama .</a:t>
                      </a:r>
                    </a:p>
                  </a:txBody>
                  <a:tcPr marL="91440" marR="91440" marT="27432" marB="27432" anchor="ctr">
                    <a:solidFill>
                      <a:srgbClr val="FFFFFF"/>
                    </a:solidFill>
                  </a:tcPr>
                </a:tc>
                <a:tc>
                  <a:txBody>
                    <a:bodyPr wrap="square"/>
                    <a:lstStyle/>
                    <a:p>
                      <a:r>
                        <a:rPr sz="1200" b="1" i="0">
                          <a:solidFill>
                            <a:srgbClr val="17272E"/>
                          </a:solidFill>
                          <a:latin typeface="Calibri"/>
                        </a:rPr>
                        <a:t>SKOS</a:t>
                      </a:r>
                    </a:p>
                  </a:txBody>
                  <a:tcPr marL="91440" marR="91440" marT="27432" marB="27432" anchor="ctr">
                    <a:solidFill>
                      <a:srgbClr val="FCF1DF"/>
                    </a:solidFill>
                  </a:tcPr>
                </a:tc>
                <a:tc>
                  <a:txBody>
                    <a:bodyPr wrap="square"/>
                    <a:lstStyle/>
                    <a:p>
                      <a:r>
                        <a:rPr sz="1200" b="0" i="0">
                          <a:solidFill>
                            <a:srgbClr val="17272E"/>
                          </a:solidFill>
                          <a:latin typeface="Calibri"/>
                        </a:rPr>
                        <a:t>Teen and family drama are narrower than g:Drama</a:t>
                      </a:r>
                    </a:p>
                  </a:txBody>
                  <a:tcPr marL="91440" marR="91440" marT="27432" marB="27432" anchor="ctr">
                    <a:solidFill>
                      <a:srgbClr val="FFFFFF"/>
                    </a:solidFill>
                  </a:tcPr>
                </a:tc>
              </a:tr>
              <a:tr h="429768">
                <a:tc>
                  <a:txBody>
                    <a:bodyPr wrap="square"/>
                    <a:lstStyle/>
                    <a:p>
                      <a:r>
                        <a:rPr sz="1100" b="0" i="0">
                          <a:solidFill>
                            <a:srgbClr val="17272E"/>
                          </a:solidFill>
                          <a:latin typeface="Consolas"/>
                        </a:rPr>
                        <a:t>?movie :starring ?actor .</a:t>
                      </a:r>
                    </a:p>
                  </a:txBody>
                  <a:tcPr marL="91440" marR="91440" marT="27432" marB="27432" anchor="ctr">
                    <a:solidFill>
                      <a:srgbClr val="EAF3F0"/>
                    </a:solidFill>
                  </a:tcPr>
                </a:tc>
                <a:tc>
                  <a:txBody>
                    <a:bodyPr wrap="square"/>
                    <a:lstStyle/>
                    <a:p>
                      <a:r>
                        <a:rPr sz="1200" b="1" i="0">
                          <a:solidFill>
                            <a:srgbClr val="17272E"/>
                          </a:solidFill>
                          <a:latin typeface="Calibri"/>
                        </a:rPr>
                        <a:t>RDF</a:t>
                      </a:r>
                    </a:p>
                  </a:txBody>
                  <a:tcPr marL="91440" marR="91440" marT="27432" marB="27432" anchor="ctr">
                    <a:solidFill>
                      <a:srgbClr val="EAF3F0"/>
                    </a:solidFill>
                  </a:tcPr>
                </a:tc>
                <a:tc>
                  <a:txBody>
                    <a:bodyPr wrap="square"/>
                    <a:lstStyle/>
                    <a:p>
                      <a:r>
                        <a:rPr sz="1200" b="0" i="0">
                          <a:solidFill>
                            <a:srgbClr val="17272E"/>
                          </a:solidFill>
                          <a:latin typeface="Calibri"/>
                        </a:rPr>
                        <a:t>Asserted by the studio catalogue</a:t>
                      </a:r>
                    </a:p>
                  </a:txBody>
                  <a:tcPr marL="91440" marR="91440" marT="27432" marB="27432" anchor="ctr">
                    <a:solidFill>
                      <a:srgbClr val="EAF3F0"/>
                    </a:solidFill>
                  </a:tcPr>
                </a:tc>
              </a:tr>
              <a:tr h="429768">
                <a:tc>
                  <a:txBody>
                    <a:bodyPr wrap="square"/>
                    <a:lstStyle/>
                    <a:p>
                      <a:r>
                        <a:rPr sz="1100" b="0" i="0">
                          <a:solidFill>
                            <a:srgbClr val="17272E"/>
                          </a:solidFill>
                          <a:latin typeface="Consolas"/>
                        </a:rPr>
                        <a:t>?actor a :Person .</a:t>
                      </a:r>
                    </a:p>
                  </a:txBody>
                  <a:tcPr marL="91440" marR="91440" marT="27432" marB="27432" anchor="ctr">
                    <a:solidFill>
                      <a:srgbClr val="FFFFFF"/>
                    </a:solidFill>
                  </a:tcPr>
                </a:tc>
                <a:tc>
                  <a:txBody>
                    <a:bodyPr wrap="square"/>
                    <a:lstStyle/>
                    <a:p>
                      <a:r>
                        <a:rPr sz="1200" b="1" i="0">
                          <a:solidFill>
                            <a:srgbClr val="17272E"/>
                          </a:solidFill>
                          <a:latin typeface="Calibri"/>
                        </a:rPr>
                        <a:t>RDFS</a:t>
                      </a:r>
                    </a:p>
                  </a:txBody>
                  <a:tcPr marL="91440" marR="91440" marT="27432" marB="27432" anchor="ctr">
                    <a:solidFill>
                      <a:srgbClr val="FCF1DF"/>
                    </a:solidFill>
                  </a:tcPr>
                </a:tc>
                <a:tc>
                  <a:txBody>
                    <a:bodyPr wrap="square"/>
                    <a:lstStyle/>
                    <a:p>
                      <a:r>
                        <a:rPr sz="1200" b="0" i="0">
                          <a:solidFill>
                            <a:srgbClr val="17272E"/>
                          </a:solidFill>
                          <a:latin typeface="Calibri"/>
                        </a:rPr>
                        <a:t>From range :Actor, and every Actor is a Person</a:t>
                      </a:r>
                    </a:p>
                  </a:txBody>
                  <a:tcPr marL="91440" marR="91440" marT="27432" marB="27432" anchor="ctr">
                    <a:solidFill>
                      <a:srgbClr val="FFFFFF"/>
                    </a:solidFill>
                  </a:tcPr>
                </a:tc>
              </a:tr>
              <a:tr h="429768">
                <a:tc>
                  <a:txBody>
                    <a:bodyPr wrap="square"/>
                    <a:lstStyle/>
                    <a:p>
                      <a:r>
                        <a:rPr sz="1100" b="0" i="0">
                          <a:solidFill>
                            <a:srgbClr val="17272E"/>
                          </a:solidFill>
                          <a:latin typeface="Consolas"/>
                        </a:rPr>
                        <a:t>?actor rdfs:label ?star .</a:t>
                      </a:r>
                    </a:p>
                  </a:txBody>
                  <a:tcPr marL="91440" marR="91440" marT="27432" marB="27432" anchor="ctr">
                    <a:solidFill>
                      <a:srgbClr val="EAF3F0"/>
                    </a:solidFill>
                  </a:tcPr>
                </a:tc>
                <a:tc>
                  <a:txBody>
                    <a:bodyPr wrap="square"/>
                    <a:lstStyle/>
                    <a:p>
                      <a:r>
                        <a:rPr sz="1200" b="1" i="0">
                          <a:solidFill>
                            <a:srgbClr val="17272E"/>
                          </a:solidFill>
                          <a:latin typeface="Calibri"/>
                        </a:rPr>
                        <a:t>RDFS</a:t>
                      </a:r>
                    </a:p>
                  </a:txBody>
                  <a:tcPr marL="91440" marR="91440" marT="27432" marB="27432" anchor="ctr">
                    <a:solidFill>
                      <a:srgbClr val="FCF1DF"/>
                    </a:solidFill>
                  </a:tcPr>
                </a:tc>
                <a:tc>
                  <a:txBody>
                    <a:bodyPr wrap="square"/>
                    <a:lstStyle/>
                    <a:p>
                      <a:r>
                        <a:rPr sz="1200" b="0" i="0">
                          <a:solidFill>
                            <a:srgbClr val="17272E"/>
                          </a:solidFill>
                          <a:latin typeface="Calibri"/>
                        </a:rPr>
                        <a:t>From :personName and fan:name, sub-properties of rdfs:label</a:t>
                      </a:r>
                    </a:p>
                  </a:txBody>
                  <a:tcPr marL="91440" marR="91440" marT="27432" marB="27432" anchor="ctr">
                    <a:solidFill>
                      <a:srgbClr val="EAF3F0"/>
                    </a:solidFill>
                  </a:tcPr>
                </a:tc>
              </a:tr>
              <a:tr h="429768">
                <a:tc>
                  <a:txBody>
                    <a:bodyPr wrap="square"/>
                    <a:lstStyle/>
                    <a:p>
                      <a:r>
                        <a:rPr sz="1100" b="0" i="0">
                          <a:solidFill>
                            <a:srgbClr val="17272E"/>
                          </a:solidFill>
                          <a:latin typeface="Consolas"/>
                        </a:rPr>
                        <a:t>?actor fan:bornIn ?birthplace .</a:t>
                      </a:r>
                    </a:p>
                  </a:txBody>
                  <a:tcPr marL="91440" marR="91440" marT="27432" marB="27432" anchor="ctr">
                    <a:solidFill>
                      <a:srgbClr val="FFFFFF"/>
                    </a:solidFill>
                  </a:tcPr>
                </a:tc>
                <a:tc>
                  <a:txBody>
                    <a:bodyPr wrap="square"/>
                    <a:lstStyle/>
                    <a:p>
                      <a:r>
                        <a:rPr sz="1200" b="1" i="0">
                          <a:solidFill>
                            <a:srgbClr val="17272E"/>
                          </a:solidFill>
                          <a:latin typeface="Calibri"/>
                        </a:rPr>
                        <a:t>RDFS-Plus</a:t>
                      </a:r>
                    </a:p>
                  </a:txBody>
                  <a:tcPr marL="91440" marR="91440" marT="27432" marB="27432" anchor="ctr">
                    <a:solidFill>
                      <a:srgbClr val="FCF1DF"/>
                    </a:solidFill>
                  </a:tcPr>
                </a:tc>
                <a:tc>
                  <a:txBody>
                    <a:bodyPr wrap="square"/>
                    <a:lstStyle/>
                    <a:p>
                      <a:r>
                        <a:rPr sz="1200" b="0" i="0">
                          <a:solidFill>
                            <a:srgbClr val="17272E"/>
                          </a:solidFill>
                          <a:latin typeface="Calibri"/>
                        </a:rPr>
                        <a:t>fan:Dean_James sameAs :JamesDean, via registry id</a:t>
                      </a:r>
                    </a:p>
                  </a:txBody>
                  <a:tcPr marL="91440" marR="91440" marT="27432" marB="27432" anchor="ctr">
                    <a:solidFill>
                      <a:srgbClr val="FFFFFF"/>
                    </a:solidFill>
                  </a:tcPr>
                </a:tc>
              </a:tr>
              <a:tr h="429768">
                <a:tc>
                  <a:txBody>
                    <a:bodyPr wrap="square"/>
                    <a:lstStyle/>
                    <a:p>
                      <a:r>
                        <a:rPr sz="1100" b="0" i="0">
                          <a:solidFill>
                            <a:srgbClr val="17272E"/>
                          </a:solidFill>
                          <a:latin typeface="Consolas"/>
                        </a:rPr>
                        <a:t>?actor :workedWith ?d .</a:t>
                      </a:r>
                    </a:p>
                  </a:txBody>
                  <a:tcPr marL="91440" marR="91440" marT="27432" marB="27432" anchor="ctr">
                    <a:solidFill>
                      <a:srgbClr val="EAF3F0"/>
                    </a:solidFill>
                  </a:tcPr>
                </a:tc>
                <a:tc>
                  <a:txBody>
                    <a:bodyPr wrap="square"/>
                    <a:lstStyle/>
                    <a:p>
                      <a:r>
                        <a:rPr sz="1200" b="1" i="0">
                          <a:solidFill>
                            <a:srgbClr val="17272E"/>
                          </a:solidFill>
                          <a:latin typeface="Calibri"/>
                        </a:rPr>
                        <a:t>OWL</a:t>
                      </a:r>
                    </a:p>
                  </a:txBody>
                  <a:tcPr marL="91440" marR="91440" marT="27432" marB="27432" anchor="ctr">
                    <a:solidFill>
                      <a:srgbClr val="FCF1DF"/>
                    </a:solidFill>
                  </a:tcPr>
                </a:tc>
                <a:tc>
                  <a:txBody>
                    <a:bodyPr wrap="square"/>
                    <a:lstStyle/>
                    <a:p>
                      <a:r>
                        <a:rPr sz="1200" b="0" i="0">
                          <a:solidFill>
                            <a:srgbClr val="17272E"/>
                          </a:solidFill>
                          <a:latin typeface="Calibri"/>
                        </a:rPr>
                        <a:t>Property chain: starredIn, then directedBy</a:t>
                      </a:r>
                    </a:p>
                  </a:txBody>
                  <a:tcPr marL="91440" marR="91440" marT="27432" marB="27432" anchor="ctr">
                    <a:solidFill>
                      <a:srgbClr val="EAF3F0"/>
                    </a:solidFill>
                  </a:tcPr>
                </a:tc>
              </a:tr>
              <a:tr h="429768">
                <a:tc>
                  <a:txBody>
                    <a:bodyPr wrap="square"/>
                    <a:lstStyle/>
                    <a:p>
                      <a:r>
                        <a:rPr sz="1100" b="0" i="0">
                          <a:solidFill>
                            <a:srgbClr val="17272E"/>
                          </a:solidFill>
                          <a:latin typeface="Consolas"/>
                        </a:rPr>
                        <a:t>?d rdfs:label ?director .</a:t>
                      </a:r>
                    </a:p>
                  </a:txBody>
                  <a:tcPr marL="91440" marR="91440" marT="27432" marB="27432" anchor="ctr">
                    <a:solidFill>
                      <a:srgbClr val="FFFFFF"/>
                    </a:solidFill>
                  </a:tcPr>
                </a:tc>
                <a:tc>
                  <a:txBody>
                    <a:bodyPr wrap="square"/>
                    <a:lstStyle/>
                    <a:p>
                      <a:r>
                        <a:rPr sz="1200" b="1" i="0">
                          <a:solidFill>
                            <a:srgbClr val="17272E"/>
                          </a:solidFill>
                          <a:latin typeface="Calibri"/>
                        </a:rPr>
                        <a:t>RDFS</a:t>
                      </a:r>
                    </a:p>
                  </a:txBody>
                  <a:tcPr marL="91440" marR="91440" marT="27432" marB="27432" anchor="ctr">
                    <a:solidFill>
                      <a:srgbClr val="FCF1DF"/>
                    </a:solidFill>
                  </a:tcPr>
                </a:tc>
                <a:tc>
                  <a:txBody>
                    <a:bodyPr wrap="square"/>
                    <a:lstStyle/>
                    <a:p>
                      <a:r>
                        <a:rPr sz="1200" b="0" i="0">
                          <a:solidFill>
                            <a:srgbClr val="17272E"/>
                          </a:solidFill>
                          <a:latin typeface="Calibri"/>
                        </a:rPr>
                        <a:t>From :personName and fan:name, sub-properties of rdfs:label</a:t>
                      </a:r>
                    </a:p>
                  </a:txBody>
                  <a:tcPr marL="91440" marR="91440" marT="27432" marB="27432" anchor="ctr">
                    <a:solidFill>
                      <a:srgbClr val="FFFFFF"/>
                    </a:solidFill>
                  </a:tcPr>
                </a:tc>
              </a:tr>
            </a:tbl>
          </a:graphicData>
        </a:graphic>
      </p:graphicFrame>
      <p:sp>
        <p:nvSpPr>
          <p:cNvPr id="7" name="TextBox 6"/>
          <p:cNvSpPr txBox="1"/>
          <p:nvPr/>
        </p:nvSpPr>
        <p:spPr>
          <a:xfrm>
            <a:off x="7635240" y="2011680"/>
            <a:ext cx="4007815"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RESULT (OWL RL REASONER + SPARQL)</a:t>
            </a:r>
          </a:p>
        </p:txBody>
      </p:sp>
      <p:graphicFrame>
        <p:nvGraphicFramePr>
          <p:cNvPr id="8" name="Table 7"/>
          <p:cNvGraphicFramePr>
            <a:graphicFrameLocks noGrp="1"/>
          </p:cNvGraphicFramePr>
          <p:nvPr/>
        </p:nvGraphicFramePr>
        <p:xfrm>
          <a:off x="7635240" y="2286000"/>
          <a:ext cx="4007815" cy="1243584"/>
        </p:xfrm>
        <a:graphic>
          <a:graphicData uri="http://schemas.openxmlformats.org/drawingml/2006/table">
            <a:tbl>
              <a:tblPr firstRow="0" bandRow="0">
                <a:tableStyleId>{5C22544A-7EE6-4342-B048-85BDC9FD1C3A}</a:tableStyleId>
              </a:tblPr>
              <a:tblGrid>
                <a:gridCol w="1005840"/>
                <a:gridCol w="1508760"/>
                <a:gridCol w="1493215"/>
              </a:tblGrid>
              <a:tr h="310896">
                <a:tc>
                  <a:txBody>
                    <a:bodyPr wrap="square"/>
                    <a:lstStyle/>
                    <a:p>
                      <a:r>
                        <a:rPr sz="1200" b="1" i="0">
                          <a:solidFill>
                            <a:srgbClr val="FFFFFF"/>
                          </a:solidFill>
                          <a:latin typeface="Calibri"/>
                        </a:rPr>
                        <a:t>star</a:t>
                      </a:r>
                    </a:p>
                  </a:txBody>
                  <a:tcPr marL="91440" marR="91440" marT="27432" marB="27432" anchor="ctr">
                    <a:solidFill>
                      <a:srgbClr val="E0952B"/>
                    </a:solidFill>
                  </a:tcPr>
                </a:tc>
                <a:tc>
                  <a:txBody>
                    <a:bodyPr wrap="square"/>
                    <a:lstStyle/>
                    <a:p>
                      <a:r>
                        <a:rPr sz="1200" b="1" i="0">
                          <a:solidFill>
                            <a:srgbClr val="FFFFFF"/>
                          </a:solidFill>
                          <a:latin typeface="Calibri"/>
                        </a:rPr>
                        <a:t>birthplace</a:t>
                      </a:r>
                    </a:p>
                  </a:txBody>
                  <a:tcPr marL="91440" marR="91440" marT="27432" marB="27432" anchor="ctr">
                    <a:solidFill>
                      <a:srgbClr val="E0952B"/>
                    </a:solidFill>
                  </a:tcPr>
                </a:tc>
                <a:tc>
                  <a:txBody>
                    <a:bodyPr wrap="square"/>
                    <a:lstStyle/>
                    <a:p>
                      <a:r>
                        <a:rPr sz="1200" b="1" i="0">
                          <a:solidFill>
                            <a:srgbClr val="FFFFFF"/>
                          </a:solidFill>
                          <a:latin typeface="Calibri"/>
                        </a:rPr>
                        <a:t>director</a:t>
                      </a:r>
                    </a:p>
                  </a:txBody>
                  <a:tcPr marL="91440" marR="91440" marT="27432" marB="27432" anchor="ctr">
                    <a:solidFill>
                      <a:srgbClr val="E0952B"/>
                    </a:solidFill>
                  </a:tcPr>
                </a:tc>
              </a:tr>
              <a:tr h="310896">
                <a:tc>
                  <a:txBody>
                    <a:bodyPr wrap="square"/>
                    <a:lstStyle/>
                    <a:p>
                      <a:r>
                        <a:rPr sz="1200" b="0" i="0">
                          <a:solidFill>
                            <a:srgbClr val="17272E"/>
                          </a:solidFill>
                          <a:latin typeface="Calibri"/>
                        </a:rPr>
                        <a:t>James Dean</a:t>
                      </a:r>
                    </a:p>
                  </a:txBody>
                  <a:tcPr marL="91440" marR="91440" marT="27432" marB="27432" anchor="ctr">
                    <a:solidFill>
                      <a:srgbClr val="FFFFFF"/>
                    </a:solidFill>
                  </a:tcPr>
                </a:tc>
                <a:tc>
                  <a:txBody>
                    <a:bodyPr wrap="square"/>
                    <a:lstStyle/>
                    <a:p>
                      <a:r>
                        <a:rPr sz="1200" b="0" i="0">
                          <a:solidFill>
                            <a:srgbClr val="17272E"/>
                          </a:solidFill>
                          <a:latin typeface="Calibri"/>
                        </a:rPr>
                        <a:t>Marion, Indiana</a:t>
                      </a:r>
                    </a:p>
                  </a:txBody>
                  <a:tcPr marL="91440" marR="91440" marT="27432" marB="27432" anchor="ctr">
                    <a:solidFill>
                      <a:srgbClr val="FFFFFF"/>
                    </a:solidFill>
                  </a:tcPr>
                </a:tc>
                <a:tc>
                  <a:txBody>
                    <a:bodyPr wrap="square"/>
                    <a:lstStyle/>
                    <a:p>
                      <a:r>
                        <a:rPr sz="1200" b="0" i="0">
                          <a:solidFill>
                            <a:srgbClr val="17272E"/>
                          </a:solidFill>
                          <a:latin typeface="Calibri"/>
                        </a:rPr>
                        <a:t>Elia Kazan</a:t>
                      </a:r>
                    </a:p>
                  </a:txBody>
                  <a:tcPr marL="91440" marR="91440" marT="27432" marB="27432" anchor="ctr">
                    <a:solidFill>
                      <a:srgbClr val="FFFFFF"/>
                    </a:solidFill>
                  </a:tcPr>
                </a:tc>
              </a:tr>
              <a:tr h="310896">
                <a:tc>
                  <a:txBody>
                    <a:bodyPr wrap="square"/>
                    <a:lstStyle/>
                    <a:p>
                      <a:r>
                        <a:rPr sz="1200" b="0" i="0">
                          <a:solidFill>
                            <a:srgbClr val="17272E"/>
                          </a:solidFill>
                          <a:latin typeface="Calibri"/>
                        </a:rPr>
                        <a:t>James Dean</a:t>
                      </a:r>
                    </a:p>
                  </a:txBody>
                  <a:tcPr marL="91440" marR="91440" marT="27432" marB="27432" anchor="ctr">
                    <a:solidFill>
                      <a:srgbClr val="EAF3F0"/>
                    </a:solidFill>
                  </a:tcPr>
                </a:tc>
                <a:tc>
                  <a:txBody>
                    <a:bodyPr wrap="square"/>
                    <a:lstStyle/>
                    <a:p>
                      <a:r>
                        <a:rPr sz="1200" b="0" i="0">
                          <a:solidFill>
                            <a:srgbClr val="17272E"/>
                          </a:solidFill>
                          <a:latin typeface="Calibri"/>
                        </a:rPr>
                        <a:t>Marion, Indiana</a:t>
                      </a:r>
                    </a:p>
                  </a:txBody>
                  <a:tcPr marL="91440" marR="91440" marT="27432" marB="27432" anchor="ctr">
                    <a:solidFill>
                      <a:srgbClr val="EAF3F0"/>
                    </a:solidFill>
                  </a:tcPr>
                </a:tc>
                <a:tc>
                  <a:txBody>
                    <a:bodyPr wrap="square"/>
                    <a:lstStyle/>
                    <a:p>
                      <a:r>
                        <a:rPr sz="1200" b="0" i="0">
                          <a:solidFill>
                            <a:srgbClr val="17272E"/>
                          </a:solidFill>
                          <a:latin typeface="Calibri"/>
                        </a:rPr>
                        <a:t>George Stevens</a:t>
                      </a:r>
                    </a:p>
                  </a:txBody>
                  <a:tcPr marL="91440" marR="91440" marT="27432" marB="27432" anchor="ctr">
                    <a:solidFill>
                      <a:srgbClr val="EAF3F0"/>
                    </a:solidFill>
                  </a:tcPr>
                </a:tc>
              </a:tr>
              <a:tr h="310896">
                <a:tc>
                  <a:txBody>
                    <a:bodyPr wrap="square"/>
                    <a:lstStyle/>
                    <a:p>
                      <a:r>
                        <a:rPr sz="1200" b="0" i="0">
                          <a:solidFill>
                            <a:srgbClr val="17272E"/>
                          </a:solidFill>
                          <a:latin typeface="Calibri"/>
                        </a:rPr>
                        <a:t>James Dean</a:t>
                      </a:r>
                    </a:p>
                  </a:txBody>
                  <a:tcPr marL="91440" marR="91440" marT="27432" marB="27432" anchor="ctr">
                    <a:solidFill>
                      <a:srgbClr val="FFFFFF"/>
                    </a:solidFill>
                  </a:tcPr>
                </a:tc>
                <a:tc>
                  <a:txBody>
                    <a:bodyPr wrap="square"/>
                    <a:lstStyle/>
                    <a:p>
                      <a:r>
                        <a:rPr sz="1200" b="0" i="0">
                          <a:solidFill>
                            <a:srgbClr val="17272E"/>
                          </a:solidFill>
                          <a:latin typeface="Calibri"/>
                        </a:rPr>
                        <a:t>Marion, Indiana</a:t>
                      </a:r>
                    </a:p>
                  </a:txBody>
                  <a:tcPr marL="91440" marR="91440" marT="27432" marB="27432" anchor="ctr">
                    <a:solidFill>
                      <a:srgbClr val="FFFFFF"/>
                    </a:solidFill>
                  </a:tcPr>
                </a:tc>
                <a:tc>
                  <a:txBody>
                    <a:bodyPr wrap="square"/>
                    <a:lstStyle/>
                    <a:p>
                      <a:r>
                        <a:rPr sz="1200" b="0" i="0">
                          <a:solidFill>
                            <a:srgbClr val="17272E"/>
                          </a:solidFill>
                          <a:latin typeface="Calibri"/>
                        </a:rPr>
                        <a:t>Nicholas Ray</a:t>
                      </a:r>
                    </a:p>
                  </a:txBody>
                  <a:tcPr marL="91440" marR="91440" marT="27432" marB="27432" anchor="ctr">
                    <a:solidFill>
                      <a:srgbClr val="FFFFFF"/>
                    </a:solidFill>
                  </a:tcPr>
                </a:tc>
              </a:tr>
            </a:tbl>
          </a:graphicData>
        </a:graphic>
      </p:graphicFrame>
      <p:sp>
        <p:nvSpPr>
          <p:cNvPr id="9" name="TextBox 8"/>
          <p:cNvSpPr txBox="1"/>
          <p:nvPr/>
        </p:nvSpPr>
        <p:spPr>
          <a:xfrm>
            <a:off x="7635240" y="3703320"/>
            <a:ext cx="4007815" cy="274320"/>
          </a:xfrm>
          <a:prstGeom prst="rect">
            <a:avLst/>
          </a:prstGeom>
          <a:noFill/>
        </p:spPr>
        <p:txBody>
          <a:bodyPr wrap="square" anchor="t" lIns="0" rIns="0" tIns="0" bIns="0">
            <a:noAutofit/>
          </a:bodyPr>
          <a:lstStyle/>
          <a:p>
            <a:pPr algn="l">
              <a:spcAft>
                <a:spcPts val="600"/>
              </a:spcAft>
            </a:pPr>
            <a:r>
              <a:rPr sz="1100" b="1" i="0">
                <a:solidFill>
                  <a:srgbClr val="1F7A6D"/>
                </a:solidFill>
                <a:latin typeface="Calibri"/>
              </a:rPr>
              <a:t>TAKE ONE LAYER AWAY</a:t>
            </a:r>
          </a:p>
        </p:txBody>
      </p:sp>
      <p:graphicFrame>
        <p:nvGraphicFramePr>
          <p:cNvPr id="10" name="Table 9"/>
          <p:cNvGraphicFramePr>
            <a:graphicFrameLocks noGrp="1"/>
          </p:cNvGraphicFramePr>
          <p:nvPr/>
        </p:nvGraphicFramePr>
        <p:xfrm>
          <a:off x="7635240" y="3977639"/>
          <a:ext cx="4007815" cy="1645920"/>
        </p:xfrm>
        <a:graphic>
          <a:graphicData uri="http://schemas.openxmlformats.org/drawingml/2006/table">
            <a:tbl>
              <a:tblPr firstRow="0" bandRow="0">
                <a:tableStyleId>{5C22544A-7EE6-4342-B048-85BDC9FD1C3A}</a:tableStyleId>
              </a:tblPr>
              <a:tblGrid>
                <a:gridCol w="3276295"/>
                <a:gridCol w="731520"/>
              </a:tblGrid>
              <a:tr h="274320">
                <a:tc>
                  <a:txBody>
                    <a:bodyPr wrap="square"/>
                    <a:lstStyle/>
                    <a:p>
                      <a:r>
                        <a:rPr sz="1100" b="1" i="0">
                          <a:solidFill>
                            <a:srgbClr val="FFFFFF"/>
                          </a:solidFill>
                          <a:latin typeface="Calibri"/>
                        </a:rPr>
                        <a:t>Run</a:t>
                      </a:r>
                    </a:p>
                  </a:txBody>
                  <a:tcPr marL="91440" marR="91440" marT="27432" marB="27432" anchor="ctr">
                    <a:solidFill>
                      <a:srgbClr val="1F7A6D"/>
                    </a:solidFill>
                  </a:tcPr>
                </a:tc>
                <a:tc>
                  <a:txBody>
                    <a:bodyPr wrap="square"/>
                    <a:lstStyle/>
                    <a:p>
                      <a:r>
                        <a:rPr sz="1100" b="1" i="0">
                          <a:solidFill>
                            <a:srgbClr val="FFFFFF"/>
                          </a:solidFill>
                          <a:latin typeface="Calibri"/>
                        </a:rPr>
                        <a:t>Rows</a:t>
                      </a:r>
                    </a:p>
                  </a:txBody>
                  <a:tcPr marL="91440" marR="91440" marT="27432" marB="27432" anchor="ctr">
                    <a:solidFill>
                      <a:srgbClr val="1F7A6D"/>
                    </a:solidFill>
                  </a:tcPr>
                </a:tc>
              </a:tr>
              <a:tr h="274320">
                <a:tc>
                  <a:txBody>
                    <a:bodyPr wrap="square"/>
                    <a:lstStyle/>
                    <a:p>
                      <a:r>
                        <a:rPr sz="1100" b="0" i="0">
                          <a:solidFill>
                            <a:srgbClr val="17272E"/>
                          </a:solidFill>
                          <a:latin typeface="Calibri"/>
                        </a:rPr>
                        <a:t>No reasoner: asserted triples only</a:t>
                      </a:r>
                    </a:p>
                  </a:txBody>
                  <a:tcPr marL="91440" marR="91440" marT="27432" marB="27432" anchor="ctr">
                    <a:solidFill>
                      <a:srgbClr val="FFFFFF"/>
                    </a:solidFill>
                  </a:tcPr>
                </a:tc>
                <a:tc>
                  <a:txBody>
                    <a:bodyPr wrap="square"/>
                    <a:lstStyle/>
                    <a:p>
                      <a:r>
                        <a:rPr sz="1100" b="0" i="0">
                          <a:solidFill>
                            <a:srgbClr val="C24E36"/>
                          </a:solidFill>
                          <a:latin typeface="Calibri"/>
                        </a:rPr>
                        <a:t>0</a:t>
                      </a:r>
                    </a:p>
                  </a:txBody>
                  <a:tcPr marL="91440" marR="91440" marT="27432" marB="27432" anchor="ctr">
                    <a:solidFill>
                      <a:srgbClr val="FFFFFF"/>
                    </a:solidFill>
                  </a:tcPr>
                </a:tc>
              </a:tr>
              <a:tr h="274320">
                <a:tc>
                  <a:txBody>
                    <a:bodyPr wrap="square"/>
                    <a:lstStyle/>
                    <a:p>
                      <a:r>
                        <a:rPr sz="1100" b="0" i="0">
                          <a:solidFill>
                            <a:srgbClr val="17272E"/>
                          </a:solidFill>
                          <a:latin typeface="Calibri"/>
                        </a:rPr>
                        <a:t>Without RDFS (schema_rdfs.ttl)</a:t>
                      </a:r>
                    </a:p>
                  </a:txBody>
                  <a:tcPr marL="91440" marR="91440" marT="27432" marB="27432" anchor="ctr">
                    <a:solidFill>
                      <a:srgbClr val="EAF3F0"/>
                    </a:solidFill>
                  </a:tcPr>
                </a:tc>
                <a:tc>
                  <a:txBody>
                    <a:bodyPr wrap="square"/>
                    <a:lstStyle/>
                    <a:p>
                      <a:r>
                        <a:rPr sz="1100" b="0" i="0">
                          <a:solidFill>
                            <a:srgbClr val="C24E36"/>
                          </a:solidFill>
                          <a:latin typeface="Calibri"/>
                        </a:rPr>
                        <a:t>0</a:t>
                      </a:r>
                    </a:p>
                  </a:txBody>
                  <a:tcPr marL="91440" marR="91440" marT="27432" marB="27432" anchor="ctr">
                    <a:solidFill>
                      <a:srgbClr val="EAF3F0"/>
                    </a:solidFill>
                  </a:tcPr>
                </a:tc>
              </a:tr>
              <a:tr h="274320">
                <a:tc>
                  <a:txBody>
                    <a:bodyPr wrap="square"/>
                    <a:lstStyle/>
                    <a:p>
                      <a:r>
                        <a:rPr sz="1100" b="0" i="0">
                          <a:solidFill>
                            <a:srgbClr val="17272E"/>
                          </a:solidFill>
                          <a:latin typeface="Calibri"/>
                        </a:rPr>
                        <a:t>Without RDFS-Plus (alignment_rdfsplus.ttl)</a:t>
                      </a:r>
                    </a:p>
                  </a:txBody>
                  <a:tcPr marL="91440" marR="91440" marT="27432" marB="27432" anchor="ctr">
                    <a:solidFill>
                      <a:srgbClr val="FFFFFF"/>
                    </a:solidFill>
                  </a:tcPr>
                </a:tc>
                <a:tc>
                  <a:txBody>
                    <a:bodyPr wrap="square"/>
                    <a:lstStyle/>
                    <a:p>
                      <a:r>
                        <a:rPr sz="1100" b="0" i="0">
                          <a:solidFill>
                            <a:srgbClr val="C24E36"/>
                          </a:solidFill>
                          <a:latin typeface="Calibri"/>
                        </a:rPr>
                        <a:t>0</a:t>
                      </a:r>
                    </a:p>
                  </a:txBody>
                  <a:tcPr marL="91440" marR="91440" marT="27432" marB="27432" anchor="ctr">
                    <a:solidFill>
                      <a:srgbClr val="FFFFFF"/>
                    </a:solidFill>
                  </a:tcPr>
                </a:tc>
              </a:tr>
              <a:tr h="274320">
                <a:tc>
                  <a:txBody>
                    <a:bodyPr wrap="square"/>
                    <a:lstStyle/>
                    <a:p>
                      <a:r>
                        <a:rPr sz="1100" b="0" i="0">
                          <a:solidFill>
                            <a:srgbClr val="17272E"/>
                          </a:solidFill>
                          <a:latin typeface="Calibri"/>
                        </a:rPr>
                        <a:t>Without OWL (owl_model.ttl)</a:t>
                      </a:r>
                    </a:p>
                  </a:txBody>
                  <a:tcPr marL="91440" marR="91440" marT="27432" marB="27432" anchor="ctr">
                    <a:solidFill>
                      <a:srgbClr val="EAF3F0"/>
                    </a:solidFill>
                  </a:tcPr>
                </a:tc>
                <a:tc>
                  <a:txBody>
                    <a:bodyPr wrap="square"/>
                    <a:lstStyle/>
                    <a:p>
                      <a:r>
                        <a:rPr sz="1100" b="0" i="0">
                          <a:solidFill>
                            <a:srgbClr val="C24E36"/>
                          </a:solidFill>
                          <a:latin typeface="Calibri"/>
                        </a:rPr>
                        <a:t>0</a:t>
                      </a:r>
                    </a:p>
                  </a:txBody>
                  <a:tcPr marL="91440" marR="91440" marT="27432" marB="27432" anchor="ctr">
                    <a:solidFill>
                      <a:srgbClr val="EAF3F0"/>
                    </a:solidFill>
                  </a:tcPr>
                </a:tc>
              </a:tr>
              <a:tr h="274320">
                <a:tc>
                  <a:txBody>
                    <a:bodyPr wrap="square"/>
                    <a:lstStyle/>
                    <a:p>
                      <a:r>
                        <a:rPr sz="1100" b="0" i="0">
                          <a:solidFill>
                            <a:srgbClr val="17272E"/>
                          </a:solidFill>
                          <a:latin typeface="Calibri"/>
                        </a:rPr>
                        <a:t>Without SKOS (genres_skos.ttl)</a:t>
                      </a:r>
                    </a:p>
                  </a:txBody>
                  <a:tcPr marL="91440" marR="91440" marT="27432" marB="27432" anchor="ctr">
                    <a:solidFill>
                      <a:srgbClr val="FFFFFF"/>
                    </a:solidFill>
                  </a:tcPr>
                </a:tc>
                <a:tc>
                  <a:txBody>
                    <a:bodyPr wrap="square"/>
                    <a:lstStyle/>
                    <a:p>
                      <a:r>
                        <a:rPr sz="1100" b="0" i="0">
                          <a:solidFill>
                            <a:srgbClr val="C24E36"/>
                          </a:solidFill>
                          <a:latin typeface="Calibri"/>
                        </a:rPr>
                        <a:t>0</a:t>
                      </a:r>
                    </a:p>
                  </a:txBody>
                  <a:tcPr marL="91440" marR="91440" marT="27432" marB="27432" anchor="ctr">
                    <a:solidFill>
                      <a:srgbClr val="FFFFFF"/>
                    </a:solidFill>
                  </a:tcPr>
                </a:tc>
              </a:tr>
            </a:tbl>
          </a:graphicData>
        </a:graphic>
      </p:graphicFrame>
      <p:sp>
        <p:nvSpPr>
          <p:cNvPr id="11" name="Oval 10"/>
          <p:cNvSpPr/>
          <p:nvPr/>
        </p:nvSpPr>
        <p:spPr>
          <a:xfrm>
            <a:off x="7635240" y="5760720"/>
            <a:ext cx="329184" cy="329184"/>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a:t>
            </a:r>
          </a:p>
        </p:txBody>
      </p:sp>
      <p:sp>
        <p:nvSpPr>
          <p:cNvPr id="12" name="Takeaway"/>
          <p:cNvSpPr txBox="1"/>
          <p:nvPr/>
        </p:nvSpPr>
        <p:spPr>
          <a:xfrm>
            <a:off x="8092440" y="5760720"/>
            <a:ext cx="3550615" cy="329184"/>
          </a:xfrm>
          <a:prstGeom prst="rect">
            <a:avLst/>
          </a:prstGeom>
          <a:noFill/>
        </p:spPr>
        <p:txBody>
          <a:bodyPr wrap="square" anchor="ctr" lIns="0" rIns="0" tIns="0" bIns="0">
            <a:noAutofit/>
          </a:bodyPr>
          <a:lstStyle/>
          <a:p>
            <a:pPr algn="l">
              <a:spcAft>
                <a:spcPts val="600"/>
              </a:spcAft>
            </a:pPr>
            <a:r>
              <a:rPr sz="1300" b="1" i="0">
                <a:solidFill>
                  <a:srgbClr val="17272E"/>
                </a:solidFill>
                <a:latin typeface="Calibri"/>
              </a:rPr>
              <a:t>Every layer is load-bearing: drop any one and the answer disappears.</a:t>
            </a:r>
          </a:p>
        </p:txBody>
      </p:sp>
      <p:sp>
        <p:nvSpPr>
          <p:cNvPr id="13"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14"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Cheat sheet: the building blocks at a glance</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3 · THE BUILDING BLOCKS TOGETHER</a:t>
            </a:r>
          </a:p>
        </p:txBody>
      </p:sp>
      <p:graphicFrame>
        <p:nvGraphicFramePr>
          <p:cNvPr id="4" name="Table 3"/>
          <p:cNvGraphicFramePr>
            <a:graphicFrameLocks noGrp="1"/>
          </p:cNvGraphicFramePr>
          <p:nvPr/>
        </p:nvGraphicFramePr>
        <p:xfrm>
          <a:off x="548640" y="1600200"/>
          <a:ext cx="11094415" cy="4279392"/>
        </p:xfrm>
        <a:graphic>
          <a:graphicData uri="http://schemas.openxmlformats.org/drawingml/2006/table">
            <a:tbl>
              <a:tblPr firstRow="0" bandRow="0">
                <a:tableStyleId>{5C22544A-7EE6-4342-B048-85BDC9FD1C3A}</a:tableStyleId>
              </a:tblPr>
              <a:tblGrid>
                <a:gridCol w="1463040"/>
                <a:gridCol w="2926080"/>
                <a:gridCol w="3520440"/>
                <a:gridCol w="3184855"/>
              </a:tblGrid>
              <a:tr h="475488">
                <a:tc>
                  <a:txBody>
                    <a:bodyPr wrap="square"/>
                    <a:lstStyle/>
                    <a:p>
                      <a:r>
                        <a:rPr sz="1200" b="1" i="0">
                          <a:solidFill>
                            <a:srgbClr val="FFFFFF"/>
                          </a:solidFill>
                          <a:latin typeface="Calibri"/>
                        </a:rPr>
                        <a:t>Block</a:t>
                      </a:r>
                    </a:p>
                  </a:txBody>
                  <a:tcPr marL="91440" marR="91440" marT="27432" marB="27432" anchor="ctr">
                    <a:solidFill>
                      <a:srgbClr val="1F7A6D"/>
                    </a:solidFill>
                  </a:tcPr>
                </a:tc>
                <a:tc>
                  <a:txBody>
                    <a:bodyPr wrap="square"/>
                    <a:lstStyle/>
                    <a:p>
                      <a:r>
                        <a:rPr sz="1200" b="1" i="0">
                          <a:solidFill>
                            <a:srgbClr val="FFFFFF"/>
                          </a:solidFill>
                          <a:latin typeface="Calibri"/>
                        </a:rPr>
                        <a:t>Answers the question</a:t>
                      </a:r>
                    </a:p>
                  </a:txBody>
                  <a:tcPr marL="91440" marR="91440" marT="27432" marB="27432" anchor="ctr">
                    <a:solidFill>
                      <a:srgbClr val="1F7A6D"/>
                    </a:solidFill>
                  </a:tcPr>
                </a:tc>
                <a:tc>
                  <a:txBody>
                    <a:bodyPr wrap="square"/>
                    <a:lstStyle/>
                    <a:p>
                      <a:r>
                        <a:rPr sz="1200" b="1" i="0">
                          <a:solidFill>
                            <a:srgbClr val="FFFFFF"/>
                          </a:solidFill>
                          <a:latin typeface="Calibri"/>
                        </a:rPr>
                        <a:t>Key terms</a:t>
                      </a:r>
                    </a:p>
                  </a:txBody>
                  <a:tcPr marL="91440" marR="91440" marT="27432" marB="27432" anchor="ctr">
                    <a:solidFill>
                      <a:srgbClr val="1F7A6D"/>
                    </a:solidFill>
                  </a:tcPr>
                </a:tc>
                <a:tc>
                  <a:txBody>
                    <a:bodyPr wrap="square"/>
                    <a:lstStyle/>
                    <a:p>
                      <a:r>
                        <a:rPr sz="1200" b="1" i="0">
                          <a:solidFill>
                            <a:srgbClr val="FFFFFF"/>
                          </a:solidFill>
                          <a:latin typeface="Calibri"/>
                        </a:rPr>
                        <a:t>In the movie example</a:t>
                      </a:r>
                    </a:p>
                  </a:txBody>
                  <a:tcPr marL="91440" marR="91440" marT="27432" marB="27432" anchor="ctr">
                    <a:solidFill>
                      <a:srgbClr val="1F7A6D"/>
                    </a:solidFill>
                  </a:tcPr>
                </a:tc>
              </a:tr>
              <a:tr h="475488">
                <a:tc>
                  <a:txBody>
                    <a:bodyPr wrap="square"/>
                    <a:lstStyle/>
                    <a:p>
                      <a:r>
                        <a:rPr sz="1200" b="1" i="0">
                          <a:solidFill>
                            <a:srgbClr val="17272E"/>
                          </a:solidFill>
                          <a:latin typeface="Calibri"/>
                        </a:rPr>
                        <a:t>1 · URI</a:t>
                      </a:r>
                    </a:p>
                  </a:txBody>
                  <a:tcPr marL="91440" marR="91440" marT="27432" marB="27432" anchor="ctr">
                    <a:solidFill>
                      <a:srgbClr val="EAF3F0"/>
                    </a:solidFill>
                  </a:tcPr>
                </a:tc>
                <a:tc>
                  <a:txBody>
                    <a:bodyPr wrap="square"/>
                    <a:lstStyle/>
                    <a:p>
                      <a:r>
                        <a:rPr sz="1200" b="0" i="0">
                          <a:solidFill>
                            <a:srgbClr val="17272E"/>
                          </a:solidFill>
                          <a:latin typeface="Calibri"/>
                        </a:rPr>
                        <a:t>What is this thing called, globally?</a:t>
                      </a:r>
                    </a:p>
                  </a:txBody>
                  <a:tcPr marL="91440" marR="91440" marT="27432" marB="27432" anchor="ctr">
                    <a:solidFill>
                      <a:srgbClr val="FFFFFF"/>
                    </a:solidFill>
                  </a:tcPr>
                </a:tc>
                <a:tc>
                  <a:txBody>
                    <a:bodyPr wrap="square"/>
                    <a:lstStyle/>
                    <a:p>
                      <a:r>
                        <a:rPr sz="1200" b="0" i="0">
                          <a:solidFill>
                            <a:srgbClr val="17272E"/>
                          </a:solidFill>
                          <a:latin typeface="Calibri"/>
                        </a:rPr>
                        <a:t>URI, IRI, namespace, prefix, literal</a:t>
                      </a:r>
                    </a:p>
                  </a:txBody>
                  <a:tcPr marL="91440" marR="91440" marT="27432" marB="27432" anchor="ctr">
                    <a:solidFill>
                      <a:srgbClr val="FFFFFF"/>
                    </a:solidFill>
                  </a:tcPr>
                </a:tc>
                <a:tc>
                  <a:txBody>
                    <a:bodyPr wrap="square"/>
                    <a:lstStyle/>
                    <a:p>
                      <a:r>
                        <a:rPr sz="1100" b="0" i="0">
                          <a:solidFill>
                            <a:srgbClr val="17272E"/>
                          </a:solidFill>
                          <a:latin typeface="Consolas"/>
                        </a:rPr>
                        <a:t>:JamesDean</a:t>
                      </a:r>
                    </a:p>
                  </a:txBody>
                  <a:tcPr marL="91440" marR="91440" marT="27432" marB="27432" anchor="ctr">
                    <a:solidFill>
                      <a:srgbClr val="FFFFFF"/>
                    </a:solidFill>
                  </a:tcPr>
                </a:tc>
              </a:tr>
              <a:tr h="475488">
                <a:tc>
                  <a:txBody>
                    <a:bodyPr wrap="square"/>
                    <a:lstStyle/>
                    <a:p>
                      <a:r>
                        <a:rPr sz="1200" b="1" i="0">
                          <a:solidFill>
                            <a:srgbClr val="17272E"/>
                          </a:solidFill>
                          <a:latin typeface="Calibri"/>
                        </a:rPr>
                        <a:t>2 · RDF</a:t>
                      </a:r>
                    </a:p>
                  </a:txBody>
                  <a:tcPr marL="91440" marR="91440" marT="27432" marB="27432" anchor="ctr">
                    <a:solidFill>
                      <a:srgbClr val="EAF3F0"/>
                    </a:solidFill>
                  </a:tcPr>
                </a:tc>
                <a:tc>
                  <a:txBody>
                    <a:bodyPr wrap="square"/>
                    <a:lstStyle/>
                    <a:p>
                      <a:r>
                        <a:rPr sz="1200" b="0" i="0">
                          <a:solidFill>
                            <a:srgbClr val="17272E"/>
                          </a:solidFill>
                          <a:latin typeface="Calibri"/>
                        </a:rPr>
                        <a:t>What is true about it?</a:t>
                      </a:r>
                    </a:p>
                  </a:txBody>
                  <a:tcPr marL="91440" marR="91440" marT="27432" marB="27432" anchor="ctr">
                    <a:solidFill>
                      <a:srgbClr val="EAF3F0"/>
                    </a:solidFill>
                  </a:tcPr>
                </a:tc>
                <a:tc>
                  <a:txBody>
                    <a:bodyPr wrap="square"/>
                    <a:lstStyle/>
                    <a:p>
                      <a:r>
                        <a:rPr sz="1200" b="0" i="0">
                          <a:solidFill>
                            <a:srgbClr val="17272E"/>
                          </a:solidFill>
                          <a:latin typeface="Calibri"/>
                        </a:rPr>
                        <a:t>triple, graph, rdf:type, Turtle, merge</a:t>
                      </a:r>
                    </a:p>
                  </a:txBody>
                  <a:tcPr marL="91440" marR="91440" marT="27432" marB="27432" anchor="ctr">
                    <a:solidFill>
                      <a:srgbClr val="EAF3F0"/>
                    </a:solidFill>
                  </a:tcPr>
                </a:tc>
                <a:tc>
                  <a:txBody>
                    <a:bodyPr wrap="square"/>
                    <a:lstStyle/>
                    <a:p>
                      <a:r>
                        <a:rPr sz="1100" b="0" i="0">
                          <a:solidFill>
                            <a:srgbClr val="17272E"/>
                          </a:solidFill>
                          <a:latin typeface="Consolas"/>
                        </a:rPr>
                        <a:t>:Giant :starring :JamesDean</a:t>
                      </a:r>
                    </a:p>
                  </a:txBody>
                  <a:tcPr marL="91440" marR="91440" marT="27432" marB="27432" anchor="ctr">
                    <a:solidFill>
                      <a:srgbClr val="EAF3F0"/>
                    </a:solidFill>
                  </a:tcPr>
                </a:tc>
              </a:tr>
              <a:tr h="475488">
                <a:tc>
                  <a:txBody>
                    <a:bodyPr wrap="square"/>
                    <a:lstStyle/>
                    <a:p>
                      <a:r>
                        <a:rPr sz="1200" b="1" i="0">
                          <a:solidFill>
                            <a:srgbClr val="17272E"/>
                          </a:solidFill>
                          <a:latin typeface="Calibri"/>
                        </a:rPr>
                        <a:t>3 · RDFS</a:t>
                      </a:r>
                    </a:p>
                  </a:txBody>
                  <a:tcPr marL="91440" marR="91440" marT="27432" marB="27432" anchor="ctr">
                    <a:solidFill>
                      <a:srgbClr val="EAF3F0"/>
                    </a:solidFill>
                  </a:tcPr>
                </a:tc>
                <a:tc>
                  <a:txBody>
                    <a:bodyPr wrap="square"/>
                    <a:lstStyle/>
                    <a:p>
                      <a:r>
                        <a:rPr sz="1200" b="0" i="0">
                          <a:solidFill>
                            <a:srgbClr val="17272E"/>
                          </a:solidFill>
                          <a:latin typeface="Calibri"/>
                        </a:rPr>
                        <a:t>What kinds of things and relations exist?</a:t>
                      </a:r>
                    </a:p>
                  </a:txBody>
                  <a:tcPr marL="91440" marR="91440" marT="27432" marB="27432" anchor="ctr">
                    <a:solidFill>
                      <a:srgbClr val="FFFFFF"/>
                    </a:solidFill>
                  </a:tcPr>
                </a:tc>
                <a:tc>
                  <a:txBody>
                    <a:bodyPr wrap="square"/>
                    <a:lstStyle/>
                    <a:p>
                      <a:r>
                        <a:rPr sz="1200" b="0" i="0">
                          <a:solidFill>
                            <a:srgbClr val="17272E"/>
                          </a:solidFill>
                          <a:latin typeface="Calibri"/>
                        </a:rPr>
                        <a:t>subClassOf, subPropertyOf, domain, range, label</a:t>
                      </a:r>
                    </a:p>
                  </a:txBody>
                  <a:tcPr marL="91440" marR="91440" marT="27432" marB="27432" anchor="ctr">
                    <a:solidFill>
                      <a:srgbClr val="FFFFFF"/>
                    </a:solidFill>
                  </a:tcPr>
                </a:tc>
                <a:tc>
                  <a:txBody>
                    <a:bodyPr wrap="square"/>
                    <a:lstStyle/>
                    <a:p>
                      <a:r>
                        <a:rPr sz="1100" b="0" i="0">
                          <a:solidFill>
                            <a:srgbClr val="17272E"/>
                          </a:solidFill>
                          <a:latin typeface="Consolas"/>
                        </a:rPr>
                        <a:t>:Actor rdfs:subClassOf :Person</a:t>
                      </a:r>
                    </a:p>
                  </a:txBody>
                  <a:tcPr marL="91440" marR="91440" marT="27432" marB="27432" anchor="ctr">
                    <a:solidFill>
                      <a:srgbClr val="FFFFFF"/>
                    </a:solidFill>
                  </a:tcPr>
                </a:tc>
              </a:tr>
              <a:tr h="475488">
                <a:tc>
                  <a:txBody>
                    <a:bodyPr wrap="square"/>
                    <a:lstStyle/>
                    <a:p>
                      <a:r>
                        <a:rPr sz="1200" b="1" i="0">
                          <a:solidFill>
                            <a:srgbClr val="17272E"/>
                          </a:solidFill>
                          <a:latin typeface="Calibri"/>
                        </a:rPr>
                        <a:t>4 · RDFS-Plus</a:t>
                      </a:r>
                    </a:p>
                  </a:txBody>
                  <a:tcPr marL="91440" marR="91440" marT="27432" marB="27432" anchor="ctr">
                    <a:solidFill>
                      <a:srgbClr val="EAF3F0"/>
                    </a:solidFill>
                  </a:tcPr>
                </a:tc>
                <a:tc>
                  <a:txBody>
                    <a:bodyPr wrap="square"/>
                    <a:lstStyle/>
                    <a:p>
                      <a:r>
                        <a:rPr sz="1200" b="0" i="0">
                          <a:solidFill>
                            <a:srgbClr val="17272E"/>
                          </a:solidFill>
                          <a:latin typeface="Calibri"/>
                        </a:rPr>
                        <a:t>Which names mean the same thing?</a:t>
                      </a:r>
                    </a:p>
                  </a:txBody>
                  <a:tcPr marL="91440" marR="91440" marT="27432" marB="27432" anchor="ctr">
                    <a:solidFill>
                      <a:srgbClr val="EAF3F0"/>
                    </a:solidFill>
                  </a:tcPr>
                </a:tc>
                <a:tc>
                  <a:txBody>
                    <a:bodyPr wrap="square"/>
                    <a:lstStyle/>
                    <a:p>
                      <a:r>
                        <a:rPr sz="1200" b="0" i="0">
                          <a:solidFill>
                            <a:srgbClr val="17272E"/>
                          </a:solidFill>
                          <a:latin typeface="Calibri"/>
                        </a:rPr>
                        <a:t>sameAs, equivalentClass, inverseOf, InverseFunctionalProperty</a:t>
                      </a:r>
                    </a:p>
                  </a:txBody>
                  <a:tcPr marL="91440" marR="91440" marT="27432" marB="27432" anchor="ctr">
                    <a:solidFill>
                      <a:srgbClr val="EAF3F0"/>
                    </a:solidFill>
                  </a:tcPr>
                </a:tc>
                <a:tc>
                  <a:txBody>
                    <a:bodyPr wrap="square"/>
                    <a:lstStyle/>
                    <a:p>
                      <a:r>
                        <a:rPr sz="1100" b="0" i="0">
                          <a:solidFill>
                            <a:srgbClr val="17272E"/>
                          </a:solidFill>
                          <a:latin typeface="Consolas"/>
                        </a:rPr>
                        <a:t>same registry id ⇒ owl:sameAs</a:t>
                      </a:r>
                    </a:p>
                  </a:txBody>
                  <a:tcPr marL="91440" marR="91440" marT="27432" marB="27432" anchor="ctr">
                    <a:solidFill>
                      <a:srgbClr val="EAF3F0"/>
                    </a:solidFill>
                  </a:tcPr>
                </a:tc>
              </a:tr>
              <a:tr h="475488">
                <a:tc>
                  <a:txBody>
                    <a:bodyPr wrap="square"/>
                    <a:lstStyle/>
                    <a:p>
                      <a:r>
                        <a:rPr sz="1200" b="1" i="0">
                          <a:solidFill>
                            <a:srgbClr val="17272E"/>
                          </a:solidFill>
                          <a:latin typeface="Calibri"/>
                        </a:rPr>
                        <a:t>5 · OWL</a:t>
                      </a:r>
                    </a:p>
                  </a:txBody>
                  <a:tcPr marL="91440" marR="91440" marT="27432" marB="27432" anchor="ctr">
                    <a:solidFill>
                      <a:srgbClr val="EAF3F0"/>
                    </a:solidFill>
                  </a:tcPr>
                </a:tc>
                <a:tc>
                  <a:txBody>
                    <a:bodyPr wrap="square"/>
                    <a:lstStyle/>
                    <a:p>
                      <a:r>
                        <a:rPr sz="1200" b="0" i="0">
                          <a:solidFill>
                            <a:srgbClr val="17272E"/>
                          </a:solidFill>
                          <a:latin typeface="Calibri"/>
                        </a:rPr>
                        <a:t>What exactly defines a class?</a:t>
                      </a:r>
                    </a:p>
                  </a:txBody>
                  <a:tcPr marL="91440" marR="91440" marT="27432" marB="27432" anchor="ctr">
                    <a:solidFill>
                      <a:srgbClr val="FFFFFF"/>
                    </a:solidFill>
                  </a:tcPr>
                </a:tc>
                <a:tc>
                  <a:txBody>
                    <a:bodyPr wrap="square"/>
                    <a:lstStyle/>
                    <a:p>
                      <a:r>
                        <a:rPr sz="1200" b="0" i="0">
                          <a:solidFill>
                            <a:srgbClr val="17272E"/>
                          </a:solidFill>
                          <a:latin typeface="Calibri"/>
                        </a:rPr>
                        <a:t>Restriction, hasValue, unionOf, cardinality, profiles</a:t>
                      </a:r>
                    </a:p>
                  </a:txBody>
                  <a:tcPr marL="91440" marR="91440" marT="27432" marB="27432" anchor="ctr">
                    <a:solidFill>
                      <a:srgbClr val="FFFFFF"/>
                    </a:solidFill>
                  </a:tcPr>
                </a:tc>
                <a:tc>
                  <a:txBody>
                    <a:bodyPr wrap="square"/>
                    <a:lstStyle/>
                    <a:p>
                      <a:r>
                        <a:rPr sz="1100" b="0" i="0">
                          <a:solidFill>
                            <a:srgbClr val="17272E"/>
                          </a:solidFill>
                          <a:latin typeface="Consolas"/>
                        </a:rPr>
                        <a:t>:JamesDeanMovie = starring :JamesDean</a:t>
                      </a:r>
                    </a:p>
                  </a:txBody>
                  <a:tcPr marL="91440" marR="91440" marT="27432" marB="27432" anchor="ctr">
                    <a:solidFill>
                      <a:srgbClr val="FFFFFF"/>
                    </a:solidFill>
                  </a:tcPr>
                </a:tc>
              </a:tr>
              <a:tr h="475488">
                <a:tc>
                  <a:txBody>
                    <a:bodyPr wrap="square"/>
                    <a:lstStyle/>
                    <a:p>
                      <a:r>
                        <a:rPr sz="1200" b="1" i="0">
                          <a:solidFill>
                            <a:srgbClr val="17272E"/>
                          </a:solidFill>
                          <a:latin typeface="Calibri"/>
                        </a:rPr>
                        <a:t>6 · SKOS</a:t>
                      </a:r>
                    </a:p>
                  </a:txBody>
                  <a:tcPr marL="91440" marR="91440" marT="27432" marB="27432" anchor="ctr">
                    <a:solidFill>
                      <a:srgbClr val="EAF3F0"/>
                    </a:solidFill>
                  </a:tcPr>
                </a:tc>
                <a:tc>
                  <a:txBody>
                    <a:bodyPr wrap="square"/>
                    <a:lstStyle/>
                    <a:p>
                      <a:r>
                        <a:rPr sz="1200" b="0" i="0">
                          <a:solidFill>
                            <a:srgbClr val="17272E"/>
                          </a:solidFill>
                          <a:latin typeface="Calibri"/>
                        </a:rPr>
                        <a:t>How are subject terms organized?</a:t>
                      </a:r>
                    </a:p>
                  </a:txBody>
                  <a:tcPr marL="91440" marR="91440" marT="27432" marB="27432" anchor="ctr">
                    <a:solidFill>
                      <a:srgbClr val="EAF3F0"/>
                    </a:solidFill>
                  </a:tcPr>
                </a:tc>
                <a:tc>
                  <a:txBody>
                    <a:bodyPr wrap="square"/>
                    <a:lstStyle/>
                    <a:p>
                      <a:r>
                        <a:rPr sz="1200" b="0" i="0">
                          <a:solidFill>
                            <a:srgbClr val="17272E"/>
                          </a:solidFill>
                          <a:latin typeface="Calibri"/>
                        </a:rPr>
                        <a:t>Concept, prefLabel, broader, exactMatch</a:t>
                      </a:r>
                    </a:p>
                  </a:txBody>
                  <a:tcPr marL="91440" marR="91440" marT="27432" marB="27432" anchor="ctr">
                    <a:solidFill>
                      <a:srgbClr val="EAF3F0"/>
                    </a:solidFill>
                  </a:tcPr>
                </a:tc>
                <a:tc>
                  <a:txBody>
                    <a:bodyPr wrap="square"/>
                    <a:lstStyle/>
                    <a:p>
                      <a:r>
                        <a:rPr sz="1100" b="0" i="0">
                          <a:solidFill>
                            <a:srgbClr val="17272E"/>
                          </a:solidFill>
                          <a:latin typeface="Consolas"/>
                        </a:rPr>
                        <a:t>g:TeenDrama skos:broader g:Drama</a:t>
                      </a:r>
                    </a:p>
                  </a:txBody>
                  <a:tcPr marL="91440" marR="91440" marT="27432" marB="27432" anchor="ctr">
                    <a:solidFill>
                      <a:srgbClr val="EAF3F0"/>
                    </a:solidFill>
                  </a:tcPr>
                </a:tc>
              </a:tr>
              <a:tr h="475488">
                <a:tc>
                  <a:txBody>
                    <a:bodyPr wrap="square"/>
                    <a:lstStyle/>
                    <a:p>
                      <a:r>
                        <a:rPr sz="1200" b="1" i="0">
                          <a:solidFill>
                            <a:srgbClr val="17272E"/>
                          </a:solidFill>
                          <a:latin typeface="Calibri"/>
                        </a:rPr>
                        <a:t>7 · Rules</a:t>
                      </a:r>
                    </a:p>
                  </a:txBody>
                  <a:tcPr marL="91440" marR="91440" marT="27432" marB="27432" anchor="ctr">
                    <a:solidFill>
                      <a:srgbClr val="EAF3F0"/>
                    </a:solidFill>
                  </a:tcPr>
                </a:tc>
                <a:tc>
                  <a:txBody>
                    <a:bodyPr wrap="square"/>
                    <a:lstStyle/>
                    <a:p>
                      <a:r>
                        <a:rPr sz="1200" b="0" i="0">
                          <a:solidFill>
                            <a:srgbClr val="17272E"/>
                          </a:solidFill>
                          <a:latin typeface="Calibri"/>
                        </a:rPr>
                        <a:t>What else follows, if-then?</a:t>
                      </a:r>
                    </a:p>
                  </a:txBody>
                  <a:tcPr marL="91440" marR="91440" marT="27432" marB="27432" anchor="ctr">
                    <a:solidFill>
                      <a:srgbClr val="FFFFFF"/>
                    </a:solidFill>
                  </a:tcPr>
                </a:tc>
                <a:tc>
                  <a:txBody>
                    <a:bodyPr wrap="square"/>
                    <a:lstStyle/>
                    <a:p>
                      <a:r>
                        <a:rPr sz="1200" b="0" i="0">
                          <a:solidFill>
                            <a:srgbClr val="17272E"/>
                          </a:solidFill>
                          <a:latin typeface="Calibri"/>
                        </a:rPr>
                        <a:t>rule, CONSTRUCT, property chain, RIF</a:t>
                      </a:r>
                    </a:p>
                  </a:txBody>
                  <a:tcPr marL="91440" marR="91440" marT="27432" marB="27432" anchor="ctr">
                    <a:solidFill>
                      <a:srgbClr val="FFFFFF"/>
                    </a:solidFill>
                  </a:tcPr>
                </a:tc>
                <a:tc>
                  <a:txBody>
                    <a:bodyPr wrap="square"/>
                    <a:lstStyle/>
                    <a:p>
                      <a:r>
                        <a:rPr sz="1100" b="0" i="0">
                          <a:solidFill>
                            <a:srgbClr val="17272E"/>
                          </a:solidFill>
                          <a:latin typeface="Consolas"/>
                        </a:rPr>
                        <a:t>starredIn + directedBy ⇒ workedWith</a:t>
                      </a:r>
                    </a:p>
                  </a:txBody>
                  <a:tcPr marL="91440" marR="91440" marT="27432" marB="27432" anchor="ctr">
                    <a:solidFill>
                      <a:srgbClr val="FFFFFF"/>
                    </a:solidFill>
                  </a:tcPr>
                </a:tc>
              </a:tr>
              <a:tr h="475488">
                <a:tc>
                  <a:txBody>
                    <a:bodyPr wrap="square"/>
                    <a:lstStyle/>
                    <a:p>
                      <a:r>
                        <a:rPr sz="1200" b="1" i="0">
                          <a:solidFill>
                            <a:srgbClr val="17272E"/>
                          </a:solidFill>
                          <a:latin typeface="Calibri"/>
                        </a:rPr>
                        <a:t>8 · SPARQL</a:t>
                      </a:r>
                    </a:p>
                  </a:txBody>
                  <a:tcPr marL="91440" marR="91440" marT="27432" marB="27432" anchor="ctr">
                    <a:solidFill>
                      <a:srgbClr val="EAF3F0"/>
                    </a:solidFill>
                  </a:tcPr>
                </a:tc>
                <a:tc>
                  <a:txBody>
                    <a:bodyPr wrap="square"/>
                    <a:lstStyle/>
                    <a:p>
                      <a:r>
                        <a:rPr sz="1200" b="0" i="0">
                          <a:solidFill>
                            <a:srgbClr val="17272E"/>
                          </a:solidFill>
                          <a:latin typeface="Calibri"/>
                        </a:rPr>
                        <a:t>How do I ask?</a:t>
                      </a:r>
                    </a:p>
                  </a:txBody>
                  <a:tcPr marL="91440" marR="91440" marT="27432" marB="27432" anchor="ctr">
                    <a:solidFill>
                      <a:srgbClr val="EAF3F0"/>
                    </a:solidFill>
                  </a:tcPr>
                </a:tc>
                <a:tc>
                  <a:txBody>
                    <a:bodyPr wrap="square"/>
                    <a:lstStyle/>
                    <a:p>
                      <a:r>
                        <a:rPr sz="1200" b="0" i="0">
                          <a:solidFill>
                            <a:srgbClr val="17272E"/>
                          </a:solidFill>
                          <a:latin typeface="Calibri"/>
                        </a:rPr>
                        <a:t>SELECT, ASK, CONSTRUCT, graph pattern, property path</a:t>
                      </a:r>
                    </a:p>
                  </a:txBody>
                  <a:tcPr marL="91440" marR="91440" marT="27432" marB="27432" anchor="ctr">
                    <a:solidFill>
                      <a:srgbClr val="EAF3F0"/>
                    </a:solidFill>
                  </a:tcPr>
                </a:tc>
                <a:tc>
                  <a:txBody>
                    <a:bodyPr wrap="square"/>
                    <a:lstStyle/>
                    <a:p>
                      <a:r>
                        <a:rPr sz="1100" b="0" i="0">
                          <a:solidFill>
                            <a:srgbClr val="17272E"/>
                          </a:solidFill>
                          <a:latin typeface="Consolas"/>
                        </a:rPr>
                        <a:t>?movie :starring :JamesDean</a:t>
                      </a:r>
                    </a:p>
                  </a:txBody>
                  <a:tcPr marL="91440" marR="91440" marT="27432" marB="27432" anchor="ctr">
                    <a:solidFill>
                      <a:srgbClr val="EAF3F0"/>
                    </a:solidFill>
                  </a:tcPr>
                </a:tc>
              </a:tr>
            </a:tbl>
          </a:graphicData>
        </a:graphic>
      </p:graphicFrame>
      <p:sp>
        <p:nvSpPr>
          <p:cNvPr id="5" name="Oval 4"/>
          <p:cNvSpPr/>
          <p:nvPr/>
        </p:nvSpPr>
        <p:spPr>
          <a:xfrm>
            <a:off x="548640" y="5989320"/>
            <a:ext cx="329184" cy="329184"/>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a:t>
            </a:r>
          </a:p>
        </p:txBody>
      </p:sp>
      <p:sp>
        <p:nvSpPr>
          <p:cNvPr id="6" name="Takeaway"/>
          <p:cNvSpPr txBox="1"/>
          <p:nvPr/>
        </p:nvSpPr>
        <p:spPr>
          <a:xfrm>
            <a:off x="1005840" y="5989320"/>
            <a:ext cx="10637215" cy="329184"/>
          </a:xfrm>
          <a:prstGeom prst="rect">
            <a:avLst/>
          </a:prstGeom>
          <a:noFill/>
        </p:spPr>
        <p:txBody>
          <a:bodyPr wrap="square" anchor="ctr" lIns="0" rIns="0" tIns="0" bIns="0">
            <a:noAutofit/>
          </a:bodyPr>
          <a:lstStyle/>
          <a:p>
            <a:pPr algn="l">
              <a:spcAft>
                <a:spcPts val="600"/>
              </a:spcAft>
            </a:pPr>
            <a:r>
              <a:rPr sz="1400" b="1" i="0">
                <a:solidFill>
                  <a:srgbClr val="17272E"/>
                </a:solidFill>
                <a:latin typeface="Calibri"/>
              </a:rPr>
              <a:t>Model only as far as your questions need: RDFS-Plus covers most integration work.</a:t>
            </a:r>
          </a:p>
        </p:txBody>
      </p:sp>
      <p:sp>
        <p:nvSpPr>
          <p:cNvPr id="7"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8"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7272E"/>
        </a:solidFill>
        <a:effectLst/>
      </p:bgPr>
    </p:bg>
    <p:spTree>
      <p:nvGrpSpPr>
        <p:cNvPr id="1" name=""/>
        <p:cNvGrpSpPr/>
        <p:nvPr/>
      </p:nvGrpSpPr>
      <p:grpSpPr/>
      <p:sp>
        <p:nvSpPr>
          <p:cNvPr id="2" name="Title 1"/>
          <p:cNvSpPr>
            <a:spLocks noGrp="1"/>
          </p:cNvSpPr>
          <p:nvPr>
            <p:ph type="title"/>
          </p:nvPr>
        </p:nvSpPr>
        <p:spPr>
          <a:xfrm>
            <a:off x="548640" y="3154680"/>
            <a:ext cx="6949440" cy="1371600"/>
          </a:xfrm>
        </p:spPr>
        <p:txBody>
          <a:bodyPr wrap="square" anchor="t" lIns="0" rIns="0" tIns="0" bIns="0">
            <a:noAutofit/>
          </a:bodyPr>
          <a:lstStyle/>
          <a:p>
            <a:pPr algn="l"/>
            <a:r>
              <a:rPr sz="4000" b="1" i="0">
                <a:solidFill>
                  <a:srgbClr val="FFFFFF"/>
                </a:solidFill>
                <a:latin typeface="Cambria"/>
              </a:rPr>
              <a:t>Deep dive: RDF, architecture and SPARQL</a:t>
            </a:r>
          </a:p>
        </p:txBody>
      </p:sp>
      <p:sp>
        <p:nvSpPr>
          <p:cNvPr id="3" name="Part number"/>
          <p:cNvSpPr txBox="1"/>
          <p:nvPr/>
        </p:nvSpPr>
        <p:spPr>
          <a:xfrm>
            <a:off x="548640" y="1325880"/>
            <a:ext cx="2743200" cy="1280160"/>
          </a:xfrm>
          <a:prstGeom prst="rect">
            <a:avLst/>
          </a:prstGeom>
          <a:noFill/>
        </p:spPr>
        <p:txBody>
          <a:bodyPr wrap="square" anchor="t" lIns="0" rIns="0" tIns="0" bIns="0">
            <a:noAutofit/>
          </a:bodyPr>
          <a:lstStyle/>
          <a:p>
            <a:pPr algn="l">
              <a:spcAft>
                <a:spcPts val="600"/>
              </a:spcAft>
            </a:pPr>
            <a:r>
              <a:rPr sz="9600" b="1" i="0">
                <a:solidFill>
                  <a:srgbClr val="E0952B"/>
                </a:solidFill>
                <a:latin typeface="Cambria"/>
              </a:rPr>
              <a:t>04</a:t>
            </a:r>
          </a:p>
        </p:txBody>
      </p:sp>
      <p:sp>
        <p:nvSpPr>
          <p:cNvPr id="4" name="TextBox 3"/>
          <p:cNvSpPr txBox="1"/>
          <p:nvPr/>
        </p:nvSpPr>
        <p:spPr>
          <a:xfrm>
            <a:off x="548640" y="2788920"/>
            <a:ext cx="6766560" cy="320040"/>
          </a:xfrm>
          <a:prstGeom prst="rect">
            <a:avLst/>
          </a:prstGeom>
          <a:noFill/>
        </p:spPr>
        <p:txBody>
          <a:bodyPr wrap="square" anchor="t" lIns="0" rIns="0" tIns="0" bIns="0">
            <a:noAutofit/>
          </a:bodyPr>
          <a:lstStyle/>
          <a:p>
            <a:pPr algn="l">
              <a:spcAft>
                <a:spcPts val="600"/>
              </a:spcAft>
            </a:pPr>
            <a:r>
              <a:rPr sz="1300" b="1" i="0">
                <a:solidFill>
                  <a:srgbClr val="7FD1C1"/>
                </a:solidFill>
                <a:latin typeface="Calibri"/>
              </a:rPr>
              <a:t>PART 4</a:t>
            </a:r>
          </a:p>
        </p:txBody>
      </p:sp>
      <p:sp>
        <p:nvSpPr>
          <p:cNvPr id="5" name="TextBox 4"/>
          <p:cNvSpPr txBox="1"/>
          <p:nvPr/>
        </p:nvSpPr>
        <p:spPr>
          <a:xfrm>
            <a:off x="548640" y="4572000"/>
            <a:ext cx="6583680" cy="731520"/>
          </a:xfrm>
          <a:prstGeom prst="rect">
            <a:avLst/>
          </a:prstGeom>
          <a:noFill/>
        </p:spPr>
        <p:txBody>
          <a:bodyPr wrap="square" anchor="t" lIns="0" rIns="0" tIns="0" bIns="0">
            <a:noAutofit/>
          </a:bodyPr>
          <a:lstStyle/>
          <a:p>
            <a:pPr algn="l">
              <a:spcAft>
                <a:spcPts val="600"/>
              </a:spcAft>
            </a:pPr>
            <a:r>
              <a:rPr sz="1800" b="0" i="0">
                <a:solidFill>
                  <a:srgbClr val="E3EBEE"/>
                </a:solidFill>
                <a:latin typeface="Calibri"/>
              </a:rPr>
              <a:t>Triples, global names, merging, and asking questions of a graph.</a:t>
            </a:r>
          </a:p>
        </p:txBody>
      </p:sp>
      <p:sp>
        <p:nvSpPr>
          <p:cNvPr id="6" name="Oval 5"/>
          <p:cNvSpPr/>
          <p:nvPr/>
        </p:nvSpPr>
        <p:spPr>
          <a:xfrm>
            <a:off x="58521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1</a:t>
            </a:r>
          </a:p>
        </p:txBody>
      </p:sp>
      <p:sp>
        <p:nvSpPr>
          <p:cNvPr id="7" name="Oval 6"/>
          <p:cNvSpPr/>
          <p:nvPr/>
        </p:nvSpPr>
        <p:spPr>
          <a:xfrm>
            <a:off x="108813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2</a:t>
            </a:r>
          </a:p>
        </p:txBody>
      </p:sp>
      <p:sp>
        <p:nvSpPr>
          <p:cNvPr id="8" name="Oval 7"/>
          <p:cNvSpPr/>
          <p:nvPr/>
        </p:nvSpPr>
        <p:spPr>
          <a:xfrm>
            <a:off x="159105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3</a:t>
            </a:r>
          </a:p>
        </p:txBody>
      </p:sp>
      <p:sp>
        <p:nvSpPr>
          <p:cNvPr id="9" name="Oval 8"/>
          <p:cNvSpPr/>
          <p:nvPr/>
        </p:nvSpPr>
        <p:spPr>
          <a:xfrm>
            <a:off x="2057400" y="5623559"/>
            <a:ext cx="365760" cy="365760"/>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200" b="1" i="0">
                <a:solidFill>
                  <a:srgbClr val="17272E"/>
                </a:solidFill>
                <a:latin typeface="Calibri"/>
              </a:rPr>
              <a:t>4</a:t>
            </a:r>
          </a:p>
        </p:txBody>
      </p:sp>
      <p:sp>
        <p:nvSpPr>
          <p:cNvPr id="10" name="Oval 9"/>
          <p:cNvSpPr/>
          <p:nvPr/>
        </p:nvSpPr>
        <p:spPr>
          <a:xfrm>
            <a:off x="2596896"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5</a:t>
            </a:r>
          </a:p>
        </p:txBody>
      </p:sp>
      <p:sp>
        <p:nvSpPr>
          <p:cNvPr id="11" name="Oval 10"/>
          <p:cNvSpPr/>
          <p:nvPr/>
        </p:nvSpPr>
        <p:spPr>
          <a:xfrm>
            <a:off x="3099815"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6</a:t>
            </a:r>
          </a:p>
        </p:txBody>
      </p:sp>
      <p:sp>
        <p:nvSpPr>
          <p:cNvPr id="12" name="Oval 11"/>
          <p:cNvSpPr/>
          <p:nvPr/>
        </p:nvSpPr>
        <p:spPr>
          <a:xfrm>
            <a:off x="3602736"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7</a:t>
            </a:r>
          </a:p>
        </p:txBody>
      </p:sp>
      <p:sp>
        <p:nvSpPr>
          <p:cNvPr id="13" name="Oval 12"/>
          <p:cNvSpPr/>
          <p:nvPr/>
        </p:nvSpPr>
        <p:spPr>
          <a:xfrm>
            <a:off x="4105656"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8</a:t>
            </a:r>
          </a:p>
        </p:txBody>
      </p:sp>
      <p:sp>
        <p:nvSpPr>
          <p:cNvPr id="14" name="Oval 13"/>
          <p:cNvSpPr/>
          <p:nvPr/>
        </p:nvSpPr>
        <p:spPr>
          <a:xfrm>
            <a:off x="4608576"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9</a:t>
            </a:r>
          </a:p>
        </p:txBody>
      </p:sp>
      <p:cxnSp>
        <p:nvCxnSpPr>
          <p:cNvPr id="15" name="Motif edge"/>
          <p:cNvCxnSpPr/>
          <p:nvPr/>
        </p:nvCxnSpPr>
        <p:spPr>
          <a:xfrm flipV="1">
            <a:off x="8257032" y="1568195"/>
            <a:ext cx="1536192" cy="576073"/>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6" name="Motif edge"/>
          <p:cNvCxnSpPr/>
          <p:nvPr/>
        </p:nvCxnSpPr>
        <p:spPr>
          <a:xfrm>
            <a:off x="9793224" y="1568195"/>
            <a:ext cx="1344168" cy="960121"/>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7" name="Motif edge"/>
          <p:cNvCxnSpPr/>
          <p:nvPr/>
        </p:nvCxnSpPr>
        <p:spPr>
          <a:xfrm>
            <a:off x="8257032" y="2144268"/>
            <a:ext cx="960120" cy="1344168"/>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8" name="Motif edge"/>
          <p:cNvCxnSpPr/>
          <p:nvPr/>
        </p:nvCxnSpPr>
        <p:spPr>
          <a:xfrm flipH="1">
            <a:off x="9217152" y="1568195"/>
            <a:ext cx="576072" cy="1920241"/>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9" name="Motif edge"/>
          <p:cNvCxnSpPr/>
          <p:nvPr/>
        </p:nvCxnSpPr>
        <p:spPr>
          <a:xfrm flipH="1">
            <a:off x="10657332" y="2528316"/>
            <a:ext cx="480060" cy="1728216"/>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0" name="Motif edge"/>
          <p:cNvCxnSpPr/>
          <p:nvPr/>
        </p:nvCxnSpPr>
        <p:spPr>
          <a:xfrm>
            <a:off x="9217152" y="3488436"/>
            <a:ext cx="1440180" cy="768096"/>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1" name="Motif edge"/>
          <p:cNvCxnSpPr/>
          <p:nvPr/>
        </p:nvCxnSpPr>
        <p:spPr>
          <a:xfrm flipH="1">
            <a:off x="8161020" y="3488436"/>
            <a:ext cx="1056132" cy="1248156"/>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2" name="Motif edge"/>
          <p:cNvCxnSpPr/>
          <p:nvPr/>
        </p:nvCxnSpPr>
        <p:spPr>
          <a:xfrm flipH="1">
            <a:off x="9889236" y="4256532"/>
            <a:ext cx="768096" cy="1056132"/>
          </a:xfrm>
          <a:prstGeom prst="line">
            <a:avLst/>
          </a:prstGeom>
          <a:ln w="28575">
            <a:solidFill>
              <a:srgbClr val="E0952B"/>
            </a:solidFill>
            <a:prstDash val="dash"/>
          </a:ln>
        </p:spPr>
        <p:style>
          <a:lnRef idx="2">
            <a:schemeClr val="accent1"/>
          </a:lnRef>
          <a:fillRef idx="0">
            <a:schemeClr val="accent1"/>
          </a:fillRef>
          <a:effectRef idx="1">
            <a:schemeClr val="accent1"/>
          </a:effectRef>
          <a:fontRef idx="minor">
            <a:schemeClr val="tx1"/>
          </a:fontRef>
        </p:style>
      </p:cxnSp>
      <p:cxnSp>
        <p:nvCxnSpPr>
          <p:cNvPr id="23" name="Motif edge"/>
          <p:cNvCxnSpPr/>
          <p:nvPr/>
        </p:nvCxnSpPr>
        <p:spPr>
          <a:xfrm>
            <a:off x="8161020" y="4736592"/>
            <a:ext cx="1728216" cy="576072"/>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sp>
        <p:nvSpPr>
          <p:cNvPr id="24" name="Motif node"/>
          <p:cNvSpPr/>
          <p:nvPr/>
        </p:nvSpPr>
        <p:spPr>
          <a:xfrm>
            <a:off x="8113014" y="2000249"/>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Motif node"/>
          <p:cNvSpPr/>
          <p:nvPr/>
        </p:nvSpPr>
        <p:spPr>
          <a:xfrm>
            <a:off x="9591598" y="1366570"/>
            <a:ext cx="403250" cy="403250"/>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otif node"/>
          <p:cNvSpPr/>
          <p:nvPr/>
        </p:nvSpPr>
        <p:spPr>
          <a:xfrm>
            <a:off x="10993374" y="2384298"/>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Motif node"/>
          <p:cNvSpPr/>
          <p:nvPr/>
        </p:nvSpPr>
        <p:spPr>
          <a:xfrm>
            <a:off x="9015526" y="3286810"/>
            <a:ext cx="403250" cy="403250"/>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Motif node"/>
          <p:cNvSpPr/>
          <p:nvPr/>
        </p:nvSpPr>
        <p:spPr>
          <a:xfrm>
            <a:off x="10455706" y="4054906"/>
            <a:ext cx="403250" cy="403250"/>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otif node"/>
          <p:cNvSpPr/>
          <p:nvPr/>
        </p:nvSpPr>
        <p:spPr>
          <a:xfrm>
            <a:off x="8017002" y="4592574"/>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Motif node"/>
          <p:cNvSpPr/>
          <p:nvPr/>
        </p:nvSpPr>
        <p:spPr>
          <a:xfrm>
            <a:off x="9745218" y="5168646"/>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7FD1C1"/>
                </a:solidFill>
                <a:latin typeface="Calibri"/>
              </a:rPr>
              <a:t>What is an ontology? · from RDF to OWL</a:t>
            </a:r>
          </a:p>
        </p:txBody>
      </p:sp>
      <p:sp>
        <p:nvSpPr>
          <p:cNvPr id="32"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7FD1C1"/>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From a table to triples</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4 · RDF</a:t>
            </a:r>
          </a:p>
        </p:txBody>
      </p:sp>
      <p:sp>
        <p:nvSpPr>
          <p:cNvPr id="4" name="TextBox 3"/>
          <p:cNvSpPr txBox="1"/>
          <p:nvPr/>
        </p:nvSpPr>
        <p:spPr>
          <a:xfrm>
            <a:off x="548640" y="1554480"/>
            <a:ext cx="11094415" cy="411480"/>
          </a:xfrm>
          <a:prstGeom prst="rect">
            <a:avLst/>
          </a:prstGeom>
          <a:noFill/>
        </p:spPr>
        <p:txBody>
          <a:bodyPr wrap="square" anchor="t" lIns="0" rIns="0" tIns="0" bIns="0">
            <a:noAutofit/>
          </a:bodyPr>
          <a:lstStyle/>
          <a:p>
            <a:pPr algn="l">
              <a:spcAft>
                <a:spcPts val="600"/>
              </a:spcAft>
            </a:pPr>
            <a:r>
              <a:rPr sz="1600" b="0" i="0">
                <a:solidFill>
                  <a:srgbClr val="5B6B70"/>
                </a:solidFill>
                <a:latin typeface="Calibri"/>
              </a:rPr>
              <a:t>Spread a table across servers by row, by column, or by cell? Only cell by cell lets anyone say anything about any entity, so every cell becomes a triple.</a:t>
            </a:r>
          </a:p>
        </p:txBody>
      </p:sp>
      <p:sp>
        <p:nvSpPr>
          <p:cNvPr id="5" name="Rounded Rectangle 4"/>
          <p:cNvSpPr/>
          <p:nvPr/>
        </p:nvSpPr>
        <p:spPr>
          <a:xfrm>
            <a:off x="548640" y="2286000"/>
            <a:ext cx="1463040" cy="365760"/>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1300" b="1" i="0">
                <a:solidFill>
                  <a:srgbClr val="5B6B70"/>
                </a:solidFill>
                <a:latin typeface="Calibri"/>
              </a:rPr>
              <a:t>by row  ✗</a:t>
            </a:r>
          </a:p>
        </p:txBody>
      </p:sp>
      <p:sp>
        <p:nvSpPr>
          <p:cNvPr id="6" name="Rounded Rectangle 5"/>
          <p:cNvSpPr/>
          <p:nvPr/>
        </p:nvSpPr>
        <p:spPr>
          <a:xfrm>
            <a:off x="2148840" y="2286000"/>
            <a:ext cx="1463040" cy="365760"/>
          </a:xfrm>
          <a:prstGeom prst="roundRect">
            <a:avLst>
              <a:gd name="adj" fmla="val 50000"/>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1300" b="1" i="0">
                <a:solidFill>
                  <a:srgbClr val="5B6B70"/>
                </a:solidFill>
                <a:latin typeface="Calibri"/>
              </a:rPr>
              <a:t>by column  ✗</a:t>
            </a:r>
          </a:p>
        </p:txBody>
      </p:sp>
      <p:sp>
        <p:nvSpPr>
          <p:cNvPr id="7" name="Rounded Rectangle 6"/>
          <p:cNvSpPr/>
          <p:nvPr/>
        </p:nvSpPr>
        <p:spPr>
          <a:xfrm>
            <a:off x="3749039" y="2286000"/>
            <a:ext cx="1463040" cy="36576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1300" b="1" i="0">
                <a:solidFill>
                  <a:srgbClr val="FFFFFF"/>
                </a:solidFill>
                <a:latin typeface="Calibri"/>
              </a:rPr>
              <a:t>by cell  ✓</a:t>
            </a:r>
          </a:p>
        </p:txBody>
      </p:sp>
      <p:graphicFrame>
        <p:nvGraphicFramePr>
          <p:cNvPr id="8" name="Table 7"/>
          <p:cNvGraphicFramePr>
            <a:graphicFrameLocks noGrp="1"/>
          </p:cNvGraphicFramePr>
          <p:nvPr/>
        </p:nvGraphicFramePr>
        <p:xfrm>
          <a:off x="548640" y="2926080"/>
          <a:ext cx="5394960" cy="1152144"/>
        </p:xfrm>
        <a:graphic>
          <a:graphicData uri="http://schemas.openxmlformats.org/drawingml/2006/table">
            <a:tbl>
              <a:tblPr firstRow="0" bandRow="0">
                <a:tableStyleId>{5C22544A-7EE6-4342-B048-85BDC9FD1C3A}</a:tableStyleId>
              </a:tblPr>
              <a:tblGrid>
                <a:gridCol w="1188720"/>
                <a:gridCol w="1920240"/>
                <a:gridCol w="1051560"/>
                <a:gridCol w="1234440"/>
              </a:tblGrid>
              <a:tr h="384048">
                <a:tc>
                  <a:txBody>
                    <a:bodyPr wrap="square"/>
                    <a:lstStyle/>
                    <a:p>
                      <a:r>
                        <a:rPr sz="1300" b="1" i="0">
                          <a:solidFill>
                            <a:srgbClr val="FFFFFF"/>
                          </a:solidFill>
                          <a:latin typeface="Calibri"/>
                        </a:rPr>
                        <a:t/>
                      </a:r>
                    </a:p>
                  </a:txBody>
                  <a:tcPr marL="91440" marR="91440" marT="27432" marB="27432" anchor="ctr">
                    <a:solidFill>
                      <a:srgbClr val="1F7A6D"/>
                    </a:solidFill>
                  </a:tcPr>
                </a:tc>
                <a:tc>
                  <a:txBody>
                    <a:bodyPr wrap="square"/>
                    <a:lstStyle/>
                    <a:p>
                      <a:r>
                        <a:rPr sz="1300" b="1" i="0">
                          <a:solidFill>
                            <a:srgbClr val="FFFFFF"/>
                          </a:solidFill>
                          <a:latin typeface="Calibri"/>
                        </a:rPr>
                        <a:t>movieTitle</a:t>
                      </a:r>
                    </a:p>
                  </a:txBody>
                  <a:tcPr marL="91440" marR="91440" marT="27432" marB="27432" anchor="ctr">
                    <a:solidFill>
                      <a:srgbClr val="1F7A6D"/>
                    </a:solidFill>
                  </a:tcPr>
                </a:tc>
                <a:tc>
                  <a:txBody>
                    <a:bodyPr wrap="square"/>
                    <a:lstStyle/>
                    <a:p>
                      <a:r>
                        <a:rPr sz="1300" b="1" i="0">
                          <a:solidFill>
                            <a:srgbClr val="FFFFFF"/>
                          </a:solidFill>
                          <a:latin typeface="Calibri"/>
                        </a:rPr>
                        <a:t>releaseYear</a:t>
                      </a:r>
                    </a:p>
                  </a:txBody>
                  <a:tcPr marL="91440" marR="91440" marT="27432" marB="27432" anchor="ctr">
                    <a:solidFill>
                      <a:srgbClr val="1F7A6D"/>
                    </a:solidFill>
                  </a:tcPr>
                </a:tc>
                <a:tc>
                  <a:txBody>
                    <a:bodyPr wrap="square"/>
                    <a:lstStyle/>
                    <a:p>
                      <a:r>
                        <a:rPr sz="1300" b="1" i="0">
                          <a:solidFill>
                            <a:srgbClr val="FFFFFF"/>
                          </a:solidFill>
                          <a:latin typeface="Calibri"/>
                        </a:rPr>
                        <a:t>directedBy</a:t>
                      </a:r>
                    </a:p>
                  </a:txBody>
                  <a:tcPr marL="91440" marR="91440" marT="27432" marB="27432" anchor="ctr">
                    <a:solidFill>
                      <a:srgbClr val="1F7A6D"/>
                    </a:solidFill>
                  </a:tcPr>
                </a:tc>
              </a:tr>
              <a:tr h="384048">
                <a:tc>
                  <a:txBody>
                    <a:bodyPr wrap="square"/>
                    <a:lstStyle/>
                    <a:p>
                      <a:r>
                        <a:rPr sz="1300" b="0" i="0">
                          <a:solidFill>
                            <a:srgbClr val="17272E"/>
                          </a:solidFill>
                          <a:latin typeface="Calibri"/>
                        </a:rPr>
                        <a:t>:Rebel…</a:t>
                      </a:r>
                    </a:p>
                  </a:txBody>
                  <a:tcPr marL="91440" marR="91440" marT="27432" marB="27432" anchor="ctr">
                    <a:solidFill>
                      <a:srgbClr val="FFFFFF"/>
                    </a:solidFill>
                  </a:tcPr>
                </a:tc>
                <a:tc>
                  <a:txBody>
                    <a:bodyPr wrap="square"/>
                    <a:lstStyle/>
                    <a:p>
                      <a:r>
                        <a:rPr sz="1300" b="0" i="0">
                          <a:solidFill>
                            <a:srgbClr val="17272E"/>
                          </a:solidFill>
                          <a:latin typeface="Calibri"/>
                        </a:rPr>
                        <a:t>Rebel Without a Cause</a:t>
                      </a:r>
                    </a:p>
                  </a:txBody>
                  <a:tcPr marL="91440" marR="91440" marT="27432" marB="27432" anchor="ctr">
                    <a:solidFill>
                      <a:srgbClr val="FFFFFF"/>
                    </a:solidFill>
                  </a:tcPr>
                </a:tc>
                <a:tc>
                  <a:txBody>
                    <a:bodyPr wrap="square"/>
                    <a:lstStyle/>
                    <a:p>
                      <a:r>
                        <a:rPr sz="1300" b="0" i="0">
                          <a:solidFill>
                            <a:srgbClr val="17272E"/>
                          </a:solidFill>
                          <a:latin typeface="Calibri"/>
                        </a:rPr>
                        <a:t>1955</a:t>
                      </a:r>
                    </a:p>
                  </a:txBody>
                  <a:tcPr marL="91440" marR="91440" marT="27432" marB="27432" anchor="ctr">
                    <a:solidFill>
                      <a:srgbClr val="FFFFFF"/>
                    </a:solidFill>
                  </a:tcPr>
                </a:tc>
                <a:tc>
                  <a:txBody>
                    <a:bodyPr wrap="square"/>
                    <a:lstStyle/>
                    <a:p>
                      <a:r>
                        <a:rPr sz="1300" b="1" i="0">
                          <a:solidFill>
                            <a:srgbClr val="17272E"/>
                          </a:solidFill>
                          <a:latin typeface="Calibri"/>
                        </a:rPr>
                        <a:t>:NicholasRay</a:t>
                      </a:r>
                    </a:p>
                  </a:txBody>
                  <a:tcPr marL="91440" marR="91440" marT="27432" marB="27432" anchor="ctr">
                    <a:solidFill>
                      <a:srgbClr val="FCF1DF"/>
                    </a:solidFill>
                  </a:tcPr>
                </a:tc>
              </a:tr>
              <a:tr h="384048">
                <a:tc>
                  <a:txBody>
                    <a:bodyPr wrap="square"/>
                    <a:lstStyle/>
                    <a:p>
                      <a:r>
                        <a:rPr sz="1300" b="0" i="0">
                          <a:solidFill>
                            <a:srgbClr val="17272E"/>
                          </a:solidFill>
                          <a:latin typeface="Calibri"/>
                        </a:rPr>
                        <a:t>:EastOfEden</a:t>
                      </a:r>
                    </a:p>
                  </a:txBody>
                  <a:tcPr marL="91440" marR="91440" marT="27432" marB="27432" anchor="ctr">
                    <a:solidFill>
                      <a:srgbClr val="EAF3F0"/>
                    </a:solidFill>
                  </a:tcPr>
                </a:tc>
                <a:tc>
                  <a:txBody>
                    <a:bodyPr wrap="square"/>
                    <a:lstStyle/>
                    <a:p>
                      <a:r>
                        <a:rPr sz="1300" b="0" i="0">
                          <a:solidFill>
                            <a:srgbClr val="17272E"/>
                          </a:solidFill>
                          <a:latin typeface="Calibri"/>
                        </a:rPr>
                        <a:t>East of Eden</a:t>
                      </a:r>
                    </a:p>
                  </a:txBody>
                  <a:tcPr marL="91440" marR="91440" marT="27432" marB="27432" anchor="ctr">
                    <a:solidFill>
                      <a:srgbClr val="EAF3F0"/>
                    </a:solidFill>
                  </a:tcPr>
                </a:tc>
                <a:tc>
                  <a:txBody>
                    <a:bodyPr wrap="square"/>
                    <a:lstStyle/>
                    <a:p>
                      <a:r>
                        <a:rPr sz="1300" b="0" i="0">
                          <a:solidFill>
                            <a:srgbClr val="17272E"/>
                          </a:solidFill>
                          <a:latin typeface="Calibri"/>
                        </a:rPr>
                        <a:t>1955</a:t>
                      </a:r>
                    </a:p>
                  </a:txBody>
                  <a:tcPr marL="91440" marR="91440" marT="27432" marB="27432" anchor="ctr">
                    <a:solidFill>
                      <a:srgbClr val="EAF3F0"/>
                    </a:solidFill>
                  </a:tcPr>
                </a:tc>
                <a:tc>
                  <a:txBody>
                    <a:bodyPr wrap="square"/>
                    <a:lstStyle/>
                    <a:p>
                      <a:r>
                        <a:rPr sz="1300" b="0" i="0">
                          <a:solidFill>
                            <a:srgbClr val="17272E"/>
                          </a:solidFill>
                          <a:latin typeface="Calibri"/>
                        </a:rPr>
                        <a:t>:EliaKazan</a:t>
                      </a:r>
                    </a:p>
                  </a:txBody>
                  <a:tcPr marL="91440" marR="91440" marT="27432" marB="27432" anchor="ctr">
                    <a:solidFill>
                      <a:srgbClr val="EAF3F0"/>
                    </a:solidFill>
                  </a:tcPr>
                </a:tc>
              </a:tr>
            </a:tbl>
          </a:graphicData>
        </a:graphic>
      </p:graphicFrame>
      <p:sp>
        <p:nvSpPr>
          <p:cNvPr id="9" name="TextBox 8"/>
          <p:cNvSpPr txBox="1"/>
          <p:nvPr/>
        </p:nvSpPr>
        <p:spPr>
          <a:xfrm>
            <a:off x="548640" y="4251960"/>
            <a:ext cx="5394960" cy="822960"/>
          </a:xfrm>
          <a:prstGeom prst="rect">
            <a:avLst/>
          </a:prstGeom>
          <a:noFill/>
        </p:spPr>
        <p:txBody>
          <a:bodyPr wrap="square" anchor="t" lIns="0" rIns="0" tIns="0" bIns="0">
            <a:noAutofit/>
          </a:bodyPr>
          <a:lstStyle/>
          <a:p>
            <a:pPr algn="l">
              <a:spcAft>
                <a:spcPts val="600"/>
              </a:spcAft>
            </a:pPr>
            <a:r>
              <a:rPr sz="1500" b="1" i="0">
                <a:solidFill>
                  <a:srgbClr val="1F7A6D"/>
                </a:solidFill>
                <a:latin typeface="Calibri"/>
              </a:rPr>
              <a:t>row</a:t>
            </a:r>
            <a:r>
              <a:rPr sz="1500" b="0" i="0">
                <a:solidFill>
                  <a:srgbClr val="17272E"/>
                </a:solidFill>
                <a:latin typeface="Calibri"/>
              </a:rPr>
              <a:t> → subject   </a:t>
            </a:r>
            <a:r>
              <a:rPr sz="1500" b="1" i="0">
                <a:solidFill>
                  <a:srgbClr val="1F7A6D"/>
                </a:solidFill>
                <a:latin typeface="Calibri"/>
              </a:rPr>
              <a:t>column</a:t>
            </a:r>
            <a:r>
              <a:rPr sz="1500" b="0" i="0">
                <a:solidFill>
                  <a:srgbClr val="17272E"/>
                </a:solidFill>
                <a:latin typeface="Calibri"/>
              </a:rPr>
              <a:t> → predicate   </a:t>
            </a:r>
            <a:r>
              <a:rPr sz="1500" b="1" i="0">
                <a:solidFill>
                  <a:srgbClr val="E0952B"/>
                </a:solidFill>
                <a:latin typeface="Calibri"/>
              </a:rPr>
              <a:t>cell</a:t>
            </a:r>
            <a:r>
              <a:rPr sz="1500" b="0" i="0">
                <a:solidFill>
                  <a:srgbClr val="17272E"/>
                </a:solidFill>
                <a:latin typeface="Calibri"/>
              </a:rPr>
              <a:t> → object</a:t>
            </a:r>
          </a:p>
        </p:txBody>
      </p:sp>
      <p:cxnSp>
        <p:nvCxnSpPr>
          <p:cNvPr id="10" name="Connector 9"/>
          <p:cNvCxnSpPr/>
          <p:nvPr/>
        </p:nvCxnSpPr>
        <p:spPr>
          <a:xfrm>
            <a:off x="6035040" y="3520440"/>
            <a:ext cx="411480" cy="0"/>
          </a:xfrm>
          <a:prstGeom prst="line">
            <a:avLst/>
          </a:prstGeom>
          <a:ln w="31750">
            <a:solidFill>
              <a:srgbClr val="E0952B"/>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6537960" y="2926080"/>
          <a:ext cx="5102351" cy="2084832"/>
        </p:xfrm>
        <a:graphic>
          <a:graphicData uri="http://schemas.openxmlformats.org/drawingml/2006/table">
            <a:tbl>
              <a:tblPr firstRow="0" bandRow="0">
                <a:tableStyleId>{5C22544A-7EE6-4342-B048-85BDC9FD1C3A}</a:tableStyleId>
              </a:tblPr>
              <a:tblGrid>
                <a:gridCol w="1920240"/>
                <a:gridCol w="1325880"/>
                <a:gridCol w="1856231"/>
              </a:tblGrid>
              <a:tr h="347472">
                <a:tc>
                  <a:txBody>
                    <a:bodyPr wrap="square"/>
                    <a:lstStyle/>
                    <a:p>
                      <a:r>
                        <a:rPr sz="1200" b="1" i="0">
                          <a:solidFill>
                            <a:srgbClr val="FFFFFF"/>
                          </a:solidFill>
                          <a:latin typeface="Calibri"/>
                        </a:rPr>
                        <a:t>subject</a:t>
                      </a:r>
                    </a:p>
                  </a:txBody>
                  <a:tcPr marL="91440" marR="91440" marT="27432" marB="27432" anchor="ctr">
                    <a:solidFill>
                      <a:srgbClr val="1F7A6D"/>
                    </a:solidFill>
                  </a:tcPr>
                </a:tc>
                <a:tc>
                  <a:txBody>
                    <a:bodyPr wrap="square"/>
                    <a:lstStyle/>
                    <a:p>
                      <a:r>
                        <a:rPr sz="1200" b="1" i="0">
                          <a:solidFill>
                            <a:srgbClr val="FFFFFF"/>
                          </a:solidFill>
                          <a:latin typeface="Calibri"/>
                        </a:rPr>
                        <a:t>predicate</a:t>
                      </a:r>
                    </a:p>
                  </a:txBody>
                  <a:tcPr marL="91440" marR="91440" marT="27432" marB="27432" anchor="ctr">
                    <a:solidFill>
                      <a:srgbClr val="1F7A6D"/>
                    </a:solidFill>
                  </a:tcPr>
                </a:tc>
                <a:tc>
                  <a:txBody>
                    <a:bodyPr wrap="square"/>
                    <a:lstStyle/>
                    <a:p>
                      <a:r>
                        <a:rPr sz="1200" b="1" i="0">
                          <a:solidFill>
                            <a:srgbClr val="FFFFFF"/>
                          </a:solidFill>
                          <a:latin typeface="Calibri"/>
                        </a:rPr>
                        <a:t>object</a:t>
                      </a:r>
                    </a:p>
                  </a:txBody>
                  <a:tcPr marL="91440" marR="91440" marT="27432" marB="27432" anchor="ctr">
                    <a:solidFill>
                      <a:srgbClr val="1F7A6D"/>
                    </a:solidFill>
                  </a:tcPr>
                </a:tc>
              </a:tr>
              <a:tr h="347472">
                <a:tc>
                  <a:txBody>
                    <a:bodyPr wrap="square"/>
                    <a:lstStyle/>
                    <a:p>
                      <a:r>
                        <a:rPr sz="1100" b="0" i="0">
                          <a:solidFill>
                            <a:srgbClr val="17272E"/>
                          </a:solidFill>
                          <a:latin typeface="Consolas"/>
                        </a:rPr>
                        <a:t>:RebelWithoutACause</a:t>
                      </a:r>
                    </a:p>
                  </a:txBody>
                  <a:tcPr marL="91440" marR="91440" marT="27432" marB="27432" anchor="ctr">
                    <a:solidFill>
                      <a:srgbClr val="FFFFFF"/>
                    </a:solidFill>
                  </a:tcPr>
                </a:tc>
                <a:tc>
                  <a:txBody>
                    <a:bodyPr wrap="square"/>
                    <a:lstStyle/>
                    <a:p>
                      <a:r>
                        <a:rPr sz="1100" b="0" i="0">
                          <a:solidFill>
                            <a:srgbClr val="17272E"/>
                          </a:solidFill>
                          <a:latin typeface="Consolas"/>
                        </a:rPr>
                        <a:t>:movieTitle</a:t>
                      </a:r>
                    </a:p>
                  </a:txBody>
                  <a:tcPr marL="91440" marR="91440" marT="27432" marB="27432" anchor="ctr">
                    <a:solidFill>
                      <a:srgbClr val="FFFFFF"/>
                    </a:solidFill>
                  </a:tcPr>
                </a:tc>
                <a:tc>
                  <a:txBody>
                    <a:bodyPr wrap="square"/>
                    <a:lstStyle/>
                    <a:p>
                      <a:r>
                        <a:rPr sz="1100" b="0" i="0">
                          <a:solidFill>
                            <a:srgbClr val="17272E"/>
                          </a:solidFill>
                          <a:latin typeface="Consolas"/>
                        </a:rPr>
                        <a:t>Rebel Without a Cause</a:t>
                      </a:r>
                    </a:p>
                  </a:txBody>
                  <a:tcPr marL="91440" marR="91440" marT="27432" marB="27432" anchor="ctr">
                    <a:solidFill>
                      <a:srgbClr val="FFFFFF"/>
                    </a:solidFill>
                  </a:tcPr>
                </a:tc>
              </a:tr>
              <a:tr h="347472">
                <a:tc>
                  <a:txBody>
                    <a:bodyPr wrap="square"/>
                    <a:lstStyle/>
                    <a:p>
                      <a:r>
                        <a:rPr sz="1100" b="0" i="0">
                          <a:solidFill>
                            <a:srgbClr val="17272E"/>
                          </a:solidFill>
                          <a:latin typeface="Consolas"/>
                        </a:rPr>
                        <a:t>:RebelWithoutACause</a:t>
                      </a:r>
                    </a:p>
                  </a:txBody>
                  <a:tcPr marL="91440" marR="91440" marT="27432" marB="27432" anchor="ctr">
                    <a:solidFill>
                      <a:srgbClr val="EAF3F0"/>
                    </a:solidFill>
                  </a:tcPr>
                </a:tc>
                <a:tc>
                  <a:txBody>
                    <a:bodyPr wrap="square"/>
                    <a:lstStyle/>
                    <a:p>
                      <a:r>
                        <a:rPr sz="1100" b="0" i="0">
                          <a:solidFill>
                            <a:srgbClr val="17272E"/>
                          </a:solidFill>
                          <a:latin typeface="Consolas"/>
                        </a:rPr>
                        <a:t>:releaseYear</a:t>
                      </a:r>
                    </a:p>
                  </a:txBody>
                  <a:tcPr marL="91440" marR="91440" marT="27432" marB="27432" anchor="ctr">
                    <a:solidFill>
                      <a:srgbClr val="EAF3F0"/>
                    </a:solidFill>
                  </a:tcPr>
                </a:tc>
                <a:tc>
                  <a:txBody>
                    <a:bodyPr wrap="square"/>
                    <a:lstStyle/>
                    <a:p>
                      <a:r>
                        <a:rPr sz="1100" b="0" i="0">
                          <a:solidFill>
                            <a:srgbClr val="17272E"/>
                          </a:solidFill>
                          <a:latin typeface="Consolas"/>
                        </a:rPr>
                        <a:t>1955</a:t>
                      </a:r>
                    </a:p>
                  </a:txBody>
                  <a:tcPr marL="91440" marR="91440" marT="27432" marB="27432" anchor="ctr">
                    <a:solidFill>
                      <a:srgbClr val="EAF3F0"/>
                    </a:solidFill>
                  </a:tcPr>
                </a:tc>
              </a:tr>
              <a:tr h="347472">
                <a:tc>
                  <a:txBody>
                    <a:bodyPr wrap="square"/>
                    <a:lstStyle/>
                    <a:p>
                      <a:r>
                        <a:rPr sz="1100" b="0" i="0">
                          <a:solidFill>
                            <a:srgbClr val="17272E"/>
                          </a:solidFill>
                          <a:latin typeface="Consolas"/>
                        </a:rPr>
                        <a:t>:RebelWithoutACause</a:t>
                      </a:r>
                    </a:p>
                  </a:txBody>
                  <a:tcPr marL="91440" marR="91440" marT="27432" marB="27432" anchor="ctr">
                    <a:solidFill>
                      <a:srgbClr val="FFFFFF"/>
                    </a:solidFill>
                  </a:tcPr>
                </a:tc>
                <a:tc>
                  <a:txBody>
                    <a:bodyPr wrap="square"/>
                    <a:lstStyle/>
                    <a:p>
                      <a:r>
                        <a:rPr sz="1100" b="1" i="0">
                          <a:solidFill>
                            <a:srgbClr val="17272E"/>
                          </a:solidFill>
                          <a:latin typeface="Consolas"/>
                        </a:rPr>
                        <a:t>:directedBy</a:t>
                      </a:r>
                    </a:p>
                  </a:txBody>
                  <a:tcPr marL="91440" marR="91440" marT="27432" marB="27432" anchor="ctr">
                    <a:solidFill>
                      <a:srgbClr val="FCF1DF"/>
                    </a:solidFill>
                  </a:tcPr>
                </a:tc>
                <a:tc>
                  <a:txBody>
                    <a:bodyPr wrap="square"/>
                    <a:lstStyle/>
                    <a:p>
                      <a:r>
                        <a:rPr sz="1100" b="1" i="0">
                          <a:solidFill>
                            <a:srgbClr val="17272E"/>
                          </a:solidFill>
                          <a:latin typeface="Consolas"/>
                        </a:rPr>
                        <a:t>:NicholasRay</a:t>
                      </a:r>
                    </a:p>
                  </a:txBody>
                  <a:tcPr marL="91440" marR="91440" marT="27432" marB="27432" anchor="ctr">
                    <a:solidFill>
                      <a:srgbClr val="FCF1DF"/>
                    </a:solidFill>
                  </a:tcPr>
                </a:tc>
              </a:tr>
              <a:tr h="347472">
                <a:tc>
                  <a:txBody>
                    <a:bodyPr wrap="square"/>
                    <a:lstStyle/>
                    <a:p>
                      <a:r>
                        <a:rPr sz="1100" b="0" i="0">
                          <a:solidFill>
                            <a:srgbClr val="17272E"/>
                          </a:solidFill>
                          <a:latin typeface="Consolas"/>
                        </a:rPr>
                        <a:t>:RebelWithoutACause</a:t>
                      </a:r>
                    </a:p>
                  </a:txBody>
                  <a:tcPr marL="91440" marR="91440" marT="27432" marB="27432" anchor="ctr">
                    <a:solidFill>
                      <a:srgbClr val="EAF3F0"/>
                    </a:solidFill>
                  </a:tcPr>
                </a:tc>
                <a:tc>
                  <a:txBody>
                    <a:bodyPr wrap="square"/>
                    <a:lstStyle/>
                    <a:p>
                      <a:r>
                        <a:rPr sz="1100" b="0" i="0">
                          <a:solidFill>
                            <a:srgbClr val="17272E"/>
                          </a:solidFill>
                          <a:latin typeface="Consolas"/>
                        </a:rPr>
                        <a:t>:starring</a:t>
                      </a:r>
                    </a:p>
                  </a:txBody>
                  <a:tcPr marL="91440" marR="91440" marT="27432" marB="27432" anchor="ctr">
                    <a:solidFill>
                      <a:srgbClr val="EAF3F0"/>
                    </a:solidFill>
                  </a:tcPr>
                </a:tc>
                <a:tc>
                  <a:txBody>
                    <a:bodyPr wrap="square"/>
                    <a:lstStyle/>
                    <a:p>
                      <a:r>
                        <a:rPr sz="1100" b="0" i="0">
                          <a:solidFill>
                            <a:srgbClr val="17272E"/>
                          </a:solidFill>
                          <a:latin typeface="Consolas"/>
                        </a:rPr>
                        <a:t>:JamesDean</a:t>
                      </a:r>
                    </a:p>
                  </a:txBody>
                  <a:tcPr marL="91440" marR="91440" marT="27432" marB="27432" anchor="ctr">
                    <a:solidFill>
                      <a:srgbClr val="EAF3F0"/>
                    </a:solidFill>
                  </a:tcPr>
                </a:tc>
              </a:tr>
              <a:tr h="347472">
                <a:tc>
                  <a:txBody>
                    <a:bodyPr wrap="square"/>
                    <a:lstStyle/>
                    <a:p>
                      <a:r>
                        <a:rPr sz="1100" b="0" i="0">
                          <a:solidFill>
                            <a:srgbClr val="17272E"/>
                          </a:solidFill>
                          <a:latin typeface="Consolas"/>
                        </a:rPr>
                        <a:t>:RebelWithoutACause</a:t>
                      </a:r>
                    </a:p>
                  </a:txBody>
                  <a:tcPr marL="91440" marR="91440" marT="27432" marB="27432" anchor="ctr">
                    <a:solidFill>
                      <a:srgbClr val="FFFFFF"/>
                    </a:solidFill>
                  </a:tcPr>
                </a:tc>
                <a:tc>
                  <a:txBody>
                    <a:bodyPr wrap="square"/>
                    <a:lstStyle/>
                    <a:p>
                      <a:r>
                        <a:rPr sz="1100" b="0" i="0">
                          <a:solidFill>
                            <a:srgbClr val="17272E"/>
                          </a:solidFill>
                          <a:latin typeface="Consolas"/>
                        </a:rPr>
                        <a:t>:starring</a:t>
                      </a:r>
                    </a:p>
                  </a:txBody>
                  <a:tcPr marL="91440" marR="91440" marT="27432" marB="27432" anchor="ctr">
                    <a:solidFill>
                      <a:srgbClr val="FFFFFF"/>
                    </a:solidFill>
                  </a:tcPr>
                </a:tc>
                <a:tc>
                  <a:txBody>
                    <a:bodyPr wrap="square"/>
                    <a:lstStyle/>
                    <a:p>
                      <a:r>
                        <a:rPr sz="1100" b="0" i="0">
                          <a:solidFill>
                            <a:srgbClr val="17272E"/>
                          </a:solidFill>
                          <a:latin typeface="Consolas"/>
                        </a:rPr>
                        <a:t>:NatalieWood</a:t>
                      </a:r>
                    </a:p>
                  </a:txBody>
                  <a:tcPr marL="91440" marR="91440" marT="27432" marB="27432" anchor="ctr">
                    <a:solidFill>
                      <a:srgbClr val="FFFFFF"/>
                    </a:solidFill>
                  </a:tcPr>
                </a:tc>
              </a:tr>
            </a:tbl>
          </a:graphicData>
        </a:graphic>
      </p:graphicFrame>
      <p:sp>
        <p:nvSpPr>
          <p:cNvPr id="12" name="Oval 11"/>
          <p:cNvSpPr/>
          <p:nvPr/>
        </p:nvSpPr>
        <p:spPr>
          <a:xfrm>
            <a:off x="548640" y="5623560"/>
            <a:ext cx="329184" cy="329184"/>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a:t>
            </a:r>
          </a:p>
        </p:txBody>
      </p:sp>
      <p:sp>
        <p:nvSpPr>
          <p:cNvPr id="13" name="Takeaway"/>
          <p:cNvSpPr txBox="1"/>
          <p:nvPr/>
        </p:nvSpPr>
        <p:spPr>
          <a:xfrm>
            <a:off x="1005840" y="5623560"/>
            <a:ext cx="10637215" cy="329184"/>
          </a:xfrm>
          <a:prstGeom prst="rect">
            <a:avLst/>
          </a:prstGeom>
          <a:noFill/>
        </p:spPr>
        <p:txBody>
          <a:bodyPr wrap="square" anchor="ctr" lIns="0" rIns="0" tIns="0" bIns="0">
            <a:noAutofit/>
          </a:bodyPr>
          <a:lstStyle/>
          <a:p>
            <a:pPr algn="l">
              <a:spcAft>
                <a:spcPts val="600"/>
              </a:spcAft>
            </a:pPr>
            <a:r>
              <a:rPr sz="1500" b="1" i="0">
                <a:solidFill>
                  <a:srgbClr val="17272E"/>
                </a:solidFill>
                <a:latin typeface="Calibri"/>
              </a:rPr>
              <a:t>No columns to line up and no nulls: a relationship is either stated or it isn't.</a:t>
            </a:r>
          </a:p>
        </p:txBody>
      </p:sp>
      <p:sp>
        <p:nvSpPr>
          <p:cNvPr id="14"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15"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Merging graphs is just a union of triples</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4 · RDF</a:t>
            </a:r>
          </a:p>
        </p:txBody>
      </p:sp>
      <p:sp>
        <p:nvSpPr>
          <p:cNvPr id="4" name="TextBox 3"/>
          <p:cNvSpPr txBox="1"/>
          <p:nvPr/>
        </p:nvSpPr>
        <p:spPr>
          <a:xfrm>
            <a:off x="548640" y="1600200"/>
            <a:ext cx="3657600" cy="274320"/>
          </a:xfrm>
          <a:prstGeom prst="rect">
            <a:avLst/>
          </a:prstGeom>
          <a:noFill/>
        </p:spPr>
        <p:txBody>
          <a:bodyPr wrap="square" anchor="t" lIns="0" rIns="0" tIns="0" bIns="0">
            <a:noAutofit/>
          </a:bodyPr>
          <a:lstStyle/>
          <a:p>
            <a:pPr algn="l">
              <a:spcAft>
                <a:spcPts val="600"/>
              </a:spcAft>
            </a:pPr>
            <a:r>
              <a:rPr sz="1200" b="1" i="0">
                <a:solidFill>
                  <a:srgbClr val="1F7A6D"/>
                </a:solidFill>
                <a:latin typeface="Calibri"/>
              </a:rPr>
              <a:t>studio.example</a:t>
            </a:r>
          </a:p>
        </p:txBody>
      </p:sp>
      <p:sp>
        <p:nvSpPr>
          <p:cNvPr id="5" name="TextBox 4"/>
          <p:cNvSpPr txBox="1"/>
          <p:nvPr/>
        </p:nvSpPr>
        <p:spPr>
          <a:xfrm>
            <a:off x="5989320" y="1600200"/>
            <a:ext cx="1920240" cy="274320"/>
          </a:xfrm>
          <a:prstGeom prst="rect">
            <a:avLst/>
          </a:prstGeom>
          <a:noFill/>
        </p:spPr>
        <p:txBody>
          <a:bodyPr wrap="square" anchor="t" lIns="0" rIns="0" tIns="0" bIns="0">
            <a:noAutofit/>
          </a:bodyPr>
          <a:lstStyle/>
          <a:p>
            <a:pPr algn="ctr">
              <a:spcAft>
                <a:spcPts val="600"/>
              </a:spcAft>
            </a:pPr>
            <a:r>
              <a:rPr sz="1200" b="1" i="0">
                <a:solidFill>
                  <a:srgbClr val="1F7A6D"/>
                </a:solidFill>
                <a:latin typeface="Calibri"/>
              </a:rPr>
              <a:t>fanwiki.example</a:t>
            </a:r>
          </a:p>
        </p:txBody>
      </p:sp>
      <p:cxnSp>
        <p:nvCxnSpPr>
          <p:cNvPr id="6" name="Edge: :starring"/>
          <p:cNvCxnSpPr/>
          <p:nvPr/>
        </p:nvCxnSpPr>
        <p:spPr>
          <a:xfrm>
            <a:off x="2341659" y="2560320"/>
            <a:ext cx="1214561" cy="59436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672334" y="2619756"/>
            <a:ext cx="1010412"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200" b="1" i="0">
                <a:solidFill>
                  <a:srgbClr val="1F7A6D"/>
                </a:solidFill>
                <a:latin typeface="Consolas"/>
              </a:rPr>
              <a:t>:starring</a:t>
            </a:r>
          </a:p>
        </p:txBody>
      </p:sp>
      <p:cxnSp>
        <p:nvCxnSpPr>
          <p:cNvPr id="8" name="Edge: :starring"/>
          <p:cNvCxnSpPr/>
          <p:nvPr/>
        </p:nvCxnSpPr>
        <p:spPr>
          <a:xfrm flipV="1">
            <a:off x="2341659" y="3611880"/>
            <a:ext cx="1214561" cy="59436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672334" y="3854196"/>
            <a:ext cx="1010412"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200" b="1" i="0">
                <a:solidFill>
                  <a:srgbClr val="1F7A6D"/>
                </a:solidFill>
                <a:latin typeface="Consolas"/>
              </a:rPr>
              <a:t>:starring</a:t>
            </a:r>
          </a:p>
        </p:txBody>
      </p:sp>
      <p:cxnSp>
        <p:nvCxnSpPr>
          <p:cNvPr id="10" name="Edge: :registryId"/>
          <p:cNvCxnSpPr/>
          <p:nvPr/>
        </p:nvCxnSpPr>
        <p:spPr>
          <a:xfrm>
            <a:off x="4190628" y="3611880"/>
            <a:ext cx="1037063" cy="141732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659886" y="4174235"/>
            <a:ext cx="1184148"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200" b="1" i="0">
                <a:solidFill>
                  <a:srgbClr val="1F7A6D"/>
                </a:solidFill>
                <a:latin typeface="Consolas"/>
              </a:rPr>
              <a:t>:registryId</a:t>
            </a:r>
          </a:p>
        </p:txBody>
      </p:sp>
      <p:cxnSp>
        <p:nvCxnSpPr>
          <p:cNvPr id="12" name="Edge: fan:registryId"/>
          <p:cNvCxnSpPr/>
          <p:nvPr/>
        </p:nvCxnSpPr>
        <p:spPr>
          <a:xfrm flipH="1">
            <a:off x="5516403" y="2560320"/>
            <a:ext cx="1311593" cy="246888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129784" y="3648456"/>
            <a:ext cx="1444752"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200" b="1" i="0">
                <a:solidFill>
                  <a:srgbClr val="1F7A6D"/>
                </a:solidFill>
                <a:latin typeface="Consolas"/>
              </a:rPr>
              <a:t>fan:registryId</a:t>
            </a:r>
          </a:p>
        </p:txBody>
      </p:sp>
      <p:cxnSp>
        <p:nvCxnSpPr>
          <p:cNvPr id="14" name="Edge: fan:bornIn"/>
          <p:cNvCxnSpPr/>
          <p:nvPr/>
        </p:nvCxnSpPr>
        <p:spPr>
          <a:xfrm>
            <a:off x="7027645" y="2560320"/>
            <a:ext cx="437949" cy="128016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018019" y="3054096"/>
            <a:ext cx="1097280"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200" b="1" i="0">
                <a:solidFill>
                  <a:srgbClr val="1F7A6D"/>
                </a:solidFill>
                <a:latin typeface="Consolas"/>
              </a:rPr>
              <a:t>fan:bornIn</a:t>
            </a:r>
          </a:p>
        </p:txBody>
      </p:sp>
      <p:cxnSp>
        <p:nvCxnSpPr>
          <p:cNvPr id="16" name="Edge: same?"/>
          <p:cNvCxnSpPr/>
          <p:nvPr/>
        </p:nvCxnSpPr>
        <p:spPr>
          <a:xfrm flipV="1">
            <a:off x="4659464" y="2560320"/>
            <a:ext cx="1653871" cy="594360"/>
          </a:xfrm>
          <a:prstGeom prst="line">
            <a:avLst/>
          </a:prstGeom>
          <a:ln w="25400">
            <a:solidFill>
              <a:srgbClr val="C24E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074920" y="2665476"/>
            <a:ext cx="822960"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200" b="1" i="0">
                <a:solidFill>
                  <a:srgbClr val="C24E36"/>
                </a:solidFill>
                <a:latin typeface="Consolas"/>
              </a:rPr>
              <a:t>same?</a:t>
            </a:r>
          </a:p>
        </p:txBody>
      </p:sp>
      <p:sp>
        <p:nvSpPr>
          <p:cNvPr id="18" name="Node: :RebelWithoutACause"/>
          <p:cNvSpPr/>
          <p:nvPr/>
        </p:nvSpPr>
        <p:spPr>
          <a:xfrm>
            <a:off x="617219" y="2103120"/>
            <a:ext cx="251460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:RebelWithoutACause</a:t>
            </a:r>
          </a:p>
        </p:txBody>
      </p:sp>
      <p:sp>
        <p:nvSpPr>
          <p:cNvPr id="19" name="Node: :Giant"/>
          <p:cNvSpPr/>
          <p:nvPr/>
        </p:nvSpPr>
        <p:spPr>
          <a:xfrm>
            <a:off x="1280160" y="4206240"/>
            <a:ext cx="118872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:Giant</a:t>
            </a:r>
          </a:p>
        </p:txBody>
      </p:sp>
      <p:sp>
        <p:nvSpPr>
          <p:cNvPr id="20" name="Node: :JamesDean"/>
          <p:cNvSpPr/>
          <p:nvPr/>
        </p:nvSpPr>
        <p:spPr>
          <a:xfrm>
            <a:off x="3177540" y="3154680"/>
            <a:ext cx="169164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:JamesDean</a:t>
            </a:r>
          </a:p>
        </p:txBody>
      </p:sp>
      <p:sp>
        <p:nvSpPr>
          <p:cNvPr id="21" name="Node: fan:Dean_James"/>
          <p:cNvSpPr/>
          <p:nvPr/>
        </p:nvSpPr>
        <p:spPr>
          <a:xfrm>
            <a:off x="5989320" y="2103120"/>
            <a:ext cx="192024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fan:Dean_James</a:t>
            </a:r>
          </a:p>
        </p:txBody>
      </p:sp>
      <p:sp>
        <p:nvSpPr>
          <p:cNvPr id="22" name="Node: &quot;P-0015&quot;"/>
          <p:cNvSpPr/>
          <p:nvPr/>
        </p:nvSpPr>
        <p:spPr>
          <a:xfrm>
            <a:off x="4800600" y="5029200"/>
            <a:ext cx="1188720" cy="457200"/>
          </a:xfrm>
          <a:prstGeom prst="rect">
            <a:avLst/>
          </a:prstGeom>
          <a:solidFill>
            <a:srgbClr val="FFFFFF"/>
          </a:solidFill>
          <a:ln w="19050">
            <a:solidFill>
              <a:srgbClr val="1F7A6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0" i="0">
                <a:solidFill>
                  <a:srgbClr val="17272E"/>
                </a:solidFill>
                <a:latin typeface="Calibri"/>
              </a:rPr>
              <a:t>"P-0015"</a:t>
            </a:r>
          </a:p>
        </p:txBody>
      </p:sp>
      <p:sp>
        <p:nvSpPr>
          <p:cNvPr id="23" name="Node: &quot;Marion, Indiana&quot;"/>
          <p:cNvSpPr/>
          <p:nvPr/>
        </p:nvSpPr>
        <p:spPr>
          <a:xfrm>
            <a:off x="6675120" y="3840480"/>
            <a:ext cx="1737360" cy="457200"/>
          </a:xfrm>
          <a:prstGeom prst="rect">
            <a:avLst/>
          </a:prstGeom>
          <a:solidFill>
            <a:srgbClr val="FFFFFF"/>
          </a:solidFill>
          <a:ln w="19050">
            <a:solidFill>
              <a:srgbClr val="1F7A6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0" i="0">
                <a:solidFill>
                  <a:srgbClr val="17272E"/>
                </a:solidFill>
                <a:latin typeface="Calibri"/>
              </a:rPr>
              <a:t>"Marion, Indiana"</a:t>
            </a:r>
          </a:p>
        </p:txBody>
      </p:sp>
      <p:sp>
        <p:nvSpPr>
          <p:cNvPr id="24" name="TextBox 23"/>
          <p:cNvSpPr txBox="1"/>
          <p:nvPr/>
        </p:nvSpPr>
        <p:spPr>
          <a:xfrm>
            <a:off x="8778240" y="1645920"/>
            <a:ext cx="2864815" cy="868680"/>
          </a:xfrm>
          <a:prstGeom prst="rect">
            <a:avLst/>
          </a:prstGeom>
          <a:noFill/>
        </p:spPr>
        <p:txBody>
          <a:bodyPr wrap="square" anchor="t" lIns="0" rIns="0" tIns="0" bIns="0">
            <a:noAutofit/>
          </a:bodyPr>
          <a:lstStyle/>
          <a:p>
            <a:pPr algn="l">
              <a:spcAft>
                <a:spcPts val="600"/>
              </a:spcAft>
            </a:pPr>
            <a:r>
              <a:rPr sz="3600" b="1" i="0">
                <a:solidFill>
                  <a:srgbClr val="1F7A6D"/>
                </a:solidFill>
                <a:latin typeface="Cambria"/>
              </a:rPr>
              <a:t>26 + 6 = 32</a:t>
            </a:r>
          </a:p>
        </p:txBody>
      </p:sp>
      <p:sp>
        <p:nvSpPr>
          <p:cNvPr id="25" name="TextBox 24"/>
          <p:cNvSpPr txBox="1"/>
          <p:nvPr/>
        </p:nvSpPr>
        <p:spPr>
          <a:xfrm>
            <a:off x="8778240" y="2514600"/>
            <a:ext cx="2864815" cy="548640"/>
          </a:xfrm>
          <a:prstGeom prst="rect">
            <a:avLst/>
          </a:prstGeom>
          <a:noFill/>
        </p:spPr>
        <p:txBody>
          <a:bodyPr wrap="square" anchor="t" lIns="0" rIns="0" tIns="0" bIns="0">
            <a:noAutofit/>
          </a:bodyPr>
          <a:lstStyle/>
          <a:p>
            <a:pPr algn="l">
              <a:spcAft>
                <a:spcPts val="600"/>
              </a:spcAft>
            </a:pPr>
            <a:r>
              <a:rPr sz="1300" b="0" i="0">
                <a:solidFill>
                  <a:srgbClr val="5B6B70"/>
                </a:solidFill>
                <a:latin typeface="Calibri"/>
              </a:rPr>
              <a:t>triples: studio + fan wiki = merged graph</a:t>
            </a:r>
          </a:p>
        </p:txBody>
      </p:sp>
      <p:sp>
        <p:nvSpPr>
          <p:cNvPr id="26" name="TextBox 25"/>
          <p:cNvSpPr txBox="1"/>
          <p:nvPr/>
        </p:nvSpPr>
        <p:spPr>
          <a:xfrm>
            <a:off x="8778240" y="3108960"/>
            <a:ext cx="2864815" cy="914400"/>
          </a:xfrm>
          <a:prstGeom prst="rect">
            <a:avLst/>
          </a:prstGeom>
          <a:noFill/>
        </p:spPr>
        <p:txBody>
          <a:bodyPr wrap="square" anchor="t" lIns="0" rIns="0" tIns="0" bIns="0">
            <a:noAutofit/>
          </a:bodyPr>
          <a:lstStyle/>
          <a:p>
            <a:pPr algn="l">
              <a:spcAft>
                <a:spcPts val="600"/>
              </a:spcAft>
            </a:pPr>
            <a:r>
              <a:rPr sz="1500" b="0" i="0">
                <a:solidFill>
                  <a:srgbClr val="17272E"/>
                </a:solidFill>
                <a:latin typeface="Calibri"/>
              </a:rPr>
              <a:t>No schema to align first: the merged store is the set union of both sources.</a:t>
            </a:r>
          </a:p>
        </p:txBody>
      </p:sp>
      <p:sp>
        <p:nvSpPr>
          <p:cNvPr id="27" name="Card: Identity is what's left"/>
          <p:cNvSpPr/>
          <p:nvPr/>
        </p:nvSpPr>
        <p:spPr>
          <a:xfrm>
            <a:off x="8778240" y="4114800"/>
            <a:ext cx="2864815" cy="1920240"/>
          </a:xfrm>
          <a:prstGeom prst="roundRect">
            <a:avLst>
              <a:gd name="adj" fmla="val 6666"/>
            </a:avLst>
          </a:prstGeom>
          <a:solidFill>
            <a:srgbClr val="F8E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006840" y="4379976"/>
            <a:ext cx="2407615" cy="41148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Identity is what's left</a:t>
            </a:r>
          </a:p>
        </p:txBody>
      </p:sp>
      <p:sp>
        <p:nvSpPr>
          <p:cNvPr id="29" name="TextBox 28"/>
          <p:cNvSpPr txBox="1"/>
          <p:nvPr/>
        </p:nvSpPr>
        <p:spPr>
          <a:xfrm>
            <a:off x="9006840" y="4800600"/>
            <a:ext cx="2407615" cy="1097279"/>
          </a:xfrm>
          <a:prstGeom prst="rect">
            <a:avLst/>
          </a:prstGeom>
          <a:noFill/>
        </p:spPr>
        <p:txBody>
          <a:bodyPr wrap="square" anchor="t" lIns="0" rIns="0" tIns="0" bIns="0">
            <a:noAutofit/>
          </a:bodyPr>
          <a:lstStyle/>
          <a:p>
            <a:pPr algn="l">
              <a:spcAft>
                <a:spcPts val="500"/>
              </a:spcAft>
            </a:pPr>
            <a:r>
              <a:rPr sz="1400" b="0" i="0">
                <a:solidFill>
                  <a:srgbClr val="17272E"/>
                </a:solidFill>
                <a:latin typeface="Calibri"/>
              </a:rPr>
              <a:t>:JamesDean and fan:Dean_James share a literal but stay two nodes. Only a shared URI makes one node.</a:t>
            </a:r>
          </a:p>
        </p:txBody>
      </p:sp>
      <p:sp>
        <p:nvSpPr>
          <p:cNvPr id="30"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31"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Global identity with URIs, written in Turtle</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4 · RDF</a:t>
            </a:r>
          </a:p>
        </p:txBody>
      </p:sp>
      <p:sp>
        <p:nvSpPr>
          <p:cNvPr id="4" name="Code: Turtle"/>
          <p:cNvSpPr/>
          <p:nvPr/>
        </p:nvSpPr>
        <p:spPr>
          <a:xfrm>
            <a:off x="548640" y="1645920"/>
            <a:ext cx="5852160" cy="1965960"/>
          </a:xfrm>
          <a:prstGeom prst="roundRect">
            <a:avLst>
              <a:gd name="adj" fmla="val 5581"/>
            </a:avLst>
          </a:prstGeom>
          <a:solidFill>
            <a:srgbClr val="1C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937760" y="1755648"/>
            <a:ext cx="1280160" cy="228600"/>
          </a:xfrm>
          <a:prstGeom prst="rect">
            <a:avLst/>
          </a:prstGeom>
          <a:noFill/>
        </p:spPr>
        <p:txBody>
          <a:bodyPr wrap="square" anchor="t" lIns="0" rIns="0" tIns="0" bIns="0">
            <a:noAutofit/>
          </a:bodyPr>
          <a:lstStyle/>
          <a:p>
            <a:pPr algn="r">
              <a:spcAft>
                <a:spcPts val="600"/>
              </a:spcAft>
            </a:pPr>
            <a:r>
              <a:rPr sz="1000" b="1" i="0">
                <a:solidFill>
                  <a:srgbClr val="869AA0"/>
                </a:solidFill>
                <a:latin typeface="Calibri"/>
              </a:rPr>
              <a:t>TURTLE</a:t>
            </a:r>
          </a:p>
        </p:txBody>
      </p:sp>
      <p:sp>
        <p:nvSpPr>
          <p:cNvPr id="6" name="TextBox 5"/>
          <p:cNvSpPr txBox="1"/>
          <p:nvPr/>
        </p:nvSpPr>
        <p:spPr>
          <a:xfrm>
            <a:off x="777240" y="1847088"/>
            <a:ext cx="5394960" cy="1600200"/>
          </a:xfrm>
          <a:prstGeom prst="rect">
            <a:avLst/>
          </a:prstGeom>
          <a:noFill/>
        </p:spPr>
        <p:txBody>
          <a:bodyPr wrap="none" lIns="0" rIns="0" tIns="0" bIns="0">
            <a:noAutofit/>
          </a:bodyPr>
          <a:lstStyle/>
          <a:p>
            <a:pPr>
              <a:lnSpc>
                <a:spcPct val="105000"/>
              </a:lnSpc>
            </a:pPr>
            <a:r>
              <a:rPr sz="1300" b="1" i="0">
                <a:solidFill>
                  <a:srgbClr val="F2B866"/>
                </a:solidFill>
                <a:latin typeface="Consolas"/>
              </a:rPr>
              <a:t>@prefix</a:t>
            </a:r>
            <a:r>
              <a:rPr sz="1300" b="0" i="0">
                <a:solidFill>
                  <a:srgbClr val="E3EBEE"/>
                </a:solidFill>
                <a:latin typeface="Consolas"/>
              </a:rPr>
              <a:t> :     </a:t>
            </a:r>
            <a:r>
              <a:rPr sz="1300" b="0" i="0">
                <a:solidFill>
                  <a:srgbClr val="9AB0B8"/>
                </a:solidFill>
                <a:latin typeface="Consolas"/>
              </a:rPr>
              <a:t>&lt;http://studio.example/&gt;</a:t>
            </a:r>
            <a:r>
              <a:rPr sz="1300" b="0" i="0">
                <a:solidFill>
                  <a:srgbClr val="E3EBEE"/>
                </a:solidFill>
                <a:latin typeface="Consolas"/>
              </a:rPr>
              <a:t> .</a:t>
            </a:r>
          </a:p>
          <a:p>
            <a:pPr>
              <a:lnSpc>
                <a:spcPct val="105000"/>
              </a:lnSpc>
            </a:pPr>
            <a:r>
              <a:rPr sz="1300" b="0" i="0">
                <a:solidFill>
                  <a:srgbClr val="E3EBEE"/>
                </a:solidFill>
                <a:latin typeface="Consolas"/>
              </a:rPr>
              <a:t> </a:t>
            </a:r>
          </a:p>
          <a:p>
            <a:pPr>
              <a:lnSpc>
                <a:spcPct val="105000"/>
              </a:lnSpc>
            </a:pPr>
            <a:r>
              <a:rPr sz="1300" b="0" i="0">
                <a:solidFill>
                  <a:srgbClr val="A8CFF0"/>
                </a:solidFill>
                <a:latin typeface="Consolas"/>
              </a:rPr>
              <a:t>:RebelWithoutACause</a:t>
            </a:r>
            <a:r>
              <a:rPr sz="1300" b="0" i="0">
                <a:solidFill>
                  <a:srgbClr val="E3EBEE"/>
                </a:solidFill>
                <a:latin typeface="Consolas"/>
              </a:rPr>
              <a:t> </a:t>
            </a:r>
            <a:r>
              <a:rPr sz="1300" b="1" i="0">
                <a:solidFill>
                  <a:srgbClr val="F2B866"/>
                </a:solidFill>
                <a:latin typeface="Consolas"/>
              </a:rPr>
              <a:t>a</a:t>
            </a:r>
            <a:r>
              <a:rPr sz="1300" b="0" i="0">
                <a:solidFill>
                  <a:srgbClr val="E3EBEE"/>
                </a:solidFill>
                <a:latin typeface="Consolas"/>
              </a:rPr>
              <a:t> </a:t>
            </a:r>
            <a:r>
              <a:rPr sz="1300" b="0" i="0">
                <a:solidFill>
                  <a:srgbClr val="A8CFF0"/>
                </a:solidFill>
                <a:latin typeface="Consolas"/>
              </a:rPr>
              <a:t>:Movie</a:t>
            </a:r>
            <a:r>
              <a:rPr sz="1300" b="0" i="0">
                <a:solidFill>
                  <a:srgbClr val="E3EBEE"/>
                </a:solidFill>
                <a:latin typeface="Consolas"/>
              </a:rPr>
              <a:t> ;</a:t>
            </a:r>
          </a:p>
          <a:p>
            <a:pPr>
              <a:lnSpc>
                <a:spcPct val="105000"/>
              </a:lnSpc>
            </a:pPr>
            <a:r>
              <a:rPr sz="1300" b="0" i="0">
                <a:solidFill>
                  <a:srgbClr val="E3EBEE"/>
                </a:solidFill>
                <a:latin typeface="Consolas"/>
              </a:rPr>
              <a:t>    </a:t>
            </a:r>
            <a:r>
              <a:rPr sz="1300" b="0" i="0">
                <a:solidFill>
                  <a:srgbClr val="A8CFF0"/>
                </a:solidFill>
                <a:latin typeface="Consolas"/>
              </a:rPr>
              <a:t>:movieTitle</a:t>
            </a:r>
            <a:r>
              <a:rPr sz="1300" b="0" i="0">
                <a:solidFill>
                  <a:srgbClr val="E3EBEE"/>
                </a:solidFill>
                <a:latin typeface="Consolas"/>
              </a:rPr>
              <a:t>  </a:t>
            </a:r>
            <a:r>
              <a:rPr sz="1300" b="0" i="0">
                <a:solidFill>
                  <a:srgbClr val="B5D98F"/>
                </a:solidFill>
                <a:latin typeface="Consolas"/>
              </a:rPr>
              <a:t>"Rebel Without a Cause"</a:t>
            </a:r>
            <a:r>
              <a:rPr sz="1300" b="0" i="0">
                <a:solidFill>
                  <a:srgbClr val="E3EBEE"/>
                </a:solidFill>
                <a:latin typeface="Consolas"/>
              </a:rPr>
              <a:t> ;</a:t>
            </a:r>
          </a:p>
          <a:p>
            <a:pPr>
              <a:lnSpc>
                <a:spcPct val="105000"/>
              </a:lnSpc>
            </a:pPr>
            <a:r>
              <a:rPr sz="1300" b="0" i="0">
                <a:solidFill>
                  <a:srgbClr val="E3EBEE"/>
                </a:solidFill>
                <a:latin typeface="Consolas"/>
              </a:rPr>
              <a:t>    </a:t>
            </a:r>
            <a:r>
              <a:rPr sz="1300" b="0" i="0">
                <a:solidFill>
                  <a:srgbClr val="A8CFF0"/>
                </a:solidFill>
                <a:latin typeface="Consolas"/>
              </a:rPr>
              <a:t>:releaseYear</a:t>
            </a:r>
            <a:r>
              <a:rPr sz="1300" b="0" i="0">
                <a:solidFill>
                  <a:srgbClr val="E3EBEE"/>
                </a:solidFill>
                <a:latin typeface="Consolas"/>
              </a:rPr>
              <a:t> </a:t>
            </a:r>
            <a:r>
              <a:rPr sz="1300" b="0" i="0">
                <a:solidFill>
                  <a:srgbClr val="B5D98F"/>
                </a:solidFill>
                <a:latin typeface="Consolas"/>
              </a:rPr>
              <a:t>1955</a:t>
            </a:r>
            <a:r>
              <a:rPr sz="1300" b="0" i="0">
                <a:solidFill>
                  <a:srgbClr val="E3EBEE"/>
                </a:solidFill>
                <a:latin typeface="Consolas"/>
              </a:rPr>
              <a:t> ;</a:t>
            </a:r>
          </a:p>
          <a:p>
            <a:pPr>
              <a:lnSpc>
                <a:spcPct val="105000"/>
              </a:lnSpc>
            </a:pPr>
            <a:r>
              <a:rPr sz="1300" b="0" i="0">
                <a:solidFill>
                  <a:srgbClr val="E3EBEE"/>
                </a:solidFill>
                <a:latin typeface="Consolas"/>
              </a:rPr>
              <a:t>    </a:t>
            </a:r>
            <a:r>
              <a:rPr sz="1300" b="0" i="0">
                <a:solidFill>
                  <a:srgbClr val="A8CFF0"/>
                </a:solidFill>
                <a:latin typeface="Consolas"/>
              </a:rPr>
              <a:t>:directedBy</a:t>
            </a:r>
            <a:r>
              <a:rPr sz="1300" b="0" i="0">
                <a:solidFill>
                  <a:srgbClr val="E3EBEE"/>
                </a:solidFill>
                <a:latin typeface="Consolas"/>
              </a:rPr>
              <a:t>  </a:t>
            </a:r>
            <a:r>
              <a:rPr sz="1300" b="0" i="0">
                <a:solidFill>
                  <a:srgbClr val="A8CFF0"/>
                </a:solidFill>
                <a:latin typeface="Consolas"/>
              </a:rPr>
              <a:t>:NicholasRay</a:t>
            </a:r>
            <a:r>
              <a:rPr sz="1300" b="0" i="0">
                <a:solidFill>
                  <a:srgbClr val="E3EBEE"/>
                </a:solidFill>
                <a:latin typeface="Consolas"/>
              </a:rPr>
              <a:t> ;</a:t>
            </a:r>
          </a:p>
          <a:p>
            <a:pPr>
              <a:lnSpc>
                <a:spcPct val="105000"/>
              </a:lnSpc>
            </a:pPr>
            <a:r>
              <a:rPr sz="1300" b="0" i="0">
                <a:solidFill>
                  <a:srgbClr val="E3EBEE"/>
                </a:solidFill>
                <a:latin typeface="Consolas"/>
              </a:rPr>
              <a:t>    </a:t>
            </a:r>
            <a:r>
              <a:rPr sz="1300" b="0" i="0">
                <a:solidFill>
                  <a:srgbClr val="A8CFF0"/>
                </a:solidFill>
                <a:latin typeface="Consolas"/>
              </a:rPr>
              <a:t>:starring</a:t>
            </a:r>
            <a:r>
              <a:rPr sz="1300" b="0" i="0">
                <a:solidFill>
                  <a:srgbClr val="E3EBEE"/>
                </a:solidFill>
                <a:latin typeface="Consolas"/>
              </a:rPr>
              <a:t>    </a:t>
            </a:r>
            <a:r>
              <a:rPr sz="1300" b="0" i="0">
                <a:solidFill>
                  <a:srgbClr val="A8CFF0"/>
                </a:solidFill>
                <a:latin typeface="Consolas"/>
              </a:rPr>
              <a:t>:JamesDean</a:t>
            </a:r>
            <a:r>
              <a:rPr sz="1300" b="0" i="0">
                <a:solidFill>
                  <a:srgbClr val="E3EBEE"/>
                </a:solidFill>
                <a:latin typeface="Consolas"/>
              </a:rPr>
              <a:t> , </a:t>
            </a:r>
            <a:r>
              <a:rPr sz="1300" b="0" i="0">
                <a:solidFill>
                  <a:srgbClr val="A8CFF0"/>
                </a:solidFill>
                <a:latin typeface="Consolas"/>
              </a:rPr>
              <a:t>:NatalieWood</a:t>
            </a:r>
            <a:r>
              <a:rPr sz="1300" b="0" i="0">
                <a:solidFill>
                  <a:srgbClr val="E3EBEE"/>
                </a:solidFill>
                <a:latin typeface="Consolas"/>
              </a:rPr>
              <a:t> .</a:t>
            </a:r>
          </a:p>
        </p:txBody>
      </p:sp>
      <p:sp>
        <p:nvSpPr>
          <p:cNvPr id="7" name="TextBox 6"/>
          <p:cNvSpPr txBox="1"/>
          <p:nvPr/>
        </p:nvSpPr>
        <p:spPr>
          <a:xfrm>
            <a:off x="548640" y="3977639"/>
            <a:ext cx="5852160" cy="320040"/>
          </a:xfrm>
          <a:prstGeom prst="rect">
            <a:avLst/>
          </a:prstGeom>
          <a:noFill/>
        </p:spPr>
        <p:txBody>
          <a:bodyPr wrap="square" anchor="t" lIns="0" rIns="0" tIns="0" bIns="0">
            <a:noAutofit/>
          </a:bodyPr>
          <a:lstStyle/>
          <a:p>
            <a:pPr algn="l">
              <a:spcAft>
                <a:spcPts val="600"/>
              </a:spcAft>
            </a:pPr>
            <a:r>
              <a:rPr sz="1500" b="1" i="0">
                <a:solidFill>
                  <a:srgbClr val="17272E"/>
                </a:solidFill>
                <a:latin typeface="Calibri"/>
              </a:rPr>
              <a:t>A qname is shorthand for a full URI</a:t>
            </a:r>
          </a:p>
        </p:txBody>
      </p:sp>
      <p:sp>
        <p:nvSpPr>
          <p:cNvPr id="8" name="Rounded Rectangle 7"/>
          <p:cNvSpPr/>
          <p:nvPr/>
        </p:nvSpPr>
        <p:spPr>
          <a:xfrm>
            <a:off x="548640" y="4434840"/>
            <a:ext cx="173736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1400" b="1" i="0">
                <a:solidFill>
                  <a:srgbClr val="FFFFFF"/>
                </a:solidFill>
                <a:latin typeface="Consolas"/>
              </a:rPr>
              <a:t>:JamesDean</a:t>
            </a:r>
          </a:p>
        </p:txBody>
      </p:sp>
      <p:cxnSp>
        <p:nvCxnSpPr>
          <p:cNvPr id="9" name="Connector 8"/>
          <p:cNvCxnSpPr/>
          <p:nvPr/>
        </p:nvCxnSpPr>
        <p:spPr>
          <a:xfrm>
            <a:off x="2377440" y="4663440"/>
            <a:ext cx="502920" cy="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971800" y="4434840"/>
            <a:ext cx="3429000" cy="457200"/>
          </a:xfrm>
          <a:prstGeom prst="roundRect">
            <a:avLst>
              <a:gd name="adj" fmla="val 50000"/>
            </a:avLst>
          </a:prstGeom>
          <a:solidFill>
            <a:srgbClr val="FFFFFF"/>
          </a:solidFill>
          <a:ln w="12700">
            <a:solidFill>
              <a:srgbClr val="1F7A6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1300" b="1" i="0">
                <a:solidFill>
                  <a:srgbClr val="1F7A6D"/>
                </a:solidFill>
                <a:latin typeface="Consolas"/>
              </a:rPr>
              <a:t>&lt;http://studio.example/JamesDean&gt;</a:t>
            </a:r>
          </a:p>
        </p:txBody>
      </p:sp>
      <p:sp>
        <p:nvSpPr>
          <p:cNvPr id="11" name="TextBox 10"/>
          <p:cNvSpPr txBox="1"/>
          <p:nvPr/>
        </p:nvSpPr>
        <p:spPr>
          <a:xfrm>
            <a:off x="548640" y="5074920"/>
            <a:ext cx="5852160" cy="457200"/>
          </a:xfrm>
          <a:prstGeom prst="rect">
            <a:avLst/>
          </a:prstGeom>
          <a:noFill/>
        </p:spPr>
        <p:txBody>
          <a:bodyPr wrap="square" anchor="t" lIns="0" rIns="0" tIns="0" bIns="0">
            <a:noAutofit/>
          </a:bodyPr>
          <a:lstStyle/>
          <a:p>
            <a:pPr algn="l">
              <a:spcAft>
                <a:spcPts val="600"/>
              </a:spcAft>
            </a:pPr>
            <a:r>
              <a:rPr sz="1400" b="0" i="0">
                <a:solidFill>
                  <a:srgbClr val="5B6B70"/>
                </a:solidFill>
                <a:latin typeface="Calibri"/>
              </a:rPr>
              <a:t>Same URI = same node, in every graph that mentions it.</a:t>
            </a:r>
          </a:p>
        </p:txBody>
      </p:sp>
      <p:sp>
        <p:nvSpPr>
          <p:cNvPr id="12" name="TextBox 11"/>
          <p:cNvSpPr txBox="1"/>
          <p:nvPr/>
        </p:nvSpPr>
        <p:spPr>
          <a:xfrm>
            <a:off x="6766560" y="1645920"/>
            <a:ext cx="4876495" cy="4480560"/>
          </a:xfrm>
          <a:prstGeom prst="rect">
            <a:avLst/>
          </a:prstGeom>
          <a:noFill/>
        </p:spPr>
        <p:txBody>
          <a:bodyPr wrap="square" anchor="t" lIns="0" rIns="0" tIns="0" bIns="0">
            <a:noAutofit/>
          </a:bodyPr>
          <a:lstStyle/>
          <a:p>
            <a:pPr algn="l" marL="228600" indent="-228600">
              <a:spcAft>
                <a:spcPts val="1400"/>
              </a:spcAft>
              <a:buClr>
                <a:srgbClr val="1F7A6D"/>
              </a:buClr>
              <a:buFont typeface="Arial"/>
              <a:buChar char="•"/>
            </a:pPr>
            <a:r>
              <a:rPr sz="1600" b="1" i="0">
                <a:solidFill>
                  <a:srgbClr val="17272E"/>
                </a:solidFill>
                <a:latin typeface="Calibri"/>
              </a:rPr>
              <a:t>URIs are global names. </a:t>
            </a:r>
            <a:r>
              <a:rPr sz="1600" b="0" i="0">
                <a:solidFill>
                  <a:srgbClr val="17272E"/>
                </a:solidFill>
                <a:latin typeface="Calibri"/>
              </a:rPr>
              <a:t>Two nodes are the same exactly when they share one.</a:t>
            </a:r>
          </a:p>
          <a:p>
            <a:pPr algn="l" marL="228600" indent="-228600">
              <a:spcAft>
                <a:spcPts val="1400"/>
              </a:spcAft>
              <a:buClr>
                <a:srgbClr val="1F7A6D"/>
              </a:buClr>
              <a:buFont typeface="Arial"/>
              <a:buChar char="•"/>
            </a:pPr>
            <a:r>
              <a:rPr sz="1600" b="1" i="0">
                <a:solidFill>
                  <a:srgbClr val="17272E"/>
                </a:solidFill>
                <a:latin typeface="Calibri"/>
              </a:rPr>
              <a:t>Namespaces </a:t>
            </a:r>
            <a:r>
              <a:rPr sz="1600" b="0" i="0">
                <a:solidFill>
                  <a:srgbClr val="17272E"/>
                </a:solidFill>
                <a:latin typeface="Calibri"/>
              </a:rPr>
              <a:t>group names under one authority; one triple can mix several.</a:t>
            </a:r>
          </a:p>
          <a:p>
            <a:pPr algn="l" marL="228600" indent="-228600">
              <a:spcAft>
                <a:spcPts val="1400"/>
              </a:spcAft>
              <a:buClr>
                <a:srgbClr val="1F7A6D"/>
              </a:buClr>
              <a:buFont typeface="Arial"/>
              <a:buChar char="•"/>
            </a:pPr>
            <a:r>
              <a:rPr sz="1600" b="1" i="0">
                <a:solidFill>
                  <a:srgbClr val="17272E"/>
                </a:solidFill>
                <a:latin typeface="Consolas"/>
              </a:rPr>
              <a:t>rdf:type </a:t>
            </a:r>
            <a:r>
              <a:rPr sz="1600" b="0" i="0">
                <a:solidFill>
                  <a:srgbClr val="17272E"/>
                </a:solidFill>
                <a:latin typeface="Calibri"/>
              </a:rPr>
              <a:t>links an instance to its type; </a:t>
            </a:r>
            <a:r>
              <a:rPr sz="1600" b="1" i="0">
                <a:solidFill>
                  <a:srgbClr val="17272E"/>
                </a:solidFill>
                <a:latin typeface="Consolas"/>
              </a:rPr>
              <a:t>rdf:Property</a:t>
            </a:r>
            <a:r>
              <a:rPr sz="1600" b="0" i="0">
                <a:solidFill>
                  <a:srgbClr val="17272E"/>
                </a:solidFill>
                <a:latin typeface="Calibri"/>
              </a:rPr>
              <a:t> marks a predicate.</a:t>
            </a:r>
          </a:p>
          <a:p>
            <a:pPr algn="l" marL="228600" indent="-228600">
              <a:spcAft>
                <a:spcPts val="1400"/>
              </a:spcAft>
              <a:buClr>
                <a:srgbClr val="1F7A6D"/>
              </a:buClr>
              <a:buFont typeface="Arial"/>
              <a:buChar char="•"/>
            </a:pPr>
            <a:r>
              <a:rPr sz="1600" b="1" i="0">
                <a:solidFill>
                  <a:srgbClr val="17272E"/>
                </a:solidFill>
                <a:latin typeface="Calibri"/>
              </a:rPr>
              <a:t>Blank nodes </a:t>
            </a:r>
            <a:r>
              <a:rPr sz="1600" b="0" i="0">
                <a:solidFill>
                  <a:srgbClr val="17272E"/>
                </a:solidFill>
                <a:latin typeface="Calibri"/>
              </a:rPr>
              <a:t>stand for things that exist but have no global name.</a:t>
            </a:r>
          </a:p>
          <a:p>
            <a:pPr algn="l" marL="228600" indent="-228600">
              <a:spcAft>
                <a:spcPts val="1400"/>
              </a:spcAft>
              <a:buClr>
                <a:srgbClr val="1F7A6D"/>
              </a:buClr>
              <a:buFont typeface="Arial"/>
              <a:buChar char="•"/>
            </a:pPr>
            <a:r>
              <a:rPr sz="1600" b="1" i="0">
                <a:solidFill>
                  <a:srgbClr val="17272E"/>
                </a:solidFill>
                <a:latin typeface="Calibri"/>
              </a:rPr>
              <a:t>Turtle, N-Triples, RDF/XML </a:t>
            </a:r>
            <a:r>
              <a:rPr sz="1600" b="0" i="0">
                <a:solidFill>
                  <a:srgbClr val="17272E"/>
                </a:solidFill>
                <a:latin typeface="Calibri"/>
              </a:rPr>
              <a:t>are serializations of the same triples.</a:t>
            </a:r>
          </a:p>
        </p:txBody>
      </p:sp>
      <p:sp>
        <p:nvSpPr>
          <p:cNvPr id="13"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14"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Parse, store, query, then build the application</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4 · APPLICATION ARCHITECTURE</a:t>
            </a:r>
          </a:p>
        </p:txBody>
      </p:sp>
      <p:sp>
        <p:nvSpPr>
          <p:cNvPr id="4" name="Step: Sources"/>
          <p:cNvSpPr/>
          <p:nvPr/>
        </p:nvSpPr>
        <p:spPr>
          <a:xfrm>
            <a:off x="548640" y="1691640"/>
            <a:ext cx="1920240" cy="1828800"/>
          </a:xfrm>
          <a:prstGeom prst="roundRect">
            <a:avLst>
              <a:gd name="adj" fmla="val 6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13232" y="1828800"/>
            <a:ext cx="1591056" cy="54864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Sources</a:t>
            </a:r>
          </a:p>
        </p:txBody>
      </p:sp>
      <p:sp>
        <p:nvSpPr>
          <p:cNvPr id="6" name="TextBox 5"/>
          <p:cNvSpPr txBox="1"/>
          <p:nvPr/>
        </p:nvSpPr>
        <p:spPr>
          <a:xfrm>
            <a:off x="713232" y="2423160"/>
            <a:ext cx="1591056" cy="1051560"/>
          </a:xfrm>
          <a:prstGeom prst="rect">
            <a:avLst/>
          </a:prstGeom>
          <a:noFill/>
        </p:spPr>
        <p:txBody>
          <a:bodyPr wrap="square" anchor="t" lIns="0" rIns="0" tIns="0" bIns="0">
            <a:noAutofit/>
          </a:bodyPr>
          <a:lstStyle/>
          <a:p>
            <a:pPr algn="l">
              <a:spcAft>
                <a:spcPts val="600"/>
              </a:spcAft>
            </a:pPr>
            <a:r>
              <a:rPr sz="1400" b="0" i="0">
                <a:solidFill>
                  <a:srgbClr val="17272E"/>
                </a:solidFill>
                <a:latin typeface="Calibri"/>
              </a:rPr>
              <a:t>Turtle, RDF/XML, spreadsheets, RDFa pages</a:t>
            </a:r>
          </a:p>
        </p:txBody>
      </p:sp>
      <p:cxnSp>
        <p:nvCxnSpPr>
          <p:cNvPr id="7" name="Connector 6"/>
          <p:cNvCxnSpPr/>
          <p:nvPr/>
        </p:nvCxnSpPr>
        <p:spPr>
          <a:xfrm>
            <a:off x="2514600" y="2606040"/>
            <a:ext cx="281863" cy="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Step: Parser and serializer"/>
          <p:cNvSpPr/>
          <p:nvPr/>
        </p:nvSpPr>
        <p:spPr>
          <a:xfrm>
            <a:off x="2842183" y="1691640"/>
            <a:ext cx="1920240" cy="1828800"/>
          </a:xfrm>
          <a:prstGeom prst="roundRect">
            <a:avLst>
              <a:gd name="adj" fmla="val 6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006775" y="1828800"/>
            <a:ext cx="1591056" cy="54864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Parser and serializer</a:t>
            </a:r>
          </a:p>
        </p:txBody>
      </p:sp>
      <p:sp>
        <p:nvSpPr>
          <p:cNvPr id="10" name="TextBox 9"/>
          <p:cNvSpPr txBox="1"/>
          <p:nvPr/>
        </p:nvSpPr>
        <p:spPr>
          <a:xfrm>
            <a:off x="3006775" y="2423160"/>
            <a:ext cx="1591056" cy="1051560"/>
          </a:xfrm>
          <a:prstGeom prst="rect">
            <a:avLst/>
          </a:prstGeom>
          <a:noFill/>
        </p:spPr>
        <p:txBody>
          <a:bodyPr wrap="square" anchor="t" lIns="0" rIns="0" tIns="0" bIns="0">
            <a:noAutofit/>
          </a:bodyPr>
          <a:lstStyle/>
          <a:p>
            <a:pPr algn="l">
              <a:spcAft>
                <a:spcPts val="600"/>
              </a:spcAft>
            </a:pPr>
            <a:r>
              <a:rPr sz="1400" b="0" i="0">
                <a:solidFill>
                  <a:srgbClr val="17272E"/>
                </a:solidFill>
                <a:latin typeface="Calibri"/>
              </a:rPr>
              <a:t>Text ⇄ triples, plus converters for tables</a:t>
            </a:r>
          </a:p>
        </p:txBody>
      </p:sp>
      <p:cxnSp>
        <p:nvCxnSpPr>
          <p:cNvPr id="11" name="Connector 10"/>
          <p:cNvCxnSpPr/>
          <p:nvPr/>
        </p:nvCxnSpPr>
        <p:spPr>
          <a:xfrm>
            <a:off x="4808143" y="2606040"/>
            <a:ext cx="281864" cy="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Step: RDF store"/>
          <p:cNvSpPr/>
          <p:nvPr/>
        </p:nvSpPr>
        <p:spPr>
          <a:xfrm>
            <a:off x="5135727" y="1691640"/>
            <a:ext cx="1920240" cy="1828800"/>
          </a:xfrm>
          <a:prstGeom prst="roundRect">
            <a:avLst>
              <a:gd name="adj" fmla="val 6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300319" y="1828800"/>
            <a:ext cx="1591056" cy="548640"/>
          </a:xfrm>
          <a:prstGeom prst="rect">
            <a:avLst/>
          </a:prstGeom>
          <a:noFill/>
        </p:spPr>
        <p:txBody>
          <a:bodyPr wrap="square" anchor="t" lIns="0" rIns="0" tIns="0" bIns="0">
            <a:noAutofit/>
          </a:bodyPr>
          <a:lstStyle/>
          <a:p>
            <a:pPr algn="l">
              <a:spcAft>
                <a:spcPts val="600"/>
              </a:spcAft>
            </a:pPr>
            <a:r>
              <a:rPr sz="1600" b="1" i="0">
                <a:solidFill>
                  <a:srgbClr val="FFFFFF"/>
                </a:solidFill>
                <a:latin typeface="Calibri"/>
              </a:rPr>
              <a:t>RDF store</a:t>
            </a:r>
          </a:p>
        </p:txBody>
      </p:sp>
      <p:sp>
        <p:nvSpPr>
          <p:cNvPr id="14" name="TextBox 13"/>
          <p:cNvSpPr txBox="1"/>
          <p:nvPr/>
        </p:nvSpPr>
        <p:spPr>
          <a:xfrm>
            <a:off x="5300319" y="2423160"/>
            <a:ext cx="1591056" cy="1051560"/>
          </a:xfrm>
          <a:prstGeom prst="rect">
            <a:avLst/>
          </a:prstGeom>
          <a:noFill/>
        </p:spPr>
        <p:txBody>
          <a:bodyPr wrap="square" anchor="t" lIns="0" rIns="0" tIns="0" bIns="0">
            <a:noAutofit/>
          </a:bodyPr>
          <a:lstStyle/>
          <a:p>
            <a:pPr algn="l">
              <a:spcAft>
                <a:spcPts val="600"/>
              </a:spcAft>
            </a:pPr>
            <a:r>
              <a:rPr sz="1400" b="0" i="0">
                <a:solidFill>
                  <a:srgbClr val="FFFFFF"/>
                </a:solidFill>
                <a:latin typeface="Calibri"/>
              </a:rPr>
              <a:t>Merges sources: same URI = same node</a:t>
            </a:r>
          </a:p>
        </p:txBody>
      </p:sp>
      <p:cxnSp>
        <p:nvCxnSpPr>
          <p:cNvPr id="15" name="Connector 14"/>
          <p:cNvCxnSpPr/>
          <p:nvPr/>
        </p:nvCxnSpPr>
        <p:spPr>
          <a:xfrm>
            <a:off x="7101687" y="2606040"/>
            <a:ext cx="281864" cy="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Step: Query engine"/>
          <p:cNvSpPr/>
          <p:nvPr/>
        </p:nvSpPr>
        <p:spPr>
          <a:xfrm>
            <a:off x="7429271" y="1691640"/>
            <a:ext cx="1920240" cy="1828800"/>
          </a:xfrm>
          <a:prstGeom prst="roundRect">
            <a:avLst>
              <a:gd name="adj" fmla="val 6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593863" y="1828800"/>
            <a:ext cx="1591056" cy="54864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Query engine</a:t>
            </a:r>
          </a:p>
        </p:txBody>
      </p:sp>
      <p:sp>
        <p:nvSpPr>
          <p:cNvPr id="18" name="TextBox 17"/>
          <p:cNvSpPr txBox="1"/>
          <p:nvPr/>
        </p:nvSpPr>
        <p:spPr>
          <a:xfrm>
            <a:off x="7593863" y="2423160"/>
            <a:ext cx="1591056" cy="1051560"/>
          </a:xfrm>
          <a:prstGeom prst="rect">
            <a:avLst/>
          </a:prstGeom>
          <a:noFill/>
        </p:spPr>
        <p:txBody>
          <a:bodyPr wrap="square" anchor="t" lIns="0" rIns="0" tIns="0" bIns="0">
            <a:noAutofit/>
          </a:bodyPr>
          <a:lstStyle/>
          <a:p>
            <a:pPr algn="l">
              <a:spcAft>
                <a:spcPts val="600"/>
              </a:spcAft>
            </a:pPr>
            <a:r>
              <a:rPr sz="1400" b="0" i="0">
                <a:solidFill>
                  <a:srgbClr val="17272E"/>
                </a:solidFill>
                <a:latin typeface="Calibri"/>
              </a:rPr>
              <a:t>SPARQL, also served as web endpoints</a:t>
            </a:r>
          </a:p>
        </p:txBody>
      </p:sp>
      <p:cxnSp>
        <p:nvCxnSpPr>
          <p:cNvPr id="19" name="Connector 18"/>
          <p:cNvCxnSpPr/>
          <p:nvPr/>
        </p:nvCxnSpPr>
        <p:spPr>
          <a:xfrm>
            <a:off x="9395231" y="2606040"/>
            <a:ext cx="281864" cy="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Step: Application"/>
          <p:cNvSpPr/>
          <p:nvPr/>
        </p:nvSpPr>
        <p:spPr>
          <a:xfrm>
            <a:off x="9722815" y="1691640"/>
            <a:ext cx="1920240" cy="1828800"/>
          </a:xfrm>
          <a:prstGeom prst="roundRect">
            <a:avLst>
              <a:gd name="adj" fmla="val 6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887407" y="1828800"/>
            <a:ext cx="1591056" cy="54864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Application</a:t>
            </a:r>
          </a:p>
        </p:txBody>
      </p:sp>
      <p:sp>
        <p:nvSpPr>
          <p:cNvPr id="22" name="TextBox 21"/>
          <p:cNvSpPr txBox="1"/>
          <p:nvPr/>
        </p:nvSpPr>
        <p:spPr>
          <a:xfrm>
            <a:off x="9887407" y="2423160"/>
            <a:ext cx="1591056" cy="1051560"/>
          </a:xfrm>
          <a:prstGeom prst="rect">
            <a:avLst/>
          </a:prstGeom>
          <a:noFill/>
        </p:spPr>
        <p:txBody>
          <a:bodyPr wrap="square" anchor="t" lIns="0" rIns="0" tIns="0" bIns="0">
            <a:noAutofit/>
          </a:bodyPr>
          <a:lstStyle/>
          <a:p>
            <a:pPr algn="l">
              <a:spcAft>
                <a:spcPts val="600"/>
              </a:spcAft>
            </a:pPr>
            <a:r>
              <a:rPr sz="1400" b="0" i="0">
                <a:solidFill>
                  <a:srgbClr val="17272E"/>
                </a:solidFill>
                <a:latin typeface="Calibri"/>
              </a:rPr>
              <a:t>Analysis, UI, archiving; reaches data only via queries</a:t>
            </a:r>
          </a:p>
        </p:txBody>
      </p:sp>
      <p:cxnSp>
        <p:nvCxnSpPr>
          <p:cNvPr id="23" name="Connector 22"/>
          <p:cNvCxnSpPr/>
          <p:nvPr/>
        </p:nvCxnSpPr>
        <p:spPr>
          <a:xfrm>
            <a:off x="6095847" y="3566160"/>
            <a:ext cx="0" cy="365760"/>
          </a:xfrm>
          <a:prstGeom prst="line">
            <a:avLst/>
          </a:prstGeom>
          <a:ln w="25400">
            <a:solidFill>
              <a:srgbClr val="E0952B"/>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267047" y="3931920"/>
            <a:ext cx="3657600" cy="685800"/>
          </a:xfrm>
          <a:prstGeom prst="roundRect">
            <a:avLst>
              <a:gd name="adj" fmla="val 13333"/>
            </a:avLst>
          </a:prstGeom>
          <a:solidFill>
            <a:srgbClr val="FCF1DF"/>
          </a:solidFill>
          <a:ln w="12700">
            <a:solidFill>
              <a:srgbClr val="E0952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noAutofit/>
          </a:bodyPr>
          <a:lstStyle/>
          <a:p>
            <a:pPr algn="ctr"/>
            <a:r>
              <a:rPr sz="1400" b="0" i="0">
                <a:solidFill>
                  <a:srgbClr val="17272E"/>
                </a:solidFill>
                <a:latin typeface="Calibri"/>
              </a:rPr>
              <a:t>Models (RDFS, OWL) sit in the same store: they are triples too</a:t>
            </a:r>
          </a:p>
        </p:txBody>
      </p:sp>
      <p:sp>
        <p:nvSpPr>
          <p:cNvPr id="25" name="Oval 24"/>
          <p:cNvSpPr/>
          <p:nvPr/>
        </p:nvSpPr>
        <p:spPr>
          <a:xfrm>
            <a:off x="548640" y="4892040"/>
            <a:ext cx="329184" cy="329184"/>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a:t>
            </a:r>
          </a:p>
        </p:txBody>
      </p:sp>
      <p:sp>
        <p:nvSpPr>
          <p:cNvPr id="26" name="Takeaway"/>
          <p:cNvSpPr txBox="1"/>
          <p:nvPr/>
        </p:nvSpPr>
        <p:spPr>
          <a:xfrm>
            <a:off x="1005840" y="4892040"/>
            <a:ext cx="10637215" cy="329184"/>
          </a:xfrm>
          <a:prstGeom prst="rect">
            <a:avLst/>
          </a:prstGeom>
          <a:noFill/>
        </p:spPr>
        <p:txBody>
          <a:bodyPr wrap="square" anchor="ctr" lIns="0" rIns="0" tIns="0" bIns="0">
            <a:noAutofit/>
          </a:bodyPr>
          <a:lstStyle/>
          <a:p>
            <a:pPr algn="l">
              <a:spcAft>
                <a:spcPts val="600"/>
              </a:spcAft>
            </a:pPr>
            <a:r>
              <a:rPr sz="1500" b="1" i="0">
                <a:solidFill>
                  <a:srgbClr val="17272E"/>
                </a:solidFill>
                <a:latin typeface="Calibri"/>
              </a:rPr>
              <a:t>Federation: convert every source to triples, merge, then query, without caring where a triple came from.</a:t>
            </a:r>
          </a:p>
        </p:txBody>
      </p:sp>
      <p:sp>
        <p:nvSpPr>
          <p:cNvPr id="27" name="Rounded Rectangle 26"/>
          <p:cNvSpPr/>
          <p:nvPr/>
        </p:nvSpPr>
        <p:spPr>
          <a:xfrm>
            <a:off x="548640" y="5532120"/>
            <a:ext cx="2567863" cy="411480"/>
          </a:xfrm>
          <a:prstGeom prst="roundRect">
            <a:avLst>
              <a:gd name="adj" fmla="val 50000"/>
            </a:avLst>
          </a:prstGeom>
          <a:solidFill>
            <a:srgbClr val="FFFFFF"/>
          </a:solidFill>
          <a:ln w="12700">
            <a:solidFill>
              <a:srgbClr val="1F7A6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1400" b="1" i="0">
                <a:solidFill>
                  <a:srgbClr val="1F7A6D"/>
                </a:solidFill>
                <a:latin typeface="Calibri"/>
              </a:rPr>
              <a:t>Calendar integration</a:t>
            </a:r>
          </a:p>
        </p:txBody>
      </p:sp>
      <p:sp>
        <p:nvSpPr>
          <p:cNvPr id="28" name="Rounded Rectangle 27"/>
          <p:cNvSpPr/>
          <p:nvPr/>
        </p:nvSpPr>
        <p:spPr>
          <a:xfrm>
            <a:off x="3390823" y="5532120"/>
            <a:ext cx="2567863" cy="411480"/>
          </a:xfrm>
          <a:prstGeom prst="roundRect">
            <a:avLst>
              <a:gd name="adj" fmla="val 50000"/>
            </a:avLst>
          </a:prstGeom>
          <a:solidFill>
            <a:srgbClr val="FFFFFF"/>
          </a:solidFill>
          <a:ln w="12700">
            <a:solidFill>
              <a:srgbClr val="1F7A6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1400" b="1" i="0">
                <a:solidFill>
                  <a:srgbClr val="1F7A6D"/>
                </a:solidFill>
                <a:latin typeface="Calibri"/>
              </a:rPr>
              <a:t>Map integration</a:t>
            </a:r>
          </a:p>
        </p:txBody>
      </p:sp>
      <p:sp>
        <p:nvSpPr>
          <p:cNvPr id="29" name="Rounded Rectangle 28"/>
          <p:cNvSpPr/>
          <p:nvPr/>
        </p:nvSpPr>
        <p:spPr>
          <a:xfrm>
            <a:off x="6233007" y="5532120"/>
            <a:ext cx="2567863" cy="411480"/>
          </a:xfrm>
          <a:prstGeom prst="roundRect">
            <a:avLst>
              <a:gd name="adj" fmla="val 50000"/>
            </a:avLst>
          </a:prstGeom>
          <a:solidFill>
            <a:srgbClr val="FFFFFF"/>
          </a:solidFill>
          <a:ln w="12700">
            <a:solidFill>
              <a:srgbClr val="1F7A6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1400" b="1" i="0">
                <a:solidFill>
                  <a:srgbClr val="1F7A6D"/>
                </a:solidFill>
                <a:latin typeface="Calibri"/>
              </a:rPr>
              <a:t>Annotation</a:t>
            </a:r>
          </a:p>
        </p:txBody>
      </p:sp>
      <p:sp>
        <p:nvSpPr>
          <p:cNvPr id="30" name="Rounded Rectangle 29"/>
          <p:cNvSpPr/>
          <p:nvPr/>
        </p:nvSpPr>
        <p:spPr>
          <a:xfrm>
            <a:off x="9075191" y="5532120"/>
            <a:ext cx="2567863" cy="411480"/>
          </a:xfrm>
          <a:prstGeom prst="roundRect">
            <a:avLst>
              <a:gd name="adj" fmla="val 50000"/>
            </a:avLst>
          </a:prstGeom>
          <a:solidFill>
            <a:srgbClr val="FFFFFF"/>
          </a:solidFill>
          <a:ln w="12700">
            <a:solidFill>
              <a:srgbClr val="1F7A6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1400" b="1" i="0">
                <a:solidFill>
                  <a:srgbClr val="1F7A6D"/>
                </a:solidFill>
                <a:latin typeface="Calibri"/>
              </a:rPr>
              <a:t>Content management</a:t>
            </a:r>
          </a:p>
        </p:txBody>
      </p:sp>
      <p:sp>
        <p:nvSpPr>
          <p:cNvPr id="31"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32"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SPARQL: the question looks like the data</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4 · SPARQL</a:t>
            </a:r>
          </a:p>
        </p:txBody>
      </p:sp>
      <p:sp>
        <p:nvSpPr>
          <p:cNvPr id="4" name="Code: SPARQL"/>
          <p:cNvSpPr/>
          <p:nvPr/>
        </p:nvSpPr>
        <p:spPr>
          <a:xfrm>
            <a:off x="548640" y="1645920"/>
            <a:ext cx="5760720" cy="2743200"/>
          </a:xfrm>
          <a:prstGeom prst="roundRect">
            <a:avLst>
              <a:gd name="adj" fmla="val 4000"/>
            </a:avLst>
          </a:prstGeom>
          <a:solidFill>
            <a:srgbClr val="1C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846319" y="1755648"/>
            <a:ext cx="1280160" cy="228600"/>
          </a:xfrm>
          <a:prstGeom prst="rect">
            <a:avLst/>
          </a:prstGeom>
          <a:noFill/>
        </p:spPr>
        <p:txBody>
          <a:bodyPr wrap="square" anchor="t" lIns="0" rIns="0" tIns="0" bIns="0">
            <a:noAutofit/>
          </a:bodyPr>
          <a:lstStyle/>
          <a:p>
            <a:pPr algn="r">
              <a:spcAft>
                <a:spcPts val="600"/>
              </a:spcAft>
            </a:pPr>
            <a:r>
              <a:rPr sz="1000" b="1" i="0">
                <a:solidFill>
                  <a:srgbClr val="869AA0"/>
                </a:solidFill>
                <a:latin typeface="Calibri"/>
              </a:rPr>
              <a:t>SPARQL</a:t>
            </a:r>
          </a:p>
        </p:txBody>
      </p:sp>
      <p:sp>
        <p:nvSpPr>
          <p:cNvPr id="6" name="TextBox 5"/>
          <p:cNvSpPr txBox="1"/>
          <p:nvPr/>
        </p:nvSpPr>
        <p:spPr>
          <a:xfrm>
            <a:off x="777240" y="1847088"/>
            <a:ext cx="5303520" cy="2377440"/>
          </a:xfrm>
          <a:prstGeom prst="rect">
            <a:avLst/>
          </a:prstGeom>
          <a:noFill/>
        </p:spPr>
        <p:txBody>
          <a:bodyPr wrap="none" lIns="0" rIns="0" tIns="0" bIns="0">
            <a:noAutofit/>
          </a:bodyPr>
          <a:lstStyle/>
          <a:p>
            <a:pPr>
              <a:lnSpc>
                <a:spcPct val="105000"/>
              </a:lnSpc>
            </a:pPr>
            <a:r>
              <a:rPr sz="1300" b="1" i="0">
                <a:solidFill>
                  <a:srgbClr val="F2B866"/>
                </a:solidFill>
                <a:latin typeface="Consolas"/>
              </a:rPr>
              <a:t>PREFIX</a:t>
            </a:r>
            <a:r>
              <a:rPr sz="1300" b="0" i="0">
                <a:solidFill>
                  <a:srgbClr val="E3EBEE"/>
                </a:solidFill>
                <a:latin typeface="Consolas"/>
              </a:rPr>
              <a:t> : </a:t>
            </a:r>
            <a:r>
              <a:rPr sz="1300" b="0" i="0">
                <a:solidFill>
                  <a:srgbClr val="9AB0B8"/>
                </a:solidFill>
                <a:latin typeface="Consolas"/>
              </a:rPr>
              <a:t>&lt;http://studio.example/&gt;</a:t>
            </a:r>
          </a:p>
          <a:p>
            <a:pPr>
              <a:lnSpc>
                <a:spcPct val="105000"/>
              </a:lnSpc>
            </a:pPr>
            <a:r>
              <a:rPr sz="1300" b="1" i="0">
                <a:solidFill>
                  <a:srgbClr val="F2B866"/>
                </a:solidFill>
                <a:latin typeface="Consolas"/>
              </a:rPr>
              <a:t>SELECT</a:t>
            </a:r>
            <a:r>
              <a:rPr sz="1300" b="0" i="0">
                <a:solidFill>
                  <a:srgbClr val="E3EBEE"/>
                </a:solidFill>
                <a:latin typeface="Consolas"/>
              </a:rPr>
              <a:t> </a:t>
            </a:r>
            <a:r>
              <a:rPr sz="1300" b="1" i="0">
                <a:solidFill>
                  <a:srgbClr val="7FD1C1"/>
                </a:solidFill>
                <a:latin typeface="Consolas"/>
              </a:rPr>
              <a:t>?title</a:t>
            </a:r>
            <a:r>
              <a:rPr sz="1300" b="0" i="0">
                <a:solidFill>
                  <a:srgbClr val="E3EBEE"/>
                </a:solidFill>
                <a:latin typeface="Consolas"/>
              </a:rPr>
              <a:t> </a:t>
            </a:r>
            <a:r>
              <a:rPr sz="1300" b="1" i="0">
                <a:solidFill>
                  <a:srgbClr val="7FD1C1"/>
                </a:solidFill>
                <a:latin typeface="Consolas"/>
              </a:rPr>
              <a:t>?year</a:t>
            </a:r>
            <a:r>
              <a:rPr sz="1300" b="0" i="0">
                <a:solidFill>
                  <a:srgbClr val="E3EBEE"/>
                </a:solidFill>
                <a:latin typeface="Consolas"/>
              </a:rPr>
              <a:t> </a:t>
            </a:r>
            <a:r>
              <a:rPr sz="1300" b="1" i="0">
                <a:solidFill>
                  <a:srgbClr val="7FD1C1"/>
                </a:solidFill>
                <a:latin typeface="Consolas"/>
              </a:rPr>
              <a:t>?directorName</a:t>
            </a:r>
          </a:p>
          <a:p>
            <a:pPr>
              <a:lnSpc>
                <a:spcPct val="105000"/>
              </a:lnSpc>
            </a:pPr>
            <a:r>
              <a:rPr sz="1300" b="1" i="0">
                <a:solidFill>
                  <a:srgbClr val="F2B866"/>
                </a:solidFill>
                <a:latin typeface="Consolas"/>
              </a:rPr>
              <a:t>WHERE</a:t>
            </a:r>
            <a:r>
              <a:rPr sz="1300" b="0" i="0">
                <a:solidFill>
                  <a:srgbClr val="E3EBEE"/>
                </a:solidFill>
                <a:latin typeface="Consolas"/>
              </a:rPr>
              <a:t> {</a:t>
            </a:r>
          </a:p>
          <a:p>
            <a:pPr>
              <a:lnSpc>
                <a:spcPct val="105000"/>
              </a:lnSpc>
            </a:pPr>
            <a:r>
              <a:rPr sz="1300" b="0" i="0">
                <a:solidFill>
                  <a:srgbClr val="E3EBEE"/>
                </a:solidFill>
                <a:latin typeface="Consolas"/>
              </a:rPr>
              <a:t>  </a:t>
            </a:r>
            <a:r>
              <a:rPr sz="1300" b="1" i="0">
                <a:solidFill>
                  <a:srgbClr val="7FD1C1"/>
                </a:solidFill>
                <a:latin typeface="Consolas"/>
              </a:rPr>
              <a:t>?movie</a:t>
            </a:r>
            <a:r>
              <a:rPr sz="1300" b="0" i="0">
                <a:solidFill>
                  <a:srgbClr val="E3EBEE"/>
                </a:solidFill>
                <a:latin typeface="Consolas"/>
              </a:rPr>
              <a:t> </a:t>
            </a:r>
            <a:r>
              <a:rPr sz="1300" b="0" i="0">
                <a:solidFill>
                  <a:srgbClr val="A8CFF0"/>
                </a:solidFill>
                <a:latin typeface="Consolas"/>
              </a:rPr>
              <a:t>:starring</a:t>
            </a:r>
            <a:r>
              <a:rPr sz="1300" b="0" i="0">
                <a:solidFill>
                  <a:srgbClr val="E3EBEE"/>
                </a:solidFill>
                <a:latin typeface="Consolas"/>
              </a:rPr>
              <a:t>    </a:t>
            </a:r>
            <a:r>
              <a:rPr sz="1300" b="0" i="0">
                <a:solidFill>
                  <a:srgbClr val="A8CFF0"/>
                </a:solidFill>
                <a:latin typeface="Consolas"/>
              </a:rPr>
              <a:t>:JamesDean</a:t>
            </a:r>
            <a:r>
              <a:rPr sz="1300" b="0" i="0">
                <a:solidFill>
                  <a:srgbClr val="E3EBEE"/>
                </a:solidFill>
                <a:latin typeface="Consolas"/>
              </a:rPr>
              <a:t> ;</a:t>
            </a:r>
          </a:p>
          <a:p>
            <a:pPr>
              <a:lnSpc>
                <a:spcPct val="105000"/>
              </a:lnSpc>
            </a:pPr>
            <a:r>
              <a:rPr sz="1300" b="0" i="0">
                <a:solidFill>
                  <a:srgbClr val="E3EBEE"/>
                </a:solidFill>
                <a:latin typeface="Consolas"/>
              </a:rPr>
              <a:t>         </a:t>
            </a:r>
            <a:r>
              <a:rPr sz="1300" b="0" i="0">
                <a:solidFill>
                  <a:srgbClr val="A8CFF0"/>
                </a:solidFill>
                <a:latin typeface="Consolas"/>
              </a:rPr>
              <a:t>:movieTitle</a:t>
            </a:r>
            <a:r>
              <a:rPr sz="1300" b="0" i="0">
                <a:solidFill>
                  <a:srgbClr val="E3EBEE"/>
                </a:solidFill>
                <a:latin typeface="Consolas"/>
              </a:rPr>
              <a:t>  </a:t>
            </a:r>
            <a:r>
              <a:rPr sz="1300" b="1" i="0">
                <a:solidFill>
                  <a:srgbClr val="7FD1C1"/>
                </a:solidFill>
                <a:latin typeface="Consolas"/>
              </a:rPr>
              <a:t>?title</a:t>
            </a:r>
            <a:r>
              <a:rPr sz="1300" b="0" i="0">
                <a:solidFill>
                  <a:srgbClr val="E3EBEE"/>
                </a:solidFill>
                <a:latin typeface="Consolas"/>
              </a:rPr>
              <a:t> ;</a:t>
            </a:r>
          </a:p>
          <a:p>
            <a:pPr>
              <a:lnSpc>
                <a:spcPct val="105000"/>
              </a:lnSpc>
            </a:pPr>
            <a:r>
              <a:rPr sz="1300" b="0" i="0">
                <a:solidFill>
                  <a:srgbClr val="E3EBEE"/>
                </a:solidFill>
                <a:latin typeface="Consolas"/>
              </a:rPr>
              <a:t>         </a:t>
            </a:r>
            <a:r>
              <a:rPr sz="1300" b="0" i="0">
                <a:solidFill>
                  <a:srgbClr val="A8CFF0"/>
                </a:solidFill>
                <a:latin typeface="Consolas"/>
              </a:rPr>
              <a:t>:releaseYear</a:t>
            </a:r>
            <a:r>
              <a:rPr sz="1300" b="0" i="0">
                <a:solidFill>
                  <a:srgbClr val="E3EBEE"/>
                </a:solidFill>
                <a:latin typeface="Consolas"/>
              </a:rPr>
              <a:t> </a:t>
            </a:r>
            <a:r>
              <a:rPr sz="1300" b="1" i="0">
                <a:solidFill>
                  <a:srgbClr val="7FD1C1"/>
                </a:solidFill>
                <a:latin typeface="Consolas"/>
              </a:rPr>
              <a:t>?year</a:t>
            </a:r>
            <a:r>
              <a:rPr sz="1300" b="0" i="0">
                <a:solidFill>
                  <a:srgbClr val="E3EBEE"/>
                </a:solidFill>
                <a:latin typeface="Consolas"/>
              </a:rPr>
              <a:t> ;</a:t>
            </a:r>
          </a:p>
          <a:p>
            <a:pPr>
              <a:lnSpc>
                <a:spcPct val="105000"/>
              </a:lnSpc>
            </a:pPr>
            <a:r>
              <a:rPr sz="1300" b="0" i="0">
                <a:solidFill>
                  <a:srgbClr val="E3EBEE"/>
                </a:solidFill>
                <a:latin typeface="Consolas"/>
              </a:rPr>
              <a:t>         </a:t>
            </a:r>
            <a:r>
              <a:rPr sz="1300" b="0" i="0">
                <a:solidFill>
                  <a:srgbClr val="A8CFF0"/>
                </a:solidFill>
                <a:latin typeface="Consolas"/>
              </a:rPr>
              <a:t>:directedBy</a:t>
            </a:r>
            <a:r>
              <a:rPr sz="1300" b="0" i="0">
                <a:solidFill>
                  <a:srgbClr val="E3EBEE"/>
                </a:solidFill>
                <a:latin typeface="Consolas"/>
              </a:rPr>
              <a:t>  </a:t>
            </a:r>
            <a:r>
              <a:rPr sz="1300" b="1" i="0">
                <a:solidFill>
                  <a:srgbClr val="7FD1C1"/>
                </a:solidFill>
                <a:latin typeface="Consolas"/>
              </a:rPr>
              <a:t>?director</a:t>
            </a:r>
            <a:r>
              <a:rPr sz="1300" b="0" i="0">
                <a:solidFill>
                  <a:srgbClr val="E3EBEE"/>
                </a:solidFill>
                <a:latin typeface="Consolas"/>
              </a:rPr>
              <a:t> .</a:t>
            </a:r>
          </a:p>
          <a:p>
            <a:pPr>
              <a:lnSpc>
                <a:spcPct val="105000"/>
              </a:lnSpc>
            </a:pPr>
            <a:r>
              <a:rPr sz="1300" b="0" i="0">
                <a:solidFill>
                  <a:srgbClr val="E3EBEE"/>
                </a:solidFill>
                <a:latin typeface="Consolas"/>
              </a:rPr>
              <a:t>  </a:t>
            </a:r>
            <a:r>
              <a:rPr sz="1300" b="1" i="0">
                <a:solidFill>
                  <a:srgbClr val="7FD1C1"/>
                </a:solidFill>
                <a:latin typeface="Consolas"/>
              </a:rPr>
              <a:t>?director</a:t>
            </a:r>
            <a:r>
              <a:rPr sz="1300" b="0" i="0">
                <a:solidFill>
                  <a:srgbClr val="E3EBEE"/>
                </a:solidFill>
                <a:latin typeface="Consolas"/>
              </a:rPr>
              <a:t> </a:t>
            </a:r>
            <a:r>
              <a:rPr sz="1300" b="0" i="0">
                <a:solidFill>
                  <a:srgbClr val="A8CFF0"/>
                </a:solidFill>
                <a:latin typeface="Consolas"/>
              </a:rPr>
              <a:t>:personName</a:t>
            </a:r>
            <a:r>
              <a:rPr sz="1300" b="0" i="0">
                <a:solidFill>
                  <a:srgbClr val="E3EBEE"/>
                </a:solidFill>
                <a:latin typeface="Consolas"/>
              </a:rPr>
              <a:t> </a:t>
            </a:r>
            <a:r>
              <a:rPr sz="1300" b="1" i="0">
                <a:solidFill>
                  <a:srgbClr val="7FD1C1"/>
                </a:solidFill>
                <a:latin typeface="Consolas"/>
              </a:rPr>
              <a:t>?directorName</a:t>
            </a:r>
            <a:r>
              <a:rPr sz="1300" b="0" i="0">
                <a:solidFill>
                  <a:srgbClr val="E3EBEE"/>
                </a:solidFill>
                <a:latin typeface="Consolas"/>
              </a:rPr>
              <a:t> .</a:t>
            </a:r>
          </a:p>
          <a:p>
            <a:pPr>
              <a:lnSpc>
                <a:spcPct val="105000"/>
              </a:lnSpc>
            </a:pPr>
            <a:r>
              <a:rPr sz="1300" b="0" i="0">
                <a:solidFill>
                  <a:srgbClr val="E3EBEE"/>
                </a:solidFill>
                <a:latin typeface="Consolas"/>
              </a:rPr>
              <a:t>}</a:t>
            </a:r>
          </a:p>
          <a:p>
            <a:pPr>
              <a:lnSpc>
                <a:spcPct val="105000"/>
              </a:lnSpc>
            </a:pPr>
            <a:r>
              <a:rPr sz="1300" b="1" i="0">
                <a:solidFill>
                  <a:srgbClr val="F2B866"/>
                </a:solidFill>
                <a:latin typeface="Consolas"/>
              </a:rPr>
              <a:t>ORDER BY</a:t>
            </a:r>
            <a:r>
              <a:rPr sz="1300" b="0" i="0">
                <a:solidFill>
                  <a:srgbClr val="E3EBEE"/>
                </a:solidFill>
                <a:latin typeface="Consolas"/>
              </a:rPr>
              <a:t> </a:t>
            </a:r>
            <a:r>
              <a:rPr sz="1300" b="1" i="0">
                <a:solidFill>
                  <a:srgbClr val="7FD1C1"/>
                </a:solidFill>
                <a:latin typeface="Consolas"/>
              </a:rPr>
              <a:t>?year</a:t>
            </a:r>
            <a:r>
              <a:rPr sz="1300" b="0" i="0">
                <a:solidFill>
                  <a:srgbClr val="E3EBEE"/>
                </a:solidFill>
                <a:latin typeface="Consolas"/>
              </a:rPr>
              <a:t> </a:t>
            </a:r>
            <a:r>
              <a:rPr sz="1300" b="1" i="0">
                <a:solidFill>
                  <a:srgbClr val="7FD1C1"/>
                </a:solidFill>
                <a:latin typeface="Consolas"/>
              </a:rPr>
              <a:t>?title</a:t>
            </a:r>
          </a:p>
        </p:txBody>
      </p:sp>
      <p:sp>
        <p:nvSpPr>
          <p:cNvPr id="7" name="TextBox 6"/>
          <p:cNvSpPr txBox="1"/>
          <p:nvPr/>
        </p:nvSpPr>
        <p:spPr>
          <a:xfrm>
            <a:off x="548640" y="4663440"/>
            <a:ext cx="5760720" cy="274320"/>
          </a:xfrm>
          <a:prstGeom prst="rect">
            <a:avLst/>
          </a:prstGeom>
          <a:noFill/>
        </p:spPr>
        <p:txBody>
          <a:bodyPr wrap="square" anchor="t" lIns="0" rIns="0" tIns="0" bIns="0">
            <a:noAutofit/>
          </a:bodyPr>
          <a:lstStyle/>
          <a:p>
            <a:pPr algn="l">
              <a:spcAft>
                <a:spcPts val="600"/>
              </a:spcAft>
            </a:pPr>
            <a:r>
              <a:rPr sz="1300" b="1" i="0">
                <a:solidFill>
                  <a:srgbClr val="5B6B70"/>
                </a:solidFill>
                <a:latin typeface="Calibri"/>
              </a:rPr>
              <a:t>The graph pattern inside WHERE</a:t>
            </a:r>
          </a:p>
        </p:txBody>
      </p:sp>
      <p:cxnSp>
        <p:nvCxnSpPr>
          <p:cNvPr id="8" name="Edge: :directedBy"/>
          <p:cNvCxnSpPr/>
          <p:nvPr/>
        </p:nvCxnSpPr>
        <p:spPr>
          <a:xfrm flipH="1">
            <a:off x="2057400" y="5532120"/>
            <a:ext cx="868680" cy="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899666" y="5111496"/>
            <a:ext cx="1184148"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100" b="1" i="0">
                <a:solidFill>
                  <a:srgbClr val="1F7A6D"/>
                </a:solidFill>
                <a:latin typeface="Consolas"/>
              </a:rPr>
              <a:t>:directedBy</a:t>
            </a:r>
          </a:p>
        </p:txBody>
      </p:sp>
      <p:cxnSp>
        <p:nvCxnSpPr>
          <p:cNvPr id="10" name="Edge: :starring"/>
          <p:cNvCxnSpPr/>
          <p:nvPr/>
        </p:nvCxnSpPr>
        <p:spPr>
          <a:xfrm>
            <a:off x="4114800" y="5532120"/>
            <a:ext cx="640080" cy="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929633" y="5111496"/>
            <a:ext cx="1010412"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100" b="1" i="0">
                <a:solidFill>
                  <a:srgbClr val="1F7A6D"/>
                </a:solidFill>
                <a:latin typeface="Consolas"/>
              </a:rPr>
              <a:t>:starring</a:t>
            </a:r>
          </a:p>
        </p:txBody>
      </p:sp>
      <p:sp>
        <p:nvSpPr>
          <p:cNvPr id="12" name="Node: ?director"/>
          <p:cNvSpPr/>
          <p:nvPr/>
        </p:nvSpPr>
        <p:spPr>
          <a:xfrm>
            <a:off x="594359" y="5326380"/>
            <a:ext cx="1463040" cy="411480"/>
          </a:xfrm>
          <a:prstGeom prst="roundRect">
            <a:avLst>
              <a:gd name="adj" fmla="val 50000"/>
            </a:avLst>
          </a:prstGeom>
          <a:solidFill>
            <a:srgbClr val="FFFFFF"/>
          </a:solidFill>
          <a:ln w="19050">
            <a:solidFill>
              <a:srgbClr val="1F7A6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1F7A6D"/>
                </a:solidFill>
                <a:latin typeface="Consolas"/>
              </a:rPr>
              <a:t>?director</a:t>
            </a:r>
          </a:p>
        </p:txBody>
      </p:sp>
      <p:sp>
        <p:nvSpPr>
          <p:cNvPr id="13" name="Node: ?movie"/>
          <p:cNvSpPr/>
          <p:nvPr/>
        </p:nvSpPr>
        <p:spPr>
          <a:xfrm>
            <a:off x="2926080" y="5326380"/>
            <a:ext cx="1188720" cy="411480"/>
          </a:xfrm>
          <a:prstGeom prst="roundRect">
            <a:avLst>
              <a:gd name="adj" fmla="val 50000"/>
            </a:avLst>
          </a:prstGeom>
          <a:solidFill>
            <a:srgbClr val="FFFFFF"/>
          </a:solidFill>
          <a:ln w="19050">
            <a:solidFill>
              <a:srgbClr val="1F7A6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1F7A6D"/>
                </a:solidFill>
                <a:latin typeface="Consolas"/>
              </a:rPr>
              <a:t>?movie</a:t>
            </a:r>
          </a:p>
        </p:txBody>
      </p:sp>
      <p:sp>
        <p:nvSpPr>
          <p:cNvPr id="14" name="Node: :JamesDean"/>
          <p:cNvSpPr/>
          <p:nvPr/>
        </p:nvSpPr>
        <p:spPr>
          <a:xfrm>
            <a:off x="4754880" y="5326380"/>
            <a:ext cx="1463040" cy="41148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:JamesDean</a:t>
            </a:r>
          </a:p>
        </p:txBody>
      </p:sp>
      <p:sp>
        <p:nvSpPr>
          <p:cNvPr id="15" name="TextBox 14"/>
          <p:cNvSpPr txBox="1"/>
          <p:nvPr/>
        </p:nvSpPr>
        <p:spPr>
          <a:xfrm>
            <a:off x="6675120" y="1645920"/>
            <a:ext cx="4967935" cy="320040"/>
          </a:xfrm>
          <a:prstGeom prst="rect">
            <a:avLst/>
          </a:prstGeom>
          <a:noFill/>
        </p:spPr>
        <p:txBody>
          <a:bodyPr wrap="square" anchor="t" lIns="0" rIns="0" tIns="0" bIns="0">
            <a:noAutofit/>
          </a:bodyPr>
          <a:lstStyle/>
          <a:p>
            <a:pPr algn="l">
              <a:spcAft>
                <a:spcPts val="600"/>
              </a:spcAft>
            </a:pPr>
            <a:r>
              <a:rPr sz="1500" b="1" i="0">
                <a:solidFill>
                  <a:srgbClr val="17272E"/>
                </a:solidFill>
                <a:latin typeface="Calibri"/>
              </a:rPr>
              <a:t>Result over data/studio.ttl</a:t>
            </a:r>
          </a:p>
        </p:txBody>
      </p:sp>
      <p:graphicFrame>
        <p:nvGraphicFramePr>
          <p:cNvPr id="16" name="Table 15"/>
          <p:cNvGraphicFramePr>
            <a:graphicFrameLocks noGrp="1"/>
          </p:cNvGraphicFramePr>
          <p:nvPr/>
        </p:nvGraphicFramePr>
        <p:xfrm>
          <a:off x="6675120" y="2057400"/>
          <a:ext cx="4965192" cy="1536192"/>
        </p:xfrm>
        <a:graphic>
          <a:graphicData uri="http://schemas.openxmlformats.org/drawingml/2006/table">
            <a:tbl>
              <a:tblPr firstRow="0" bandRow="0">
                <a:tableStyleId>{5C22544A-7EE6-4342-B048-85BDC9FD1C3A}</a:tableStyleId>
              </a:tblPr>
              <a:tblGrid>
                <a:gridCol w="2240280"/>
                <a:gridCol w="777240"/>
                <a:gridCol w="1947672"/>
              </a:tblGrid>
              <a:tr h="384048">
                <a:tc>
                  <a:txBody>
                    <a:bodyPr wrap="square"/>
                    <a:lstStyle/>
                    <a:p>
                      <a:r>
                        <a:rPr sz="1400" b="1" i="0">
                          <a:solidFill>
                            <a:srgbClr val="FFFFFF"/>
                          </a:solidFill>
                          <a:latin typeface="Calibri"/>
                        </a:rPr>
                        <a:t>title</a:t>
                      </a:r>
                    </a:p>
                  </a:txBody>
                  <a:tcPr marL="91440" marR="91440" marT="27432" marB="27432" anchor="ctr">
                    <a:solidFill>
                      <a:srgbClr val="1F7A6D"/>
                    </a:solidFill>
                  </a:tcPr>
                </a:tc>
                <a:tc>
                  <a:txBody>
                    <a:bodyPr wrap="square"/>
                    <a:lstStyle/>
                    <a:p>
                      <a:r>
                        <a:rPr sz="1400" b="1" i="0">
                          <a:solidFill>
                            <a:srgbClr val="FFFFFF"/>
                          </a:solidFill>
                          <a:latin typeface="Calibri"/>
                        </a:rPr>
                        <a:t>year</a:t>
                      </a:r>
                    </a:p>
                  </a:txBody>
                  <a:tcPr marL="91440" marR="91440" marT="27432" marB="27432" anchor="ctr">
                    <a:solidFill>
                      <a:srgbClr val="1F7A6D"/>
                    </a:solidFill>
                  </a:tcPr>
                </a:tc>
                <a:tc>
                  <a:txBody>
                    <a:bodyPr wrap="square"/>
                    <a:lstStyle/>
                    <a:p>
                      <a:r>
                        <a:rPr sz="1400" b="1" i="0">
                          <a:solidFill>
                            <a:srgbClr val="FFFFFF"/>
                          </a:solidFill>
                          <a:latin typeface="Calibri"/>
                        </a:rPr>
                        <a:t>directorName</a:t>
                      </a:r>
                    </a:p>
                  </a:txBody>
                  <a:tcPr marL="91440" marR="91440" marT="27432" marB="27432" anchor="ctr">
                    <a:solidFill>
                      <a:srgbClr val="1F7A6D"/>
                    </a:solidFill>
                  </a:tcPr>
                </a:tc>
              </a:tr>
              <a:tr h="384048">
                <a:tc>
                  <a:txBody>
                    <a:bodyPr wrap="square"/>
                    <a:lstStyle/>
                    <a:p>
                      <a:r>
                        <a:rPr sz="1400" b="0" i="0">
                          <a:solidFill>
                            <a:srgbClr val="17272E"/>
                          </a:solidFill>
                          <a:latin typeface="Calibri"/>
                        </a:rPr>
                        <a:t>East of Eden</a:t>
                      </a:r>
                    </a:p>
                  </a:txBody>
                  <a:tcPr marL="91440" marR="91440" marT="27432" marB="27432" anchor="ctr">
                    <a:solidFill>
                      <a:srgbClr val="FFFFFF"/>
                    </a:solidFill>
                  </a:tcPr>
                </a:tc>
                <a:tc>
                  <a:txBody>
                    <a:bodyPr wrap="square"/>
                    <a:lstStyle/>
                    <a:p>
                      <a:r>
                        <a:rPr sz="1400" b="0" i="0">
                          <a:solidFill>
                            <a:srgbClr val="17272E"/>
                          </a:solidFill>
                          <a:latin typeface="Calibri"/>
                        </a:rPr>
                        <a:t>1955</a:t>
                      </a:r>
                    </a:p>
                  </a:txBody>
                  <a:tcPr marL="91440" marR="91440" marT="27432" marB="27432" anchor="ctr">
                    <a:solidFill>
                      <a:srgbClr val="FFFFFF"/>
                    </a:solidFill>
                  </a:tcPr>
                </a:tc>
                <a:tc>
                  <a:txBody>
                    <a:bodyPr wrap="square"/>
                    <a:lstStyle/>
                    <a:p>
                      <a:r>
                        <a:rPr sz="1400" b="0" i="0">
                          <a:solidFill>
                            <a:srgbClr val="17272E"/>
                          </a:solidFill>
                          <a:latin typeface="Calibri"/>
                        </a:rPr>
                        <a:t>Elia Kazan</a:t>
                      </a:r>
                    </a:p>
                  </a:txBody>
                  <a:tcPr marL="91440" marR="91440" marT="27432" marB="27432" anchor="ctr">
                    <a:solidFill>
                      <a:srgbClr val="FFFFFF"/>
                    </a:solidFill>
                  </a:tcPr>
                </a:tc>
              </a:tr>
              <a:tr h="384048">
                <a:tc>
                  <a:txBody>
                    <a:bodyPr wrap="square"/>
                    <a:lstStyle/>
                    <a:p>
                      <a:r>
                        <a:rPr sz="1400" b="0" i="0">
                          <a:solidFill>
                            <a:srgbClr val="17272E"/>
                          </a:solidFill>
                          <a:latin typeface="Calibri"/>
                        </a:rPr>
                        <a:t>Rebel Without a Cause</a:t>
                      </a:r>
                    </a:p>
                  </a:txBody>
                  <a:tcPr marL="91440" marR="91440" marT="27432" marB="27432" anchor="ctr">
                    <a:solidFill>
                      <a:srgbClr val="EAF3F0"/>
                    </a:solidFill>
                  </a:tcPr>
                </a:tc>
                <a:tc>
                  <a:txBody>
                    <a:bodyPr wrap="square"/>
                    <a:lstStyle/>
                    <a:p>
                      <a:r>
                        <a:rPr sz="1400" b="0" i="0">
                          <a:solidFill>
                            <a:srgbClr val="17272E"/>
                          </a:solidFill>
                          <a:latin typeface="Calibri"/>
                        </a:rPr>
                        <a:t>1955</a:t>
                      </a:r>
                    </a:p>
                  </a:txBody>
                  <a:tcPr marL="91440" marR="91440" marT="27432" marB="27432" anchor="ctr">
                    <a:solidFill>
                      <a:srgbClr val="EAF3F0"/>
                    </a:solidFill>
                  </a:tcPr>
                </a:tc>
                <a:tc>
                  <a:txBody>
                    <a:bodyPr wrap="square"/>
                    <a:lstStyle/>
                    <a:p>
                      <a:r>
                        <a:rPr sz="1400" b="0" i="0">
                          <a:solidFill>
                            <a:srgbClr val="17272E"/>
                          </a:solidFill>
                          <a:latin typeface="Calibri"/>
                        </a:rPr>
                        <a:t>Nicholas Ray</a:t>
                      </a:r>
                    </a:p>
                  </a:txBody>
                  <a:tcPr marL="91440" marR="91440" marT="27432" marB="27432" anchor="ctr">
                    <a:solidFill>
                      <a:srgbClr val="EAF3F0"/>
                    </a:solidFill>
                  </a:tcPr>
                </a:tc>
              </a:tr>
              <a:tr h="384048">
                <a:tc>
                  <a:txBody>
                    <a:bodyPr wrap="square"/>
                    <a:lstStyle/>
                    <a:p>
                      <a:r>
                        <a:rPr sz="1400" b="0" i="0">
                          <a:solidFill>
                            <a:srgbClr val="17272E"/>
                          </a:solidFill>
                          <a:latin typeface="Calibri"/>
                        </a:rPr>
                        <a:t>Giant</a:t>
                      </a:r>
                    </a:p>
                  </a:txBody>
                  <a:tcPr marL="91440" marR="91440" marT="27432" marB="27432" anchor="ctr">
                    <a:solidFill>
                      <a:srgbClr val="FFFFFF"/>
                    </a:solidFill>
                  </a:tcPr>
                </a:tc>
                <a:tc>
                  <a:txBody>
                    <a:bodyPr wrap="square"/>
                    <a:lstStyle/>
                    <a:p>
                      <a:r>
                        <a:rPr sz="1400" b="0" i="0">
                          <a:solidFill>
                            <a:srgbClr val="17272E"/>
                          </a:solidFill>
                          <a:latin typeface="Calibri"/>
                        </a:rPr>
                        <a:t>1956</a:t>
                      </a:r>
                    </a:p>
                  </a:txBody>
                  <a:tcPr marL="91440" marR="91440" marT="27432" marB="27432" anchor="ctr">
                    <a:solidFill>
                      <a:srgbClr val="FFFFFF"/>
                    </a:solidFill>
                  </a:tcPr>
                </a:tc>
                <a:tc>
                  <a:txBody>
                    <a:bodyPr wrap="square"/>
                    <a:lstStyle/>
                    <a:p>
                      <a:r>
                        <a:rPr sz="1400" b="0" i="0">
                          <a:solidFill>
                            <a:srgbClr val="17272E"/>
                          </a:solidFill>
                          <a:latin typeface="Calibri"/>
                        </a:rPr>
                        <a:t>George Stevens</a:t>
                      </a:r>
                    </a:p>
                  </a:txBody>
                  <a:tcPr marL="91440" marR="91440" marT="27432" marB="27432" anchor="ctr">
                    <a:solidFill>
                      <a:srgbClr val="FFFFFF"/>
                    </a:solidFill>
                  </a:tcPr>
                </a:tc>
              </a:tr>
            </a:tbl>
          </a:graphicData>
        </a:graphic>
      </p:graphicFrame>
      <p:sp>
        <p:nvSpPr>
          <p:cNvPr id="17" name="TextBox 16"/>
          <p:cNvSpPr txBox="1"/>
          <p:nvPr/>
        </p:nvSpPr>
        <p:spPr>
          <a:xfrm>
            <a:off x="6675120" y="3840480"/>
            <a:ext cx="4967935" cy="2286000"/>
          </a:xfrm>
          <a:prstGeom prst="rect">
            <a:avLst/>
          </a:prstGeom>
          <a:noFill/>
        </p:spPr>
        <p:txBody>
          <a:bodyPr wrap="square" anchor="t" lIns="0" rIns="0" tIns="0" bIns="0">
            <a:noAutofit/>
          </a:bodyPr>
          <a:lstStyle/>
          <a:p>
            <a:pPr algn="l" marL="228600" indent="-228600">
              <a:spcAft>
                <a:spcPts val="1000"/>
              </a:spcAft>
              <a:buClr>
                <a:srgbClr val="1F7A6D"/>
              </a:buClr>
              <a:buFont typeface="Arial"/>
              <a:buChar char="•"/>
            </a:pPr>
            <a:r>
              <a:rPr sz="1500" b="0" i="0">
                <a:solidFill>
                  <a:srgbClr val="17272E"/>
                </a:solidFill>
                <a:latin typeface="Calibri"/>
              </a:rPr>
              <a:t>Variables stand in for the unknowns</a:t>
            </a:r>
          </a:p>
          <a:p>
            <a:pPr algn="l" marL="228600" indent="-228600">
              <a:spcAft>
                <a:spcPts val="1000"/>
              </a:spcAft>
              <a:buClr>
                <a:srgbClr val="1F7A6D"/>
              </a:buClr>
              <a:buFont typeface="Arial"/>
              <a:buChar char="•"/>
            </a:pPr>
            <a:r>
              <a:rPr sz="1500" b="0" i="0">
                <a:solidFill>
                  <a:srgbClr val="17272E"/>
                </a:solidFill>
                <a:latin typeface="Calibri"/>
              </a:rPr>
              <a:t>Shared variables join triples: no JOIN clause</a:t>
            </a:r>
          </a:p>
          <a:p>
            <a:pPr algn="l" marL="228600" indent="-228600">
              <a:spcAft>
                <a:spcPts val="1000"/>
              </a:spcAft>
              <a:buClr>
                <a:srgbClr val="1F7A6D"/>
              </a:buClr>
              <a:buFont typeface="Arial"/>
              <a:buChar char="•"/>
            </a:pPr>
            <a:r>
              <a:rPr sz="1500" b="0" i="0">
                <a:solidFill>
                  <a:srgbClr val="17272E"/>
                </a:solidFill>
                <a:latin typeface="Calibri"/>
              </a:rPr>
              <a:t>Predicates can be variables too</a:t>
            </a:r>
          </a:p>
          <a:p>
            <a:pPr algn="l" marL="228600" indent="-228600">
              <a:spcAft>
                <a:spcPts val="1000"/>
              </a:spcAft>
              <a:buClr>
                <a:srgbClr val="1F7A6D"/>
              </a:buClr>
              <a:buFont typeface="Arial"/>
              <a:buChar char="•"/>
            </a:pPr>
            <a:r>
              <a:rPr sz="1500" b="0" i="0">
                <a:solidFill>
                  <a:srgbClr val="17272E"/>
                </a:solidFill>
                <a:latin typeface="Calibri"/>
              </a:rPr>
              <a:t>Easy for SQL users: syntax borrows from SQL and Turtle</a:t>
            </a:r>
          </a:p>
        </p:txBody>
      </p:sp>
      <p:sp>
        <p:nvSpPr>
          <p:cNvPr id="18"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19"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Explore unknown data, then build new graphs</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4 · SPARQL</a:t>
            </a:r>
          </a:p>
        </p:txBody>
      </p:sp>
      <p:sp>
        <p:nvSpPr>
          <p:cNvPr id="4" name="TextBox 3"/>
          <p:cNvSpPr txBox="1"/>
          <p:nvPr/>
        </p:nvSpPr>
        <p:spPr>
          <a:xfrm>
            <a:off x="548640" y="1600200"/>
            <a:ext cx="5364327" cy="365760"/>
          </a:xfrm>
          <a:prstGeom prst="rect">
            <a:avLst/>
          </a:prstGeom>
          <a:noFill/>
        </p:spPr>
        <p:txBody>
          <a:bodyPr wrap="square" anchor="t" lIns="0" rIns="0" tIns="0" bIns="0">
            <a:noAutofit/>
          </a:bodyPr>
          <a:lstStyle/>
          <a:p>
            <a:pPr algn="l">
              <a:spcAft>
                <a:spcPts val="600"/>
              </a:spcAft>
            </a:pPr>
            <a:r>
              <a:rPr sz="1700" b="1" i="0">
                <a:solidFill>
                  <a:srgbClr val="17272E"/>
                </a:solidFill>
                <a:latin typeface="Calibri"/>
              </a:rPr>
              <a:t>Explore: what is said here?</a:t>
            </a:r>
          </a:p>
        </p:txBody>
      </p:sp>
      <p:sp>
        <p:nvSpPr>
          <p:cNvPr id="5" name="Code: SPARQL"/>
          <p:cNvSpPr/>
          <p:nvPr/>
        </p:nvSpPr>
        <p:spPr>
          <a:xfrm>
            <a:off x="548640" y="2057400"/>
            <a:ext cx="5364327" cy="1371600"/>
          </a:xfrm>
          <a:prstGeom prst="roundRect">
            <a:avLst>
              <a:gd name="adj" fmla="val 8000"/>
            </a:avLst>
          </a:prstGeom>
          <a:solidFill>
            <a:srgbClr val="1C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449927" y="2167128"/>
            <a:ext cx="1280160" cy="228600"/>
          </a:xfrm>
          <a:prstGeom prst="rect">
            <a:avLst/>
          </a:prstGeom>
          <a:noFill/>
        </p:spPr>
        <p:txBody>
          <a:bodyPr wrap="square" anchor="t" lIns="0" rIns="0" tIns="0" bIns="0">
            <a:noAutofit/>
          </a:bodyPr>
          <a:lstStyle/>
          <a:p>
            <a:pPr algn="r">
              <a:spcAft>
                <a:spcPts val="600"/>
              </a:spcAft>
            </a:pPr>
            <a:r>
              <a:rPr sz="1000" b="1" i="0">
                <a:solidFill>
                  <a:srgbClr val="869AA0"/>
                </a:solidFill>
                <a:latin typeface="Calibri"/>
              </a:rPr>
              <a:t>SPARQL</a:t>
            </a:r>
          </a:p>
        </p:txBody>
      </p:sp>
      <p:sp>
        <p:nvSpPr>
          <p:cNvPr id="7" name="TextBox 6"/>
          <p:cNvSpPr txBox="1"/>
          <p:nvPr/>
        </p:nvSpPr>
        <p:spPr>
          <a:xfrm>
            <a:off x="777240" y="2258568"/>
            <a:ext cx="4907127" cy="1005840"/>
          </a:xfrm>
          <a:prstGeom prst="rect">
            <a:avLst/>
          </a:prstGeom>
          <a:noFill/>
        </p:spPr>
        <p:txBody>
          <a:bodyPr wrap="none" lIns="0" rIns="0" tIns="0" bIns="0">
            <a:noAutofit/>
          </a:bodyPr>
          <a:lstStyle/>
          <a:p>
            <a:pPr>
              <a:lnSpc>
                <a:spcPct val="105000"/>
              </a:lnSpc>
            </a:pPr>
            <a:r>
              <a:rPr sz="1300" b="0" i="1">
                <a:solidFill>
                  <a:srgbClr val="869AA0"/>
                </a:solidFill>
                <a:latin typeface="Consolas"/>
              </a:rPr>
              <a:t># New data set? List its properties.</a:t>
            </a:r>
          </a:p>
          <a:p>
            <a:pPr>
              <a:lnSpc>
                <a:spcPct val="105000"/>
              </a:lnSpc>
            </a:pPr>
            <a:r>
              <a:rPr sz="1300" b="1" i="0">
                <a:solidFill>
                  <a:srgbClr val="F2B866"/>
                </a:solidFill>
                <a:latin typeface="Consolas"/>
              </a:rPr>
              <a:t>SELECT</a:t>
            </a:r>
            <a:r>
              <a:rPr sz="1300" b="0" i="0">
                <a:solidFill>
                  <a:srgbClr val="E3EBEE"/>
                </a:solidFill>
                <a:latin typeface="Consolas"/>
              </a:rPr>
              <a:t> </a:t>
            </a:r>
            <a:r>
              <a:rPr sz="1300" b="1" i="0">
                <a:solidFill>
                  <a:srgbClr val="F2B866"/>
                </a:solidFill>
                <a:latin typeface="Consolas"/>
              </a:rPr>
              <a:t>DISTINCT</a:t>
            </a:r>
            <a:r>
              <a:rPr sz="1300" b="0" i="0">
                <a:solidFill>
                  <a:srgbClr val="E3EBEE"/>
                </a:solidFill>
                <a:latin typeface="Consolas"/>
              </a:rPr>
              <a:t> </a:t>
            </a:r>
            <a:r>
              <a:rPr sz="1300" b="1" i="0">
                <a:solidFill>
                  <a:srgbClr val="7FD1C1"/>
                </a:solidFill>
                <a:latin typeface="Consolas"/>
              </a:rPr>
              <a:t>?p</a:t>
            </a:r>
          </a:p>
          <a:p>
            <a:pPr>
              <a:lnSpc>
                <a:spcPct val="105000"/>
              </a:lnSpc>
            </a:pPr>
            <a:r>
              <a:rPr sz="1300" b="1" i="0">
                <a:solidFill>
                  <a:srgbClr val="F2B866"/>
                </a:solidFill>
                <a:latin typeface="Consolas"/>
              </a:rPr>
              <a:t>WHERE</a:t>
            </a:r>
            <a:r>
              <a:rPr sz="1300" b="0" i="0">
                <a:solidFill>
                  <a:srgbClr val="E3EBEE"/>
                </a:solidFill>
                <a:latin typeface="Consolas"/>
              </a:rPr>
              <a:t> { </a:t>
            </a:r>
            <a:r>
              <a:rPr sz="1300" b="1" i="0">
                <a:solidFill>
                  <a:srgbClr val="7FD1C1"/>
                </a:solidFill>
                <a:latin typeface="Consolas"/>
              </a:rPr>
              <a:t>?s</a:t>
            </a:r>
            <a:r>
              <a:rPr sz="1300" b="0" i="0">
                <a:solidFill>
                  <a:srgbClr val="E3EBEE"/>
                </a:solidFill>
                <a:latin typeface="Consolas"/>
              </a:rPr>
              <a:t> </a:t>
            </a:r>
            <a:r>
              <a:rPr sz="1300" b="1" i="0">
                <a:solidFill>
                  <a:srgbClr val="7FD1C1"/>
                </a:solidFill>
                <a:latin typeface="Consolas"/>
              </a:rPr>
              <a:t>?p</a:t>
            </a:r>
            <a:r>
              <a:rPr sz="1300" b="0" i="0">
                <a:solidFill>
                  <a:srgbClr val="E3EBEE"/>
                </a:solidFill>
                <a:latin typeface="Consolas"/>
              </a:rPr>
              <a:t> </a:t>
            </a:r>
            <a:r>
              <a:rPr sz="1300" b="1" i="0">
                <a:solidFill>
                  <a:srgbClr val="7FD1C1"/>
                </a:solidFill>
                <a:latin typeface="Consolas"/>
              </a:rPr>
              <a:t>?o</a:t>
            </a:r>
            <a:r>
              <a:rPr sz="1300" b="0" i="0">
                <a:solidFill>
                  <a:srgbClr val="E3EBEE"/>
                </a:solidFill>
                <a:latin typeface="Consolas"/>
              </a:rPr>
              <a:t> }</a:t>
            </a:r>
          </a:p>
          <a:p>
            <a:pPr>
              <a:lnSpc>
                <a:spcPct val="105000"/>
              </a:lnSpc>
            </a:pPr>
            <a:r>
              <a:rPr sz="1300" b="1" i="0">
                <a:solidFill>
                  <a:srgbClr val="F2B866"/>
                </a:solidFill>
                <a:latin typeface="Consolas"/>
              </a:rPr>
              <a:t>ORDER BY</a:t>
            </a:r>
            <a:r>
              <a:rPr sz="1300" b="0" i="0">
                <a:solidFill>
                  <a:srgbClr val="E3EBEE"/>
                </a:solidFill>
                <a:latin typeface="Consolas"/>
              </a:rPr>
              <a:t> </a:t>
            </a:r>
            <a:r>
              <a:rPr sz="1300" b="1" i="0">
                <a:solidFill>
                  <a:srgbClr val="7FD1C1"/>
                </a:solidFill>
                <a:latin typeface="Consolas"/>
              </a:rPr>
              <a:t>?p</a:t>
            </a:r>
          </a:p>
        </p:txBody>
      </p:sp>
      <p:sp>
        <p:nvSpPr>
          <p:cNvPr id="8" name="TextBox 7"/>
          <p:cNvSpPr txBox="1"/>
          <p:nvPr/>
        </p:nvSpPr>
        <p:spPr>
          <a:xfrm>
            <a:off x="548640" y="3611880"/>
            <a:ext cx="5364327" cy="274320"/>
          </a:xfrm>
          <a:prstGeom prst="rect">
            <a:avLst/>
          </a:prstGeom>
          <a:noFill/>
        </p:spPr>
        <p:txBody>
          <a:bodyPr wrap="square" anchor="t" lIns="0" rIns="0" tIns="0" bIns="0">
            <a:noAutofit/>
          </a:bodyPr>
          <a:lstStyle/>
          <a:p>
            <a:pPr algn="l">
              <a:spcAft>
                <a:spcPts val="600"/>
              </a:spcAft>
            </a:pPr>
            <a:r>
              <a:rPr sz="1300" b="1" i="0">
                <a:solidFill>
                  <a:srgbClr val="5B6B70"/>
                </a:solidFill>
                <a:latin typeface="Calibri"/>
              </a:rPr>
              <a:t>Result on the fan wiki</a:t>
            </a:r>
          </a:p>
        </p:txBody>
      </p:sp>
      <p:sp>
        <p:nvSpPr>
          <p:cNvPr id="9" name="Rounded Rectangle 8"/>
          <p:cNvSpPr/>
          <p:nvPr/>
        </p:nvSpPr>
        <p:spPr>
          <a:xfrm>
            <a:off x="548640" y="3977639"/>
            <a:ext cx="1280160" cy="384048"/>
          </a:xfrm>
          <a:prstGeom prst="roundRect">
            <a:avLst>
              <a:gd name="adj" fmla="val 50000"/>
            </a:avLst>
          </a:prstGeom>
          <a:solidFill>
            <a:srgbClr val="FFFFFF"/>
          </a:solidFill>
          <a:ln w="12700">
            <a:solidFill>
              <a:srgbClr val="1F7A6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1200" b="1" i="0">
                <a:solidFill>
                  <a:srgbClr val="1F7A6D"/>
                </a:solidFill>
                <a:latin typeface="Consolas"/>
              </a:rPr>
              <a:t>fan:bornIn</a:t>
            </a:r>
          </a:p>
        </p:txBody>
      </p:sp>
      <p:sp>
        <p:nvSpPr>
          <p:cNvPr id="10" name="Rounded Rectangle 9"/>
          <p:cNvSpPr/>
          <p:nvPr/>
        </p:nvSpPr>
        <p:spPr>
          <a:xfrm>
            <a:off x="1938528" y="3977639"/>
            <a:ext cx="1097280" cy="384048"/>
          </a:xfrm>
          <a:prstGeom prst="roundRect">
            <a:avLst>
              <a:gd name="adj" fmla="val 50000"/>
            </a:avLst>
          </a:prstGeom>
          <a:solidFill>
            <a:srgbClr val="FFFFFF"/>
          </a:solidFill>
          <a:ln w="12700">
            <a:solidFill>
              <a:srgbClr val="1F7A6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1200" b="1" i="0">
                <a:solidFill>
                  <a:srgbClr val="1F7A6D"/>
                </a:solidFill>
                <a:latin typeface="Consolas"/>
              </a:rPr>
              <a:t>fan:name</a:t>
            </a:r>
          </a:p>
        </p:txBody>
      </p:sp>
      <p:sp>
        <p:nvSpPr>
          <p:cNvPr id="11" name="Rounded Rectangle 10"/>
          <p:cNvSpPr/>
          <p:nvPr/>
        </p:nvSpPr>
        <p:spPr>
          <a:xfrm>
            <a:off x="3145536" y="3977639"/>
            <a:ext cx="1645920" cy="384048"/>
          </a:xfrm>
          <a:prstGeom prst="roundRect">
            <a:avLst>
              <a:gd name="adj" fmla="val 50000"/>
            </a:avLst>
          </a:prstGeom>
          <a:solidFill>
            <a:srgbClr val="FFFFFF"/>
          </a:solidFill>
          <a:ln w="12700">
            <a:solidFill>
              <a:srgbClr val="1F7A6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1200" b="1" i="0">
                <a:solidFill>
                  <a:srgbClr val="1F7A6D"/>
                </a:solidFill>
                <a:latin typeface="Consolas"/>
              </a:rPr>
              <a:t>fan:registryId</a:t>
            </a:r>
          </a:p>
        </p:txBody>
      </p:sp>
      <p:sp>
        <p:nvSpPr>
          <p:cNvPr id="12" name="Rounded Rectangle 11"/>
          <p:cNvSpPr/>
          <p:nvPr/>
        </p:nvSpPr>
        <p:spPr>
          <a:xfrm>
            <a:off x="4901184" y="3977639"/>
            <a:ext cx="1097280" cy="384048"/>
          </a:xfrm>
          <a:prstGeom prst="roundRect">
            <a:avLst>
              <a:gd name="adj" fmla="val 50000"/>
            </a:avLst>
          </a:prstGeom>
          <a:solidFill>
            <a:srgbClr val="FFFFFF"/>
          </a:solidFill>
          <a:ln w="12700">
            <a:solidFill>
              <a:srgbClr val="1F7A6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1200" b="1" i="0">
                <a:solidFill>
                  <a:srgbClr val="1F7A6D"/>
                </a:solidFill>
                <a:latin typeface="Consolas"/>
              </a:rPr>
              <a:t>rdf:type</a:t>
            </a:r>
          </a:p>
        </p:txBody>
      </p:sp>
      <p:sp>
        <p:nvSpPr>
          <p:cNvPr id="13" name="TextBox 12"/>
          <p:cNvSpPr txBox="1"/>
          <p:nvPr/>
        </p:nvSpPr>
        <p:spPr>
          <a:xfrm>
            <a:off x="548640" y="4617720"/>
            <a:ext cx="5364327" cy="1097280"/>
          </a:xfrm>
          <a:prstGeom prst="rect">
            <a:avLst/>
          </a:prstGeom>
          <a:noFill/>
        </p:spPr>
        <p:txBody>
          <a:bodyPr wrap="square" anchor="t" lIns="0" rIns="0" tIns="0" bIns="0">
            <a:noAutofit/>
          </a:bodyPr>
          <a:lstStyle/>
          <a:p>
            <a:pPr algn="l">
              <a:spcAft>
                <a:spcPts val="600"/>
              </a:spcAft>
            </a:pPr>
            <a:r>
              <a:rPr sz="1400" b="0" i="0">
                <a:solidFill>
                  <a:srgbClr val="5B6B70"/>
                </a:solidFill>
                <a:latin typeface="Calibri"/>
              </a:rPr>
              <a:t>A variable in the predicate position lists the properties of a data set you have never seen, so you can discover its schema.</a:t>
            </a:r>
          </a:p>
        </p:txBody>
      </p:sp>
      <p:sp>
        <p:nvSpPr>
          <p:cNvPr id="14" name="TextBox 13"/>
          <p:cNvSpPr txBox="1"/>
          <p:nvPr/>
        </p:nvSpPr>
        <p:spPr>
          <a:xfrm>
            <a:off x="6278727" y="1600200"/>
            <a:ext cx="5364327" cy="365760"/>
          </a:xfrm>
          <a:prstGeom prst="rect">
            <a:avLst/>
          </a:prstGeom>
          <a:noFill/>
        </p:spPr>
        <p:txBody>
          <a:bodyPr wrap="square" anchor="t" lIns="0" rIns="0" tIns="0" bIns="0">
            <a:noAutofit/>
          </a:bodyPr>
          <a:lstStyle/>
          <a:p>
            <a:pPr algn="l">
              <a:spcAft>
                <a:spcPts val="600"/>
              </a:spcAft>
            </a:pPr>
            <a:r>
              <a:rPr sz="1700" b="1" i="0">
                <a:solidFill>
                  <a:srgbClr val="17272E"/>
                </a:solidFill>
                <a:latin typeface="Calibri"/>
              </a:rPr>
              <a:t>CONSTRUCT: a query that acts as a rule</a:t>
            </a:r>
          </a:p>
        </p:txBody>
      </p:sp>
      <p:sp>
        <p:nvSpPr>
          <p:cNvPr id="15" name="Code: SPARQL"/>
          <p:cNvSpPr/>
          <p:nvPr/>
        </p:nvSpPr>
        <p:spPr>
          <a:xfrm>
            <a:off x="6278727" y="2057400"/>
            <a:ext cx="5364327" cy="1965960"/>
          </a:xfrm>
          <a:prstGeom prst="roundRect">
            <a:avLst>
              <a:gd name="adj" fmla="val 5581"/>
            </a:avLst>
          </a:prstGeom>
          <a:solidFill>
            <a:srgbClr val="1C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180015" y="2167128"/>
            <a:ext cx="1280160" cy="228600"/>
          </a:xfrm>
          <a:prstGeom prst="rect">
            <a:avLst/>
          </a:prstGeom>
          <a:noFill/>
        </p:spPr>
        <p:txBody>
          <a:bodyPr wrap="square" anchor="t" lIns="0" rIns="0" tIns="0" bIns="0">
            <a:noAutofit/>
          </a:bodyPr>
          <a:lstStyle/>
          <a:p>
            <a:pPr algn="r">
              <a:spcAft>
                <a:spcPts val="600"/>
              </a:spcAft>
            </a:pPr>
            <a:r>
              <a:rPr sz="1000" b="1" i="0">
                <a:solidFill>
                  <a:srgbClr val="869AA0"/>
                </a:solidFill>
                <a:latin typeface="Calibri"/>
              </a:rPr>
              <a:t>SPARQL</a:t>
            </a:r>
          </a:p>
        </p:txBody>
      </p:sp>
      <p:sp>
        <p:nvSpPr>
          <p:cNvPr id="17" name="TextBox 16"/>
          <p:cNvSpPr txBox="1"/>
          <p:nvPr/>
        </p:nvSpPr>
        <p:spPr>
          <a:xfrm>
            <a:off x="6507327" y="2258568"/>
            <a:ext cx="4907127" cy="1600200"/>
          </a:xfrm>
          <a:prstGeom prst="rect">
            <a:avLst/>
          </a:prstGeom>
          <a:noFill/>
        </p:spPr>
        <p:txBody>
          <a:bodyPr wrap="none" lIns="0" rIns="0" tIns="0" bIns="0">
            <a:noAutofit/>
          </a:bodyPr>
          <a:lstStyle/>
          <a:p>
            <a:pPr>
              <a:lnSpc>
                <a:spcPct val="105000"/>
              </a:lnSpc>
            </a:pPr>
            <a:r>
              <a:rPr sz="1300" b="1" i="0">
                <a:solidFill>
                  <a:srgbClr val="F2B866"/>
                </a:solidFill>
                <a:latin typeface="Consolas"/>
              </a:rPr>
              <a:t>PREFIX</a:t>
            </a:r>
            <a:r>
              <a:rPr sz="1300" b="0" i="0">
                <a:solidFill>
                  <a:srgbClr val="E3EBEE"/>
                </a:solidFill>
                <a:latin typeface="Consolas"/>
              </a:rPr>
              <a:t> : </a:t>
            </a:r>
            <a:r>
              <a:rPr sz="1300" b="0" i="0">
                <a:solidFill>
                  <a:srgbClr val="9AB0B8"/>
                </a:solidFill>
                <a:latin typeface="Consolas"/>
              </a:rPr>
              <a:t>&lt;http://studio.example/&gt;</a:t>
            </a:r>
          </a:p>
          <a:p>
            <a:pPr>
              <a:lnSpc>
                <a:spcPct val="105000"/>
              </a:lnSpc>
            </a:pPr>
            <a:r>
              <a:rPr sz="1300" b="0" i="0">
                <a:solidFill>
                  <a:srgbClr val="E3EBEE"/>
                </a:solidFill>
                <a:latin typeface="Consolas"/>
              </a:rPr>
              <a:t> </a:t>
            </a:r>
          </a:p>
          <a:p>
            <a:pPr>
              <a:lnSpc>
                <a:spcPct val="105000"/>
              </a:lnSpc>
            </a:pPr>
            <a:r>
              <a:rPr sz="1300" b="1" i="0">
                <a:solidFill>
                  <a:srgbClr val="F2B866"/>
                </a:solidFill>
                <a:latin typeface="Consolas"/>
              </a:rPr>
              <a:t>CONSTRUCT</a:t>
            </a:r>
            <a:r>
              <a:rPr sz="1300" b="0" i="0">
                <a:solidFill>
                  <a:srgbClr val="E3EBEE"/>
                </a:solidFill>
                <a:latin typeface="Consolas"/>
              </a:rPr>
              <a:t> { </a:t>
            </a:r>
            <a:r>
              <a:rPr sz="1300" b="1" i="0">
                <a:solidFill>
                  <a:srgbClr val="7FD1C1"/>
                </a:solidFill>
                <a:latin typeface="Consolas"/>
              </a:rPr>
              <a:t>?actor</a:t>
            </a:r>
            <a:r>
              <a:rPr sz="1300" b="0" i="0">
                <a:solidFill>
                  <a:srgbClr val="E3EBEE"/>
                </a:solidFill>
                <a:latin typeface="Consolas"/>
              </a:rPr>
              <a:t> </a:t>
            </a:r>
            <a:r>
              <a:rPr sz="1300" b="0" i="0">
                <a:solidFill>
                  <a:srgbClr val="A8CFF0"/>
                </a:solidFill>
                <a:latin typeface="Consolas"/>
              </a:rPr>
              <a:t>:workedWith</a:t>
            </a:r>
            <a:r>
              <a:rPr sz="1300" b="0" i="0">
                <a:solidFill>
                  <a:srgbClr val="E3EBEE"/>
                </a:solidFill>
                <a:latin typeface="Consolas"/>
              </a:rPr>
              <a:t> </a:t>
            </a:r>
            <a:r>
              <a:rPr sz="1300" b="1" i="0">
                <a:solidFill>
                  <a:srgbClr val="7FD1C1"/>
                </a:solidFill>
                <a:latin typeface="Consolas"/>
              </a:rPr>
              <a:t>?director</a:t>
            </a:r>
            <a:r>
              <a:rPr sz="1300" b="0" i="0">
                <a:solidFill>
                  <a:srgbClr val="E3EBEE"/>
                </a:solidFill>
                <a:latin typeface="Consolas"/>
              </a:rPr>
              <a:t> }</a:t>
            </a:r>
          </a:p>
          <a:p>
            <a:pPr>
              <a:lnSpc>
                <a:spcPct val="105000"/>
              </a:lnSpc>
            </a:pPr>
            <a:r>
              <a:rPr sz="1300" b="1" i="0">
                <a:solidFill>
                  <a:srgbClr val="F2B866"/>
                </a:solidFill>
                <a:latin typeface="Consolas"/>
              </a:rPr>
              <a:t>WHERE</a:t>
            </a:r>
            <a:r>
              <a:rPr sz="1300" b="0" i="0">
                <a:solidFill>
                  <a:srgbClr val="E3EBEE"/>
                </a:solidFill>
                <a:latin typeface="Consolas"/>
              </a:rPr>
              <a:t> {</a:t>
            </a:r>
          </a:p>
          <a:p>
            <a:pPr>
              <a:lnSpc>
                <a:spcPct val="105000"/>
              </a:lnSpc>
            </a:pPr>
            <a:r>
              <a:rPr sz="1300" b="0" i="0">
                <a:solidFill>
                  <a:srgbClr val="E3EBEE"/>
                </a:solidFill>
                <a:latin typeface="Consolas"/>
              </a:rPr>
              <a:t>  </a:t>
            </a:r>
            <a:r>
              <a:rPr sz="1300" b="1" i="0">
                <a:solidFill>
                  <a:srgbClr val="7FD1C1"/>
                </a:solidFill>
                <a:latin typeface="Consolas"/>
              </a:rPr>
              <a:t>?movie</a:t>
            </a:r>
            <a:r>
              <a:rPr sz="1300" b="0" i="0">
                <a:solidFill>
                  <a:srgbClr val="E3EBEE"/>
                </a:solidFill>
                <a:latin typeface="Consolas"/>
              </a:rPr>
              <a:t> </a:t>
            </a:r>
            <a:r>
              <a:rPr sz="1300" b="0" i="0">
                <a:solidFill>
                  <a:srgbClr val="A8CFF0"/>
                </a:solidFill>
                <a:latin typeface="Consolas"/>
              </a:rPr>
              <a:t>:starring</a:t>
            </a:r>
            <a:r>
              <a:rPr sz="1300" b="0" i="0">
                <a:solidFill>
                  <a:srgbClr val="E3EBEE"/>
                </a:solidFill>
                <a:latin typeface="Consolas"/>
              </a:rPr>
              <a:t>   </a:t>
            </a:r>
            <a:r>
              <a:rPr sz="1300" b="1" i="0">
                <a:solidFill>
                  <a:srgbClr val="7FD1C1"/>
                </a:solidFill>
                <a:latin typeface="Consolas"/>
              </a:rPr>
              <a:t>?actor</a:t>
            </a:r>
            <a:r>
              <a:rPr sz="1300" b="0" i="0">
                <a:solidFill>
                  <a:srgbClr val="E3EBEE"/>
                </a:solidFill>
                <a:latin typeface="Consolas"/>
              </a:rPr>
              <a:t> ;</a:t>
            </a:r>
          </a:p>
          <a:p>
            <a:pPr>
              <a:lnSpc>
                <a:spcPct val="105000"/>
              </a:lnSpc>
            </a:pPr>
            <a:r>
              <a:rPr sz="1300" b="0" i="0">
                <a:solidFill>
                  <a:srgbClr val="E3EBEE"/>
                </a:solidFill>
                <a:latin typeface="Consolas"/>
              </a:rPr>
              <a:t>         </a:t>
            </a:r>
            <a:r>
              <a:rPr sz="1300" b="0" i="0">
                <a:solidFill>
                  <a:srgbClr val="A8CFF0"/>
                </a:solidFill>
                <a:latin typeface="Consolas"/>
              </a:rPr>
              <a:t>:directedBy</a:t>
            </a:r>
            <a:r>
              <a:rPr sz="1300" b="0" i="0">
                <a:solidFill>
                  <a:srgbClr val="E3EBEE"/>
                </a:solidFill>
                <a:latin typeface="Consolas"/>
              </a:rPr>
              <a:t> </a:t>
            </a:r>
            <a:r>
              <a:rPr sz="1300" b="1" i="0">
                <a:solidFill>
                  <a:srgbClr val="7FD1C1"/>
                </a:solidFill>
                <a:latin typeface="Consolas"/>
              </a:rPr>
              <a:t>?director</a:t>
            </a:r>
            <a:r>
              <a:rPr sz="1300" b="0" i="0">
                <a:solidFill>
                  <a:srgbClr val="E3EBEE"/>
                </a:solidFill>
                <a:latin typeface="Consolas"/>
              </a:rPr>
              <a:t> .</a:t>
            </a:r>
          </a:p>
          <a:p>
            <a:pPr>
              <a:lnSpc>
                <a:spcPct val="105000"/>
              </a:lnSpc>
            </a:pPr>
            <a:r>
              <a:rPr sz="1300" b="0" i="0">
                <a:solidFill>
                  <a:srgbClr val="E3EBEE"/>
                </a:solidFill>
                <a:latin typeface="Consolas"/>
              </a:rPr>
              <a:t>}</a:t>
            </a:r>
          </a:p>
        </p:txBody>
      </p:sp>
      <p:graphicFrame>
        <p:nvGraphicFramePr>
          <p:cNvPr id="18" name="Table 17"/>
          <p:cNvGraphicFramePr>
            <a:graphicFrameLocks noGrp="1"/>
          </p:cNvGraphicFramePr>
          <p:nvPr/>
        </p:nvGraphicFramePr>
        <p:xfrm>
          <a:off x="6278727" y="4206240"/>
          <a:ext cx="5364327" cy="1316736"/>
        </p:xfrm>
        <a:graphic>
          <a:graphicData uri="http://schemas.openxmlformats.org/drawingml/2006/table">
            <a:tbl>
              <a:tblPr firstRow="0" bandRow="0">
                <a:tableStyleId>{5C22544A-7EE6-4342-B048-85BDC9FD1C3A}</a:tableStyleId>
              </a:tblPr>
              <a:tblGrid>
                <a:gridCol w="1600200"/>
                <a:gridCol w="1554480"/>
                <a:gridCol w="2209647"/>
              </a:tblGrid>
              <a:tr h="329184">
                <a:tc>
                  <a:txBody>
                    <a:bodyPr wrap="square"/>
                    <a:lstStyle/>
                    <a:p>
                      <a:r>
                        <a:rPr sz="1200" b="1" i="0">
                          <a:solidFill>
                            <a:srgbClr val="FFFFFF"/>
                          </a:solidFill>
                          <a:latin typeface="Calibri"/>
                        </a:rPr>
                        <a:t>subject</a:t>
                      </a:r>
                    </a:p>
                  </a:txBody>
                  <a:tcPr marL="91440" marR="91440" marT="27432" marB="27432" anchor="ctr">
                    <a:solidFill>
                      <a:srgbClr val="1F7A6D"/>
                    </a:solidFill>
                  </a:tcPr>
                </a:tc>
                <a:tc>
                  <a:txBody>
                    <a:bodyPr wrap="square"/>
                    <a:lstStyle/>
                    <a:p>
                      <a:r>
                        <a:rPr sz="1200" b="1" i="0">
                          <a:solidFill>
                            <a:srgbClr val="FFFFFF"/>
                          </a:solidFill>
                          <a:latin typeface="Calibri"/>
                        </a:rPr>
                        <a:t>predicate</a:t>
                      </a:r>
                    </a:p>
                  </a:txBody>
                  <a:tcPr marL="91440" marR="91440" marT="27432" marB="27432" anchor="ctr">
                    <a:solidFill>
                      <a:srgbClr val="1F7A6D"/>
                    </a:solidFill>
                  </a:tcPr>
                </a:tc>
                <a:tc>
                  <a:txBody>
                    <a:bodyPr wrap="square"/>
                    <a:lstStyle/>
                    <a:p>
                      <a:r>
                        <a:rPr sz="1200" b="1" i="0">
                          <a:solidFill>
                            <a:srgbClr val="FFFFFF"/>
                          </a:solidFill>
                          <a:latin typeface="Calibri"/>
                        </a:rPr>
                        <a:t>object</a:t>
                      </a:r>
                    </a:p>
                  </a:txBody>
                  <a:tcPr marL="91440" marR="91440" marT="27432" marB="27432" anchor="ctr">
                    <a:solidFill>
                      <a:srgbClr val="1F7A6D"/>
                    </a:solidFill>
                  </a:tcPr>
                </a:tc>
              </a:tr>
              <a:tr h="329184">
                <a:tc>
                  <a:txBody>
                    <a:bodyPr wrap="square"/>
                    <a:lstStyle/>
                    <a:p>
                      <a:r>
                        <a:rPr sz="1100" b="0" i="0">
                          <a:solidFill>
                            <a:srgbClr val="17272E"/>
                          </a:solidFill>
                          <a:latin typeface="Consolas"/>
                        </a:rPr>
                        <a:t>:JamesDean</a:t>
                      </a:r>
                    </a:p>
                  </a:txBody>
                  <a:tcPr marL="91440" marR="91440" marT="27432" marB="27432" anchor="ctr">
                    <a:solidFill>
                      <a:srgbClr val="FFFFFF"/>
                    </a:solidFill>
                  </a:tcPr>
                </a:tc>
                <a:tc>
                  <a:txBody>
                    <a:bodyPr wrap="square"/>
                    <a:lstStyle/>
                    <a:p>
                      <a:r>
                        <a:rPr sz="1100" b="0" i="0">
                          <a:solidFill>
                            <a:srgbClr val="17272E"/>
                          </a:solidFill>
                          <a:latin typeface="Consolas"/>
                        </a:rPr>
                        <a:t>:workedWith</a:t>
                      </a:r>
                    </a:p>
                  </a:txBody>
                  <a:tcPr marL="91440" marR="91440" marT="27432" marB="27432" anchor="ctr">
                    <a:solidFill>
                      <a:srgbClr val="FFFFFF"/>
                    </a:solidFill>
                  </a:tcPr>
                </a:tc>
                <a:tc>
                  <a:txBody>
                    <a:bodyPr wrap="square"/>
                    <a:lstStyle/>
                    <a:p>
                      <a:r>
                        <a:rPr sz="1100" b="0" i="0">
                          <a:solidFill>
                            <a:srgbClr val="17272E"/>
                          </a:solidFill>
                          <a:latin typeface="Consolas"/>
                        </a:rPr>
                        <a:t>:EliaKazan</a:t>
                      </a:r>
                    </a:p>
                  </a:txBody>
                  <a:tcPr marL="91440" marR="91440" marT="27432" marB="27432" anchor="ctr">
                    <a:solidFill>
                      <a:srgbClr val="FFFFFF"/>
                    </a:solidFill>
                  </a:tcPr>
                </a:tc>
              </a:tr>
              <a:tr h="329184">
                <a:tc>
                  <a:txBody>
                    <a:bodyPr wrap="square"/>
                    <a:lstStyle/>
                    <a:p>
                      <a:r>
                        <a:rPr sz="1100" b="0" i="0">
                          <a:solidFill>
                            <a:srgbClr val="17272E"/>
                          </a:solidFill>
                          <a:latin typeface="Consolas"/>
                        </a:rPr>
                        <a:t>:JamesDean</a:t>
                      </a:r>
                    </a:p>
                  </a:txBody>
                  <a:tcPr marL="91440" marR="91440" marT="27432" marB="27432" anchor="ctr">
                    <a:solidFill>
                      <a:srgbClr val="EAF3F0"/>
                    </a:solidFill>
                  </a:tcPr>
                </a:tc>
                <a:tc>
                  <a:txBody>
                    <a:bodyPr wrap="square"/>
                    <a:lstStyle/>
                    <a:p>
                      <a:r>
                        <a:rPr sz="1100" b="0" i="0">
                          <a:solidFill>
                            <a:srgbClr val="17272E"/>
                          </a:solidFill>
                          <a:latin typeface="Consolas"/>
                        </a:rPr>
                        <a:t>:workedWith</a:t>
                      </a:r>
                    </a:p>
                  </a:txBody>
                  <a:tcPr marL="91440" marR="91440" marT="27432" marB="27432" anchor="ctr">
                    <a:solidFill>
                      <a:srgbClr val="EAF3F0"/>
                    </a:solidFill>
                  </a:tcPr>
                </a:tc>
                <a:tc>
                  <a:txBody>
                    <a:bodyPr wrap="square"/>
                    <a:lstStyle/>
                    <a:p>
                      <a:r>
                        <a:rPr sz="1100" b="0" i="0">
                          <a:solidFill>
                            <a:srgbClr val="17272E"/>
                          </a:solidFill>
                          <a:latin typeface="Consolas"/>
                        </a:rPr>
                        <a:t>:GeorgeStevens</a:t>
                      </a:r>
                    </a:p>
                  </a:txBody>
                  <a:tcPr marL="91440" marR="91440" marT="27432" marB="27432" anchor="ctr">
                    <a:solidFill>
                      <a:srgbClr val="EAF3F0"/>
                    </a:solidFill>
                  </a:tcPr>
                </a:tc>
              </a:tr>
              <a:tr h="329184">
                <a:tc>
                  <a:txBody>
                    <a:bodyPr wrap="square"/>
                    <a:lstStyle/>
                    <a:p>
                      <a:r>
                        <a:rPr sz="1100" b="0" i="0">
                          <a:solidFill>
                            <a:srgbClr val="17272E"/>
                          </a:solidFill>
                          <a:latin typeface="Consolas"/>
                        </a:rPr>
                        <a:t>:JamesDean</a:t>
                      </a:r>
                    </a:p>
                  </a:txBody>
                  <a:tcPr marL="91440" marR="91440" marT="27432" marB="27432" anchor="ctr">
                    <a:solidFill>
                      <a:srgbClr val="FFFFFF"/>
                    </a:solidFill>
                  </a:tcPr>
                </a:tc>
                <a:tc>
                  <a:txBody>
                    <a:bodyPr wrap="square"/>
                    <a:lstStyle/>
                    <a:p>
                      <a:r>
                        <a:rPr sz="1100" b="0" i="0">
                          <a:solidFill>
                            <a:srgbClr val="17272E"/>
                          </a:solidFill>
                          <a:latin typeface="Consolas"/>
                        </a:rPr>
                        <a:t>:workedWith</a:t>
                      </a:r>
                    </a:p>
                  </a:txBody>
                  <a:tcPr marL="91440" marR="91440" marT="27432" marB="27432" anchor="ctr">
                    <a:solidFill>
                      <a:srgbClr val="FFFFFF"/>
                    </a:solidFill>
                  </a:tcPr>
                </a:tc>
                <a:tc>
                  <a:txBody>
                    <a:bodyPr wrap="square"/>
                    <a:lstStyle/>
                    <a:p>
                      <a:r>
                        <a:rPr sz="1100" b="0" i="0">
                          <a:solidFill>
                            <a:srgbClr val="17272E"/>
                          </a:solidFill>
                          <a:latin typeface="Consolas"/>
                        </a:rPr>
                        <a:t>:NicholasRay</a:t>
                      </a:r>
                    </a:p>
                  </a:txBody>
                  <a:tcPr marL="91440" marR="91440" marT="27432" marB="27432" anchor="ctr">
                    <a:solidFill>
                      <a:srgbClr val="FFFFFF"/>
                    </a:solidFill>
                  </a:tcPr>
                </a:tc>
              </a:tr>
            </a:tbl>
          </a:graphicData>
        </a:graphic>
      </p:graphicFrame>
      <p:sp>
        <p:nvSpPr>
          <p:cNvPr id="19" name="TextBox 18"/>
          <p:cNvSpPr txBox="1"/>
          <p:nvPr/>
        </p:nvSpPr>
        <p:spPr>
          <a:xfrm>
            <a:off x="6278727" y="5669280"/>
            <a:ext cx="5364327" cy="457200"/>
          </a:xfrm>
          <a:prstGeom prst="rect">
            <a:avLst/>
          </a:prstGeom>
          <a:noFill/>
        </p:spPr>
        <p:txBody>
          <a:bodyPr wrap="square" anchor="t" lIns="0" rIns="0" tIns="0" bIns="0">
            <a:noAutofit/>
          </a:bodyPr>
          <a:lstStyle/>
          <a:p>
            <a:pPr algn="l">
              <a:spcAft>
                <a:spcPts val="600"/>
              </a:spcAft>
            </a:pPr>
            <a:r>
              <a:rPr sz="1300" b="0" i="0">
                <a:solidFill>
                  <a:srgbClr val="5B6B70"/>
                </a:solidFill>
                <a:latin typeface="Calibri"/>
              </a:rPr>
              <a:t>Part 8 gets the same triples from an OWL 2 property chain.</a:t>
            </a:r>
          </a:p>
        </p:txBody>
      </p:sp>
      <p:sp>
        <p:nvSpPr>
          <p:cNvPr id="20"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21"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7272E"/>
        </a:solidFill>
        <a:effectLst/>
      </p:bgPr>
    </p:bg>
    <p:spTree>
      <p:nvGrpSpPr>
        <p:cNvPr id="1" name=""/>
        <p:cNvGrpSpPr/>
        <p:nvPr/>
      </p:nvGrpSpPr>
      <p:grpSpPr/>
      <p:sp>
        <p:nvSpPr>
          <p:cNvPr id="2" name="Title 1"/>
          <p:cNvSpPr>
            <a:spLocks noGrp="1"/>
          </p:cNvSpPr>
          <p:nvPr>
            <p:ph type="title"/>
          </p:nvPr>
        </p:nvSpPr>
        <p:spPr>
          <a:xfrm>
            <a:off x="548640" y="3154680"/>
            <a:ext cx="6949440" cy="1371600"/>
          </a:xfrm>
        </p:spPr>
        <p:txBody>
          <a:bodyPr wrap="square" anchor="t" lIns="0" rIns="0" tIns="0" bIns="0">
            <a:noAutofit/>
          </a:bodyPr>
          <a:lstStyle/>
          <a:p>
            <a:pPr algn="l"/>
            <a:r>
              <a:rPr sz="4000" b="1" i="0">
                <a:solidFill>
                  <a:srgbClr val="FFFFFF"/>
                </a:solidFill>
                <a:latin typeface="Cambria"/>
              </a:rPr>
              <a:t>Deep dive: meaning through inference</a:t>
            </a:r>
          </a:p>
        </p:txBody>
      </p:sp>
      <p:sp>
        <p:nvSpPr>
          <p:cNvPr id="3" name="Part number"/>
          <p:cNvSpPr txBox="1"/>
          <p:nvPr/>
        </p:nvSpPr>
        <p:spPr>
          <a:xfrm>
            <a:off x="548640" y="1325880"/>
            <a:ext cx="2743200" cy="1280160"/>
          </a:xfrm>
          <a:prstGeom prst="rect">
            <a:avLst/>
          </a:prstGeom>
          <a:noFill/>
        </p:spPr>
        <p:txBody>
          <a:bodyPr wrap="square" anchor="t" lIns="0" rIns="0" tIns="0" bIns="0">
            <a:noAutofit/>
          </a:bodyPr>
          <a:lstStyle/>
          <a:p>
            <a:pPr algn="l">
              <a:spcAft>
                <a:spcPts val="600"/>
              </a:spcAft>
            </a:pPr>
            <a:r>
              <a:rPr sz="9600" b="1" i="0">
                <a:solidFill>
                  <a:srgbClr val="E0952B"/>
                </a:solidFill>
                <a:latin typeface="Cambria"/>
              </a:rPr>
              <a:t>05</a:t>
            </a:r>
          </a:p>
        </p:txBody>
      </p:sp>
      <p:sp>
        <p:nvSpPr>
          <p:cNvPr id="4" name="TextBox 3"/>
          <p:cNvSpPr txBox="1"/>
          <p:nvPr/>
        </p:nvSpPr>
        <p:spPr>
          <a:xfrm>
            <a:off x="548640" y="2788920"/>
            <a:ext cx="6766560" cy="320040"/>
          </a:xfrm>
          <a:prstGeom prst="rect">
            <a:avLst/>
          </a:prstGeom>
          <a:noFill/>
        </p:spPr>
        <p:txBody>
          <a:bodyPr wrap="square" anchor="t" lIns="0" rIns="0" tIns="0" bIns="0">
            <a:noAutofit/>
          </a:bodyPr>
          <a:lstStyle/>
          <a:p>
            <a:pPr algn="l">
              <a:spcAft>
                <a:spcPts val="600"/>
              </a:spcAft>
            </a:pPr>
            <a:r>
              <a:rPr sz="1300" b="1" i="0">
                <a:solidFill>
                  <a:srgbClr val="7FD1C1"/>
                </a:solidFill>
                <a:latin typeface="Calibri"/>
              </a:rPr>
              <a:t>PART 5</a:t>
            </a:r>
          </a:p>
        </p:txBody>
      </p:sp>
      <p:sp>
        <p:nvSpPr>
          <p:cNvPr id="5" name="TextBox 4"/>
          <p:cNvSpPr txBox="1"/>
          <p:nvPr/>
        </p:nvSpPr>
        <p:spPr>
          <a:xfrm>
            <a:off x="548640" y="4572000"/>
            <a:ext cx="6583680" cy="731520"/>
          </a:xfrm>
          <a:prstGeom prst="rect">
            <a:avLst/>
          </a:prstGeom>
          <a:noFill/>
        </p:spPr>
        <p:txBody>
          <a:bodyPr wrap="square" anchor="t" lIns="0" rIns="0" tIns="0" bIns="0">
            <a:noAutofit/>
          </a:bodyPr>
          <a:lstStyle/>
          <a:p>
            <a:pPr algn="l">
              <a:spcAft>
                <a:spcPts val="600"/>
              </a:spcAft>
            </a:pPr>
            <a:r>
              <a:rPr sz="1800" b="0" i="0">
                <a:solidFill>
                  <a:srgbClr val="E3EBEE"/>
                </a:solidFill>
                <a:latin typeface="Calibri"/>
              </a:rPr>
              <a:t>Inferencing, RDF Schema and RDFS-Plus: terms mean what they let you conclude.</a:t>
            </a:r>
          </a:p>
        </p:txBody>
      </p:sp>
      <p:sp>
        <p:nvSpPr>
          <p:cNvPr id="6" name="Oval 5"/>
          <p:cNvSpPr/>
          <p:nvPr/>
        </p:nvSpPr>
        <p:spPr>
          <a:xfrm>
            <a:off x="58521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1</a:t>
            </a:r>
          </a:p>
        </p:txBody>
      </p:sp>
      <p:sp>
        <p:nvSpPr>
          <p:cNvPr id="7" name="Oval 6"/>
          <p:cNvSpPr/>
          <p:nvPr/>
        </p:nvSpPr>
        <p:spPr>
          <a:xfrm>
            <a:off x="108813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2</a:t>
            </a:r>
          </a:p>
        </p:txBody>
      </p:sp>
      <p:sp>
        <p:nvSpPr>
          <p:cNvPr id="8" name="Oval 7"/>
          <p:cNvSpPr/>
          <p:nvPr/>
        </p:nvSpPr>
        <p:spPr>
          <a:xfrm>
            <a:off x="159105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3</a:t>
            </a:r>
          </a:p>
        </p:txBody>
      </p:sp>
      <p:sp>
        <p:nvSpPr>
          <p:cNvPr id="9" name="Oval 8"/>
          <p:cNvSpPr/>
          <p:nvPr/>
        </p:nvSpPr>
        <p:spPr>
          <a:xfrm>
            <a:off x="209397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4</a:t>
            </a:r>
          </a:p>
        </p:txBody>
      </p:sp>
      <p:sp>
        <p:nvSpPr>
          <p:cNvPr id="10" name="Oval 9"/>
          <p:cNvSpPr/>
          <p:nvPr/>
        </p:nvSpPr>
        <p:spPr>
          <a:xfrm>
            <a:off x="2560320" y="5623559"/>
            <a:ext cx="365760" cy="365760"/>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200" b="1" i="0">
                <a:solidFill>
                  <a:srgbClr val="17272E"/>
                </a:solidFill>
                <a:latin typeface="Calibri"/>
              </a:rPr>
              <a:t>5</a:t>
            </a:r>
          </a:p>
        </p:txBody>
      </p:sp>
      <p:sp>
        <p:nvSpPr>
          <p:cNvPr id="11" name="Oval 10"/>
          <p:cNvSpPr/>
          <p:nvPr/>
        </p:nvSpPr>
        <p:spPr>
          <a:xfrm>
            <a:off x="3099815"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6</a:t>
            </a:r>
          </a:p>
        </p:txBody>
      </p:sp>
      <p:sp>
        <p:nvSpPr>
          <p:cNvPr id="12" name="Oval 11"/>
          <p:cNvSpPr/>
          <p:nvPr/>
        </p:nvSpPr>
        <p:spPr>
          <a:xfrm>
            <a:off x="3602736"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7</a:t>
            </a:r>
          </a:p>
        </p:txBody>
      </p:sp>
      <p:sp>
        <p:nvSpPr>
          <p:cNvPr id="13" name="Oval 12"/>
          <p:cNvSpPr/>
          <p:nvPr/>
        </p:nvSpPr>
        <p:spPr>
          <a:xfrm>
            <a:off x="4105656"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8</a:t>
            </a:r>
          </a:p>
        </p:txBody>
      </p:sp>
      <p:sp>
        <p:nvSpPr>
          <p:cNvPr id="14" name="Oval 13"/>
          <p:cNvSpPr/>
          <p:nvPr/>
        </p:nvSpPr>
        <p:spPr>
          <a:xfrm>
            <a:off x="4608576"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9</a:t>
            </a:r>
          </a:p>
        </p:txBody>
      </p:sp>
      <p:cxnSp>
        <p:nvCxnSpPr>
          <p:cNvPr id="15" name="Motif edge"/>
          <p:cNvCxnSpPr/>
          <p:nvPr/>
        </p:nvCxnSpPr>
        <p:spPr>
          <a:xfrm flipV="1">
            <a:off x="8257032" y="1568195"/>
            <a:ext cx="1536192" cy="576073"/>
          </a:xfrm>
          <a:prstGeom prst="line">
            <a:avLst/>
          </a:prstGeom>
          <a:ln w="28575">
            <a:solidFill>
              <a:srgbClr val="E0952B"/>
            </a:solidFill>
            <a:prstDash val="dash"/>
          </a:ln>
        </p:spPr>
        <p:style>
          <a:lnRef idx="2">
            <a:schemeClr val="accent1"/>
          </a:lnRef>
          <a:fillRef idx="0">
            <a:schemeClr val="accent1"/>
          </a:fillRef>
          <a:effectRef idx="1">
            <a:schemeClr val="accent1"/>
          </a:effectRef>
          <a:fontRef idx="minor">
            <a:schemeClr val="tx1"/>
          </a:fontRef>
        </p:style>
      </p:cxnSp>
      <p:cxnSp>
        <p:nvCxnSpPr>
          <p:cNvPr id="16" name="Motif edge"/>
          <p:cNvCxnSpPr/>
          <p:nvPr/>
        </p:nvCxnSpPr>
        <p:spPr>
          <a:xfrm>
            <a:off x="9793224" y="1568195"/>
            <a:ext cx="1344168" cy="960121"/>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7" name="Motif edge"/>
          <p:cNvCxnSpPr/>
          <p:nvPr/>
        </p:nvCxnSpPr>
        <p:spPr>
          <a:xfrm>
            <a:off x="8257032" y="2144268"/>
            <a:ext cx="960120" cy="1344168"/>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8" name="Motif edge"/>
          <p:cNvCxnSpPr/>
          <p:nvPr/>
        </p:nvCxnSpPr>
        <p:spPr>
          <a:xfrm flipH="1">
            <a:off x="9217152" y="1568195"/>
            <a:ext cx="576072" cy="1920241"/>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9" name="Motif edge"/>
          <p:cNvCxnSpPr/>
          <p:nvPr/>
        </p:nvCxnSpPr>
        <p:spPr>
          <a:xfrm flipH="1">
            <a:off x="10657332" y="2528316"/>
            <a:ext cx="480060" cy="1728216"/>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0" name="Motif edge"/>
          <p:cNvCxnSpPr/>
          <p:nvPr/>
        </p:nvCxnSpPr>
        <p:spPr>
          <a:xfrm>
            <a:off x="9217152" y="3488436"/>
            <a:ext cx="1440180" cy="768096"/>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1" name="Motif edge"/>
          <p:cNvCxnSpPr/>
          <p:nvPr/>
        </p:nvCxnSpPr>
        <p:spPr>
          <a:xfrm flipH="1">
            <a:off x="8161020" y="3488436"/>
            <a:ext cx="1056132" cy="1248156"/>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2" name="Motif edge"/>
          <p:cNvCxnSpPr/>
          <p:nvPr/>
        </p:nvCxnSpPr>
        <p:spPr>
          <a:xfrm flipH="1">
            <a:off x="9889236" y="4256532"/>
            <a:ext cx="768096" cy="1056132"/>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3" name="Motif edge"/>
          <p:cNvCxnSpPr/>
          <p:nvPr/>
        </p:nvCxnSpPr>
        <p:spPr>
          <a:xfrm>
            <a:off x="8161020" y="4736592"/>
            <a:ext cx="1728216" cy="576072"/>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sp>
        <p:nvSpPr>
          <p:cNvPr id="24" name="Motif node"/>
          <p:cNvSpPr/>
          <p:nvPr/>
        </p:nvSpPr>
        <p:spPr>
          <a:xfrm>
            <a:off x="8113014" y="2000249"/>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Motif node"/>
          <p:cNvSpPr/>
          <p:nvPr/>
        </p:nvSpPr>
        <p:spPr>
          <a:xfrm>
            <a:off x="9591598" y="1366570"/>
            <a:ext cx="403250" cy="403250"/>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otif node"/>
          <p:cNvSpPr/>
          <p:nvPr/>
        </p:nvSpPr>
        <p:spPr>
          <a:xfrm>
            <a:off x="10993374" y="2384298"/>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Motif node"/>
          <p:cNvSpPr/>
          <p:nvPr/>
        </p:nvSpPr>
        <p:spPr>
          <a:xfrm>
            <a:off x="9015526" y="3286810"/>
            <a:ext cx="403250" cy="403250"/>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Motif node"/>
          <p:cNvSpPr/>
          <p:nvPr/>
        </p:nvSpPr>
        <p:spPr>
          <a:xfrm>
            <a:off x="10455706" y="4054906"/>
            <a:ext cx="403250" cy="403250"/>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otif node"/>
          <p:cNvSpPr/>
          <p:nvPr/>
        </p:nvSpPr>
        <p:spPr>
          <a:xfrm>
            <a:off x="8017002" y="4592574"/>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Motif node"/>
          <p:cNvSpPr/>
          <p:nvPr/>
        </p:nvSpPr>
        <p:spPr>
          <a:xfrm>
            <a:off x="9745218" y="5168646"/>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7FD1C1"/>
                </a:solidFill>
                <a:latin typeface="Calibri"/>
              </a:rPr>
              <a:t>What is an ontology? · from RDF to OWL</a:t>
            </a:r>
          </a:p>
        </p:txBody>
      </p:sp>
      <p:sp>
        <p:nvSpPr>
          <p:cNvPr id="32"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7FD1C1"/>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Inference: stated facts imply new ones</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5 · RDF AND INFERENCING</a:t>
            </a:r>
          </a:p>
        </p:txBody>
      </p:sp>
      <p:sp>
        <p:nvSpPr>
          <p:cNvPr id="4" name="Rounded Rectangle 3"/>
          <p:cNvSpPr/>
          <p:nvPr/>
        </p:nvSpPr>
        <p:spPr>
          <a:xfrm>
            <a:off x="2971800" y="1691640"/>
            <a:ext cx="3383280" cy="411480"/>
          </a:xfrm>
          <a:prstGeom prst="roundRect">
            <a:avLst>
              <a:gd name="adj" fmla="val 17777"/>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noAutofit/>
          </a:bodyPr>
          <a:lstStyle/>
          <a:p>
            <a:pPr algn="ctr"/>
            <a:r>
              <a:rPr sz="1100" b="0" i="0">
                <a:solidFill>
                  <a:srgbClr val="17272E"/>
                </a:solidFill>
                <a:latin typeface="Consolas"/>
              </a:rPr>
              <a:t>schema: :starring rdfs:range :Actor</a:t>
            </a:r>
          </a:p>
        </p:txBody>
      </p:sp>
      <p:cxnSp>
        <p:nvCxnSpPr>
          <p:cNvPr id="5" name="Edge: :starring"/>
          <p:cNvCxnSpPr/>
          <p:nvPr/>
        </p:nvCxnSpPr>
        <p:spPr>
          <a:xfrm>
            <a:off x="1691640" y="2606040"/>
            <a:ext cx="0" cy="123444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186434" y="3076956"/>
            <a:ext cx="1010412"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200" b="1" i="0">
                <a:solidFill>
                  <a:srgbClr val="1F7A6D"/>
                </a:solidFill>
                <a:latin typeface="Consolas"/>
              </a:rPr>
              <a:t>:starring</a:t>
            </a:r>
          </a:p>
        </p:txBody>
      </p:sp>
      <p:cxnSp>
        <p:nvCxnSpPr>
          <p:cNvPr id="7" name="Edge: rdf:type"/>
          <p:cNvCxnSpPr/>
          <p:nvPr/>
        </p:nvCxnSpPr>
        <p:spPr>
          <a:xfrm flipV="1">
            <a:off x="2560320" y="3399739"/>
            <a:ext cx="1920239" cy="460857"/>
          </a:xfrm>
          <a:prstGeom prst="line">
            <a:avLst/>
          </a:prstGeom>
          <a:ln w="25400">
            <a:solidFill>
              <a:srgbClr val="E0952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058668" y="3438144"/>
            <a:ext cx="923544"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200" b="1" i="0">
                <a:solidFill>
                  <a:srgbClr val="E0952B"/>
                </a:solidFill>
                <a:latin typeface="Consolas"/>
              </a:rPr>
              <a:t>rdf:type</a:t>
            </a:r>
          </a:p>
        </p:txBody>
      </p:sp>
      <p:cxnSp>
        <p:nvCxnSpPr>
          <p:cNvPr id="9" name="Edge: rdfs:subClassOf"/>
          <p:cNvCxnSpPr/>
          <p:nvPr/>
        </p:nvCxnSpPr>
        <p:spPr>
          <a:xfrm>
            <a:off x="5120640" y="3474720"/>
            <a:ext cx="0" cy="155448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400549" y="4105656"/>
            <a:ext cx="1531620"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200" b="1" i="0">
                <a:solidFill>
                  <a:srgbClr val="1F7A6D"/>
                </a:solidFill>
                <a:latin typeface="Consolas"/>
              </a:rPr>
              <a:t>rdfs:subClassOf</a:t>
            </a:r>
          </a:p>
        </p:txBody>
      </p:sp>
      <p:cxnSp>
        <p:nvCxnSpPr>
          <p:cNvPr id="11" name="Edge: rdf:type"/>
          <p:cNvCxnSpPr/>
          <p:nvPr/>
        </p:nvCxnSpPr>
        <p:spPr>
          <a:xfrm>
            <a:off x="2351063" y="4297680"/>
            <a:ext cx="2110153" cy="731520"/>
          </a:xfrm>
          <a:prstGeom prst="line">
            <a:avLst/>
          </a:prstGeom>
          <a:ln w="25400">
            <a:solidFill>
              <a:srgbClr val="E0952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07208" y="4654296"/>
            <a:ext cx="923544"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200" b="1" i="0">
                <a:solidFill>
                  <a:srgbClr val="E0952B"/>
                </a:solidFill>
                <a:latin typeface="Consolas"/>
              </a:rPr>
              <a:t>rdf:type</a:t>
            </a:r>
          </a:p>
        </p:txBody>
      </p:sp>
      <p:sp>
        <p:nvSpPr>
          <p:cNvPr id="13" name="Node: :Giant"/>
          <p:cNvSpPr/>
          <p:nvPr/>
        </p:nvSpPr>
        <p:spPr>
          <a:xfrm>
            <a:off x="1051560" y="2148840"/>
            <a:ext cx="128016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:Giant</a:t>
            </a:r>
          </a:p>
        </p:txBody>
      </p:sp>
      <p:sp>
        <p:nvSpPr>
          <p:cNvPr id="14" name="Node: :JamesDean"/>
          <p:cNvSpPr/>
          <p:nvPr/>
        </p:nvSpPr>
        <p:spPr>
          <a:xfrm>
            <a:off x="822960" y="3840480"/>
            <a:ext cx="173736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:JamesDean</a:t>
            </a:r>
          </a:p>
        </p:txBody>
      </p:sp>
      <p:sp>
        <p:nvSpPr>
          <p:cNvPr id="15" name="Node: :Actor"/>
          <p:cNvSpPr/>
          <p:nvPr/>
        </p:nvSpPr>
        <p:spPr>
          <a:xfrm>
            <a:off x="4480559" y="3017520"/>
            <a:ext cx="1280160" cy="457200"/>
          </a:xfrm>
          <a:prstGeom prst="roundRect">
            <a:avLst>
              <a:gd name="adj" fmla="val 50000"/>
            </a:avLst>
          </a:prstGeom>
          <a:solidFill>
            <a:srgbClr val="172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:Actor</a:t>
            </a:r>
          </a:p>
        </p:txBody>
      </p:sp>
      <p:sp>
        <p:nvSpPr>
          <p:cNvPr id="16" name="Node: :Person"/>
          <p:cNvSpPr/>
          <p:nvPr/>
        </p:nvSpPr>
        <p:spPr>
          <a:xfrm>
            <a:off x="4434840" y="5029200"/>
            <a:ext cx="1371600" cy="457200"/>
          </a:xfrm>
          <a:prstGeom prst="roundRect">
            <a:avLst>
              <a:gd name="adj" fmla="val 50000"/>
            </a:avLst>
          </a:prstGeom>
          <a:solidFill>
            <a:srgbClr val="172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:Person</a:t>
            </a:r>
          </a:p>
        </p:txBody>
      </p:sp>
      <p:sp>
        <p:nvSpPr>
          <p:cNvPr id="17" name="TextBox 16"/>
          <p:cNvSpPr txBox="1"/>
          <p:nvPr/>
        </p:nvSpPr>
        <p:spPr>
          <a:xfrm>
            <a:off x="548640" y="5623560"/>
            <a:ext cx="2743200" cy="365760"/>
          </a:xfrm>
          <a:prstGeom prst="rect">
            <a:avLst/>
          </a:prstGeom>
          <a:noFill/>
        </p:spPr>
        <p:txBody>
          <a:bodyPr wrap="square" anchor="t" lIns="0" rIns="0" tIns="0" bIns="0">
            <a:noAutofit/>
          </a:bodyPr>
          <a:lstStyle/>
          <a:p>
            <a:pPr algn="l">
              <a:spcAft>
                <a:spcPts val="600"/>
              </a:spcAft>
            </a:pPr>
            <a:r>
              <a:rPr sz="1300" b="0" i="1">
                <a:solidFill>
                  <a:srgbClr val="E0952B"/>
                </a:solidFill>
                <a:latin typeface="Calibri"/>
              </a:rPr>
              <a:t>two inference steps, chained</a:t>
            </a:r>
          </a:p>
        </p:txBody>
      </p:sp>
      <p:sp>
        <p:nvSpPr>
          <p:cNvPr id="18" name="Code: Rule"/>
          <p:cNvSpPr/>
          <p:nvPr/>
        </p:nvSpPr>
        <p:spPr>
          <a:xfrm>
            <a:off x="6766560" y="1691640"/>
            <a:ext cx="4876495" cy="1691640"/>
          </a:xfrm>
          <a:prstGeom prst="roundRect">
            <a:avLst>
              <a:gd name="adj" fmla="val 6486"/>
            </a:avLst>
          </a:prstGeom>
          <a:solidFill>
            <a:srgbClr val="1C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80015" y="1801368"/>
            <a:ext cx="1280160" cy="228600"/>
          </a:xfrm>
          <a:prstGeom prst="rect">
            <a:avLst/>
          </a:prstGeom>
          <a:noFill/>
        </p:spPr>
        <p:txBody>
          <a:bodyPr wrap="square" anchor="t" lIns="0" rIns="0" tIns="0" bIns="0">
            <a:noAutofit/>
          </a:bodyPr>
          <a:lstStyle/>
          <a:p>
            <a:pPr algn="r">
              <a:spcAft>
                <a:spcPts val="600"/>
              </a:spcAft>
            </a:pPr>
            <a:r>
              <a:rPr sz="1000" b="1" i="0">
                <a:solidFill>
                  <a:srgbClr val="869AA0"/>
                </a:solidFill>
                <a:latin typeface="Calibri"/>
              </a:rPr>
              <a:t>RULE</a:t>
            </a:r>
          </a:p>
        </p:txBody>
      </p:sp>
      <p:sp>
        <p:nvSpPr>
          <p:cNvPr id="20" name="TextBox 19"/>
          <p:cNvSpPr txBox="1"/>
          <p:nvPr/>
        </p:nvSpPr>
        <p:spPr>
          <a:xfrm>
            <a:off x="6995160" y="1892808"/>
            <a:ext cx="4419295" cy="1325880"/>
          </a:xfrm>
          <a:prstGeom prst="rect">
            <a:avLst/>
          </a:prstGeom>
          <a:noFill/>
        </p:spPr>
        <p:txBody>
          <a:bodyPr wrap="none" lIns="0" rIns="0" tIns="0" bIns="0">
            <a:noAutofit/>
          </a:bodyPr>
          <a:lstStyle/>
          <a:p>
            <a:pPr>
              <a:lnSpc>
                <a:spcPct val="105000"/>
              </a:lnSpc>
            </a:pPr>
            <a:r>
              <a:rPr sz="1300" b="0" i="1">
                <a:solidFill>
                  <a:srgbClr val="869AA0"/>
                </a:solidFill>
                <a:latin typeface="Consolas"/>
              </a:rPr>
              <a:t># type propagation (rdfs9)</a:t>
            </a:r>
          </a:p>
          <a:p>
            <a:pPr>
              <a:lnSpc>
                <a:spcPct val="105000"/>
              </a:lnSpc>
            </a:pPr>
            <a:r>
              <a:rPr sz="1300" b="1" i="0">
                <a:solidFill>
                  <a:srgbClr val="F2B866"/>
                </a:solidFill>
                <a:latin typeface="Consolas"/>
              </a:rPr>
              <a:t>CONSTRUCT</a:t>
            </a:r>
            <a:r>
              <a:rPr sz="1300" b="0" i="0">
                <a:solidFill>
                  <a:srgbClr val="E3EBEE"/>
                </a:solidFill>
                <a:latin typeface="Consolas"/>
              </a:rPr>
              <a:t> { </a:t>
            </a:r>
            <a:r>
              <a:rPr sz="1300" b="1" i="0">
                <a:solidFill>
                  <a:srgbClr val="7FD1C1"/>
                </a:solidFill>
                <a:latin typeface="Consolas"/>
              </a:rPr>
              <a:t>?x</a:t>
            </a:r>
            <a:r>
              <a:rPr sz="1300" b="0" i="0">
                <a:solidFill>
                  <a:srgbClr val="E3EBEE"/>
                </a:solidFill>
                <a:latin typeface="Consolas"/>
              </a:rPr>
              <a:t> </a:t>
            </a:r>
            <a:r>
              <a:rPr sz="1300" b="1" i="0">
                <a:solidFill>
                  <a:srgbClr val="F2B866"/>
                </a:solidFill>
                <a:latin typeface="Consolas"/>
              </a:rPr>
              <a:t>a</a:t>
            </a:r>
            <a:r>
              <a:rPr sz="1300" b="0" i="0">
                <a:solidFill>
                  <a:srgbClr val="E3EBEE"/>
                </a:solidFill>
                <a:latin typeface="Consolas"/>
              </a:rPr>
              <a:t> </a:t>
            </a:r>
            <a:r>
              <a:rPr sz="1300" b="1" i="0">
                <a:solidFill>
                  <a:srgbClr val="7FD1C1"/>
                </a:solidFill>
                <a:latin typeface="Consolas"/>
              </a:rPr>
              <a:t>?B</a:t>
            </a:r>
            <a:r>
              <a:rPr sz="1300" b="0" i="0">
                <a:solidFill>
                  <a:srgbClr val="E3EBEE"/>
                </a:solidFill>
                <a:latin typeface="Consolas"/>
              </a:rPr>
              <a:t> }</a:t>
            </a:r>
          </a:p>
          <a:p>
            <a:pPr>
              <a:lnSpc>
                <a:spcPct val="105000"/>
              </a:lnSpc>
            </a:pPr>
            <a:r>
              <a:rPr sz="1300" b="1" i="0">
                <a:solidFill>
                  <a:srgbClr val="F2B866"/>
                </a:solidFill>
                <a:latin typeface="Consolas"/>
              </a:rPr>
              <a:t>WHERE</a:t>
            </a:r>
            <a:r>
              <a:rPr sz="1300" b="0" i="0">
                <a:solidFill>
                  <a:srgbClr val="E3EBEE"/>
                </a:solidFill>
                <a:latin typeface="Consolas"/>
              </a:rPr>
              <a:t> {</a:t>
            </a:r>
          </a:p>
          <a:p>
            <a:pPr>
              <a:lnSpc>
                <a:spcPct val="105000"/>
              </a:lnSpc>
            </a:pPr>
            <a:r>
              <a:rPr sz="1300" b="0" i="0">
                <a:solidFill>
                  <a:srgbClr val="E3EBEE"/>
                </a:solidFill>
                <a:latin typeface="Consolas"/>
              </a:rPr>
              <a:t>  </a:t>
            </a:r>
            <a:r>
              <a:rPr sz="1300" b="1" i="0">
                <a:solidFill>
                  <a:srgbClr val="7FD1C1"/>
                </a:solidFill>
                <a:latin typeface="Consolas"/>
              </a:rPr>
              <a:t>?A</a:t>
            </a:r>
            <a:r>
              <a:rPr sz="1300" b="0" i="0">
                <a:solidFill>
                  <a:srgbClr val="E3EBEE"/>
                </a:solidFill>
                <a:latin typeface="Consolas"/>
              </a:rPr>
              <a:t> </a:t>
            </a:r>
            <a:r>
              <a:rPr sz="1300" b="0" i="0">
                <a:solidFill>
                  <a:srgbClr val="A8CFF0"/>
                </a:solidFill>
                <a:latin typeface="Consolas"/>
              </a:rPr>
              <a:t>rdfs:subClassOf</a:t>
            </a:r>
            <a:r>
              <a:rPr sz="1300" b="0" i="0">
                <a:solidFill>
                  <a:srgbClr val="E3EBEE"/>
                </a:solidFill>
                <a:latin typeface="Consolas"/>
              </a:rPr>
              <a:t> </a:t>
            </a:r>
            <a:r>
              <a:rPr sz="1300" b="1" i="0">
                <a:solidFill>
                  <a:srgbClr val="7FD1C1"/>
                </a:solidFill>
                <a:latin typeface="Consolas"/>
              </a:rPr>
              <a:t>?B</a:t>
            </a:r>
            <a:r>
              <a:rPr sz="1300" b="0" i="0">
                <a:solidFill>
                  <a:srgbClr val="E3EBEE"/>
                </a:solidFill>
                <a:latin typeface="Consolas"/>
              </a:rPr>
              <a:t> .</a:t>
            </a:r>
          </a:p>
          <a:p>
            <a:pPr>
              <a:lnSpc>
                <a:spcPct val="105000"/>
              </a:lnSpc>
            </a:pPr>
            <a:r>
              <a:rPr sz="1300" b="0" i="0">
                <a:solidFill>
                  <a:srgbClr val="E3EBEE"/>
                </a:solidFill>
                <a:latin typeface="Consolas"/>
              </a:rPr>
              <a:t>  </a:t>
            </a:r>
            <a:r>
              <a:rPr sz="1300" b="1" i="0">
                <a:solidFill>
                  <a:srgbClr val="7FD1C1"/>
                </a:solidFill>
                <a:latin typeface="Consolas"/>
              </a:rPr>
              <a:t>?x</a:t>
            </a:r>
            <a:r>
              <a:rPr sz="1300" b="0" i="0">
                <a:solidFill>
                  <a:srgbClr val="E3EBEE"/>
                </a:solidFill>
                <a:latin typeface="Consolas"/>
              </a:rPr>
              <a:t> </a:t>
            </a:r>
            <a:r>
              <a:rPr sz="1300" b="1" i="0">
                <a:solidFill>
                  <a:srgbClr val="F2B866"/>
                </a:solidFill>
                <a:latin typeface="Consolas"/>
              </a:rPr>
              <a:t>a</a:t>
            </a:r>
            <a:r>
              <a:rPr sz="1300" b="0" i="0">
                <a:solidFill>
                  <a:srgbClr val="E3EBEE"/>
                </a:solidFill>
                <a:latin typeface="Consolas"/>
              </a:rPr>
              <a:t> </a:t>
            </a:r>
            <a:r>
              <a:rPr sz="1300" b="1" i="0">
                <a:solidFill>
                  <a:srgbClr val="7FD1C1"/>
                </a:solidFill>
                <a:latin typeface="Consolas"/>
              </a:rPr>
              <a:t>?A</a:t>
            </a:r>
            <a:r>
              <a:rPr sz="1300" b="0" i="0">
                <a:solidFill>
                  <a:srgbClr val="E3EBEE"/>
                </a:solidFill>
                <a:latin typeface="Consolas"/>
              </a:rPr>
              <a:t> .</a:t>
            </a:r>
          </a:p>
          <a:p>
            <a:pPr>
              <a:lnSpc>
                <a:spcPct val="105000"/>
              </a:lnSpc>
            </a:pPr>
            <a:r>
              <a:rPr sz="1300" b="0" i="0">
                <a:solidFill>
                  <a:srgbClr val="E3EBEE"/>
                </a:solidFill>
                <a:latin typeface="Consolas"/>
              </a:rPr>
              <a:t>}</a:t>
            </a:r>
          </a:p>
        </p:txBody>
      </p:sp>
      <p:sp>
        <p:nvSpPr>
          <p:cNvPr id="21" name="TextBox 20"/>
          <p:cNvSpPr txBox="1"/>
          <p:nvPr/>
        </p:nvSpPr>
        <p:spPr>
          <a:xfrm>
            <a:off x="6766560" y="3657600"/>
            <a:ext cx="2286000" cy="868680"/>
          </a:xfrm>
          <a:prstGeom prst="rect">
            <a:avLst/>
          </a:prstGeom>
          <a:noFill/>
        </p:spPr>
        <p:txBody>
          <a:bodyPr wrap="square" anchor="t" lIns="0" rIns="0" tIns="0" bIns="0">
            <a:noAutofit/>
          </a:bodyPr>
          <a:lstStyle/>
          <a:p>
            <a:pPr algn="l">
              <a:spcAft>
                <a:spcPts val="600"/>
              </a:spcAft>
            </a:pPr>
            <a:r>
              <a:rPr sz="5400" b="1" i="0">
                <a:solidFill>
                  <a:srgbClr val="1F7A6D"/>
                </a:solidFill>
                <a:latin typeface="Cambria"/>
              </a:rPr>
              <a:t>33</a:t>
            </a:r>
          </a:p>
        </p:txBody>
      </p:sp>
      <p:sp>
        <p:nvSpPr>
          <p:cNvPr id="22" name="TextBox 21"/>
          <p:cNvSpPr txBox="1"/>
          <p:nvPr/>
        </p:nvSpPr>
        <p:spPr>
          <a:xfrm>
            <a:off x="6766560" y="4526280"/>
            <a:ext cx="2286000" cy="548640"/>
          </a:xfrm>
          <a:prstGeom prst="rect">
            <a:avLst/>
          </a:prstGeom>
          <a:noFill/>
        </p:spPr>
        <p:txBody>
          <a:bodyPr wrap="square" anchor="t" lIns="0" rIns="0" tIns="0" bIns="0">
            <a:noAutofit/>
          </a:bodyPr>
          <a:lstStyle/>
          <a:p>
            <a:pPr algn="l">
              <a:spcAft>
                <a:spcPts val="600"/>
              </a:spcAft>
            </a:pPr>
            <a:r>
              <a:rPr sz="1300" b="0" i="0">
                <a:solidFill>
                  <a:srgbClr val="5B6B70"/>
                </a:solidFill>
                <a:latin typeface="Calibri"/>
              </a:rPr>
              <a:t>asserted triples (data + schema)</a:t>
            </a:r>
          </a:p>
        </p:txBody>
      </p:sp>
      <p:sp>
        <p:nvSpPr>
          <p:cNvPr id="23" name="TextBox 22"/>
          <p:cNvSpPr txBox="1"/>
          <p:nvPr/>
        </p:nvSpPr>
        <p:spPr>
          <a:xfrm>
            <a:off x="9235440" y="3657600"/>
            <a:ext cx="2377440" cy="868680"/>
          </a:xfrm>
          <a:prstGeom prst="rect">
            <a:avLst/>
          </a:prstGeom>
          <a:noFill/>
        </p:spPr>
        <p:txBody>
          <a:bodyPr wrap="square" anchor="t" lIns="0" rIns="0" tIns="0" bIns="0">
            <a:noAutofit/>
          </a:bodyPr>
          <a:lstStyle/>
          <a:p>
            <a:pPr algn="l">
              <a:spcAft>
                <a:spcPts val="600"/>
              </a:spcAft>
            </a:pPr>
            <a:r>
              <a:rPr sz="5400" b="1" i="0">
                <a:solidFill>
                  <a:srgbClr val="E0952B"/>
                </a:solidFill>
                <a:latin typeface="Cambria"/>
              </a:rPr>
              <a:t>+14</a:t>
            </a:r>
          </a:p>
        </p:txBody>
      </p:sp>
      <p:sp>
        <p:nvSpPr>
          <p:cNvPr id="24" name="TextBox 23"/>
          <p:cNvSpPr txBox="1"/>
          <p:nvPr/>
        </p:nvSpPr>
        <p:spPr>
          <a:xfrm>
            <a:off x="9235440" y="4526280"/>
            <a:ext cx="2377440" cy="548640"/>
          </a:xfrm>
          <a:prstGeom prst="rect">
            <a:avLst/>
          </a:prstGeom>
          <a:noFill/>
        </p:spPr>
        <p:txBody>
          <a:bodyPr wrap="square" anchor="t" lIns="0" rIns="0" tIns="0" bIns="0">
            <a:noAutofit/>
          </a:bodyPr>
          <a:lstStyle/>
          <a:p>
            <a:pPr algn="l">
              <a:spcAft>
                <a:spcPts val="600"/>
              </a:spcAft>
            </a:pPr>
            <a:r>
              <a:rPr sz="1300" b="0" i="0">
                <a:solidFill>
                  <a:srgbClr val="5B6B70"/>
                </a:solidFill>
                <a:latin typeface="Calibri"/>
              </a:rPr>
              <a:t>inferred rdf:type triples</a:t>
            </a:r>
          </a:p>
        </p:txBody>
      </p:sp>
      <p:sp>
        <p:nvSpPr>
          <p:cNvPr id="25" name="TextBox 24"/>
          <p:cNvSpPr txBox="1"/>
          <p:nvPr/>
        </p:nvSpPr>
        <p:spPr>
          <a:xfrm>
            <a:off x="6766560" y="5120640"/>
            <a:ext cx="4876495" cy="731520"/>
          </a:xfrm>
          <a:prstGeom prst="rect">
            <a:avLst/>
          </a:prstGeom>
          <a:noFill/>
        </p:spPr>
        <p:txBody>
          <a:bodyPr wrap="square" anchor="t" lIns="0" rIns="0" tIns="0" bIns="0">
            <a:noAutofit/>
          </a:bodyPr>
          <a:lstStyle/>
          <a:p>
            <a:pPr algn="l">
              <a:spcAft>
                <a:spcPts val="600"/>
              </a:spcAft>
            </a:pPr>
            <a:r>
              <a:rPr sz="1400" b="0" i="0">
                <a:solidFill>
                  <a:srgbClr val="17272E"/>
                </a:solidFill>
                <a:latin typeface="Calibri"/>
              </a:rPr>
              <a:t>Inferred triples differ from asserted ones only in provenance: the engine treats them the same.</a:t>
            </a:r>
          </a:p>
        </p:txBody>
      </p:sp>
      <p:sp>
        <p:nvSpPr>
          <p:cNvPr id="26"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27"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When are inferences computed?</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5 · RDF AND INFERENCING</a:t>
            </a:r>
          </a:p>
        </p:txBody>
      </p:sp>
      <p:sp>
        <p:nvSpPr>
          <p:cNvPr id="4" name="TextBox 3"/>
          <p:cNvSpPr txBox="1"/>
          <p:nvPr/>
        </p:nvSpPr>
        <p:spPr>
          <a:xfrm>
            <a:off x="548640" y="1554480"/>
            <a:ext cx="11094415" cy="411480"/>
          </a:xfrm>
          <a:prstGeom prst="rect">
            <a:avLst/>
          </a:prstGeom>
          <a:noFill/>
        </p:spPr>
        <p:txBody>
          <a:bodyPr wrap="square" anchor="t" lIns="0" rIns="0" tIns="0" bIns="0">
            <a:noAutofit/>
          </a:bodyPr>
          <a:lstStyle/>
          <a:p>
            <a:pPr algn="l">
              <a:spcAft>
                <a:spcPts val="600"/>
              </a:spcAft>
            </a:pPr>
            <a:r>
              <a:rPr sz="1600" b="0" i="0">
                <a:solidFill>
                  <a:srgbClr val="5B6B70"/>
                </a:solidFill>
                <a:latin typeface="Calibri"/>
              </a:rPr>
              <a:t>Standards define which inferences are valid, not when they are computed.</a:t>
            </a:r>
          </a:p>
        </p:txBody>
      </p:sp>
      <p:sp>
        <p:nvSpPr>
          <p:cNvPr id="5" name="Card: Cached"/>
          <p:cNvSpPr/>
          <p:nvPr/>
        </p:nvSpPr>
        <p:spPr>
          <a:xfrm>
            <a:off x="548640" y="2194560"/>
            <a:ext cx="3515258" cy="2560320"/>
          </a:xfrm>
          <a:prstGeom prst="roundRect">
            <a:avLst>
              <a:gd name="adj" fmla="val 5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2377440"/>
            <a:ext cx="3058058" cy="365760"/>
          </a:xfrm>
          <a:prstGeom prst="rect">
            <a:avLst/>
          </a:prstGeom>
          <a:noFill/>
        </p:spPr>
        <p:txBody>
          <a:bodyPr wrap="square" anchor="t" lIns="0" rIns="0" tIns="0" bIns="0">
            <a:noAutofit/>
          </a:bodyPr>
          <a:lstStyle/>
          <a:p>
            <a:pPr algn="l">
              <a:spcAft>
                <a:spcPts val="600"/>
              </a:spcAft>
            </a:pPr>
            <a:r>
              <a:rPr sz="1800" b="1" i="0">
                <a:solidFill>
                  <a:srgbClr val="17272E"/>
                </a:solidFill>
                <a:latin typeface="Calibri"/>
              </a:rPr>
              <a:t>Cached</a:t>
            </a:r>
          </a:p>
        </p:txBody>
      </p:sp>
      <p:sp>
        <p:nvSpPr>
          <p:cNvPr id="7" name="TextBox 6"/>
          <p:cNvSpPr txBox="1"/>
          <p:nvPr/>
        </p:nvSpPr>
        <p:spPr>
          <a:xfrm>
            <a:off x="777240" y="2788920"/>
            <a:ext cx="3058058" cy="457200"/>
          </a:xfrm>
          <a:prstGeom prst="rect">
            <a:avLst/>
          </a:prstGeom>
          <a:noFill/>
        </p:spPr>
        <p:txBody>
          <a:bodyPr wrap="square" anchor="t" lIns="0" rIns="0" tIns="0" bIns="0">
            <a:noAutofit/>
          </a:bodyPr>
          <a:lstStyle/>
          <a:p>
            <a:pPr algn="l">
              <a:spcAft>
                <a:spcPts val="600"/>
              </a:spcAft>
            </a:pPr>
            <a:r>
              <a:rPr sz="1400" b="0" i="0">
                <a:solidFill>
                  <a:srgbClr val="5B6B70"/>
                </a:solidFill>
                <a:latin typeface="Calibri"/>
              </a:rPr>
              <a:t>Inferred triples are stored with the data.</a:t>
            </a:r>
          </a:p>
        </p:txBody>
      </p:sp>
      <p:sp>
        <p:nvSpPr>
          <p:cNvPr id="8" name="TextBox 7"/>
          <p:cNvSpPr txBox="1"/>
          <p:nvPr/>
        </p:nvSpPr>
        <p:spPr>
          <a:xfrm>
            <a:off x="777240" y="3337560"/>
            <a:ext cx="3058058" cy="1645920"/>
          </a:xfrm>
          <a:prstGeom prst="rect">
            <a:avLst/>
          </a:prstGeom>
          <a:noFill/>
        </p:spPr>
        <p:txBody>
          <a:bodyPr wrap="square" anchor="t" lIns="0" rIns="0" tIns="0" bIns="0">
            <a:noAutofit/>
          </a:bodyPr>
          <a:lstStyle/>
          <a:p>
            <a:pPr algn="l">
              <a:spcAft>
                <a:spcPts val="800"/>
              </a:spcAft>
            </a:pPr>
            <a:r>
              <a:rPr sz="1400" b="1" i="0">
                <a:solidFill>
                  <a:srgbClr val="1F7A6D"/>
                </a:solidFill>
                <a:latin typeface="Calibri"/>
              </a:rPr>
              <a:t>+ </a:t>
            </a:r>
            <a:r>
              <a:rPr sz="1400" b="0" i="0">
                <a:solidFill>
                  <a:srgbClr val="17272E"/>
                </a:solidFill>
                <a:latin typeface="Calibri"/>
              </a:rPr>
              <a:t>Simple, fast queries</a:t>
            </a:r>
          </a:p>
          <a:p>
            <a:pPr algn="l">
              <a:spcAft>
                <a:spcPts val="800"/>
              </a:spcAft>
            </a:pPr>
            <a:r>
              <a:rPr sz="1400" b="1" i="0">
                <a:solidFill>
                  <a:srgbClr val="C24E36"/>
                </a:solidFill>
                <a:latin typeface="Calibri"/>
              </a:rPr>
              <a:t>– </a:t>
            </a:r>
            <a:r>
              <a:rPr sz="1400" b="0" i="0">
                <a:solidFill>
                  <a:srgbClr val="17272E"/>
                </a:solidFill>
                <a:latin typeface="Calibri"/>
              </a:rPr>
              <a:t>Triple explosion</a:t>
            </a:r>
          </a:p>
          <a:p>
            <a:pPr algn="l">
              <a:spcAft>
                <a:spcPts val="800"/>
              </a:spcAft>
            </a:pPr>
            <a:r>
              <a:rPr sz="1400" b="1" i="0">
                <a:solidFill>
                  <a:srgbClr val="C24E36"/>
                </a:solidFill>
                <a:latin typeface="Calibri"/>
              </a:rPr>
              <a:t>– </a:t>
            </a:r>
            <a:r>
              <a:rPr sz="1400" b="0" i="0">
                <a:solidFill>
                  <a:srgbClr val="17272E"/>
                </a:solidFill>
                <a:latin typeface="Calibri"/>
              </a:rPr>
              <a:t>Change management: which inferred triples go when a source triple is removed?</a:t>
            </a:r>
          </a:p>
        </p:txBody>
      </p:sp>
      <p:sp>
        <p:nvSpPr>
          <p:cNvPr id="9" name="Card: Just in time"/>
          <p:cNvSpPr/>
          <p:nvPr/>
        </p:nvSpPr>
        <p:spPr>
          <a:xfrm>
            <a:off x="4338218" y="2194560"/>
            <a:ext cx="3515258" cy="2560320"/>
          </a:xfrm>
          <a:prstGeom prst="roundRect">
            <a:avLst>
              <a:gd name="adj" fmla="val 5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66818" y="2377440"/>
            <a:ext cx="3058058" cy="365760"/>
          </a:xfrm>
          <a:prstGeom prst="rect">
            <a:avLst/>
          </a:prstGeom>
          <a:noFill/>
        </p:spPr>
        <p:txBody>
          <a:bodyPr wrap="square" anchor="t" lIns="0" rIns="0" tIns="0" bIns="0">
            <a:noAutofit/>
          </a:bodyPr>
          <a:lstStyle/>
          <a:p>
            <a:pPr algn="l">
              <a:spcAft>
                <a:spcPts val="600"/>
              </a:spcAft>
            </a:pPr>
            <a:r>
              <a:rPr sz="1800" b="1" i="0">
                <a:solidFill>
                  <a:srgbClr val="17272E"/>
                </a:solidFill>
                <a:latin typeface="Calibri"/>
              </a:rPr>
              <a:t>Just in time</a:t>
            </a:r>
          </a:p>
        </p:txBody>
      </p:sp>
      <p:sp>
        <p:nvSpPr>
          <p:cNvPr id="11" name="TextBox 10"/>
          <p:cNvSpPr txBox="1"/>
          <p:nvPr/>
        </p:nvSpPr>
        <p:spPr>
          <a:xfrm>
            <a:off x="4566818" y="2788920"/>
            <a:ext cx="3058058" cy="457200"/>
          </a:xfrm>
          <a:prstGeom prst="rect">
            <a:avLst/>
          </a:prstGeom>
          <a:noFill/>
        </p:spPr>
        <p:txBody>
          <a:bodyPr wrap="square" anchor="t" lIns="0" rIns="0" tIns="0" bIns="0">
            <a:noAutofit/>
          </a:bodyPr>
          <a:lstStyle/>
          <a:p>
            <a:pPr algn="l">
              <a:spcAft>
                <a:spcPts val="600"/>
              </a:spcAft>
            </a:pPr>
            <a:r>
              <a:rPr sz="1400" b="0" i="0">
                <a:solidFill>
                  <a:srgbClr val="5B6B70"/>
                </a:solidFill>
                <a:latin typeface="Calibri"/>
              </a:rPr>
              <a:t>Computed at query time, never stored.</a:t>
            </a:r>
          </a:p>
        </p:txBody>
      </p:sp>
      <p:sp>
        <p:nvSpPr>
          <p:cNvPr id="12" name="TextBox 11"/>
          <p:cNvSpPr txBox="1"/>
          <p:nvPr/>
        </p:nvSpPr>
        <p:spPr>
          <a:xfrm>
            <a:off x="4566818" y="3337560"/>
            <a:ext cx="3058058" cy="1645920"/>
          </a:xfrm>
          <a:prstGeom prst="rect">
            <a:avLst/>
          </a:prstGeom>
          <a:noFill/>
        </p:spPr>
        <p:txBody>
          <a:bodyPr wrap="square" anchor="t" lIns="0" rIns="0" tIns="0" bIns="0">
            <a:noAutofit/>
          </a:bodyPr>
          <a:lstStyle/>
          <a:p>
            <a:pPr algn="l">
              <a:spcAft>
                <a:spcPts val="800"/>
              </a:spcAft>
            </a:pPr>
            <a:r>
              <a:rPr sz="1400" b="1" i="0">
                <a:solidFill>
                  <a:srgbClr val="1F7A6D"/>
                </a:solidFill>
                <a:latin typeface="Calibri"/>
              </a:rPr>
              <a:t>+ </a:t>
            </a:r>
            <a:r>
              <a:rPr sz="1400" b="0" i="0">
                <a:solidFill>
                  <a:srgbClr val="17272E"/>
                </a:solidFill>
                <a:latin typeface="Calibri"/>
              </a:rPr>
              <a:t>Always consistent with the sources</a:t>
            </a:r>
          </a:p>
          <a:p>
            <a:pPr algn="l">
              <a:spcAft>
                <a:spcPts val="800"/>
              </a:spcAft>
            </a:pPr>
            <a:r>
              <a:rPr sz="1400" b="1" i="0">
                <a:solidFill>
                  <a:srgbClr val="C24E36"/>
                </a:solidFill>
                <a:latin typeface="Calibri"/>
              </a:rPr>
              <a:t>– </a:t>
            </a:r>
            <a:r>
              <a:rPr sz="1400" b="0" i="0">
                <a:solidFill>
                  <a:srgbClr val="17272E"/>
                </a:solidFill>
                <a:latin typeface="Calibri"/>
              </a:rPr>
              <a:t>Repeats the same work on every query</a:t>
            </a:r>
          </a:p>
        </p:txBody>
      </p:sp>
      <p:sp>
        <p:nvSpPr>
          <p:cNvPr id="13" name="Card: No explicit inferencing"/>
          <p:cNvSpPr/>
          <p:nvPr/>
        </p:nvSpPr>
        <p:spPr>
          <a:xfrm>
            <a:off x="8127796" y="2194560"/>
            <a:ext cx="3515258" cy="2560320"/>
          </a:xfrm>
          <a:prstGeom prst="roundRect">
            <a:avLst>
              <a:gd name="adj" fmla="val 5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56396" y="2377440"/>
            <a:ext cx="3058058" cy="365760"/>
          </a:xfrm>
          <a:prstGeom prst="rect">
            <a:avLst/>
          </a:prstGeom>
          <a:noFill/>
        </p:spPr>
        <p:txBody>
          <a:bodyPr wrap="square" anchor="t" lIns="0" rIns="0" tIns="0" bIns="0">
            <a:noAutofit/>
          </a:bodyPr>
          <a:lstStyle/>
          <a:p>
            <a:pPr algn="l">
              <a:spcAft>
                <a:spcPts val="600"/>
              </a:spcAft>
            </a:pPr>
            <a:r>
              <a:rPr sz="1800" b="1" i="0">
                <a:solidFill>
                  <a:srgbClr val="17272E"/>
                </a:solidFill>
                <a:latin typeface="Calibri"/>
              </a:rPr>
              <a:t>No explicit inferencing</a:t>
            </a:r>
          </a:p>
        </p:txBody>
      </p:sp>
      <p:sp>
        <p:nvSpPr>
          <p:cNvPr id="15" name="TextBox 14"/>
          <p:cNvSpPr txBox="1"/>
          <p:nvPr/>
        </p:nvSpPr>
        <p:spPr>
          <a:xfrm>
            <a:off x="8356396" y="2788920"/>
            <a:ext cx="3058058" cy="457200"/>
          </a:xfrm>
          <a:prstGeom prst="rect">
            <a:avLst/>
          </a:prstGeom>
          <a:noFill/>
        </p:spPr>
        <p:txBody>
          <a:bodyPr wrap="square" anchor="t" lIns="0" rIns="0" tIns="0" bIns="0">
            <a:noAutofit/>
          </a:bodyPr>
          <a:lstStyle/>
          <a:p>
            <a:pPr algn="l">
              <a:spcAft>
                <a:spcPts val="600"/>
              </a:spcAft>
            </a:pPr>
            <a:r>
              <a:rPr sz="1400" b="0" i="0">
                <a:solidFill>
                  <a:srgbClr val="5B6B70"/>
                </a:solidFill>
                <a:latin typeface="Calibri"/>
              </a:rPr>
              <a:t>Queries spell out what they need.</a:t>
            </a:r>
          </a:p>
        </p:txBody>
      </p:sp>
      <p:sp>
        <p:nvSpPr>
          <p:cNvPr id="16" name="TextBox 15"/>
          <p:cNvSpPr txBox="1"/>
          <p:nvPr/>
        </p:nvSpPr>
        <p:spPr>
          <a:xfrm>
            <a:off x="8356396" y="3337560"/>
            <a:ext cx="3058058" cy="1645920"/>
          </a:xfrm>
          <a:prstGeom prst="rect">
            <a:avLst/>
          </a:prstGeom>
          <a:noFill/>
        </p:spPr>
        <p:txBody>
          <a:bodyPr wrap="square" anchor="t" lIns="0" rIns="0" tIns="0" bIns="0">
            <a:noAutofit/>
          </a:bodyPr>
          <a:lstStyle/>
          <a:p>
            <a:pPr algn="l">
              <a:spcAft>
                <a:spcPts val="800"/>
              </a:spcAft>
            </a:pPr>
            <a:r>
              <a:rPr sz="1400" b="1" i="0">
                <a:solidFill>
                  <a:srgbClr val="1F7A6D"/>
                </a:solidFill>
                <a:latin typeface="Calibri"/>
              </a:rPr>
              <a:t>+ </a:t>
            </a:r>
            <a:r>
              <a:rPr sz="1400" b="0" i="0">
                <a:solidFill>
                  <a:srgbClr val="17272E"/>
                </a:solidFill>
                <a:latin typeface="Calibri"/>
              </a:rPr>
              <a:t>No inference engine to run</a:t>
            </a:r>
          </a:p>
          <a:p>
            <a:pPr algn="l">
              <a:spcAft>
                <a:spcPts val="800"/>
              </a:spcAft>
            </a:pPr>
            <a:r>
              <a:rPr sz="1400" b="1" i="0">
                <a:solidFill>
                  <a:srgbClr val="C24E36"/>
                </a:solidFill>
                <a:latin typeface="Calibri"/>
              </a:rPr>
              <a:t>– </a:t>
            </a:r>
            <a:r>
              <a:rPr sz="1400" b="0" i="0">
                <a:solidFill>
                  <a:srgbClr val="17272E"/>
                </a:solidFill>
                <a:latin typeface="Calibri"/>
              </a:rPr>
              <a:t>Every query must know the model; its meaning still lives in the rules</a:t>
            </a:r>
          </a:p>
        </p:txBody>
      </p:sp>
      <p:sp>
        <p:nvSpPr>
          <p:cNvPr id="17" name="TextBox 16"/>
          <p:cNvSpPr txBox="1"/>
          <p:nvPr/>
        </p:nvSpPr>
        <p:spPr>
          <a:xfrm>
            <a:off x="548640" y="5074920"/>
            <a:ext cx="11094415" cy="320040"/>
          </a:xfrm>
          <a:prstGeom prst="rect">
            <a:avLst/>
          </a:prstGeom>
          <a:noFill/>
        </p:spPr>
        <p:txBody>
          <a:bodyPr wrap="square" anchor="t" lIns="0" rIns="0" tIns="0" bIns="0">
            <a:noAutofit/>
          </a:bodyPr>
          <a:lstStyle/>
          <a:p>
            <a:pPr algn="l">
              <a:spcAft>
                <a:spcPts val="600"/>
              </a:spcAft>
            </a:pPr>
            <a:r>
              <a:rPr sz="1500" b="1" i="0">
                <a:solidFill>
                  <a:srgbClr val="17272E"/>
                </a:solidFill>
                <a:latin typeface="Calibri"/>
              </a:rPr>
              <a:t>The languages differ only in which rules they include</a:t>
            </a:r>
          </a:p>
        </p:txBody>
      </p:sp>
      <p:sp>
        <p:nvSpPr>
          <p:cNvPr id="18" name="Rounded Rectangle 17"/>
          <p:cNvSpPr/>
          <p:nvPr/>
        </p:nvSpPr>
        <p:spPr>
          <a:xfrm>
            <a:off x="548640" y="5486400"/>
            <a:ext cx="3515258" cy="411480"/>
          </a:xfrm>
          <a:prstGeom prst="roundRect">
            <a:avLst>
              <a:gd name="adj" fmla="val 50000"/>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1300" b="1" i="0">
                <a:solidFill>
                  <a:srgbClr val="17272E"/>
                </a:solidFill>
                <a:latin typeface="Calibri"/>
              </a:rPr>
              <a:t>RDFS: classes and properties</a:t>
            </a:r>
          </a:p>
        </p:txBody>
      </p:sp>
      <p:sp>
        <p:nvSpPr>
          <p:cNvPr id="19" name="Rounded Rectangle 18"/>
          <p:cNvSpPr/>
          <p:nvPr/>
        </p:nvSpPr>
        <p:spPr>
          <a:xfrm>
            <a:off x="4338218" y="5486400"/>
            <a:ext cx="3515258" cy="41148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1300" b="1" i="0">
                <a:solidFill>
                  <a:srgbClr val="FFFFFF"/>
                </a:solidFill>
                <a:latin typeface="Calibri"/>
              </a:rPr>
              <a:t>RDFS-Plus: + sameness and property traits</a:t>
            </a:r>
          </a:p>
        </p:txBody>
      </p:sp>
      <p:sp>
        <p:nvSpPr>
          <p:cNvPr id="20" name="Rounded Rectangle 19"/>
          <p:cNvSpPr/>
          <p:nvPr/>
        </p:nvSpPr>
        <p:spPr>
          <a:xfrm>
            <a:off x="8127796" y="5486400"/>
            <a:ext cx="3515258" cy="411480"/>
          </a:xfrm>
          <a:prstGeom prst="roundRect">
            <a:avLst>
              <a:gd name="adj" fmla="val 50000"/>
            </a:avLst>
          </a:prstGeom>
          <a:solidFill>
            <a:srgbClr val="172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1300" b="1" i="0">
                <a:solidFill>
                  <a:srgbClr val="FFFFFF"/>
                </a:solidFill>
                <a:latin typeface="Calibri"/>
              </a:rPr>
              <a:t>OWL: + classes defined by property values</a:t>
            </a:r>
          </a:p>
        </p:txBody>
      </p:sp>
      <p:sp>
        <p:nvSpPr>
          <p:cNvPr id="21"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22"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RDFS: a schema made of inference rules</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5 · RDF SCHEMA</a:t>
            </a:r>
          </a:p>
        </p:txBody>
      </p:sp>
      <p:sp>
        <p:nvSpPr>
          <p:cNvPr id="4" name="Code: Turtle"/>
          <p:cNvSpPr/>
          <p:nvPr/>
        </p:nvSpPr>
        <p:spPr>
          <a:xfrm>
            <a:off x="548640" y="1645920"/>
            <a:ext cx="5852160" cy="2514600"/>
          </a:xfrm>
          <a:prstGeom prst="roundRect">
            <a:avLst>
              <a:gd name="adj" fmla="val 4363"/>
            </a:avLst>
          </a:prstGeom>
          <a:solidFill>
            <a:srgbClr val="1C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937760" y="1755648"/>
            <a:ext cx="1280160" cy="228600"/>
          </a:xfrm>
          <a:prstGeom prst="rect">
            <a:avLst/>
          </a:prstGeom>
          <a:noFill/>
        </p:spPr>
        <p:txBody>
          <a:bodyPr wrap="square" anchor="t" lIns="0" rIns="0" tIns="0" bIns="0">
            <a:noAutofit/>
          </a:bodyPr>
          <a:lstStyle/>
          <a:p>
            <a:pPr algn="r">
              <a:spcAft>
                <a:spcPts val="600"/>
              </a:spcAft>
            </a:pPr>
            <a:r>
              <a:rPr sz="1000" b="1" i="0">
                <a:solidFill>
                  <a:srgbClr val="869AA0"/>
                </a:solidFill>
                <a:latin typeface="Calibri"/>
              </a:rPr>
              <a:t>TURTLE</a:t>
            </a:r>
          </a:p>
        </p:txBody>
      </p:sp>
      <p:sp>
        <p:nvSpPr>
          <p:cNvPr id="6" name="TextBox 5"/>
          <p:cNvSpPr txBox="1"/>
          <p:nvPr/>
        </p:nvSpPr>
        <p:spPr>
          <a:xfrm>
            <a:off x="777240" y="1847088"/>
            <a:ext cx="5394960" cy="2148840"/>
          </a:xfrm>
          <a:prstGeom prst="rect">
            <a:avLst/>
          </a:prstGeom>
          <a:noFill/>
        </p:spPr>
        <p:txBody>
          <a:bodyPr wrap="none" lIns="0" rIns="0" tIns="0" bIns="0">
            <a:noAutofit/>
          </a:bodyPr>
          <a:lstStyle/>
          <a:p>
            <a:pPr>
              <a:lnSpc>
                <a:spcPct val="105000"/>
              </a:lnSpc>
            </a:pPr>
            <a:r>
              <a:rPr sz="1200" b="1" i="0">
                <a:solidFill>
                  <a:srgbClr val="F2B866"/>
                </a:solidFill>
                <a:latin typeface="Consolas"/>
              </a:rPr>
              <a:t>@prefix</a:t>
            </a:r>
            <a:r>
              <a:rPr sz="1200" b="0" i="0">
                <a:solidFill>
                  <a:srgbClr val="E3EBEE"/>
                </a:solidFill>
                <a:latin typeface="Consolas"/>
              </a:rPr>
              <a:t> :     </a:t>
            </a:r>
            <a:r>
              <a:rPr sz="1200" b="0" i="0">
                <a:solidFill>
                  <a:srgbClr val="9AB0B8"/>
                </a:solidFill>
                <a:latin typeface="Consolas"/>
              </a:rPr>
              <a:t>&lt;http://studio.example/&gt;</a:t>
            </a:r>
            <a:r>
              <a:rPr sz="1200" b="0" i="0">
                <a:solidFill>
                  <a:srgbClr val="E3EBEE"/>
                </a:solidFill>
                <a:latin typeface="Consolas"/>
              </a:rPr>
              <a:t> .</a:t>
            </a:r>
          </a:p>
          <a:p>
            <a:pPr>
              <a:lnSpc>
                <a:spcPct val="105000"/>
              </a:lnSpc>
            </a:pPr>
            <a:r>
              <a:rPr sz="1200" b="1" i="0">
                <a:solidFill>
                  <a:srgbClr val="F2B866"/>
                </a:solidFill>
                <a:latin typeface="Consolas"/>
              </a:rPr>
              <a:t>@prefix</a:t>
            </a:r>
            <a:r>
              <a:rPr sz="1200" b="0" i="0">
                <a:solidFill>
                  <a:srgbClr val="E3EBEE"/>
                </a:solidFill>
                <a:latin typeface="Consolas"/>
              </a:rPr>
              <a:t> </a:t>
            </a:r>
            <a:r>
              <a:rPr sz="1200" b="0" i="0">
                <a:solidFill>
                  <a:srgbClr val="A8CFF0"/>
                </a:solidFill>
                <a:latin typeface="Consolas"/>
              </a:rPr>
              <a:t>rdfs:</a:t>
            </a:r>
            <a:r>
              <a:rPr sz="1200" b="0" i="0">
                <a:solidFill>
                  <a:srgbClr val="E3EBEE"/>
                </a:solidFill>
                <a:latin typeface="Consolas"/>
              </a:rPr>
              <a:t> </a:t>
            </a:r>
            <a:r>
              <a:rPr sz="1200" b="0" i="0">
                <a:solidFill>
                  <a:srgbClr val="9AB0B8"/>
                </a:solidFill>
                <a:latin typeface="Consolas"/>
              </a:rPr>
              <a:t>&lt;http://www.w3.org/2000/01/rdf-schema#&gt;</a:t>
            </a:r>
            <a:r>
              <a:rPr sz="1200" b="0" i="0">
                <a:solidFill>
                  <a:srgbClr val="E3EBEE"/>
                </a:solidFill>
                <a:latin typeface="Consolas"/>
              </a:rPr>
              <a:t> .</a:t>
            </a:r>
          </a:p>
          <a:p>
            <a:pPr>
              <a:lnSpc>
                <a:spcPct val="105000"/>
              </a:lnSpc>
            </a:pPr>
            <a:r>
              <a:rPr sz="1200" b="0" i="0">
                <a:solidFill>
                  <a:srgbClr val="A8CFF0"/>
                </a:solidFill>
                <a:latin typeface="Consolas"/>
              </a:rPr>
              <a:t>:Actor</a:t>
            </a:r>
            <a:r>
              <a:rPr sz="1200" b="0" i="0">
                <a:solidFill>
                  <a:srgbClr val="E3EBEE"/>
                </a:solidFill>
                <a:latin typeface="Consolas"/>
              </a:rPr>
              <a:t>    </a:t>
            </a:r>
            <a:r>
              <a:rPr sz="1200" b="0" i="0">
                <a:solidFill>
                  <a:srgbClr val="A8CFF0"/>
                </a:solidFill>
                <a:latin typeface="Consolas"/>
              </a:rPr>
              <a:t>rdfs:subClassOf</a:t>
            </a:r>
            <a:r>
              <a:rPr sz="1200" b="0" i="0">
                <a:solidFill>
                  <a:srgbClr val="E3EBEE"/>
                </a:solidFill>
                <a:latin typeface="Consolas"/>
              </a:rPr>
              <a:t> </a:t>
            </a:r>
            <a:r>
              <a:rPr sz="1200" b="0" i="0">
                <a:solidFill>
                  <a:srgbClr val="A8CFF0"/>
                </a:solidFill>
                <a:latin typeface="Consolas"/>
              </a:rPr>
              <a:t>:Person</a:t>
            </a:r>
            <a:r>
              <a:rPr sz="1200" b="0" i="0">
                <a:solidFill>
                  <a:srgbClr val="E3EBEE"/>
                </a:solidFill>
                <a:latin typeface="Consolas"/>
              </a:rPr>
              <a:t> .</a:t>
            </a:r>
          </a:p>
          <a:p>
            <a:pPr>
              <a:lnSpc>
                <a:spcPct val="105000"/>
              </a:lnSpc>
            </a:pPr>
            <a:r>
              <a:rPr sz="1200" b="0" i="0">
                <a:solidFill>
                  <a:srgbClr val="A8CFF0"/>
                </a:solidFill>
                <a:latin typeface="Consolas"/>
              </a:rPr>
              <a:t>:Director</a:t>
            </a:r>
            <a:r>
              <a:rPr sz="1200" b="0" i="0">
                <a:solidFill>
                  <a:srgbClr val="E3EBEE"/>
                </a:solidFill>
                <a:latin typeface="Consolas"/>
              </a:rPr>
              <a:t> </a:t>
            </a:r>
            <a:r>
              <a:rPr sz="1200" b="0" i="0">
                <a:solidFill>
                  <a:srgbClr val="A8CFF0"/>
                </a:solidFill>
                <a:latin typeface="Consolas"/>
              </a:rPr>
              <a:t>rdfs:subClassOf</a:t>
            </a:r>
            <a:r>
              <a:rPr sz="1200" b="0" i="0">
                <a:solidFill>
                  <a:srgbClr val="E3EBEE"/>
                </a:solidFill>
                <a:latin typeface="Consolas"/>
              </a:rPr>
              <a:t> </a:t>
            </a:r>
            <a:r>
              <a:rPr sz="1200" b="0" i="0">
                <a:solidFill>
                  <a:srgbClr val="A8CFF0"/>
                </a:solidFill>
                <a:latin typeface="Consolas"/>
              </a:rPr>
              <a:t>:Person</a:t>
            </a:r>
            <a:r>
              <a:rPr sz="1200" b="0" i="0">
                <a:solidFill>
                  <a:srgbClr val="E3EBEE"/>
                </a:solidFill>
                <a:latin typeface="Consolas"/>
              </a:rPr>
              <a:t> .</a:t>
            </a:r>
          </a:p>
          <a:p>
            <a:pPr>
              <a:lnSpc>
                <a:spcPct val="105000"/>
              </a:lnSpc>
            </a:pPr>
            <a:r>
              <a:rPr sz="1200" b="0" i="0">
                <a:solidFill>
                  <a:srgbClr val="A8CFF0"/>
                </a:solidFill>
                <a:latin typeface="Consolas"/>
              </a:rPr>
              <a:t>:movieTitle</a:t>
            </a:r>
            <a:r>
              <a:rPr sz="1200" b="0" i="0">
                <a:solidFill>
                  <a:srgbClr val="E3EBEE"/>
                </a:solidFill>
                <a:latin typeface="Consolas"/>
              </a:rPr>
              <a:t> </a:t>
            </a:r>
            <a:r>
              <a:rPr sz="1200" b="0" i="0">
                <a:solidFill>
                  <a:srgbClr val="A8CFF0"/>
                </a:solidFill>
                <a:latin typeface="Consolas"/>
              </a:rPr>
              <a:t>rdfs:subPropertyOf</a:t>
            </a:r>
            <a:r>
              <a:rPr sz="1200" b="0" i="0">
                <a:solidFill>
                  <a:srgbClr val="E3EBEE"/>
                </a:solidFill>
                <a:latin typeface="Consolas"/>
              </a:rPr>
              <a:t> </a:t>
            </a:r>
            <a:r>
              <a:rPr sz="1200" b="0" i="0">
                <a:solidFill>
                  <a:srgbClr val="A8CFF0"/>
                </a:solidFill>
                <a:latin typeface="Consolas"/>
              </a:rPr>
              <a:t>rdfs:label</a:t>
            </a:r>
            <a:r>
              <a:rPr sz="1200" b="0" i="0">
                <a:solidFill>
                  <a:srgbClr val="E3EBEE"/>
                </a:solidFill>
                <a:latin typeface="Consolas"/>
              </a:rPr>
              <a:t> .</a:t>
            </a:r>
          </a:p>
          <a:p>
            <a:pPr>
              <a:lnSpc>
                <a:spcPct val="105000"/>
              </a:lnSpc>
            </a:pPr>
            <a:r>
              <a:rPr sz="1200" b="0" i="0">
                <a:solidFill>
                  <a:srgbClr val="A8CFF0"/>
                </a:solidFill>
                <a:latin typeface="Consolas"/>
              </a:rPr>
              <a:t>:personName</a:t>
            </a:r>
            <a:r>
              <a:rPr sz="1200" b="0" i="0">
                <a:solidFill>
                  <a:srgbClr val="E3EBEE"/>
                </a:solidFill>
                <a:latin typeface="Consolas"/>
              </a:rPr>
              <a:t> </a:t>
            </a:r>
            <a:r>
              <a:rPr sz="1200" b="0" i="0">
                <a:solidFill>
                  <a:srgbClr val="A8CFF0"/>
                </a:solidFill>
                <a:latin typeface="Consolas"/>
              </a:rPr>
              <a:t>rdfs:subPropertyOf</a:t>
            </a:r>
            <a:r>
              <a:rPr sz="1200" b="0" i="0">
                <a:solidFill>
                  <a:srgbClr val="E3EBEE"/>
                </a:solidFill>
                <a:latin typeface="Consolas"/>
              </a:rPr>
              <a:t> </a:t>
            </a:r>
            <a:r>
              <a:rPr sz="1200" b="0" i="0">
                <a:solidFill>
                  <a:srgbClr val="A8CFF0"/>
                </a:solidFill>
                <a:latin typeface="Consolas"/>
              </a:rPr>
              <a:t>rdfs:label</a:t>
            </a:r>
            <a:r>
              <a:rPr sz="1200" b="0" i="0">
                <a:solidFill>
                  <a:srgbClr val="E3EBEE"/>
                </a:solidFill>
                <a:latin typeface="Consolas"/>
              </a:rPr>
              <a:t> .</a:t>
            </a:r>
          </a:p>
          <a:p>
            <a:pPr>
              <a:lnSpc>
                <a:spcPct val="105000"/>
              </a:lnSpc>
            </a:pPr>
            <a:r>
              <a:rPr sz="1200" b="0" i="0">
                <a:solidFill>
                  <a:srgbClr val="A8CFF0"/>
                </a:solidFill>
                <a:latin typeface="Consolas"/>
              </a:rPr>
              <a:t>:starring</a:t>
            </a:r>
            <a:r>
              <a:rPr sz="1200" b="0" i="0">
                <a:solidFill>
                  <a:srgbClr val="E3EBEE"/>
                </a:solidFill>
                <a:latin typeface="Consolas"/>
              </a:rPr>
              <a:t>   </a:t>
            </a:r>
            <a:r>
              <a:rPr sz="1200" b="0" i="0">
                <a:solidFill>
                  <a:srgbClr val="A8CFF0"/>
                </a:solidFill>
                <a:latin typeface="Consolas"/>
              </a:rPr>
              <a:t>rdfs:range</a:t>
            </a:r>
            <a:r>
              <a:rPr sz="1200" b="0" i="0">
                <a:solidFill>
                  <a:srgbClr val="E3EBEE"/>
                </a:solidFill>
                <a:latin typeface="Consolas"/>
              </a:rPr>
              <a:t>  </a:t>
            </a:r>
            <a:r>
              <a:rPr sz="1200" b="0" i="0">
                <a:solidFill>
                  <a:srgbClr val="A8CFF0"/>
                </a:solidFill>
                <a:latin typeface="Consolas"/>
              </a:rPr>
              <a:t>:Actor</a:t>
            </a:r>
            <a:r>
              <a:rPr sz="1200" b="0" i="0">
                <a:solidFill>
                  <a:srgbClr val="E3EBEE"/>
                </a:solidFill>
                <a:latin typeface="Consolas"/>
              </a:rPr>
              <a:t> .</a:t>
            </a:r>
          </a:p>
          <a:p>
            <a:pPr>
              <a:lnSpc>
                <a:spcPct val="105000"/>
              </a:lnSpc>
            </a:pPr>
            <a:r>
              <a:rPr sz="1200" b="0" i="0">
                <a:solidFill>
                  <a:srgbClr val="A8CFF0"/>
                </a:solidFill>
                <a:latin typeface="Consolas"/>
              </a:rPr>
              <a:t>:directedBy</a:t>
            </a:r>
            <a:r>
              <a:rPr sz="1200" b="0" i="0">
                <a:solidFill>
                  <a:srgbClr val="E3EBEE"/>
                </a:solidFill>
                <a:latin typeface="Consolas"/>
              </a:rPr>
              <a:t> </a:t>
            </a:r>
            <a:r>
              <a:rPr sz="1200" b="0" i="0">
                <a:solidFill>
                  <a:srgbClr val="A8CFF0"/>
                </a:solidFill>
                <a:latin typeface="Consolas"/>
              </a:rPr>
              <a:t>rdfs:domain</a:t>
            </a:r>
            <a:r>
              <a:rPr sz="1200" b="0" i="0">
                <a:solidFill>
                  <a:srgbClr val="E3EBEE"/>
                </a:solidFill>
                <a:latin typeface="Consolas"/>
              </a:rPr>
              <a:t> </a:t>
            </a:r>
            <a:r>
              <a:rPr sz="1200" b="0" i="0">
                <a:solidFill>
                  <a:srgbClr val="A8CFF0"/>
                </a:solidFill>
                <a:latin typeface="Consolas"/>
              </a:rPr>
              <a:t>:Movie</a:t>
            </a:r>
            <a:r>
              <a:rPr sz="1200" b="0" i="0">
                <a:solidFill>
                  <a:srgbClr val="E3EBEE"/>
                </a:solidFill>
                <a:latin typeface="Consolas"/>
              </a:rPr>
              <a:t> ;</a:t>
            </a:r>
          </a:p>
          <a:p>
            <a:pPr>
              <a:lnSpc>
                <a:spcPct val="105000"/>
              </a:lnSpc>
            </a:pPr>
            <a:r>
              <a:rPr sz="1200" b="0" i="0">
                <a:solidFill>
                  <a:srgbClr val="E3EBEE"/>
                </a:solidFill>
                <a:latin typeface="Consolas"/>
              </a:rPr>
              <a:t>            </a:t>
            </a:r>
            <a:r>
              <a:rPr sz="1200" b="0" i="0">
                <a:solidFill>
                  <a:srgbClr val="A8CFF0"/>
                </a:solidFill>
                <a:latin typeface="Consolas"/>
              </a:rPr>
              <a:t>rdfs:range</a:t>
            </a:r>
            <a:r>
              <a:rPr sz="1200" b="0" i="0">
                <a:solidFill>
                  <a:srgbClr val="E3EBEE"/>
                </a:solidFill>
                <a:latin typeface="Consolas"/>
              </a:rPr>
              <a:t>  </a:t>
            </a:r>
            <a:r>
              <a:rPr sz="1200" b="0" i="0">
                <a:solidFill>
                  <a:srgbClr val="A8CFF0"/>
                </a:solidFill>
                <a:latin typeface="Consolas"/>
              </a:rPr>
              <a:t>:Director</a:t>
            </a:r>
            <a:r>
              <a:rPr sz="1200" b="0" i="0">
                <a:solidFill>
                  <a:srgbClr val="E3EBEE"/>
                </a:solidFill>
                <a:latin typeface="Consolas"/>
              </a:rPr>
              <a:t> .</a:t>
            </a:r>
          </a:p>
        </p:txBody>
      </p:sp>
      <p:sp>
        <p:nvSpPr>
          <p:cNvPr id="7" name="TextBox 6"/>
          <p:cNvSpPr txBox="1"/>
          <p:nvPr/>
        </p:nvSpPr>
        <p:spPr>
          <a:xfrm>
            <a:off x="548640" y="4434840"/>
            <a:ext cx="5852160" cy="1737360"/>
          </a:xfrm>
          <a:prstGeom prst="rect">
            <a:avLst/>
          </a:prstGeom>
          <a:noFill/>
        </p:spPr>
        <p:txBody>
          <a:bodyPr wrap="square" anchor="t" lIns="0" rIns="0" tIns="0" bIns="0">
            <a:noAutofit/>
          </a:bodyPr>
          <a:lstStyle/>
          <a:p>
            <a:pPr algn="l" marL="228600" indent="-228600">
              <a:spcAft>
                <a:spcPts val="600"/>
              </a:spcAft>
              <a:buClr>
                <a:srgbClr val="1F7A6D"/>
              </a:buClr>
              <a:buFont typeface="Arial"/>
              <a:buChar char="•"/>
            </a:pPr>
            <a:r>
              <a:rPr sz="1400" b="0" i="0">
                <a:solidFill>
                  <a:srgbClr val="17272E"/>
                </a:solidFill>
                <a:latin typeface="Calibri"/>
              </a:rPr>
              <a:t>Keywords like rdfs:subClassOf are ordinary resources; inference rules give them meaning</a:t>
            </a:r>
          </a:p>
          <a:p>
            <a:pPr algn="l" marL="228600" indent="-228600">
              <a:spcAft>
                <a:spcPts val="600"/>
              </a:spcAft>
              <a:buClr>
                <a:srgbClr val="1F7A6D"/>
              </a:buClr>
              <a:buFont typeface="Arial"/>
              <a:buChar char="•"/>
            </a:pPr>
            <a:r>
              <a:rPr sz="1400" b="0" i="0">
                <a:solidFill>
                  <a:srgbClr val="17272E"/>
                </a:solidFill>
                <a:latin typeface="Calibri"/>
              </a:rPr>
              <a:t>Common superclass ≈ union; one subPropertyOf triple maps one property onto another</a:t>
            </a:r>
          </a:p>
          <a:p>
            <a:pPr algn="l" marL="228600" indent="-228600">
              <a:spcAft>
                <a:spcPts val="600"/>
              </a:spcAft>
              <a:buClr>
                <a:srgbClr val="1F7A6D"/>
              </a:buClr>
              <a:buFont typeface="Arial"/>
              <a:buChar char="•"/>
            </a:pPr>
            <a:r>
              <a:rPr sz="1400" b="0" i="0">
                <a:solidFill>
                  <a:srgbClr val="17272E"/>
                </a:solidFill>
                <a:latin typeface="Calibri"/>
              </a:rPr>
              <a:t>Tempted to find-and-replace merged data? Use these constructs instead</a:t>
            </a:r>
          </a:p>
        </p:txBody>
      </p:sp>
      <p:sp>
        <p:nvSpPr>
          <p:cNvPr id="8" name="TextBox 7"/>
          <p:cNvSpPr txBox="1"/>
          <p:nvPr/>
        </p:nvSpPr>
        <p:spPr>
          <a:xfrm>
            <a:off x="6766560" y="1645920"/>
            <a:ext cx="4876495" cy="320040"/>
          </a:xfrm>
          <a:prstGeom prst="rect">
            <a:avLst/>
          </a:prstGeom>
          <a:noFill/>
        </p:spPr>
        <p:txBody>
          <a:bodyPr wrap="square" anchor="t" lIns="0" rIns="0" tIns="0" bIns="0">
            <a:noAutofit/>
          </a:bodyPr>
          <a:lstStyle/>
          <a:p>
            <a:pPr algn="l">
              <a:spcAft>
                <a:spcPts val="600"/>
              </a:spcAft>
            </a:pPr>
            <a:r>
              <a:rPr sz="1400" b="1" i="0">
                <a:solidFill>
                  <a:srgbClr val="17272E"/>
                </a:solidFill>
                <a:latin typeface="Calibri"/>
              </a:rPr>
              <a:t>?thing rdfs:label ?label, after RDFS inference</a:t>
            </a:r>
          </a:p>
        </p:txBody>
      </p:sp>
      <p:graphicFrame>
        <p:nvGraphicFramePr>
          <p:cNvPr id="9" name="Table 8"/>
          <p:cNvGraphicFramePr>
            <a:graphicFrameLocks noGrp="1"/>
          </p:cNvGraphicFramePr>
          <p:nvPr/>
        </p:nvGraphicFramePr>
        <p:xfrm>
          <a:off x="6766560" y="2057400"/>
          <a:ext cx="4876495" cy="3319272"/>
        </p:xfrm>
        <a:graphic>
          <a:graphicData uri="http://schemas.openxmlformats.org/drawingml/2006/table">
            <a:tbl>
              <a:tblPr firstRow="0" bandRow="0">
                <a:tableStyleId>{5C22544A-7EE6-4342-B048-85BDC9FD1C3A}</a:tableStyleId>
              </a:tblPr>
              <a:tblGrid>
                <a:gridCol w="2377440"/>
                <a:gridCol w="2499055"/>
              </a:tblGrid>
              <a:tr h="301752">
                <a:tc>
                  <a:txBody>
                    <a:bodyPr wrap="square"/>
                    <a:lstStyle/>
                    <a:p>
                      <a:r>
                        <a:rPr sz="1300" b="1" i="0">
                          <a:solidFill>
                            <a:srgbClr val="FFFFFF"/>
                          </a:solidFill>
                          <a:latin typeface="Calibri"/>
                        </a:rPr>
                        <a:t>thing</a:t>
                      </a:r>
                    </a:p>
                  </a:txBody>
                  <a:tcPr marL="91440" marR="91440" marT="27432" marB="27432" anchor="ctr">
                    <a:solidFill>
                      <a:srgbClr val="1F7A6D"/>
                    </a:solidFill>
                  </a:tcPr>
                </a:tc>
                <a:tc>
                  <a:txBody>
                    <a:bodyPr wrap="square"/>
                    <a:lstStyle/>
                    <a:p>
                      <a:r>
                        <a:rPr sz="1300" b="1" i="0">
                          <a:solidFill>
                            <a:srgbClr val="FFFFFF"/>
                          </a:solidFill>
                          <a:latin typeface="Calibri"/>
                        </a:rPr>
                        <a:t>label</a:t>
                      </a:r>
                    </a:p>
                  </a:txBody>
                  <a:tcPr marL="91440" marR="91440" marT="27432" marB="27432" anchor="ctr">
                    <a:solidFill>
                      <a:srgbClr val="1F7A6D"/>
                    </a:solidFill>
                  </a:tcPr>
                </a:tc>
              </a:tr>
              <a:tr h="301752">
                <a:tc>
                  <a:txBody>
                    <a:bodyPr wrap="square"/>
                    <a:lstStyle/>
                    <a:p>
                      <a:r>
                        <a:rPr sz="1200" b="0" i="0">
                          <a:solidFill>
                            <a:srgbClr val="17272E"/>
                          </a:solidFill>
                          <a:latin typeface="Consolas"/>
                        </a:rPr>
                        <a:t>:EastOfEden</a:t>
                      </a:r>
                    </a:p>
                  </a:txBody>
                  <a:tcPr marL="91440" marR="91440" marT="27432" marB="27432" anchor="ctr">
                    <a:solidFill>
                      <a:srgbClr val="FFFFFF"/>
                    </a:solidFill>
                  </a:tcPr>
                </a:tc>
                <a:tc>
                  <a:txBody>
                    <a:bodyPr wrap="square"/>
                    <a:lstStyle/>
                    <a:p>
                      <a:r>
                        <a:rPr sz="1300" b="1" i="0">
                          <a:solidFill>
                            <a:srgbClr val="17272E"/>
                          </a:solidFill>
                          <a:latin typeface="Calibri"/>
                        </a:rPr>
                        <a:t>East of Eden</a:t>
                      </a:r>
                    </a:p>
                  </a:txBody>
                  <a:tcPr marL="91440" marR="91440" marT="27432" marB="27432" anchor="ctr">
                    <a:solidFill>
                      <a:srgbClr val="FCF1DF"/>
                    </a:solidFill>
                  </a:tcPr>
                </a:tc>
              </a:tr>
              <a:tr h="301752">
                <a:tc>
                  <a:txBody>
                    <a:bodyPr wrap="square"/>
                    <a:lstStyle/>
                    <a:p>
                      <a:r>
                        <a:rPr sz="1200" b="0" i="0">
                          <a:solidFill>
                            <a:srgbClr val="17272E"/>
                          </a:solidFill>
                          <a:latin typeface="Consolas"/>
                        </a:rPr>
                        <a:t>:EliaKazan</a:t>
                      </a:r>
                    </a:p>
                  </a:txBody>
                  <a:tcPr marL="91440" marR="91440" marT="27432" marB="27432" anchor="ctr">
                    <a:solidFill>
                      <a:srgbClr val="EAF3F0"/>
                    </a:solidFill>
                  </a:tcPr>
                </a:tc>
                <a:tc>
                  <a:txBody>
                    <a:bodyPr wrap="square"/>
                    <a:lstStyle/>
                    <a:p>
                      <a:r>
                        <a:rPr sz="1300" b="0" i="0">
                          <a:solidFill>
                            <a:srgbClr val="17272E"/>
                          </a:solidFill>
                          <a:latin typeface="Calibri"/>
                        </a:rPr>
                        <a:t>Elia Kazan</a:t>
                      </a:r>
                    </a:p>
                  </a:txBody>
                  <a:tcPr marL="91440" marR="91440" marT="27432" marB="27432" anchor="ctr">
                    <a:solidFill>
                      <a:srgbClr val="EAF3F0"/>
                    </a:solidFill>
                  </a:tcPr>
                </a:tc>
              </a:tr>
              <a:tr h="301752">
                <a:tc>
                  <a:txBody>
                    <a:bodyPr wrap="square"/>
                    <a:lstStyle/>
                    <a:p>
                      <a:r>
                        <a:rPr sz="1200" b="0" i="0">
                          <a:solidFill>
                            <a:srgbClr val="17272E"/>
                          </a:solidFill>
                          <a:latin typeface="Consolas"/>
                        </a:rPr>
                        <a:t>:ElizabethTaylor</a:t>
                      </a:r>
                    </a:p>
                  </a:txBody>
                  <a:tcPr marL="91440" marR="91440" marT="27432" marB="27432" anchor="ctr">
                    <a:solidFill>
                      <a:srgbClr val="FFFFFF"/>
                    </a:solidFill>
                  </a:tcPr>
                </a:tc>
                <a:tc>
                  <a:txBody>
                    <a:bodyPr wrap="square"/>
                    <a:lstStyle/>
                    <a:p>
                      <a:r>
                        <a:rPr sz="1300" b="0" i="0">
                          <a:solidFill>
                            <a:srgbClr val="17272E"/>
                          </a:solidFill>
                          <a:latin typeface="Calibri"/>
                        </a:rPr>
                        <a:t>Elizabeth Taylor</a:t>
                      </a:r>
                    </a:p>
                  </a:txBody>
                  <a:tcPr marL="91440" marR="91440" marT="27432" marB="27432" anchor="ctr">
                    <a:solidFill>
                      <a:srgbClr val="FFFFFF"/>
                    </a:solidFill>
                  </a:tcPr>
                </a:tc>
              </a:tr>
              <a:tr h="301752">
                <a:tc>
                  <a:txBody>
                    <a:bodyPr wrap="square"/>
                    <a:lstStyle/>
                    <a:p>
                      <a:r>
                        <a:rPr sz="1200" b="0" i="0">
                          <a:solidFill>
                            <a:srgbClr val="17272E"/>
                          </a:solidFill>
                          <a:latin typeface="Consolas"/>
                        </a:rPr>
                        <a:t>:GeorgeStevens</a:t>
                      </a:r>
                    </a:p>
                  </a:txBody>
                  <a:tcPr marL="91440" marR="91440" marT="27432" marB="27432" anchor="ctr">
                    <a:solidFill>
                      <a:srgbClr val="EAF3F0"/>
                    </a:solidFill>
                  </a:tcPr>
                </a:tc>
                <a:tc>
                  <a:txBody>
                    <a:bodyPr wrap="square"/>
                    <a:lstStyle/>
                    <a:p>
                      <a:r>
                        <a:rPr sz="1300" b="0" i="0">
                          <a:solidFill>
                            <a:srgbClr val="17272E"/>
                          </a:solidFill>
                          <a:latin typeface="Calibri"/>
                        </a:rPr>
                        <a:t>George Stevens</a:t>
                      </a:r>
                    </a:p>
                  </a:txBody>
                  <a:tcPr marL="91440" marR="91440" marT="27432" marB="27432" anchor="ctr">
                    <a:solidFill>
                      <a:srgbClr val="EAF3F0"/>
                    </a:solidFill>
                  </a:tcPr>
                </a:tc>
              </a:tr>
              <a:tr h="301752">
                <a:tc>
                  <a:txBody>
                    <a:bodyPr wrap="square"/>
                    <a:lstStyle/>
                    <a:p>
                      <a:r>
                        <a:rPr sz="1200" b="0" i="0">
                          <a:solidFill>
                            <a:srgbClr val="17272E"/>
                          </a:solidFill>
                          <a:latin typeface="Consolas"/>
                        </a:rPr>
                        <a:t>:Giant</a:t>
                      </a:r>
                    </a:p>
                  </a:txBody>
                  <a:tcPr marL="91440" marR="91440" marT="27432" marB="27432" anchor="ctr">
                    <a:solidFill>
                      <a:srgbClr val="FFFFFF"/>
                    </a:solidFill>
                  </a:tcPr>
                </a:tc>
                <a:tc>
                  <a:txBody>
                    <a:bodyPr wrap="square"/>
                    <a:lstStyle/>
                    <a:p>
                      <a:r>
                        <a:rPr sz="1300" b="1" i="0">
                          <a:solidFill>
                            <a:srgbClr val="17272E"/>
                          </a:solidFill>
                          <a:latin typeface="Calibri"/>
                        </a:rPr>
                        <a:t>Giant</a:t>
                      </a:r>
                    </a:p>
                  </a:txBody>
                  <a:tcPr marL="91440" marR="91440" marT="27432" marB="27432" anchor="ctr">
                    <a:solidFill>
                      <a:srgbClr val="FCF1DF"/>
                    </a:solidFill>
                  </a:tcPr>
                </a:tc>
              </a:tr>
              <a:tr h="301752">
                <a:tc>
                  <a:txBody>
                    <a:bodyPr wrap="square"/>
                    <a:lstStyle/>
                    <a:p>
                      <a:r>
                        <a:rPr sz="1200" b="0" i="0">
                          <a:solidFill>
                            <a:srgbClr val="17272E"/>
                          </a:solidFill>
                          <a:latin typeface="Consolas"/>
                        </a:rPr>
                        <a:t>:JamesDean</a:t>
                      </a:r>
                    </a:p>
                  </a:txBody>
                  <a:tcPr marL="91440" marR="91440" marT="27432" marB="27432" anchor="ctr">
                    <a:solidFill>
                      <a:srgbClr val="EAF3F0"/>
                    </a:solidFill>
                  </a:tcPr>
                </a:tc>
                <a:tc>
                  <a:txBody>
                    <a:bodyPr wrap="square"/>
                    <a:lstStyle/>
                    <a:p>
                      <a:r>
                        <a:rPr sz="1300" b="0" i="0">
                          <a:solidFill>
                            <a:srgbClr val="17272E"/>
                          </a:solidFill>
                          <a:latin typeface="Calibri"/>
                        </a:rPr>
                        <a:t>James Dean</a:t>
                      </a:r>
                    </a:p>
                  </a:txBody>
                  <a:tcPr marL="91440" marR="91440" marT="27432" marB="27432" anchor="ctr">
                    <a:solidFill>
                      <a:srgbClr val="EAF3F0"/>
                    </a:solidFill>
                  </a:tcPr>
                </a:tc>
              </a:tr>
              <a:tr h="301752">
                <a:tc>
                  <a:txBody>
                    <a:bodyPr wrap="square"/>
                    <a:lstStyle/>
                    <a:p>
                      <a:r>
                        <a:rPr sz="1200" b="0" i="0">
                          <a:solidFill>
                            <a:srgbClr val="17272E"/>
                          </a:solidFill>
                          <a:latin typeface="Consolas"/>
                        </a:rPr>
                        <a:t>:NatalieWood</a:t>
                      </a:r>
                    </a:p>
                  </a:txBody>
                  <a:tcPr marL="91440" marR="91440" marT="27432" marB="27432" anchor="ctr">
                    <a:solidFill>
                      <a:srgbClr val="FFFFFF"/>
                    </a:solidFill>
                  </a:tcPr>
                </a:tc>
                <a:tc>
                  <a:txBody>
                    <a:bodyPr wrap="square"/>
                    <a:lstStyle/>
                    <a:p>
                      <a:r>
                        <a:rPr sz="1300" b="0" i="0">
                          <a:solidFill>
                            <a:srgbClr val="17272E"/>
                          </a:solidFill>
                          <a:latin typeface="Calibri"/>
                        </a:rPr>
                        <a:t>Natalie Wood</a:t>
                      </a:r>
                    </a:p>
                  </a:txBody>
                  <a:tcPr marL="91440" marR="91440" marT="27432" marB="27432" anchor="ctr">
                    <a:solidFill>
                      <a:srgbClr val="FFFFFF"/>
                    </a:solidFill>
                  </a:tcPr>
                </a:tc>
              </a:tr>
              <a:tr h="301752">
                <a:tc>
                  <a:txBody>
                    <a:bodyPr wrap="square"/>
                    <a:lstStyle/>
                    <a:p>
                      <a:r>
                        <a:rPr sz="1200" b="0" i="0">
                          <a:solidFill>
                            <a:srgbClr val="17272E"/>
                          </a:solidFill>
                          <a:latin typeface="Consolas"/>
                        </a:rPr>
                        <a:t>:NicholasRay</a:t>
                      </a:r>
                    </a:p>
                  </a:txBody>
                  <a:tcPr marL="91440" marR="91440" marT="27432" marB="27432" anchor="ctr">
                    <a:solidFill>
                      <a:srgbClr val="EAF3F0"/>
                    </a:solidFill>
                  </a:tcPr>
                </a:tc>
                <a:tc>
                  <a:txBody>
                    <a:bodyPr wrap="square"/>
                    <a:lstStyle/>
                    <a:p>
                      <a:r>
                        <a:rPr sz="1300" b="0" i="0">
                          <a:solidFill>
                            <a:srgbClr val="17272E"/>
                          </a:solidFill>
                          <a:latin typeface="Calibri"/>
                        </a:rPr>
                        <a:t>Nicholas Ray</a:t>
                      </a:r>
                    </a:p>
                  </a:txBody>
                  <a:tcPr marL="91440" marR="91440" marT="27432" marB="27432" anchor="ctr">
                    <a:solidFill>
                      <a:srgbClr val="EAF3F0"/>
                    </a:solidFill>
                  </a:tcPr>
                </a:tc>
              </a:tr>
              <a:tr h="301752">
                <a:tc>
                  <a:txBody>
                    <a:bodyPr wrap="square"/>
                    <a:lstStyle/>
                    <a:p>
                      <a:r>
                        <a:rPr sz="1200" b="0" i="0">
                          <a:solidFill>
                            <a:srgbClr val="17272E"/>
                          </a:solidFill>
                          <a:latin typeface="Consolas"/>
                        </a:rPr>
                        <a:t>:RebelWithoutACause</a:t>
                      </a:r>
                    </a:p>
                  </a:txBody>
                  <a:tcPr marL="91440" marR="91440" marT="27432" marB="27432" anchor="ctr">
                    <a:solidFill>
                      <a:srgbClr val="FFFFFF"/>
                    </a:solidFill>
                  </a:tcPr>
                </a:tc>
                <a:tc>
                  <a:txBody>
                    <a:bodyPr wrap="square"/>
                    <a:lstStyle/>
                    <a:p>
                      <a:r>
                        <a:rPr sz="1300" b="1" i="0">
                          <a:solidFill>
                            <a:srgbClr val="17272E"/>
                          </a:solidFill>
                          <a:latin typeface="Calibri"/>
                        </a:rPr>
                        <a:t>Rebel Without a Cause</a:t>
                      </a:r>
                    </a:p>
                  </a:txBody>
                  <a:tcPr marL="91440" marR="91440" marT="27432" marB="27432" anchor="ctr">
                    <a:solidFill>
                      <a:srgbClr val="FCF1DF"/>
                    </a:solidFill>
                  </a:tcPr>
                </a:tc>
              </a:tr>
              <a:tr h="301752">
                <a:tc>
                  <a:txBody>
                    <a:bodyPr wrap="square"/>
                    <a:lstStyle/>
                    <a:p>
                      <a:r>
                        <a:rPr sz="1200" b="0" i="0">
                          <a:solidFill>
                            <a:srgbClr val="17272E"/>
                          </a:solidFill>
                          <a:latin typeface="Consolas"/>
                        </a:rPr>
                        <a:t>:RockHudson</a:t>
                      </a:r>
                    </a:p>
                  </a:txBody>
                  <a:tcPr marL="91440" marR="91440" marT="27432" marB="27432" anchor="ctr">
                    <a:solidFill>
                      <a:srgbClr val="EAF3F0"/>
                    </a:solidFill>
                  </a:tcPr>
                </a:tc>
                <a:tc>
                  <a:txBody>
                    <a:bodyPr wrap="square"/>
                    <a:lstStyle/>
                    <a:p>
                      <a:r>
                        <a:rPr sz="1300" b="0" i="0">
                          <a:solidFill>
                            <a:srgbClr val="17272E"/>
                          </a:solidFill>
                          <a:latin typeface="Calibri"/>
                        </a:rPr>
                        <a:t>Rock Hudson</a:t>
                      </a:r>
                    </a:p>
                  </a:txBody>
                  <a:tcPr marL="91440" marR="91440" marT="27432" marB="27432" anchor="ctr">
                    <a:solidFill>
                      <a:srgbClr val="EAF3F0"/>
                    </a:solidFill>
                  </a:tcPr>
                </a:tc>
              </a:tr>
            </a:tbl>
          </a:graphicData>
        </a:graphic>
      </p:graphicFrame>
      <p:sp>
        <p:nvSpPr>
          <p:cNvPr id="10" name="TextBox 9"/>
          <p:cNvSpPr txBox="1"/>
          <p:nvPr/>
        </p:nvSpPr>
        <p:spPr>
          <a:xfrm>
            <a:off x="6766560" y="5486400"/>
            <a:ext cx="4876495" cy="640080"/>
          </a:xfrm>
          <a:prstGeom prst="rect">
            <a:avLst/>
          </a:prstGeom>
          <a:noFill/>
        </p:spPr>
        <p:txBody>
          <a:bodyPr wrap="square" anchor="t" lIns="0" rIns="0" tIns="0" bIns="0">
            <a:noAutofit/>
          </a:bodyPr>
          <a:lstStyle/>
          <a:p>
            <a:pPr algn="l">
              <a:spcAft>
                <a:spcPts val="600"/>
              </a:spcAft>
            </a:pPr>
            <a:r>
              <a:rPr sz="1300" b="1" i="0">
                <a:solidFill>
                  <a:srgbClr val="17272E"/>
                </a:solidFill>
                <a:latin typeface="Calibri"/>
              </a:rPr>
              <a:t>Movies</a:t>
            </a:r>
            <a:r>
              <a:rPr sz="1300" b="0" i="0">
                <a:solidFill>
                  <a:srgbClr val="17272E"/>
                </a:solidFill>
                <a:latin typeface="Calibri"/>
              </a:rPr>
              <a:t> (from :movieTitle) and people (from :personName) answer one query.</a:t>
            </a:r>
          </a:p>
        </p:txBody>
      </p:sp>
      <p:sp>
        <p:nvSpPr>
          <p:cNvPr id="11"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12"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Domain and range classify, they never reject</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5 · RDF SCHEMA</a:t>
            </a:r>
          </a:p>
        </p:txBody>
      </p:sp>
      <p:sp>
        <p:nvSpPr>
          <p:cNvPr id="4" name="TextBox 3"/>
          <p:cNvSpPr txBox="1"/>
          <p:nvPr/>
        </p:nvSpPr>
        <p:spPr>
          <a:xfrm>
            <a:off x="548640" y="1600200"/>
            <a:ext cx="5852160" cy="320040"/>
          </a:xfrm>
          <a:prstGeom prst="rect">
            <a:avLst/>
          </a:prstGeom>
          <a:noFill/>
        </p:spPr>
        <p:txBody>
          <a:bodyPr wrap="square" anchor="t" lIns="0" rIns="0" tIns="0" bIns="0">
            <a:noAutofit/>
          </a:bodyPr>
          <a:lstStyle/>
          <a:p>
            <a:pPr algn="l">
              <a:spcAft>
                <a:spcPts val="600"/>
              </a:spcAft>
            </a:pPr>
            <a:r>
              <a:rPr sz="1500" b="1" i="0">
                <a:solidFill>
                  <a:srgbClr val="17272E"/>
                </a:solidFill>
                <a:latin typeface="Calibri"/>
              </a:rPr>
              <a:t>Source C: a theatre archive reuses :directedBy</a:t>
            </a:r>
          </a:p>
        </p:txBody>
      </p:sp>
      <p:sp>
        <p:nvSpPr>
          <p:cNvPr id="5" name="Code: Turtle"/>
          <p:cNvSpPr/>
          <p:nvPr/>
        </p:nvSpPr>
        <p:spPr>
          <a:xfrm>
            <a:off x="548640" y="2011680"/>
            <a:ext cx="5852160" cy="1143000"/>
          </a:xfrm>
          <a:prstGeom prst="roundRect">
            <a:avLst>
              <a:gd name="adj" fmla="val 9600"/>
            </a:avLst>
          </a:prstGeom>
          <a:solidFill>
            <a:srgbClr val="1C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937760" y="2121408"/>
            <a:ext cx="1280160" cy="228600"/>
          </a:xfrm>
          <a:prstGeom prst="rect">
            <a:avLst/>
          </a:prstGeom>
          <a:noFill/>
        </p:spPr>
        <p:txBody>
          <a:bodyPr wrap="square" anchor="t" lIns="0" rIns="0" tIns="0" bIns="0">
            <a:noAutofit/>
          </a:bodyPr>
          <a:lstStyle/>
          <a:p>
            <a:pPr algn="r">
              <a:spcAft>
                <a:spcPts val="600"/>
              </a:spcAft>
            </a:pPr>
            <a:r>
              <a:rPr sz="1000" b="1" i="0">
                <a:solidFill>
                  <a:srgbClr val="869AA0"/>
                </a:solidFill>
                <a:latin typeface="Calibri"/>
              </a:rPr>
              <a:t>TURTLE</a:t>
            </a:r>
          </a:p>
        </p:txBody>
      </p:sp>
      <p:sp>
        <p:nvSpPr>
          <p:cNvPr id="7" name="TextBox 6"/>
          <p:cNvSpPr txBox="1"/>
          <p:nvPr/>
        </p:nvSpPr>
        <p:spPr>
          <a:xfrm>
            <a:off x="777240" y="2212848"/>
            <a:ext cx="5394960" cy="777240"/>
          </a:xfrm>
          <a:prstGeom prst="rect">
            <a:avLst/>
          </a:prstGeom>
          <a:noFill/>
        </p:spPr>
        <p:txBody>
          <a:bodyPr wrap="none" lIns="0" rIns="0" tIns="0" bIns="0">
            <a:noAutofit/>
          </a:bodyPr>
          <a:lstStyle/>
          <a:p>
            <a:pPr>
              <a:lnSpc>
                <a:spcPct val="105000"/>
              </a:lnSpc>
            </a:pPr>
            <a:r>
              <a:rPr sz="1300" b="1" i="0">
                <a:solidFill>
                  <a:srgbClr val="F2B866"/>
                </a:solidFill>
                <a:latin typeface="Consolas"/>
              </a:rPr>
              <a:t>@prefix</a:t>
            </a:r>
            <a:r>
              <a:rPr sz="1300" b="0" i="0">
                <a:solidFill>
                  <a:srgbClr val="E3EBEE"/>
                </a:solidFill>
                <a:latin typeface="Consolas"/>
              </a:rPr>
              <a:t> :  </a:t>
            </a:r>
            <a:r>
              <a:rPr sz="1300" b="0" i="0">
                <a:solidFill>
                  <a:srgbClr val="9AB0B8"/>
                </a:solidFill>
                <a:latin typeface="Consolas"/>
              </a:rPr>
              <a:t>&lt;http://studio.example/&gt;</a:t>
            </a:r>
            <a:r>
              <a:rPr sz="1300" b="0" i="0">
                <a:solidFill>
                  <a:srgbClr val="E3EBEE"/>
                </a:solidFill>
                <a:latin typeface="Consolas"/>
              </a:rPr>
              <a:t> .</a:t>
            </a:r>
          </a:p>
          <a:p>
            <a:pPr>
              <a:lnSpc>
                <a:spcPct val="105000"/>
              </a:lnSpc>
            </a:pPr>
            <a:r>
              <a:rPr sz="1300" b="1" i="0">
                <a:solidFill>
                  <a:srgbClr val="F2B866"/>
                </a:solidFill>
                <a:latin typeface="Consolas"/>
              </a:rPr>
              <a:t>@prefix</a:t>
            </a:r>
            <a:r>
              <a:rPr sz="1300" b="0" i="0">
                <a:solidFill>
                  <a:srgbClr val="E3EBEE"/>
                </a:solidFill>
                <a:latin typeface="Consolas"/>
              </a:rPr>
              <a:t> </a:t>
            </a:r>
            <a:r>
              <a:rPr sz="1300" b="0" i="0">
                <a:solidFill>
                  <a:srgbClr val="A8CFF0"/>
                </a:solidFill>
                <a:latin typeface="Consolas"/>
              </a:rPr>
              <a:t>th:</a:t>
            </a:r>
            <a:r>
              <a:rPr sz="1300" b="0" i="0">
                <a:solidFill>
                  <a:srgbClr val="E3EBEE"/>
                </a:solidFill>
                <a:latin typeface="Consolas"/>
              </a:rPr>
              <a:t> </a:t>
            </a:r>
            <a:r>
              <a:rPr sz="1300" b="0" i="0">
                <a:solidFill>
                  <a:srgbClr val="9AB0B8"/>
                </a:solidFill>
                <a:latin typeface="Consolas"/>
              </a:rPr>
              <a:t>&lt;http://theatre.example/&gt;</a:t>
            </a:r>
            <a:r>
              <a:rPr sz="1300" b="0" i="0">
                <a:solidFill>
                  <a:srgbClr val="E3EBEE"/>
                </a:solidFill>
                <a:latin typeface="Consolas"/>
              </a:rPr>
              <a:t> .</a:t>
            </a:r>
          </a:p>
          <a:p>
            <a:pPr>
              <a:lnSpc>
                <a:spcPct val="105000"/>
              </a:lnSpc>
            </a:pPr>
            <a:r>
              <a:rPr sz="1300" b="0" i="0">
                <a:solidFill>
                  <a:srgbClr val="A8CFF0"/>
                </a:solidFill>
                <a:latin typeface="Consolas"/>
              </a:rPr>
              <a:t>th:StreetcarNamedDesire1947</a:t>
            </a:r>
            <a:r>
              <a:rPr sz="1300" b="0" i="0">
                <a:solidFill>
                  <a:srgbClr val="E3EBEE"/>
                </a:solidFill>
                <a:latin typeface="Consolas"/>
              </a:rPr>
              <a:t> </a:t>
            </a:r>
            <a:r>
              <a:rPr sz="1300" b="0" i="0">
                <a:solidFill>
                  <a:srgbClr val="A8CFF0"/>
                </a:solidFill>
                <a:latin typeface="Consolas"/>
              </a:rPr>
              <a:t>:directedBy</a:t>
            </a:r>
            <a:r>
              <a:rPr sz="1300" b="0" i="0">
                <a:solidFill>
                  <a:srgbClr val="E3EBEE"/>
                </a:solidFill>
                <a:latin typeface="Consolas"/>
              </a:rPr>
              <a:t> </a:t>
            </a:r>
            <a:r>
              <a:rPr sz="1300" b="0" i="0">
                <a:solidFill>
                  <a:srgbClr val="A8CFF0"/>
                </a:solidFill>
                <a:latin typeface="Consolas"/>
              </a:rPr>
              <a:t>:EliaKazan</a:t>
            </a:r>
            <a:r>
              <a:rPr sz="1300" b="0" i="0">
                <a:solidFill>
                  <a:srgbClr val="E3EBEE"/>
                </a:solidFill>
                <a:latin typeface="Consolas"/>
              </a:rPr>
              <a:t> .</a:t>
            </a:r>
          </a:p>
        </p:txBody>
      </p:sp>
      <p:sp>
        <p:nvSpPr>
          <p:cNvPr id="8" name="TextBox 7"/>
          <p:cNvSpPr txBox="1"/>
          <p:nvPr/>
        </p:nvSpPr>
        <p:spPr>
          <a:xfrm>
            <a:off x="548640" y="3337560"/>
            <a:ext cx="5852160" cy="320040"/>
          </a:xfrm>
          <a:prstGeom prst="rect">
            <a:avLst/>
          </a:prstGeom>
          <a:noFill/>
        </p:spPr>
        <p:txBody>
          <a:bodyPr wrap="square" anchor="t" lIns="0" rIns="0" tIns="0" bIns="0">
            <a:noAutofit/>
          </a:bodyPr>
          <a:lstStyle/>
          <a:p>
            <a:pPr algn="l">
              <a:spcAft>
                <a:spcPts val="600"/>
              </a:spcAft>
            </a:pPr>
            <a:r>
              <a:rPr sz="1500" b="1" i="0">
                <a:solidFill>
                  <a:srgbClr val="17272E"/>
                </a:solidFill>
                <a:latin typeface="Calibri"/>
              </a:rPr>
              <a:t>…merged with the studio schema</a:t>
            </a:r>
          </a:p>
        </p:txBody>
      </p:sp>
      <p:sp>
        <p:nvSpPr>
          <p:cNvPr id="9" name="Code: Turtle"/>
          <p:cNvSpPr/>
          <p:nvPr/>
        </p:nvSpPr>
        <p:spPr>
          <a:xfrm>
            <a:off x="548640" y="3749039"/>
            <a:ext cx="5852160" cy="640080"/>
          </a:xfrm>
          <a:prstGeom prst="roundRect">
            <a:avLst>
              <a:gd name="adj" fmla="val 17142"/>
            </a:avLst>
          </a:prstGeom>
          <a:solidFill>
            <a:srgbClr val="1C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37760" y="3858768"/>
            <a:ext cx="1280160" cy="228600"/>
          </a:xfrm>
          <a:prstGeom prst="rect">
            <a:avLst/>
          </a:prstGeom>
          <a:noFill/>
        </p:spPr>
        <p:txBody>
          <a:bodyPr wrap="square" anchor="t" lIns="0" rIns="0" tIns="0" bIns="0">
            <a:noAutofit/>
          </a:bodyPr>
          <a:lstStyle/>
          <a:p>
            <a:pPr algn="r">
              <a:spcAft>
                <a:spcPts val="600"/>
              </a:spcAft>
            </a:pPr>
            <a:r>
              <a:rPr sz="1000" b="1" i="0">
                <a:solidFill>
                  <a:srgbClr val="869AA0"/>
                </a:solidFill>
                <a:latin typeface="Calibri"/>
              </a:rPr>
              <a:t>TURTLE</a:t>
            </a:r>
          </a:p>
        </p:txBody>
      </p:sp>
      <p:sp>
        <p:nvSpPr>
          <p:cNvPr id="11" name="TextBox 10"/>
          <p:cNvSpPr txBox="1"/>
          <p:nvPr/>
        </p:nvSpPr>
        <p:spPr>
          <a:xfrm>
            <a:off x="777240" y="3950207"/>
            <a:ext cx="5394960" cy="274319"/>
          </a:xfrm>
          <a:prstGeom prst="rect">
            <a:avLst/>
          </a:prstGeom>
          <a:noFill/>
        </p:spPr>
        <p:txBody>
          <a:bodyPr wrap="none" lIns="0" rIns="0" tIns="0" bIns="0">
            <a:noAutofit/>
          </a:bodyPr>
          <a:lstStyle/>
          <a:p>
            <a:pPr>
              <a:lnSpc>
                <a:spcPct val="105000"/>
              </a:lnSpc>
            </a:pPr>
            <a:r>
              <a:rPr sz="1300" b="0" i="0">
                <a:solidFill>
                  <a:srgbClr val="A8CFF0"/>
                </a:solidFill>
                <a:latin typeface="Consolas"/>
              </a:rPr>
              <a:t>:directedBy</a:t>
            </a:r>
            <a:r>
              <a:rPr sz="1300" b="0" i="0">
                <a:solidFill>
                  <a:srgbClr val="E3EBEE"/>
                </a:solidFill>
                <a:latin typeface="Consolas"/>
              </a:rPr>
              <a:t> </a:t>
            </a:r>
            <a:r>
              <a:rPr sz="1300" b="0" i="0">
                <a:solidFill>
                  <a:srgbClr val="A8CFF0"/>
                </a:solidFill>
                <a:latin typeface="Consolas"/>
              </a:rPr>
              <a:t>rdfs:domain</a:t>
            </a:r>
            <a:r>
              <a:rPr sz="1300" b="0" i="0">
                <a:solidFill>
                  <a:srgbClr val="E3EBEE"/>
                </a:solidFill>
                <a:latin typeface="Consolas"/>
              </a:rPr>
              <a:t> </a:t>
            </a:r>
            <a:r>
              <a:rPr sz="1300" b="0" i="0">
                <a:solidFill>
                  <a:srgbClr val="A8CFF0"/>
                </a:solidFill>
                <a:latin typeface="Consolas"/>
              </a:rPr>
              <a:t>:Movie</a:t>
            </a:r>
            <a:r>
              <a:rPr sz="1300" b="0" i="0">
                <a:solidFill>
                  <a:srgbClr val="E3EBEE"/>
                </a:solidFill>
                <a:latin typeface="Consolas"/>
              </a:rPr>
              <a:t> .</a:t>
            </a:r>
          </a:p>
        </p:txBody>
      </p:sp>
      <p:cxnSp>
        <p:nvCxnSpPr>
          <p:cNvPr id="12" name="Edge: rdf:type"/>
          <p:cNvCxnSpPr/>
          <p:nvPr/>
        </p:nvCxnSpPr>
        <p:spPr>
          <a:xfrm>
            <a:off x="9189720" y="2377440"/>
            <a:ext cx="0" cy="1371599"/>
          </a:xfrm>
          <a:prstGeom prst="line">
            <a:avLst/>
          </a:prstGeom>
          <a:ln w="25400">
            <a:solidFill>
              <a:srgbClr val="E0952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727948" y="2916935"/>
            <a:ext cx="923544"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200" b="1" i="0">
                <a:solidFill>
                  <a:srgbClr val="E0952B"/>
                </a:solidFill>
                <a:latin typeface="Consolas"/>
              </a:rPr>
              <a:t>rdf:type</a:t>
            </a:r>
          </a:p>
        </p:txBody>
      </p:sp>
      <p:sp>
        <p:nvSpPr>
          <p:cNvPr id="14" name="Node: th:StreetcarNamedDesire1947"/>
          <p:cNvSpPr/>
          <p:nvPr/>
        </p:nvSpPr>
        <p:spPr>
          <a:xfrm>
            <a:off x="7498080" y="1920240"/>
            <a:ext cx="3383280" cy="457200"/>
          </a:xfrm>
          <a:prstGeom prst="roundRect">
            <a:avLst>
              <a:gd name="adj" fmla="val 50000"/>
            </a:avLst>
          </a:prstGeom>
          <a:solidFill>
            <a:srgbClr val="F8E4DF"/>
          </a:solidFill>
          <a:ln w="19050">
            <a:solidFill>
              <a:srgbClr val="C24E3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17272E"/>
                </a:solidFill>
                <a:latin typeface="Consolas"/>
              </a:rPr>
              <a:t>th:StreetcarNamedDesire1947</a:t>
            </a:r>
          </a:p>
        </p:txBody>
      </p:sp>
      <p:sp>
        <p:nvSpPr>
          <p:cNvPr id="15" name="Node: :Movie"/>
          <p:cNvSpPr/>
          <p:nvPr/>
        </p:nvSpPr>
        <p:spPr>
          <a:xfrm>
            <a:off x="8549640" y="3749039"/>
            <a:ext cx="1280160" cy="457200"/>
          </a:xfrm>
          <a:prstGeom prst="roundRect">
            <a:avLst>
              <a:gd name="adj" fmla="val 50000"/>
            </a:avLst>
          </a:prstGeom>
          <a:solidFill>
            <a:srgbClr val="172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:Movie</a:t>
            </a:r>
          </a:p>
        </p:txBody>
      </p:sp>
      <p:cxnSp>
        <p:nvCxnSpPr>
          <p:cNvPr id="16" name="Connector 15"/>
          <p:cNvCxnSpPr/>
          <p:nvPr/>
        </p:nvCxnSpPr>
        <p:spPr>
          <a:xfrm>
            <a:off x="6492240" y="3063240"/>
            <a:ext cx="731520" cy="0"/>
          </a:xfrm>
          <a:prstGeom prst="line">
            <a:avLst/>
          </a:prstGeom>
          <a:ln w="31750">
            <a:solidFill>
              <a:srgbClr val="E095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452360" y="4343400"/>
            <a:ext cx="3474720" cy="365760"/>
          </a:xfrm>
          <a:prstGeom prst="rect">
            <a:avLst/>
          </a:prstGeom>
          <a:noFill/>
        </p:spPr>
        <p:txBody>
          <a:bodyPr wrap="square" anchor="t" lIns="0" rIns="0" tIns="0" bIns="0">
            <a:noAutofit/>
          </a:bodyPr>
          <a:lstStyle/>
          <a:p>
            <a:pPr algn="ctr">
              <a:spcAft>
                <a:spcPts val="600"/>
              </a:spcAft>
            </a:pPr>
            <a:r>
              <a:rPr sz="1300" b="0" i="1">
                <a:solidFill>
                  <a:srgbClr val="C24E36"/>
                </a:solidFill>
                <a:latin typeface="Calibri"/>
              </a:rPr>
              <a:t>a 1947 stage play, now typed as a movie</a:t>
            </a:r>
          </a:p>
        </p:txBody>
      </p:sp>
      <p:sp>
        <p:nvSpPr>
          <p:cNvPr id="18" name="Card: Why"/>
          <p:cNvSpPr/>
          <p:nvPr/>
        </p:nvSpPr>
        <p:spPr>
          <a:xfrm>
            <a:off x="548640" y="4800600"/>
            <a:ext cx="5410047" cy="1280160"/>
          </a:xfrm>
          <a:prstGeom prst="roundRect">
            <a:avLst>
              <a:gd name="adj" fmla="val 10000"/>
            </a:avLst>
          </a:prstGeom>
          <a:solidFill>
            <a:srgbClr val="F8E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77240" y="5065776"/>
            <a:ext cx="4952847" cy="41148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Why</a:t>
            </a:r>
          </a:p>
        </p:txBody>
      </p:sp>
      <p:sp>
        <p:nvSpPr>
          <p:cNvPr id="20" name="TextBox 19"/>
          <p:cNvSpPr txBox="1"/>
          <p:nvPr/>
        </p:nvSpPr>
        <p:spPr>
          <a:xfrm>
            <a:off x="777240" y="5486400"/>
            <a:ext cx="4952847" cy="457200"/>
          </a:xfrm>
          <a:prstGeom prst="rect">
            <a:avLst/>
          </a:prstGeom>
          <a:noFill/>
        </p:spPr>
        <p:txBody>
          <a:bodyPr wrap="square" anchor="t" lIns="0" rIns="0" tIns="0" bIns="0">
            <a:noAutofit/>
          </a:bodyPr>
          <a:lstStyle/>
          <a:p>
            <a:pPr algn="l">
              <a:spcAft>
                <a:spcPts val="500"/>
              </a:spcAft>
            </a:pPr>
            <a:r>
              <a:rPr sz="1400" b="0" i="0">
                <a:solidFill>
                  <a:srgbClr val="17272E"/>
                </a:solidFill>
                <a:latin typeface="Calibri"/>
              </a:rPr>
              <a:t>RDFS describes sets and how data flows between them. It is not validation.</a:t>
            </a:r>
          </a:p>
        </p:txBody>
      </p:sp>
      <p:sp>
        <p:nvSpPr>
          <p:cNvPr id="21" name="Card: Do"/>
          <p:cNvSpPr/>
          <p:nvPr/>
        </p:nvSpPr>
        <p:spPr>
          <a:xfrm>
            <a:off x="6233007" y="4800600"/>
            <a:ext cx="5410047" cy="1280160"/>
          </a:xfrm>
          <a:prstGeom prst="roundRect">
            <a:avLst>
              <a:gd name="adj" fmla="val 10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61607" y="5065776"/>
            <a:ext cx="4952847" cy="41148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Do</a:t>
            </a:r>
          </a:p>
        </p:txBody>
      </p:sp>
      <p:sp>
        <p:nvSpPr>
          <p:cNvPr id="23" name="TextBox 22"/>
          <p:cNvSpPr txBox="1"/>
          <p:nvPr/>
        </p:nvSpPr>
        <p:spPr>
          <a:xfrm>
            <a:off x="6461607" y="5486400"/>
            <a:ext cx="4952847" cy="457200"/>
          </a:xfrm>
          <a:prstGeom prst="rect">
            <a:avLst/>
          </a:prstGeom>
          <a:noFill/>
        </p:spPr>
        <p:txBody>
          <a:bodyPr wrap="square" anchor="t" lIns="0" rIns="0" tIns="0" bIns="0">
            <a:noAutofit/>
          </a:bodyPr>
          <a:lstStyle/>
          <a:p>
            <a:pPr algn="l">
              <a:spcAft>
                <a:spcPts val="500"/>
              </a:spcAft>
            </a:pPr>
            <a:r>
              <a:rPr sz="1400" b="0" i="0">
                <a:solidFill>
                  <a:srgbClr val="17272E"/>
                </a:solidFill>
                <a:latin typeface="Calibri"/>
              </a:rPr>
              <a:t>Use domain and range deliberately, as tools for classification and discovery.</a:t>
            </a:r>
          </a:p>
        </p:txBody>
      </p:sp>
      <p:sp>
        <p:nvSpPr>
          <p:cNvPr id="24"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25"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RDFS-Plus: let the engine work out sameness</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5 · RDFS-PLUS</a:t>
            </a:r>
          </a:p>
        </p:txBody>
      </p:sp>
      <p:sp>
        <p:nvSpPr>
          <p:cNvPr id="4" name="Code: Turtle"/>
          <p:cNvSpPr/>
          <p:nvPr/>
        </p:nvSpPr>
        <p:spPr>
          <a:xfrm>
            <a:off x="548640" y="1645920"/>
            <a:ext cx="5760720" cy="1965960"/>
          </a:xfrm>
          <a:prstGeom prst="roundRect">
            <a:avLst>
              <a:gd name="adj" fmla="val 5581"/>
            </a:avLst>
          </a:prstGeom>
          <a:solidFill>
            <a:srgbClr val="1C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846319" y="1755648"/>
            <a:ext cx="1280160" cy="228600"/>
          </a:xfrm>
          <a:prstGeom prst="rect">
            <a:avLst/>
          </a:prstGeom>
          <a:noFill/>
        </p:spPr>
        <p:txBody>
          <a:bodyPr wrap="square" anchor="t" lIns="0" rIns="0" tIns="0" bIns="0">
            <a:noAutofit/>
          </a:bodyPr>
          <a:lstStyle/>
          <a:p>
            <a:pPr algn="r">
              <a:spcAft>
                <a:spcPts val="600"/>
              </a:spcAft>
            </a:pPr>
            <a:r>
              <a:rPr sz="1000" b="1" i="0">
                <a:solidFill>
                  <a:srgbClr val="869AA0"/>
                </a:solidFill>
                <a:latin typeface="Calibri"/>
              </a:rPr>
              <a:t>TURTLE</a:t>
            </a:r>
          </a:p>
        </p:txBody>
      </p:sp>
      <p:sp>
        <p:nvSpPr>
          <p:cNvPr id="6" name="TextBox 5"/>
          <p:cNvSpPr txBox="1"/>
          <p:nvPr/>
        </p:nvSpPr>
        <p:spPr>
          <a:xfrm>
            <a:off x="777240" y="1847088"/>
            <a:ext cx="5303520" cy="1600200"/>
          </a:xfrm>
          <a:prstGeom prst="rect">
            <a:avLst/>
          </a:prstGeom>
          <a:noFill/>
        </p:spPr>
        <p:txBody>
          <a:bodyPr wrap="none" lIns="0" rIns="0" tIns="0" bIns="0">
            <a:noAutofit/>
          </a:bodyPr>
          <a:lstStyle/>
          <a:p>
            <a:pPr>
              <a:lnSpc>
                <a:spcPct val="105000"/>
              </a:lnSpc>
            </a:pPr>
            <a:r>
              <a:rPr sz="1200" b="1" i="0">
                <a:solidFill>
                  <a:srgbClr val="F2B866"/>
                </a:solidFill>
                <a:latin typeface="Consolas"/>
              </a:rPr>
              <a:t>@prefix</a:t>
            </a:r>
            <a:r>
              <a:rPr sz="1200" b="0" i="0">
                <a:solidFill>
                  <a:srgbClr val="E3EBEE"/>
                </a:solidFill>
                <a:latin typeface="Consolas"/>
              </a:rPr>
              <a:t> :    </a:t>
            </a:r>
            <a:r>
              <a:rPr sz="1200" b="0" i="0">
                <a:solidFill>
                  <a:srgbClr val="9AB0B8"/>
                </a:solidFill>
                <a:latin typeface="Consolas"/>
              </a:rPr>
              <a:t>&lt;http://studio.example/&gt;</a:t>
            </a:r>
            <a:r>
              <a:rPr sz="1200" b="0" i="0">
                <a:solidFill>
                  <a:srgbClr val="E3EBEE"/>
                </a:solidFill>
                <a:latin typeface="Consolas"/>
              </a:rPr>
              <a:t> .</a:t>
            </a:r>
          </a:p>
          <a:p>
            <a:pPr>
              <a:lnSpc>
                <a:spcPct val="105000"/>
              </a:lnSpc>
            </a:pPr>
            <a:r>
              <a:rPr sz="1200" b="1" i="0">
                <a:solidFill>
                  <a:srgbClr val="F2B866"/>
                </a:solidFill>
                <a:latin typeface="Consolas"/>
              </a:rPr>
              <a:t>@prefix</a:t>
            </a:r>
            <a:r>
              <a:rPr sz="1200" b="0" i="0">
                <a:solidFill>
                  <a:srgbClr val="E3EBEE"/>
                </a:solidFill>
                <a:latin typeface="Consolas"/>
              </a:rPr>
              <a:t> </a:t>
            </a:r>
            <a:r>
              <a:rPr sz="1200" b="0" i="0">
                <a:solidFill>
                  <a:srgbClr val="A8CFF0"/>
                </a:solidFill>
                <a:latin typeface="Consolas"/>
              </a:rPr>
              <a:t>fan:</a:t>
            </a:r>
            <a:r>
              <a:rPr sz="1200" b="0" i="0">
                <a:solidFill>
                  <a:srgbClr val="E3EBEE"/>
                </a:solidFill>
                <a:latin typeface="Consolas"/>
              </a:rPr>
              <a:t> </a:t>
            </a:r>
            <a:r>
              <a:rPr sz="1200" b="0" i="0">
                <a:solidFill>
                  <a:srgbClr val="9AB0B8"/>
                </a:solidFill>
                <a:latin typeface="Consolas"/>
              </a:rPr>
              <a:t>&lt;http://fanwiki.example/id/&gt;</a:t>
            </a:r>
            <a:r>
              <a:rPr sz="1200" b="0" i="0">
                <a:solidFill>
                  <a:srgbClr val="E3EBEE"/>
                </a:solidFill>
                <a:latin typeface="Consolas"/>
              </a:rPr>
              <a:t> .</a:t>
            </a:r>
          </a:p>
          <a:p>
            <a:pPr>
              <a:lnSpc>
                <a:spcPct val="105000"/>
              </a:lnSpc>
            </a:pPr>
            <a:r>
              <a:rPr sz="1200" b="1" i="0">
                <a:solidFill>
                  <a:srgbClr val="F2B866"/>
                </a:solidFill>
                <a:latin typeface="Consolas"/>
              </a:rPr>
              <a:t>@prefix</a:t>
            </a:r>
            <a:r>
              <a:rPr sz="1200" b="0" i="0">
                <a:solidFill>
                  <a:srgbClr val="E3EBEE"/>
                </a:solidFill>
                <a:latin typeface="Consolas"/>
              </a:rPr>
              <a:t> </a:t>
            </a:r>
            <a:r>
              <a:rPr sz="1200" b="0" i="0">
                <a:solidFill>
                  <a:srgbClr val="A8CFF0"/>
                </a:solidFill>
                <a:latin typeface="Consolas"/>
              </a:rPr>
              <a:t>owl:</a:t>
            </a:r>
            <a:r>
              <a:rPr sz="1200" b="0" i="0">
                <a:solidFill>
                  <a:srgbClr val="E3EBEE"/>
                </a:solidFill>
                <a:latin typeface="Consolas"/>
              </a:rPr>
              <a:t> </a:t>
            </a:r>
            <a:r>
              <a:rPr sz="1200" b="0" i="0">
                <a:solidFill>
                  <a:srgbClr val="9AB0B8"/>
                </a:solidFill>
                <a:latin typeface="Consolas"/>
              </a:rPr>
              <a:t>&lt;http://www.w3.org/2002/07/owl#&gt;</a:t>
            </a:r>
            <a:r>
              <a:rPr sz="1200" b="0" i="0">
                <a:solidFill>
                  <a:srgbClr val="E3EBEE"/>
                </a:solidFill>
                <a:latin typeface="Consolas"/>
              </a:rPr>
              <a:t> .</a:t>
            </a:r>
          </a:p>
          <a:p>
            <a:pPr>
              <a:lnSpc>
                <a:spcPct val="105000"/>
              </a:lnSpc>
            </a:pPr>
            <a:r>
              <a:rPr sz="1200" b="0" i="0">
                <a:solidFill>
                  <a:srgbClr val="A8CFF0"/>
                </a:solidFill>
                <a:latin typeface="Consolas"/>
              </a:rPr>
              <a:t>fan:Star</a:t>
            </a:r>
            <a:r>
              <a:rPr sz="1200" b="0" i="0">
                <a:solidFill>
                  <a:srgbClr val="E3EBEE"/>
                </a:solidFill>
                <a:latin typeface="Consolas"/>
              </a:rPr>
              <a:t>       </a:t>
            </a:r>
            <a:r>
              <a:rPr sz="1200" b="0" i="0">
                <a:solidFill>
                  <a:srgbClr val="A8CFF0"/>
                </a:solidFill>
                <a:latin typeface="Consolas"/>
              </a:rPr>
              <a:t>owl:equivalentClass</a:t>
            </a:r>
            <a:r>
              <a:rPr sz="1200" b="0" i="0">
                <a:solidFill>
                  <a:srgbClr val="E3EBEE"/>
                </a:solidFill>
                <a:latin typeface="Consolas"/>
              </a:rPr>
              <a:t>    </a:t>
            </a:r>
            <a:r>
              <a:rPr sz="1200" b="0" i="0">
                <a:solidFill>
                  <a:srgbClr val="A8CFF0"/>
                </a:solidFill>
                <a:latin typeface="Consolas"/>
              </a:rPr>
              <a:t>:Actor</a:t>
            </a:r>
            <a:r>
              <a:rPr sz="1200" b="0" i="0">
                <a:solidFill>
                  <a:srgbClr val="E3EBEE"/>
                </a:solidFill>
                <a:latin typeface="Consolas"/>
              </a:rPr>
              <a:t> .</a:t>
            </a:r>
          </a:p>
          <a:p>
            <a:pPr>
              <a:lnSpc>
                <a:spcPct val="105000"/>
              </a:lnSpc>
            </a:pPr>
            <a:r>
              <a:rPr sz="1200" b="0" i="0">
                <a:solidFill>
                  <a:srgbClr val="A8CFF0"/>
                </a:solidFill>
                <a:latin typeface="Consolas"/>
              </a:rPr>
              <a:t>fan:name</a:t>
            </a:r>
            <a:r>
              <a:rPr sz="1200" b="0" i="0">
                <a:solidFill>
                  <a:srgbClr val="E3EBEE"/>
                </a:solidFill>
                <a:latin typeface="Consolas"/>
              </a:rPr>
              <a:t>       </a:t>
            </a:r>
            <a:r>
              <a:rPr sz="1200" b="0" i="0">
                <a:solidFill>
                  <a:srgbClr val="A8CFF0"/>
                </a:solidFill>
                <a:latin typeface="Consolas"/>
              </a:rPr>
              <a:t>owl:equivalentProperty</a:t>
            </a:r>
            <a:r>
              <a:rPr sz="1200" b="0" i="0">
                <a:solidFill>
                  <a:srgbClr val="E3EBEE"/>
                </a:solidFill>
                <a:latin typeface="Consolas"/>
              </a:rPr>
              <a:t> </a:t>
            </a:r>
            <a:r>
              <a:rPr sz="1200" b="0" i="0">
                <a:solidFill>
                  <a:srgbClr val="A8CFF0"/>
                </a:solidFill>
                <a:latin typeface="Consolas"/>
              </a:rPr>
              <a:t>:personName</a:t>
            </a:r>
            <a:r>
              <a:rPr sz="1200" b="0" i="0">
                <a:solidFill>
                  <a:srgbClr val="E3EBEE"/>
                </a:solidFill>
                <a:latin typeface="Consolas"/>
              </a:rPr>
              <a:t> .</a:t>
            </a:r>
          </a:p>
          <a:p>
            <a:pPr>
              <a:lnSpc>
                <a:spcPct val="105000"/>
              </a:lnSpc>
            </a:pPr>
            <a:r>
              <a:rPr sz="1200" b="0" i="0">
                <a:solidFill>
                  <a:srgbClr val="A8CFF0"/>
                </a:solidFill>
                <a:latin typeface="Consolas"/>
              </a:rPr>
              <a:t>fan:registryId</a:t>
            </a:r>
            <a:r>
              <a:rPr sz="1200" b="0" i="0">
                <a:solidFill>
                  <a:srgbClr val="E3EBEE"/>
                </a:solidFill>
                <a:latin typeface="Consolas"/>
              </a:rPr>
              <a:t> </a:t>
            </a:r>
            <a:r>
              <a:rPr sz="1200" b="0" i="0">
                <a:solidFill>
                  <a:srgbClr val="A8CFF0"/>
                </a:solidFill>
                <a:latin typeface="Consolas"/>
              </a:rPr>
              <a:t>owl:equivalentProperty</a:t>
            </a:r>
            <a:r>
              <a:rPr sz="1200" b="0" i="0">
                <a:solidFill>
                  <a:srgbClr val="E3EBEE"/>
                </a:solidFill>
                <a:latin typeface="Consolas"/>
              </a:rPr>
              <a:t> </a:t>
            </a:r>
            <a:r>
              <a:rPr sz="1200" b="0" i="0">
                <a:solidFill>
                  <a:srgbClr val="A8CFF0"/>
                </a:solidFill>
                <a:latin typeface="Consolas"/>
              </a:rPr>
              <a:t>:registryId</a:t>
            </a:r>
            <a:r>
              <a:rPr sz="1200" b="0" i="0">
                <a:solidFill>
                  <a:srgbClr val="E3EBEE"/>
                </a:solidFill>
                <a:latin typeface="Consolas"/>
              </a:rPr>
              <a:t> .</a:t>
            </a:r>
          </a:p>
          <a:p>
            <a:pPr>
              <a:lnSpc>
                <a:spcPct val="105000"/>
              </a:lnSpc>
            </a:pPr>
            <a:r>
              <a:rPr sz="1200" b="0" i="0">
                <a:solidFill>
                  <a:srgbClr val="A8CFF0"/>
                </a:solidFill>
                <a:latin typeface="Consolas"/>
              </a:rPr>
              <a:t>:registryId</a:t>
            </a:r>
            <a:r>
              <a:rPr sz="1200" b="0" i="0">
                <a:solidFill>
                  <a:srgbClr val="E3EBEE"/>
                </a:solidFill>
                <a:latin typeface="Consolas"/>
              </a:rPr>
              <a:t> </a:t>
            </a:r>
            <a:r>
              <a:rPr sz="1200" b="1" i="0">
                <a:solidFill>
                  <a:srgbClr val="F2B866"/>
                </a:solidFill>
                <a:latin typeface="Consolas"/>
              </a:rPr>
              <a:t>a</a:t>
            </a:r>
            <a:r>
              <a:rPr sz="1200" b="0" i="0">
                <a:solidFill>
                  <a:srgbClr val="E3EBEE"/>
                </a:solidFill>
                <a:latin typeface="Consolas"/>
              </a:rPr>
              <a:t> </a:t>
            </a:r>
            <a:r>
              <a:rPr sz="1200" b="0" i="0">
                <a:solidFill>
                  <a:srgbClr val="A8CFF0"/>
                </a:solidFill>
                <a:latin typeface="Consolas"/>
              </a:rPr>
              <a:t>owl:InverseFunctionalProperty</a:t>
            </a:r>
            <a:r>
              <a:rPr sz="1200" b="0" i="0">
                <a:solidFill>
                  <a:srgbClr val="E3EBEE"/>
                </a:solidFill>
                <a:latin typeface="Consolas"/>
              </a:rPr>
              <a:t> .</a:t>
            </a:r>
          </a:p>
        </p:txBody>
      </p:sp>
      <p:cxnSp>
        <p:nvCxnSpPr>
          <p:cNvPr id="7" name="Edge: fan:registryId"/>
          <p:cNvCxnSpPr/>
          <p:nvPr/>
        </p:nvCxnSpPr>
        <p:spPr>
          <a:xfrm>
            <a:off x="7911136" y="2331720"/>
            <a:ext cx="1048407" cy="86868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301484" y="2619756"/>
            <a:ext cx="1444752"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200" b="1" i="0">
                <a:solidFill>
                  <a:srgbClr val="1F7A6D"/>
                </a:solidFill>
                <a:latin typeface="Consolas"/>
              </a:rPr>
              <a:t>fan:registryId</a:t>
            </a:r>
          </a:p>
        </p:txBody>
      </p:sp>
      <p:cxnSp>
        <p:nvCxnSpPr>
          <p:cNvPr id="9" name="Edge: :registryId"/>
          <p:cNvCxnSpPr/>
          <p:nvPr/>
        </p:nvCxnSpPr>
        <p:spPr>
          <a:xfrm flipH="1">
            <a:off x="9511336" y="2331720"/>
            <a:ext cx="1048407" cy="86868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809226" y="2619756"/>
            <a:ext cx="1184148"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200" b="1" i="0">
                <a:solidFill>
                  <a:srgbClr val="1F7A6D"/>
                </a:solidFill>
                <a:latin typeface="Consolas"/>
              </a:rPr>
              <a:t>:registryId</a:t>
            </a:r>
          </a:p>
        </p:txBody>
      </p:sp>
      <p:cxnSp>
        <p:nvCxnSpPr>
          <p:cNvPr id="11" name="Edge: owl:sameAs"/>
          <p:cNvCxnSpPr/>
          <p:nvPr/>
        </p:nvCxnSpPr>
        <p:spPr>
          <a:xfrm>
            <a:off x="8595360" y="2103120"/>
            <a:ext cx="1440180" cy="0"/>
          </a:xfrm>
          <a:prstGeom prst="line">
            <a:avLst/>
          </a:prstGeom>
          <a:ln w="25400">
            <a:solidFill>
              <a:srgbClr val="E0952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766810" y="1956815"/>
            <a:ext cx="1097280"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200" b="1" i="0">
                <a:solidFill>
                  <a:srgbClr val="E0952B"/>
                </a:solidFill>
                <a:latin typeface="Consolas"/>
              </a:rPr>
              <a:t>owl:sameAs</a:t>
            </a:r>
          </a:p>
        </p:txBody>
      </p:sp>
      <p:sp>
        <p:nvSpPr>
          <p:cNvPr id="13" name="Node: fan:Dean_James"/>
          <p:cNvSpPr/>
          <p:nvPr/>
        </p:nvSpPr>
        <p:spPr>
          <a:xfrm>
            <a:off x="6675120" y="1874519"/>
            <a:ext cx="192024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fan:Dean_James</a:t>
            </a:r>
          </a:p>
        </p:txBody>
      </p:sp>
      <p:sp>
        <p:nvSpPr>
          <p:cNvPr id="14" name="Node: :JamesDean"/>
          <p:cNvSpPr/>
          <p:nvPr/>
        </p:nvSpPr>
        <p:spPr>
          <a:xfrm>
            <a:off x="10035540" y="1874519"/>
            <a:ext cx="160020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:JamesDean</a:t>
            </a:r>
          </a:p>
        </p:txBody>
      </p:sp>
      <p:sp>
        <p:nvSpPr>
          <p:cNvPr id="15" name="Node: &quot;P-0015&quot;"/>
          <p:cNvSpPr/>
          <p:nvPr/>
        </p:nvSpPr>
        <p:spPr>
          <a:xfrm>
            <a:off x="8663940" y="3200400"/>
            <a:ext cx="1143000" cy="457200"/>
          </a:xfrm>
          <a:prstGeom prst="rect">
            <a:avLst/>
          </a:prstGeom>
          <a:solidFill>
            <a:srgbClr val="FFFFFF"/>
          </a:solidFill>
          <a:ln w="19050">
            <a:solidFill>
              <a:srgbClr val="1F7A6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0" i="0">
                <a:solidFill>
                  <a:srgbClr val="17272E"/>
                </a:solidFill>
                <a:latin typeface="Calibri"/>
              </a:rPr>
              <a:t>"P-0015"</a:t>
            </a:r>
          </a:p>
        </p:txBody>
      </p:sp>
      <p:sp>
        <p:nvSpPr>
          <p:cNvPr id="16" name="TextBox 15"/>
          <p:cNvSpPr txBox="1"/>
          <p:nvPr/>
        </p:nvSpPr>
        <p:spPr>
          <a:xfrm>
            <a:off x="6629400" y="3749039"/>
            <a:ext cx="5013655" cy="320040"/>
          </a:xfrm>
          <a:prstGeom prst="rect">
            <a:avLst/>
          </a:prstGeom>
          <a:noFill/>
        </p:spPr>
        <p:txBody>
          <a:bodyPr wrap="square" anchor="t" lIns="0" rIns="0" tIns="0" bIns="0">
            <a:noAutofit/>
          </a:bodyPr>
          <a:lstStyle/>
          <a:p>
            <a:pPr algn="ctr">
              <a:spcAft>
                <a:spcPts val="600"/>
              </a:spcAft>
            </a:pPr>
            <a:r>
              <a:rPr sz="1300" b="0" i="1">
                <a:solidFill>
                  <a:srgbClr val="E0952B"/>
                </a:solidFill>
                <a:latin typeface="Calibri"/>
              </a:rPr>
              <a:t>one registry id → one individual</a:t>
            </a:r>
          </a:p>
        </p:txBody>
      </p:sp>
      <p:sp>
        <p:nvSpPr>
          <p:cNvPr id="17" name="Code: SPARQL"/>
          <p:cNvSpPr/>
          <p:nvPr/>
        </p:nvSpPr>
        <p:spPr>
          <a:xfrm>
            <a:off x="548640" y="3840480"/>
            <a:ext cx="5760720" cy="2011680"/>
          </a:xfrm>
          <a:prstGeom prst="roundRect">
            <a:avLst>
              <a:gd name="adj" fmla="val 5454"/>
            </a:avLst>
          </a:prstGeom>
          <a:solidFill>
            <a:srgbClr val="1C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846319" y="3950208"/>
            <a:ext cx="1280160" cy="228600"/>
          </a:xfrm>
          <a:prstGeom prst="rect">
            <a:avLst/>
          </a:prstGeom>
          <a:noFill/>
        </p:spPr>
        <p:txBody>
          <a:bodyPr wrap="square" anchor="t" lIns="0" rIns="0" tIns="0" bIns="0">
            <a:noAutofit/>
          </a:bodyPr>
          <a:lstStyle/>
          <a:p>
            <a:pPr algn="r">
              <a:spcAft>
                <a:spcPts val="600"/>
              </a:spcAft>
            </a:pPr>
            <a:r>
              <a:rPr sz="1000" b="1" i="0">
                <a:solidFill>
                  <a:srgbClr val="869AA0"/>
                </a:solidFill>
                <a:latin typeface="Calibri"/>
              </a:rPr>
              <a:t>SPARQL</a:t>
            </a:r>
          </a:p>
        </p:txBody>
      </p:sp>
      <p:sp>
        <p:nvSpPr>
          <p:cNvPr id="19" name="TextBox 18"/>
          <p:cNvSpPr txBox="1"/>
          <p:nvPr/>
        </p:nvSpPr>
        <p:spPr>
          <a:xfrm>
            <a:off x="777240" y="4041648"/>
            <a:ext cx="5303520" cy="1645920"/>
          </a:xfrm>
          <a:prstGeom prst="rect">
            <a:avLst/>
          </a:prstGeom>
          <a:noFill/>
        </p:spPr>
        <p:txBody>
          <a:bodyPr wrap="none" lIns="0" rIns="0" tIns="0" bIns="0">
            <a:noAutofit/>
          </a:bodyPr>
          <a:lstStyle/>
          <a:p>
            <a:pPr>
              <a:lnSpc>
                <a:spcPct val="105000"/>
              </a:lnSpc>
            </a:pPr>
            <a:r>
              <a:rPr sz="1200" b="1" i="0">
                <a:solidFill>
                  <a:srgbClr val="F2B866"/>
                </a:solidFill>
                <a:latin typeface="Consolas"/>
              </a:rPr>
              <a:t>PREFIX</a:t>
            </a:r>
            <a:r>
              <a:rPr sz="1200" b="0" i="0">
                <a:solidFill>
                  <a:srgbClr val="E3EBEE"/>
                </a:solidFill>
                <a:latin typeface="Consolas"/>
              </a:rPr>
              <a:t> :    </a:t>
            </a:r>
            <a:r>
              <a:rPr sz="1200" b="0" i="0">
                <a:solidFill>
                  <a:srgbClr val="9AB0B8"/>
                </a:solidFill>
                <a:latin typeface="Consolas"/>
              </a:rPr>
              <a:t>&lt;http://studio.example/&gt;</a:t>
            </a:r>
          </a:p>
          <a:p>
            <a:pPr>
              <a:lnSpc>
                <a:spcPct val="105000"/>
              </a:lnSpc>
            </a:pPr>
            <a:r>
              <a:rPr sz="1200" b="1" i="0">
                <a:solidFill>
                  <a:srgbClr val="F2B866"/>
                </a:solidFill>
                <a:latin typeface="Consolas"/>
              </a:rPr>
              <a:t>PREFIX</a:t>
            </a:r>
            <a:r>
              <a:rPr sz="1200" b="0" i="0">
                <a:solidFill>
                  <a:srgbClr val="E3EBEE"/>
                </a:solidFill>
                <a:latin typeface="Consolas"/>
              </a:rPr>
              <a:t> </a:t>
            </a:r>
            <a:r>
              <a:rPr sz="1200" b="0" i="0">
                <a:solidFill>
                  <a:srgbClr val="A8CFF0"/>
                </a:solidFill>
                <a:latin typeface="Consolas"/>
              </a:rPr>
              <a:t>fan:</a:t>
            </a:r>
            <a:r>
              <a:rPr sz="1200" b="0" i="0">
                <a:solidFill>
                  <a:srgbClr val="E3EBEE"/>
                </a:solidFill>
                <a:latin typeface="Consolas"/>
              </a:rPr>
              <a:t> </a:t>
            </a:r>
            <a:r>
              <a:rPr sz="1200" b="0" i="0">
                <a:solidFill>
                  <a:srgbClr val="9AB0B8"/>
                </a:solidFill>
                <a:latin typeface="Consolas"/>
              </a:rPr>
              <a:t>&lt;http://fanwiki.example/id/&gt;</a:t>
            </a:r>
          </a:p>
          <a:p>
            <a:pPr>
              <a:lnSpc>
                <a:spcPct val="105000"/>
              </a:lnSpc>
            </a:pPr>
            <a:r>
              <a:rPr sz="1200" b="1" i="0">
                <a:solidFill>
                  <a:srgbClr val="F2B866"/>
                </a:solidFill>
                <a:latin typeface="Consolas"/>
              </a:rPr>
              <a:t>SELECT</a:t>
            </a:r>
            <a:r>
              <a:rPr sz="1200" b="0" i="0">
                <a:solidFill>
                  <a:srgbClr val="E3EBEE"/>
                </a:solidFill>
                <a:latin typeface="Consolas"/>
              </a:rPr>
              <a:t> </a:t>
            </a:r>
            <a:r>
              <a:rPr sz="1200" b="1" i="0">
                <a:solidFill>
                  <a:srgbClr val="F2B866"/>
                </a:solidFill>
                <a:latin typeface="Consolas"/>
              </a:rPr>
              <a:t>DISTINCT</a:t>
            </a:r>
            <a:r>
              <a:rPr sz="1200" b="0" i="0">
                <a:solidFill>
                  <a:srgbClr val="E3EBEE"/>
                </a:solidFill>
                <a:latin typeface="Consolas"/>
              </a:rPr>
              <a:t> </a:t>
            </a:r>
            <a:r>
              <a:rPr sz="1200" b="1" i="0">
                <a:solidFill>
                  <a:srgbClr val="7FD1C1"/>
                </a:solidFill>
                <a:latin typeface="Consolas"/>
              </a:rPr>
              <a:t>?title</a:t>
            </a:r>
            <a:r>
              <a:rPr sz="1200" b="0" i="0">
                <a:solidFill>
                  <a:srgbClr val="E3EBEE"/>
                </a:solidFill>
                <a:latin typeface="Consolas"/>
              </a:rPr>
              <a:t> </a:t>
            </a:r>
            <a:r>
              <a:rPr sz="1200" b="1" i="0">
                <a:solidFill>
                  <a:srgbClr val="7FD1C1"/>
                </a:solidFill>
                <a:latin typeface="Consolas"/>
              </a:rPr>
              <a:t>?birthplace</a:t>
            </a:r>
          </a:p>
          <a:p>
            <a:pPr>
              <a:lnSpc>
                <a:spcPct val="105000"/>
              </a:lnSpc>
            </a:pPr>
            <a:r>
              <a:rPr sz="1200" b="1" i="0">
                <a:solidFill>
                  <a:srgbClr val="F2B866"/>
                </a:solidFill>
                <a:latin typeface="Consolas"/>
              </a:rPr>
              <a:t>WHERE</a:t>
            </a:r>
            <a:r>
              <a:rPr sz="1200" b="0" i="0">
                <a:solidFill>
                  <a:srgbClr val="E3EBEE"/>
                </a:solidFill>
                <a:latin typeface="Consolas"/>
              </a:rPr>
              <a:t> {</a:t>
            </a:r>
          </a:p>
          <a:p>
            <a:pPr>
              <a:lnSpc>
                <a:spcPct val="105000"/>
              </a:lnSpc>
            </a:pPr>
            <a:r>
              <a:rPr sz="1200" b="0" i="0">
                <a:solidFill>
                  <a:srgbClr val="E3EBEE"/>
                </a:solidFill>
                <a:latin typeface="Consolas"/>
              </a:rPr>
              <a:t>  </a:t>
            </a:r>
            <a:r>
              <a:rPr sz="1200" b="0" i="0">
                <a:solidFill>
                  <a:srgbClr val="A8CFF0"/>
                </a:solidFill>
                <a:latin typeface="Consolas"/>
              </a:rPr>
              <a:t>:Giant</a:t>
            </a:r>
            <a:r>
              <a:rPr sz="1200" b="0" i="0">
                <a:solidFill>
                  <a:srgbClr val="E3EBEE"/>
                </a:solidFill>
                <a:latin typeface="Consolas"/>
              </a:rPr>
              <a:t> </a:t>
            </a:r>
            <a:r>
              <a:rPr sz="1200" b="0" i="0">
                <a:solidFill>
                  <a:srgbClr val="A8CFF0"/>
                </a:solidFill>
                <a:latin typeface="Consolas"/>
              </a:rPr>
              <a:t>:starring</a:t>
            </a:r>
            <a:r>
              <a:rPr sz="1200" b="0" i="0">
                <a:solidFill>
                  <a:srgbClr val="E3EBEE"/>
                </a:solidFill>
                <a:latin typeface="Consolas"/>
              </a:rPr>
              <a:t> </a:t>
            </a:r>
            <a:r>
              <a:rPr sz="1200" b="1" i="0">
                <a:solidFill>
                  <a:srgbClr val="7FD1C1"/>
                </a:solidFill>
                <a:latin typeface="Consolas"/>
              </a:rPr>
              <a:t>?star</a:t>
            </a:r>
            <a:r>
              <a:rPr sz="1200" b="0" i="0">
                <a:solidFill>
                  <a:srgbClr val="E3EBEE"/>
                </a:solidFill>
                <a:latin typeface="Consolas"/>
              </a:rPr>
              <a:t> ;</a:t>
            </a:r>
          </a:p>
          <a:p>
            <a:pPr>
              <a:lnSpc>
                <a:spcPct val="105000"/>
              </a:lnSpc>
            </a:pPr>
            <a:r>
              <a:rPr sz="1200" b="0" i="0">
                <a:solidFill>
                  <a:srgbClr val="E3EBEE"/>
                </a:solidFill>
                <a:latin typeface="Consolas"/>
              </a:rPr>
              <a:t>         </a:t>
            </a:r>
            <a:r>
              <a:rPr sz="1200" b="0" i="0">
                <a:solidFill>
                  <a:srgbClr val="A8CFF0"/>
                </a:solidFill>
                <a:latin typeface="Consolas"/>
              </a:rPr>
              <a:t>:movieTitle</a:t>
            </a:r>
            <a:r>
              <a:rPr sz="1200" b="0" i="0">
                <a:solidFill>
                  <a:srgbClr val="E3EBEE"/>
                </a:solidFill>
                <a:latin typeface="Consolas"/>
              </a:rPr>
              <a:t> </a:t>
            </a:r>
            <a:r>
              <a:rPr sz="1200" b="1" i="0">
                <a:solidFill>
                  <a:srgbClr val="7FD1C1"/>
                </a:solidFill>
                <a:latin typeface="Consolas"/>
              </a:rPr>
              <a:t>?title</a:t>
            </a:r>
            <a:r>
              <a:rPr sz="1200" b="0" i="0">
                <a:solidFill>
                  <a:srgbClr val="E3EBEE"/>
                </a:solidFill>
                <a:latin typeface="Consolas"/>
              </a:rPr>
              <a:t> .</a:t>
            </a:r>
          </a:p>
          <a:p>
            <a:pPr>
              <a:lnSpc>
                <a:spcPct val="105000"/>
              </a:lnSpc>
            </a:pPr>
            <a:r>
              <a:rPr sz="1200" b="0" i="0">
                <a:solidFill>
                  <a:srgbClr val="E3EBEE"/>
                </a:solidFill>
                <a:latin typeface="Consolas"/>
              </a:rPr>
              <a:t>  </a:t>
            </a:r>
            <a:r>
              <a:rPr sz="1200" b="1" i="0">
                <a:solidFill>
                  <a:srgbClr val="7FD1C1"/>
                </a:solidFill>
                <a:latin typeface="Consolas"/>
              </a:rPr>
              <a:t>?star</a:t>
            </a:r>
            <a:r>
              <a:rPr sz="1200" b="0" i="0">
                <a:solidFill>
                  <a:srgbClr val="E3EBEE"/>
                </a:solidFill>
                <a:latin typeface="Consolas"/>
              </a:rPr>
              <a:t> </a:t>
            </a:r>
            <a:r>
              <a:rPr sz="1200" b="0" i="0">
                <a:solidFill>
                  <a:srgbClr val="A8CFF0"/>
                </a:solidFill>
                <a:latin typeface="Consolas"/>
              </a:rPr>
              <a:t>fan:bornIn</a:t>
            </a:r>
            <a:r>
              <a:rPr sz="1200" b="0" i="0">
                <a:solidFill>
                  <a:srgbClr val="E3EBEE"/>
                </a:solidFill>
                <a:latin typeface="Consolas"/>
              </a:rPr>
              <a:t> </a:t>
            </a:r>
            <a:r>
              <a:rPr sz="1200" b="1" i="0">
                <a:solidFill>
                  <a:srgbClr val="7FD1C1"/>
                </a:solidFill>
                <a:latin typeface="Consolas"/>
              </a:rPr>
              <a:t>?birthplace</a:t>
            </a:r>
            <a:r>
              <a:rPr sz="1200" b="0" i="0">
                <a:solidFill>
                  <a:srgbClr val="E3EBEE"/>
                </a:solidFill>
                <a:latin typeface="Consolas"/>
              </a:rPr>
              <a:t> .</a:t>
            </a:r>
          </a:p>
          <a:p>
            <a:pPr>
              <a:lnSpc>
                <a:spcPct val="105000"/>
              </a:lnSpc>
            </a:pPr>
            <a:r>
              <a:rPr sz="1200" b="0" i="0">
                <a:solidFill>
                  <a:srgbClr val="E3EBEE"/>
                </a:solidFill>
                <a:latin typeface="Consolas"/>
              </a:rPr>
              <a:t>}</a:t>
            </a:r>
          </a:p>
        </p:txBody>
      </p:sp>
      <p:sp>
        <p:nvSpPr>
          <p:cNvPr id="20" name="TextBox 19"/>
          <p:cNvSpPr txBox="1"/>
          <p:nvPr/>
        </p:nvSpPr>
        <p:spPr>
          <a:xfrm>
            <a:off x="6629400" y="4343400"/>
            <a:ext cx="2011680" cy="274320"/>
          </a:xfrm>
          <a:prstGeom prst="rect">
            <a:avLst/>
          </a:prstGeom>
          <a:noFill/>
        </p:spPr>
        <p:txBody>
          <a:bodyPr wrap="square" anchor="t" lIns="0" rIns="0" tIns="0" bIns="0">
            <a:noAutofit/>
          </a:bodyPr>
          <a:lstStyle/>
          <a:p>
            <a:pPr algn="l">
              <a:spcAft>
                <a:spcPts val="600"/>
              </a:spcAft>
            </a:pPr>
            <a:r>
              <a:rPr sz="1300" b="1" i="0">
                <a:solidFill>
                  <a:srgbClr val="5B6B70"/>
                </a:solidFill>
                <a:latin typeface="Calibri"/>
              </a:rPr>
              <a:t>Before alignment</a:t>
            </a:r>
          </a:p>
        </p:txBody>
      </p:sp>
      <p:sp>
        <p:nvSpPr>
          <p:cNvPr id="21" name="TextBox 20"/>
          <p:cNvSpPr txBox="1"/>
          <p:nvPr/>
        </p:nvSpPr>
        <p:spPr>
          <a:xfrm>
            <a:off x="6629400" y="4663440"/>
            <a:ext cx="2011680" cy="731520"/>
          </a:xfrm>
          <a:prstGeom prst="rect">
            <a:avLst/>
          </a:prstGeom>
          <a:noFill/>
        </p:spPr>
        <p:txBody>
          <a:bodyPr wrap="square" anchor="t" lIns="0" rIns="0" tIns="0" bIns="0">
            <a:noAutofit/>
          </a:bodyPr>
          <a:lstStyle/>
          <a:p>
            <a:pPr algn="l">
              <a:spcAft>
                <a:spcPts val="600"/>
              </a:spcAft>
            </a:pPr>
            <a:r>
              <a:rPr sz="3600" b="1" i="0">
                <a:solidFill>
                  <a:srgbClr val="C24E36"/>
                </a:solidFill>
                <a:latin typeface="Cambria"/>
              </a:rPr>
              <a:t>0 rows</a:t>
            </a:r>
          </a:p>
        </p:txBody>
      </p:sp>
      <p:cxnSp>
        <p:nvCxnSpPr>
          <p:cNvPr id="22" name="Connector 21"/>
          <p:cNvCxnSpPr/>
          <p:nvPr/>
        </p:nvCxnSpPr>
        <p:spPr>
          <a:xfrm>
            <a:off x="8458200" y="5029200"/>
            <a:ext cx="457200" cy="0"/>
          </a:xfrm>
          <a:prstGeom prst="line">
            <a:avLst/>
          </a:prstGeom>
          <a:ln w="31750">
            <a:solidFill>
              <a:srgbClr val="E095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098280" y="4343400"/>
            <a:ext cx="2544775" cy="274320"/>
          </a:xfrm>
          <a:prstGeom prst="rect">
            <a:avLst/>
          </a:prstGeom>
          <a:noFill/>
        </p:spPr>
        <p:txBody>
          <a:bodyPr wrap="square" anchor="t" lIns="0" rIns="0" tIns="0" bIns="0">
            <a:noAutofit/>
          </a:bodyPr>
          <a:lstStyle/>
          <a:p>
            <a:pPr algn="l">
              <a:spcAft>
                <a:spcPts val="600"/>
              </a:spcAft>
            </a:pPr>
            <a:r>
              <a:rPr sz="1300" b="1" i="0">
                <a:solidFill>
                  <a:srgbClr val="5B6B70"/>
                </a:solidFill>
                <a:latin typeface="Calibri"/>
              </a:rPr>
              <a:t>After OWL RL inference</a:t>
            </a:r>
          </a:p>
        </p:txBody>
      </p:sp>
      <p:graphicFrame>
        <p:nvGraphicFramePr>
          <p:cNvPr id="24" name="Table 23"/>
          <p:cNvGraphicFramePr>
            <a:graphicFrameLocks noGrp="1"/>
          </p:cNvGraphicFramePr>
          <p:nvPr/>
        </p:nvGraphicFramePr>
        <p:xfrm>
          <a:off x="9098280" y="4709160"/>
          <a:ext cx="2544775" cy="731520"/>
        </p:xfrm>
        <a:graphic>
          <a:graphicData uri="http://schemas.openxmlformats.org/drawingml/2006/table">
            <a:tbl>
              <a:tblPr firstRow="0" bandRow="0">
                <a:tableStyleId>{5C22544A-7EE6-4342-B048-85BDC9FD1C3A}</a:tableStyleId>
              </a:tblPr>
              <a:tblGrid>
                <a:gridCol w="868680"/>
                <a:gridCol w="1676095"/>
              </a:tblGrid>
              <a:tr h="365760">
                <a:tc>
                  <a:txBody>
                    <a:bodyPr wrap="square"/>
                    <a:lstStyle/>
                    <a:p>
                      <a:r>
                        <a:rPr sz="1300" b="1" i="0">
                          <a:solidFill>
                            <a:srgbClr val="FFFFFF"/>
                          </a:solidFill>
                          <a:latin typeface="Calibri"/>
                        </a:rPr>
                        <a:t>title</a:t>
                      </a:r>
                    </a:p>
                  </a:txBody>
                  <a:tcPr marL="91440" marR="91440" marT="27432" marB="27432" anchor="ctr">
                    <a:solidFill>
                      <a:srgbClr val="1F7A6D"/>
                    </a:solidFill>
                  </a:tcPr>
                </a:tc>
                <a:tc>
                  <a:txBody>
                    <a:bodyPr wrap="square"/>
                    <a:lstStyle/>
                    <a:p>
                      <a:r>
                        <a:rPr sz="1300" b="1" i="0">
                          <a:solidFill>
                            <a:srgbClr val="FFFFFF"/>
                          </a:solidFill>
                          <a:latin typeface="Calibri"/>
                        </a:rPr>
                        <a:t>birthplace</a:t>
                      </a:r>
                    </a:p>
                  </a:txBody>
                  <a:tcPr marL="91440" marR="91440" marT="27432" marB="27432" anchor="ctr">
                    <a:solidFill>
                      <a:srgbClr val="1F7A6D"/>
                    </a:solidFill>
                  </a:tcPr>
                </a:tc>
              </a:tr>
              <a:tr h="365760">
                <a:tc>
                  <a:txBody>
                    <a:bodyPr wrap="square"/>
                    <a:lstStyle/>
                    <a:p>
                      <a:r>
                        <a:rPr sz="1300" b="0" i="0">
                          <a:solidFill>
                            <a:srgbClr val="17272E"/>
                          </a:solidFill>
                          <a:latin typeface="Calibri"/>
                        </a:rPr>
                        <a:t>Giant</a:t>
                      </a:r>
                    </a:p>
                  </a:txBody>
                  <a:tcPr marL="91440" marR="91440" marT="27432" marB="27432" anchor="ctr">
                    <a:solidFill>
                      <a:srgbClr val="FFFFFF"/>
                    </a:solidFill>
                  </a:tcPr>
                </a:tc>
                <a:tc>
                  <a:txBody>
                    <a:bodyPr wrap="square"/>
                    <a:lstStyle/>
                    <a:p>
                      <a:r>
                        <a:rPr sz="1300" b="0" i="0">
                          <a:solidFill>
                            <a:srgbClr val="17272E"/>
                          </a:solidFill>
                          <a:latin typeface="Calibri"/>
                        </a:rPr>
                        <a:t>Marion, Indiana</a:t>
                      </a:r>
                    </a:p>
                  </a:txBody>
                  <a:tcPr marL="91440" marR="91440" marT="27432" marB="27432" anchor="ctr">
                    <a:solidFill>
                      <a:srgbClr val="FFFFFF"/>
                    </a:solidFill>
                  </a:tcPr>
                </a:tc>
              </a:tr>
            </a:tbl>
          </a:graphicData>
        </a:graphic>
      </p:graphicFrame>
      <p:sp>
        <p:nvSpPr>
          <p:cNvPr id="25"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26"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7272E"/>
        </a:solidFill>
        <a:effectLst/>
      </p:bgPr>
    </p:bg>
    <p:spTree>
      <p:nvGrpSpPr>
        <p:cNvPr id="1" name=""/>
        <p:cNvGrpSpPr/>
        <p:nvPr/>
      </p:nvGrpSpPr>
      <p:grpSpPr/>
      <p:sp>
        <p:nvSpPr>
          <p:cNvPr id="2" name="Title 1"/>
          <p:cNvSpPr>
            <a:spLocks noGrp="1"/>
          </p:cNvSpPr>
          <p:nvPr>
            <p:ph type="title"/>
          </p:nvPr>
        </p:nvSpPr>
        <p:spPr>
          <a:xfrm>
            <a:off x="548640" y="3154680"/>
            <a:ext cx="6949440" cy="1371600"/>
          </a:xfrm>
        </p:spPr>
        <p:txBody>
          <a:bodyPr wrap="square" anchor="t" lIns="0" rIns="0" tIns="0" bIns="0">
            <a:noAutofit/>
          </a:bodyPr>
          <a:lstStyle/>
          <a:p>
            <a:pPr algn="l"/>
            <a:r>
              <a:rPr sz="4000" b="1" i="0">
                <a:solidFill>
                  <a:srgbClr val="FFFFFF"/>
                </a:solidFill>
                <a:latin typeface="Cambria"/>
              </a:rPr>
              <a:t>Deep dive: vocabularies in the wild</a:t>
            </a:r>
          </a:p>
        </p:txBody>
      </p:sp>
      <p:sp>
        <p:nvSpPr>
          <p:cNvPr id="3" name="Part number"/>
          <p:cNvSpPr txBox="1"/>
          <p:nvPr/>
        </p:nvSpPr>
        <p:spPr>
          <a:xfrm>
            <a:off x="548640" y="1325880"/>
            <a:ext cx="2743200" cy="1280160"/>
          </a:xfrm>
          <a:prstGeom prst="rect">
            <a:avLst/>
          </a:prstGeom>
          <a:noFill/>
        </p:spPr>
        <p:txBody>
          <a:bodyPr wrap="square" anchor="t" lIns="0" rIns="0" tIns="0" bIns="0">
            <a:noAutofit/>
          </a:bodyPr>
          <a:lstStyle/>
          <a:p>
            <a:pPr algn="l">
              <a:spcAft>
                <a:spcPts val="600"/>
              </a:spcAft>
            </a:pPr>
            <a:r>
              <a:rPr sz="9600" b="1" i="0">
                <a:solidFill>
                  <a:srgbClr val="E0952B"/>
                </a:solidFill>
                <a:latin typeface="Cambria"/>
              </a:rPr>
              <a:t>06</a:t>
            </a:r>
          </a:p>
        </p:txBody>
      </p:sp>
      <p:sp>
        <p:nvSpPr>
          <p:cNvPr id="4" name="TextBox 3"/>
          <p:cNvSpPr txBox="1"/>
          <p:nvPr/>
        </p:nvSpPr>
        <p:spPr>
          <a:xfrm>
            <a:off x="548640" y="2788920"/>
            <a:ext cx="6766560" cy="320040"/>
          </a:xfrm>
          <a:prstGeom prst="rect">
            <a:avLst/>
          </a:prstGeom>
          <a:noFill/>
        </p:spPr>
        <p:txBody>
          <a:bodyPr wrap="square" anchor="t" lIns="0" rIns="0" tIns="0" bIns="0">
            <a:noAutofit/>
          </a:bodyPr>
          <a:lstStyle/>
          <a:p>
            <a:pPr algn="l">
              <a:spcAft>
                <a:spcPts val="600"/>
              </a:spcAft>
            </a:pPr>
            <a:r>
              <a:rPr sz="1300" b="1" i="0">
                <a:solidFill>
                  <a:srgbClr val="7FD1C1"/>
                </a:solidFill>
                <a:latin typeface="Calibri"/>
              </a:rPr>
              <a:t>PART 6</a:t>
            </a:r>
          </a:p>
        </p:txBody>
      </p:sp>
      <p:sp>
        <p:nvSpPr>
          <p:cNvPr id="5" name="TextBox 4"/>
          <p:cNvSpPr txBox="1"/>
          <p:nvPr/>
        </p:nvSpPr>
        <p:spPr>
          <a:xfrm>
            <a:off x="548640" y="4572000"/>
            <a:ext cx="6583680" cy="731520"/>
          </a:xfrm>
          <a:prstGeom prst="rect">
            <a:avLst/>
          </a:prstGeom>
          <a:noFill/>
        </p:spPr>
        <p:txBody>
          <a:bodyPr wrap="square" anchor="t" lIns="0" rIns="0" tIns="0" bIns="0">
            <a:noAutofit/>
          </a:bodyPr>
          <a:lstStyle/>
          <a:p>
            <a:pPr algn="l">
              <a:spcAft>
                <a:spcPts val="600"/>
              </a:spcAft>
            </a:pPr>
            <a:r>
              <a:rPr sz="1800" b="0" i="0">
                <a:solidFill>
                  <a:srgbClr val="E3EBEE"/>
                </a:solidFill>
                <a:latin typeface="Calibri"/>
              </a:rPr>
              <a:t>RDFS-Plus in published vocabularies, and SKOS for thesauri and taxonomies.</a:t>
            </a:r>
          </a:p>
        </p:txBody>
      </p:sp>
      <p:sp>
        <p:nvSpPr>
          <p:cNvPr id="6" name="Oval 5"/>
          <p:cNvSpPr/>
          <p:nvPr/>
        </p:nvSpPr>
        <p:spPr>
          <a:xfrm>
            <a:off x="58521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1</a:t>
            </a:r>
          </a:p>
        </p:txBody>
      </p:sp>
      <p:sp>
        <p:nvSpPr>
          <p:cNvPr id="7" name="Oval 6"/>
          <p:cNvSpPr/>
          <p:nvPr/>
        </p:nvSpPr>
        <p:spPr>
          <a:xfrm>
            <a:off x="108813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2</a:t>
            </a:r>
          </a:p>
        </p:txBody>
      </p:sp>
      <p:sp>
        <p:nvSpPr>
          <p:cNvPr id="8" name="Oval 7"/>
          <p:cNvSpPr/>
          <p:nvPr/>
        </p:nvSpPr>
        <p:spPr>
          <a:xfrm>
            <a:off x="159105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3</a:t>
            </a:r>
          </a:p>
        </p:txBody>
      </p:sp>
      <p:sp>
        <p:nvSpPr>
          <p:cNvPr id="9" name="Oval 8"/>
          <p:cNvSpPr/>
          <p:nvPr/>
        </p:nvSpPr>
        <p:spPr>
          <a:xfrm>
            <a:off x="209397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4</a:t>
            </a:r>
          </a:p>
        </p:txBody>
      </p:sp>
      <p:sp>
        <p:nvSpPr>
          <p:cNvPr id="10" name="Oval 9"/>
          <p:cNvSpPr/>
          <p:nvPr/>
        </p:nvSpPr>
        <p:spPr>
          <a:xfrm>
            <a:off x="259689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5</a:t>
            </a:r>
          </a:p>
        </p:txBody>
      </p:sp>
      <p:sp>
        <p:nvSpPr>
          <p:cNvPr id="11" name="Oval 10"/>
          <p:cNvSpPr/>
          <p:nvPr/>
        </p:nvSpPr>
        <p:spPr>
          <a:xfrm>
            <a:off x="3063239" y="5623559"/>
            <a:ext cx="365760" cy="365760"/>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200" b="1" i="0">
                <a:solidFill>
                  <a:srgbClr val="17272E"/>
                </a:solidFill>
                <a:latin typeface="Calibri"/>
              </a:rPr>
              <a:t>6</a:t>
            </a:r>
          </a:p>
        </p:txBody>
      </p:sp>
      <p:sp>
        <p:nvSpPr>
          <p:cNvPr id="12" name="Oval 11"/>
          <p:cNvSpPr/>
          <p:nvPr/>
        </p:nvSpPr>
        <p:spPr>
          <a:xfrm>
            <a:off x="3602736"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7</a:t>
            </a:r>
          </a:p>
        </p:txBody>
      </p:sp>
      <p:sp>
        <p:nvSpPr>
          <p:cNvPr id="13" name="Oval 12"/>
          <p:cNvSpPr/>
          <p:nvPr/>
        </p:nvSpPr>
        <p:spPr>
          <a:xfrm>
            <a:off x="4105656"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8</a:t>
            </a:r>
          </a:p>
        </p:txBody>
      </p:sp>
      <p:sp>
        <p:nvSpPr>
          <p:cNvPr id="14" name="Oval 13"/>
          <p:cNvSpPr/>
          <p:nvPr/>
        </p:nvSpPr>
        <p:spPr>
          <a:xfrm>
            <a:off x="4608576"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9</a:t>
            </a:r>
          </a:p>
        </p:txBody>
      </p:sp>
      <p:cxnSp>
        <p:nvCxnSpPr>
          <p:cNvPr id="15" name="Motif edge"/>
          <p:cNvCxnSpPr/>
          <p:nvPr/>
        </p:nvCxnSpPr>
        <p:spPr>
          <a:xfrm flipV="1">
            <a:off x="8257032" y="1568195"/>
            <a:ext cx="1536192" cy="576073"/>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6" name="Motif edge"/>
          <p:cNvCxnSpPr/>
          <p:nvPr/>
        </p:nvCxnSpPr>
        <p:spPr>
          <a:xfrm>
            <a:off x="9793224" y="1568195"/>
            <a:ext cx="1344168" cy="960121"/>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7" name="Motif edge"/>
          <p:cNvCxnSpPr/>
          <p:nvPr/>
        </p:nvCxnSpPr>
        <p:spPr>
          <a:xfrm>
            <a:off x="8257032" y="2144268"/>
            <a:ext cx="960120" cy="1344168"/>
          </a:xfrm>
          <a:prstGeom prst="line">
            <a:avLst/>
          </a:prstGeom>
          <a:ln w="28575">
            <a:solidFill>
              <a:srgbClr val="E0952B"/>
            </a:solidFill>
            <a:prstDash val="dash"/>
          </a:ln>
        </p:spPr>
        <p:style>
          <a:lnRef idx="2">
            <a:schemeClr val="accent1"/>
          </a:lnRef>
          <a:fillRef idx="0">
            <a:schemeClr val="accent1"/>
          </a:fillRef>
          <a:effectRef idx="1">
            <a:schemeClr val="accent1"/>
          </a:effectRef>
          <a:fontRef idx="minor">
            <a:schemeClr val="tx1"/>
          </a:fontRef>
        </p:style>
      </p:cxnSp>
      <p:cxnSp>
        <p:nvCxnSpPr>
          <p:cNvPr id="18" name="Motif edge"/>
          <p:cNvCxnSpPr/>
          <p:nvPr/>
        </p:nvCxnSpPr>
        <p:spPr>
          <a:xfrm flipH="1">
            <a:off x="9217152" y="1568195"/>
            <a:ext cx="576072" cy="1920241"/>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9" name="Motif edge"/>
          <p:cNvCxnSpPr/>
          <p:nvPr/>
        </p:nvCxnSpPr>
        <p:spPr>
          <a:xfrm flipH="1">
            <a:off x="10657332" y="2528316"/>
            <a:ext cx="480060" cy="1728216"/>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0" name="Motif edge"/>
          <p:cNvCxnSpPr/>
          <p:nvPr/>
        </p:nvCxnSpPr>
        <p:spPr>
          <a:xfrm>
            <a:off x="9217152" y="3488436"/>
            <a:ext cx="1440180" cy="768096"/>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1" name="Motif edge"/>
          <p:cNvCxnSpPr/>
          <p:nvPr/>
        </p:nvCxnSpPr>
        <p:spPr>
          <a:xfrm flipH="1">
            <a:off x="8161020" y="3488436"/>
            <a:ext cx="1056132" cy="1248156"/>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2" name="Motif edge"/>
          <p:cNvCxnSpPr/>
          <p:nvPr/>
        </p:nvCxnSpPr>
        <p:spPr>
          <a:xfrm flipH="1">
            <a:off x="9889236" y="4256532"/>
            <a:ext cx="768096" cy="1056132"/>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3" name="Motif edge"/>
          <p:cNvCxnSpPr/>
          <p:nvPr/>
        </p:nvCxnSpPr>
        <p:spPr>
          <a:xfrm>
            <a:off x="8161020" y="4736592"/>
            <a:ext cx="1728216" cy="576072"/>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sp>
        <p:nvSpPr>
          <p:cNvPr id="24" name="Motif node"/>
          <p:cNvSpPr/>
          <p:nvPr/>
        </p:nvSpPr>
        <p:spPr>
          <a:xfrm>
            <a:off x="8113014" y="2000249"/>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Motif node"/>
          <p:cNvSpPr/>
          <p:nvPr/>
        </p:nvSpPr>
        <p:spPr>
          <a:xfrm>
            <a:off x="9591598" y="1366570"/>
            <a:ext cx="403250" cy="403250"/>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otif node"/>
          <p:cNvSpPr/>
          <p:nvPr/>
        </p:nvSpPr>
        <p:spPr>
          <a:xfrm>
            <a:off x="10993374" y="2384298"/>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Motif node"/>
          <p:cNvSpPr/>
          <p:nvPr/>
        </p:nvSpPr>
        <p:spPr>
          <a:xfrm>
            <a:off x="9015526" y="3286810"/>
            <a:ext cx="403250" cy="403250"/>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Motif node"/>
          <p:cNvSpPr/>
          <p:nvPr/>
        </p:nvSpPr>
        <p:spPr>
          <a:xfrm>
            <a:off x="10455706" y="4054906"/>
            <a:ext cx="403250" cy="403250"/>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otif node"/>
          <p:cNvSpPr/>
          <p:nvPr/>
        </p:nvSpPr>
        <p:spPr>
          <a:xfrm>
            <a:off x="8017002" y="4592574"/>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Motif node"/>
          <p:cNvSpPr/>
          <p:nvPr/>
        </p:nvSpPr>
        <p:spPr>
          <a:xfrm>
            <a:off x="9745218" y="5168646"/>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7FD1C1"/>
                </a:solidFill>
                <a:latin typeface="Calibri"/>
              </a:rPr>
              <a:t>What is an ontology? · from RDF to OWL</a:t>
            </a:r>
          </a:p>
        </p:txBody>
      </p:sp>
      <p:sp>
        <p:nvSpPr>
          <p:cNvPr id="32"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7FD1C1"/>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Real vocabularies apply RDFS-Plus selectively</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6 · RDFS-PLUS IN THE WILD</a:t>
            </a:r>
          </a:p>
        </p:txBody>
      </p:sp>
      <p:sp>
        <p:nvSpPr>
          <p:cNvPr id="4" name="Card: Data.gov"/>
          <p:cNvSpPr/>
          <p:nvPr/>
        </p:nvSpPr>
        <p:spPr>
          <a:xfrm>
            <a:off x="548640" y="1691640"/>
            <a:ext cx="3515258" cy="2880360"/>
          </a:xfrm>
          <a:prstGeom prst="roundRect">
            <a:avLst>
              <a:gd name="adj" fmla="val 4444"/>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1920240"/>
            <a:ext cx="402336" cy="402336"/>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D</a:t>
            </a:r>
          </a:p>
        </p:txBody>
      </p:sp>
      <p:sp>
        <p:nvSpPr>
          <p:cNvPr id="6" name="TextBox 5"/>
          <p:cNvSpPr txBox="1"/>
          <p:nvPr/>
        </p:nvSpPr>
        <p:spPr>
          <a:xfrm>
            <a:off x="1325880" y="1956816"/>
            <a:ext cx="2509418" cy="411480"/>
          </a:xfrm>
          <a:prstGeom prst="rect">
            <a:avLst/>
          </a:prstGeom>
          <a:noFill/>
        </p:spPr>
        <p:txBody>
          <a:bodyPr wrap="square" anchor="ctr" lIns="0" rIns="0" tIns="0" bIns="0">
            <a:noAutofit/>
          </a:bodyPr>
          <a:lstStyle/>
          <a:p>
            <a:pPr algn="l">
              <a:spcAft>
                <a:spcPts val="600"/>
              </a:spcAft>
            </a:pPr>
            <a:r>
              <a:rPr sz="1800" b="1" i="0">
                <a:solidFill>
                  <a:srgbClr val="17272E"/>
                </a:solidFill>
                <a:latin typeface="Calibri"/>
              </a:rPr>
              <a:t>Data.gov</a:t>
            </a:r>
          </a:p>
        </p:txBody>
      </p:sp>
      <p:sp>
        <p:nvSpPr>
          <p:cNvPr id="7" name="TextBox 6"/>
          <p:cNvSpPr txBox="1"/>
          <p:nvPr/>
        </p:nvSpPr>
        <p:spPr>
          <a:xfrm>
            <a:off x="777240" y="2487168"/>
            <a:ext cx="3058058" cy="1947672"/>
          </a:xfrm>
          <a:prstGeom prst="rect">
            <a:avLst/>
          </a:prstGeom>
          <a:noFill/>
        </p:spPr>
        <p:txBody>
          <a:bodyPr wrap="square" anchor="t" lIns="0" rIns="0" tIns="0" bIns="0">
            <a:noAutofit/>
          </a:bodyPr>
          <a:lstStyle/>
          <a:p>
            <a:pPr algn="l">
              <a:spcAft>
                <a:spcPts val="500"/>
              </a:spcAft>
            </a:pPr>
            <a:r>
              <a:rPr sz="1400" b="0" i="0">
                <a:solidFill>
                  <a:srgbClr val="17272E"/>
                </a:solidFill>
                <a:latin typeface="Calibri"/>
              </a:rPr>
              <a:t>Hundreds of government datasets as raw RDF, prepared for no particular app.</a:t>
            </a:r>
          </a:p>
          <a:p>
            <a:pPr algn="l">
              <a:spcAft>
                <a:spcPts val="500"/>
              </a:spcAft>
            </a:pPr>
            <a:r>
              <a:rPr sz="1400" b="0" i="0">
                <a:solidFill>
                  <a:srgbClr val="17272E"/>
                </a:solidFill>
                <a:latin typeface="Calibri"/>
              </a:rPr>
              <a:t>Use: mashups across datasets and the wider Web.</a:t>
            </a:r>
          </a:p>
          <a:p>
            <a:pPr algn="l">
              <a:spcAft>
                <a:spcPts val="500"/>
              </a:spcAft>
            </a:pPr>
            <a:r>
              <a:rPr sz="1400" b="1" i="0">
                <a:solidFill>
                  <a:srgbClr val="1F7A6D"/>
                </a:solidFill>
                <a:latin typeface="Calibri"/>
              </a:rPr>
              <a:t>Lesson: </a:t>
            </a:r>
            <a:r>
              <a:rPr sz="1400" b="0" i="0">
                <a:solidFill>
                  <a:srgbClr val="17272E"/>
                </a:solidFill>
                <a:latin typeface="Calibri"/>
              </a:rPr>
              <a:t>SPARQL does most of the work, with patterns, aggregates, filters and unions.</a:t>
            </a:r>
          </a:p>
        </p:txBody>
      </p:sp>
      <p:sp>
        <p:nvSpPr>
          <p:cNvPr id="8" name="Card: FOAF"/>
          <p:cNvSpPr/>
          <p:nvPr/>
        </p:nvSpPr>
        <p:spPr>
          <a:xfrm>
            <a:off x="4338218" y="1691640"/>
            <a:ext cx="3515258" cy="2880360"/>
          </a:xfrm>
          <a:prstGeom prst="roundRect">
            <a:avLst>
              <a:gd name="adj" fmla="val 4444"/>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566818" y="1920240"/>
            <a:ext cx="402336" cy="402336"/>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F</a:t>
            </a:r>
          </a:p>
        </p:txBody>
      </p:sp>
      <p:sp>
        <p:nvSpPr>
          <p:cNvPr id="10" name="TextBox 9"/>
          <p:cNvSpPr txBox="1"/>
          <p:nvPr/>
        </p:nvSpPr>
        <p:spPr>
          <a:xfrm>
            <a:off x="5115458" y="1956816"/>
            <a:ext cx="2509418" cy="411480"/>
          </a:xfrm>
          <a:prstGeom prst="rect">
            <a:avLst/>
          </a:prstGeom>
          <a:noFill/>
        </p:spPr>
        <p:txBody>
          <a:bodyPr wrap="square" anchor="ctr" lIns="0" rIns="0" tIns="0" bIns="0">
            <a:noAutofit/>
          </a:bodyPr>
          <a:lstStyle/>
          <a:p>
            <a:pPr algn="l">
              <a:spcAft>
                <a:spcPts val="600"/>
              </a:spcAft>
            </a:pPr>
            <a:r>
              <a:rPr sz="1800" b="1" i="0">
                <a:solidFill>
                  <a:srgbClr val="17272E"/>
                </a:solidFill>
                <a:latin typeface="Calibri"/>
              </a:rPr>
              <a:t>FOAF</a:t>
            </a:r>
          </a:p>
        </p:txBody>
      </p:sp>
      <p:sp>
        <p:nvSpPr>
          <p:cNvPr id="11" name="TextBox 10"/>
          <p:cNvSpPr txBox="1"/>
          <p:nvPr/>
        </p:nvSpPr>
        <p:spPr>
          <a:xfrm>
            <a:off x="4566818" y="2487168"/>
            <a:ext cx="3058058" cy="1947672"/>
          </a:xfrm>
          <a:prstGeom prst="rect">
            <a:avLst/>
          </a:prstGeom>
          <a:noFill/>
        </p:spPr>
        <p:txBody>
          <a:bodyPr wrap="square" anchor="t" lIns="0" rIns="0" tIns="0" bIns="0">
            <a:noAutofit/>
          </a:bodyPr>
          <a:lstStyle/>
          <a:p>
            <a:pPr algn="l">
              <a:spcAft>
                <a:spcPts val="500"/>
              </a:spcAft>
            </a:pPr>
            <a:r>
              <a:rPr sz="1400" b="0" i="0">
                <a:solidFill>
                  <a:srgbClr val="17272E"/>
                </a:solidFill>
                <a:latin typeface="Calibri"/>
              </a:rPr>
              <a:t>People, groups and documents, with one person's data spread across sites.</a:t>
            </a:r>
          </a:p>
          <a:p>
            <a:pPr algn="l">
              <a:spcAft>
                <a:spcPts val="500"/>
              </a:spcAft>
            </a:pPr>
            <a:r>
              <a:rPr sz="1400" b="0" i="0">
                <a:solidFill>
                  <a:srgbClr val="17272E"/>
                </a:solidFill>
                <a:latin typeface="Calibri"/>
              </a:rPr>
              <a:t>Use: own and host your data, alongside social networks.</a:t>
            </a:r>
          </a:p>
          <a:p>
            <a:pPr algn="l">
              <a:spcAft>
                <a:spcPts val="500"/>
              </a:spcAft>
            </a:pPr>
            <a:r>
              <a:rPr sz="1400" b="1" i="0">
                <a:solidFill>
                  <a:srgbClr val="1F7A6D"/>
                </a:solidFill>
                <a:latin typeface="Calibri"/>
              </a:rPr>
              <a:t>Lesson: </a:t>
            </a:r>
            <a:r>
              <a:rPr sz="1400" b="0" i="0">
                <a:solidFill>
                  <a:srgbClr val="17272E"/>
                </a:solidFill>
                <a:latin typeface="Calibri"/>
              </a:rPr>
              <a:t>Start with intuitive terms, then formalize them with RDFS-Plus over time.</a:t>
            </a:r>
          </a:p>
        </p:txBody>
      </p:sp>
      <p:sp>
        <p:nvSpPr>
          <p:cNvPr id="12" name="Card: Open Graph Protocol"/>
          <p:cNvSpPr/>
          <p:nvPr/>
        </p:nvSpPr>
        <p:spPr>
          <a:xfrm>
            <a:off x="8127796" y="1691640"/>
            <a:ext cx="3515258" cy="2880360"/>
          </a:xfrm>
          <a:prstGeom prst="roundRect">
            <a:avLst>
              <a:gd name="adj" fmla="val 4444"/>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8356396" y="1920240"/>
            <a:ext cx="402336" cy="402336"/>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O</a:t>
            </a:r>
          </a:p>
        </p:txBody>
      </p:sp>
      <p:sp>
        <p:nvSpPr>
          <p:cNvPr id="14" name="TextBox 13"/>
          <p:cNvSpPr txBox="1"/>
          <p:nvPr/>
        </p:nvSpPr>
        <p:spPr>
          <a:xfrm>
            <a:off x="8905036" y="1956816"/>
            <a:ext cx="2509418" cy="411480"/>
          </a:xfrm>
          <a:prstGeom prst="rect">
            <a:avLst/>
          </a:prstGeom>
          <a:noFill/>
        </p:spPr>
        <p:txBody>
          <a:bodyPr wrap="square" anchor="ctr" lIns="0" rIns="0" tIns="0" bIns="0">
            <a:noAutofit/>
          </a:bodyPr>
          <a:lstStyle/>
          <a:p>
            <a:pPr algn="l">
              <a:spcAft>
                <a:spcPts val="600"/>
              </a:spcAft>
            </a:pPr>
            <a:r>
              <a:rPr sz="1800" b="1" i="0">
                <a:solidFill>
                  <a:srgbClr val="17272E"/>
                </a:solidFill>
                <a:latin typeface="Calibri"/>
              </a:rPr>
              <a:t>Open Graph Protocol</a:t>
            </a:r>
          </a:p>
        </p:txBody>
      </p:sp>
      <p:sp>
        <p:nvSpPr>
          <p:cNvPr id="15" name="TextBox 14"/>
          <p:cNvSpPr txBox="1"/>
          <p:nvPr/>
        </p:nvSpPr>
        <p:spPr>
          <a:xfrm>
            <a:off x="8356396" y="2487168"/>
            <a:ext cx="3058058" cy="1947672"/>
          </a:xfrm>
          <a:prstGeom prst="rect">
            <a:avLst/>
          </a:prstGeom>
          <a:noFill/>
        </p:spPr>
        <p:txBody>
          <a:bodyPr wrap="square" anchor="t" lIns="0" rIns="0" tIns="0" bIns="0">
            <a:noAutofit/>
          </a:bodyPr>
          <a:lstStyle/>
          <a:p>
            <a:pPr algn="l">
              <a:spcAft>
                <a:spcPts val="500"/>
              </a:spcAft>
            </a:pPr>
            <a:r>
              <a:rPr sz="1400" b="0" i="0">
                <a:solidFill>
                  <a:srgbClr val="17272E"/>
                </a:solidFill>
                <a:latin typeface="Calibri"/>
              </a:rPr>
              <a:t>About two dozen types and properties in one namespace, embedded with simplified RDFa.</a:t>
            </a:r>
          </a:p>
          <a:p>
            <a:pPr algn="l">
              <a:spcAft>
                <a:spcPts val="500"/>
              </a:spcAft>
            </a:pPr>
            <a:r>
              <a:rPr sz="1400" b="0" i="0">
                <a:solidFill>
                  <a:srgbClr val="17272E"/>
                </a:solidFill>
                <a:latin typeface="Calibri"/>
              </a:rPr>
              <a:t>Use: “like” any page on the Web.</a:t>
            </a:r>
          </a:p>
          <a:p>
            <a:pPr algn="l">
              <a:spcAft>
                <a:spcPts val="500"/>
              </a:spcAft>
            </a:pPr>
            <a:r>
              <a:rPr sz="1400" b="1" i="0">
                <a:solidFill>
                  <a:srgbClr val="1F7A6D"/>
                </a:solidFill>
                <a:latin typeface="Calibri"/>
              </a:rPr>
              <a:t>Lesson: </a:t>
            </a:r>
            <a:r>
              <a:rPr sz="1400" b="0" i="0">
                <a:solidFill>
                  <a:srgbClr val="17272E"/>
                </a:solidFill>
                <a:latin typeface="Calibri"/>
              </a:rPr>
              <a:t>Linking with rdfs:seeAlso commits to little, but is enough to avoid a silo.</a:t>
            </a:r>
          </a:p>
        </p:txBody>
      </p:sp>
      <p:sp>
        <p:nvSpPr>
          <p:cNvPr id="16" name="TextBox 15"/>
          <p:cNvSpPr txBox="1"/>
          <p:nvPr/>
        </p:nvSpPr>
        <p:spPr>
          <a:xfrm>
            <a:off x="548640" y="4800600"/>
            <a:ext cx="2743200" cy="411480"/>
          </a:xfrm>
          <a:prstGeom prst="rect">
            <a:avLst/>
          </a:prstGeom>
          <a:noFill/>
        </p:spPr>
        <p:txBody>
          <a:bodyPr wrap="square" anchor="ctr" lIns="0" rIns="0" tIns="0" bIns="0">
            <a:noAutofit/>
          </a:bodyPr>
          <a:lstStyle/>
          <a:p>
            <a:pPr algn="l">
              <a:spcAft>
                <a:spcPts val="600"/>
              </a:spcAft>
            </a:pPr>
            <a:r>
              <a:rPr sz="1400" b="1" i="0">
                <a:solidFill>
                  <a:srgbClr val="17272E"/>
                </a:solidFill>
                <a:latin typeface="Calibri"/>
              </a:rPr>
              <a:t>How strongly to link terms</a:t>
            </a:r>
          </a:p>
        </p:txBody>
      </p:sp>
      <p:sp>
        <p:nvSpPr>
          <p:cNvPr id="17" name="Rounded Rectangle 16"/>
          <p:cNvSpPr/>
          <p:nvPr/>
        </p:nvSpPr>
        <p:spPr>
          <a:xfrm>
            <a:off x="3291840" y="4681728"/>
            <a:ext cx="2661818" cy="694944"/>
          </a:xfrm>
          <a:prstGeom prst="roundRect">
            <a:avLst>
              <a:gd name="adj" fmla="val 13157"/>
            </a:avLst>
          </a:prstGeom>
          <a:solidFill>
            <a:srgbClr val="FFFFFF"/>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r>
              <a:rPr sz="1300" b="1" i="0">
                <a:solidFill>
                  <a:srgbClr val="17272E"/>
                </a:solidFill>
                <a:latin typeface="Consolas"/>
              </a:rPr>
              <a:t>rdfs:seeAlso</a:t>
            </a:r>
          </a:p>
          <a:p>
            <a:pPr algn="l"/>
            <a:r>
              <a:rPr sz="1300" b="0" i="0">
                <a:solidFill>
                  <a:srgbClr val="5B6B70"/>
                </a:solidFill>
                <a:latin typeface="Calibri"/>
              </a:rPr>
              <a:t>weak: “related”, as OGP does</a:t>
            </a:r>
          </a:p>
        </p:txBody>
      </p:sp>
      <p:sp>
        <p:nvSpPr>
          <p:cNvPr id="18" name="Rounded Rectangle 17"/>
          <p:cNvSpPr/>
          <p:nvPr/>
        </p:nvSpPr>
        <p:spPr>
          <a:xfrm>
            <a:off x="6136538" y="4681728"/>
            <a:ext cx="2661818" cy="694944"/>
          </a:xfrm>
          <a:prstGeom prst="roundRect">
            <a:avLst>
              <a:gd name="adj" fmla="val 13157"/>
            </a:avLst>
          </a:prstGeom>
          <a:solidFill>
            <a:srgbClr val="EAF3F0"/>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r>
              <a:rPr sz="1300" b="1" i="0">
                <a:solidFill>
                  <a:srgbClr val="17272E"/>
                </a:solidFill>
                <a:latin typeface="Consolas"/>
              </a:rPr>
              <a:t>rdfs:subPropertyOf</a:t>
            </a:r>
          </a:p>
          <a:p>
            <a:pPr algn="l"/>
            <a:r>
              <a:rPr sz="1300" b="0" i="0">
                <a:solidFill>
                  <a:srgbClr val="5B6B70"/>
                </a:solidFill>
                <a:latin typeface="Calibri"/>
              </a:rPr>
              <a:t>one-way: uses flow upward</a:t>
            </a:r>
          </a:p>
        </p:txBody>
      </p:sp>
      <p:sp>
        <p:nvSpPr>
          <p:cNvPr id="19" name="Rounded Rectangle 18"/>
          <p:cNvSpPr/>
          <p:nvPr/>
        </p:nvSpPr>
        <p:spPr>
          <a:xfrm>
            <a:off x="8981236" y="4681728"/>
            <a:ext cx="2661818" cy="694944"/>
          </a:xfrm>
          <a:prstGeom prst="roundRect">
            <a:avLst>
              <a:gd name="adj" fmla="val 13157"/>
            </a:avLst>
          </a:prstGeom>
          <a:solidFill>
            <a:srgbClr val="C6E8E0"/>
          </a:solidFill>
          <a:ln w="12700">
            <a:solidFill>
              <a:srgbClr val="C9D8D4"/>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r>
              <a:rPr sz="1300" b="1" i="0">
                <a:solidFill>
                  <a:srgbClr val="17272E"/>
                </a:solidFill>
                <a:latin typeface="Consolas"/>
              </a:rPr>
              <a:t>owl:equivalentProperty</a:t>
            </a:r>
          </a:p>
          <a:p>
            <a:pPr algn="l"/>
            <a:r>
              <a:rPr sz="1300" b="0" i="0">
                <a:solidFill>
                  <a:srgbClr val="5B6B70"/>
                </a:solidFill>
                <a:latin typeface="Calibri"/>
              </a:rPr>
              <a:t>strong: interchangeable</a:t>
            </a:r>
          </a:p>
        </p:txBody>
      </p:sp>
      <p:sp>
        <p:nvSpPr>
          <p:cNvPr id="20" name="Oval 19"/>
          <p:cNvSpPr/>
          <p:nvPr/>
        </p:nvSpPr>
        <p:spPr>
          <a:xfrm>
            <a:off x="548640" y="5623560"/>
            <a:ext cx="329184" cy="329184"/>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a:t>
            </a:r>
          </a:p>
        </p:txBody>
      </p:sp>
      <p:sp>
        <p:nvSpPr>
          <p:cNvPr id="21" name="Takeaway"/>
          <p:cNvSpPr txBox="1"/>
          <p:nvPr/>
        </p:nvSpPr>
        <p:spPr>
          <a:xfrm>
            <a:off x="1005840" y="5623560"/>
            <a:ext cx="10637215" cy="329184"/>
          </a:xfrm>
          <a:prstGeom prst="rect">
            <a:avLst/>
          </a:prstGeom>
          <a:noFill/>
        </p:spPr>
        <p:txBody>
          <a:bodyPr wrap="square" anchor="ctr" lIns="0" rIns="0" tIns="0" bIns="0">
            <a:noAutofit/>
          </a:bodyPr>
          <a:lstStyle/>
          <a:p>
            <a:pPr algn="l">
              <a:spcAft>
                <a:spcPts val="600"/>
              </a:spcAft>
            </a:pPr>
            <a:r>
              <a:rPr sz="1500" b="1" i="0">
                <a:solidFill>
                  <a:srgbClr val="17272E"/>
                </a:solidFill>
                <a:latin typeface="Calibri"/>
              </a:rPr>
              <a:t>Nonunique naming in practice: OGP reinvented FOAF terms and coexists instead of competing.</a:t>
            </a:r>
          </a:p>
        </p:txBody>
      </p:sp>
      <p:sp>
        <p:nvSpPr>
          <p:cNvPr id="22"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23"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SKOS: vocabularies as linked data</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6 · SKOS</a:t>
            </a:r>
          </a:p>
        </p:txBody>
      </p:sp>
      <p:cxnSp>
        <p:nvCxnSpPr>
          <p:cNvPr id="4" name="Edge: exactMatch"/>
          <p:cNvCxnSpPr/>
          <p:nvPr/>
        </p:nvCxnSpPr>
        <p:spPr>
          <a:xfrm flipH="1" flipV="1">
            <a:off x="1737360" y="2125980"/>
            <a:ext cx="624840" cy="93726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1684020" y="2448306"/>
            <a:ext cx="1097280"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100" b="1" i="0">
                <a:solidFill>
                  <a:srgbClr val="1F7A6D"/>
                </a:solidFill>
                <a:latin typeface="Consolas"/>
              </a:rPr>
              <a:t>exactMatch</a:t>
            </a:r>
          </a:p>
        </p:txBody>
      </p:sp>
      <p:cxnSp>
        <p:nvCxnSpPr>
          <p:cNvPr id="6" name="Edge: closeMatch"/>
          <p:cNvCxnSpPr/>
          <p:nvPr/>
        </p:nvCxnSpPr>
        <p:spPr>
          <a:xfrm flipV="1">
            <a:off x="5349240" y="2125980"/>
            <a:ext cx="0" cy="93726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800600" y="2448306"/>
            <a:ext cx="1097280"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100" b="1" i="0">
                <a:solidFill>
                  <a:srgbClr val="1F7A6D"/>
                </a:solidFill>
                <a:latin typeface="Consolas"/>
              </a:rPr>
              <a:t>closeMatch</a:t>
            </a:r>
          </a:p>
        </p:txBody>
      </p:sp>
      <p:cxnSp>
        <p:nvCxnSpPr>
          <p:cNvPr id="8" name="Edge: broader"/>
          <p:cNvCxnSpPr/>
          <p:nvPr/>
        </p:nvCxnSpPr>
        <p:spPr>
          <a:xfrm flipV="1">
            <a:off x="1617681" y="3520440"/>
            <a:ext cx="742277" cy="109728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296162" y="3922776"/>
            <a:ext cx="836676"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100" b="1" i="0">
                <a:solidFill>
                  <a:srgbClr val="1F7A6D"/>
                </a:solidFill>
                <a:latin typeface="Consolas"/>
              </a:rPr>
              <a:t>broader</a:t>
            </a:r>
          </a:p>
        </p:txBody>
      </p:sp>
      <p:cxnSp>
        <p:nvCxnSpPr>
          <p:cNvPr id="10" name="Edge: broader"/>
          <p:cNvCxnSpPr/>
          <p:nvPr/>
        </p:nvCxnSpPr>
        <p:spPr>
          <a:xfrm flipH="1" flipV="1">
            <a:off x="2662517" y="3520440"/>
            <a:ext cx="710005" cy="109728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73501" y="3922776"/>
            <a:ext cx="836676"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100" b="1" i="0">
                <a:solidFill>
                  <a:srgbClr val="1F7A6D"/>
                </a:solidFill>
                <a:latin typeface="Consolas"/>
              </a:rPr>
              <a:t>broader</a:t>
            </a:r>
          </a:p>
        </p:txBody>
      </p:sp>
      <p:cxnSp>
        <p:nvCxnSpPr>
          <p:cNvPr id="12" name="Edge: broader"/>
          <p:cNvCxnSpPr/>
          <p:nvPr/>
        </p:nvCxnSpPr>
        <p:spPr>
          <a:xfrm flipH="1" flipV="1">
            <a:off x="5362687" y="3520440"/>
            <a:ext cx="64545" cy="109728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976622" y="3922776"/>
            <a:ext cx="836676"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100" b="1" i="0">
                <a:solidFill>
                  <a:srgbClr val="1F7A6D"/>
                </a:solidFill>
                <a:latin typeface="Consolas"/>
              </a:rPr>
              <a:t>broader</a:t>
            </a:r>
          </a:p>
        </p:txBody>
      </p:sp>
      <p:sp>
        <p:nvSpPr>
          <p:cNvPr id="14" name="Node: lib:DramaFilms"/>
          <p:cNvSpPr/>
          <p:nvPr/>
        </p:nvSpPr>
        <p:spPr>
          <a:xfrm>
            <a:off x="685800" y="1714500"/>
            <a:ext cx="1828800" cy="411480"/>
          </a:xfrm>
          <a:prstGeom prst="roundRect">
            <a:avLst>
              <a:gd name="adj" fmla="val 50000"/>
            </a:avLst>
          </a:prstGeom>
          <a:solidFill>
            <a:srgbClr val="FFFFFF"/>
          </a:solidFill>
          <a:ln w="19050">
            <a:solidFill>
              <a:srgbClr val="5B6B7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5B6B70"/>
                </a:solidFill>
                <a:latin typeface="Consolas"/>
              </a:rPr>
              <a:t>lib:DramaFilms</a:t>
            </a:r>
          </a:p>
        </p:txBody>
      </p:sp>
      <p:sp>
        <p:nvSpPr>
          <p:cNvPr id="15" name="Node: lib:FrontierFilms"/>
          <p:cNvSpPr/>
          <p:nvPr/>
        </p:nvSpPr>
        <p:spPr>
          <a:xfrm>
            <a:off x="4320540" y="1714500"/>
            <a:ext cx="2057400" cy="411480"/>
          </a:xfrm>
          <a:prstGeom prst="roundRect">
            <a:avLst>
              <a:gd name="adj" fmla="val 50000"/>
            </a:avLst>
          </a:prstGeom>
          <a:solidFill>
            <a:srgbClr val="FFFFFF"/>
          </a:solidFill>
          <a:ln w="19050">
            <a:solidFill>
              <a:srgbClr val="5B6B7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5B6B70"/>
                </a:solidFill>
                <a:latin typeface="Consolas"/>
              </a:rPr>
              <a:t>lib:FrontierFilms</a:t>
            </a:r>
          </a:p>
        </p:txBody>
      </p:sp>
      <p:sp>
        <p:nvSpPr>
          <p:cNvPr id="16" name="Node: g:Drama"/>
          <p:cNvSpPr/>
          <p:nvPr/>
        </p:nvSpPr>
        <p:spPr>
          <a:xfrm>
            <a:off x="1874519" y="3063240"/>
            <a:ext cx="128016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g:Drama</a:t>
            </a:r>
          </a:p>
        </p:txBody>
      </p:sp>
      <p:sp>
        <p:nvSpPr>
          <p:cNvPr id="17" name="Node: g:Western"/>
          <p:cNvSpPr/>
          <p:nvPr/>
        </p:nvSpPr>
        <p:spPr>
          <a:xfrm>
            <a:off x="4663440" y="3063240"/>
            <a:ext cx="137160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g:Western</a:t>
            </a:r>
          </a:p>
        </p:txBody>
      </p:sp>
      <p:sp>
        <p:nvSpPr>
          <p:cNvPr id="18" name="Node: g:FamilyDrama"/>
          <p:cNvSpPr/>
          <p:nvPr/>
        </p:nvSpPr>
        <p:spPr>
          <a:xfrm>
            <a:off x="617220" y="4617720"/>
            <a:ext cx="169164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g:FamilyDrama</a:t>
            </a:r>
          </a:p>
        </p:txBody>
      </p:sp>
      <p:sp>
        <p:nvSpPr>
          <p:cNvPr id="19" name="Node: g:TeenDrama"/>
          <p:cNvSpPr/>
          <p:nvPr/>
        </p:nvSpPr>
        <p:spPr>
          <a:xfrm>
            <a:off x="2743200" y="4617720"/>
            <a:ext cx="155448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g:TeenDrama</a:t>
            </a:r>
          </a:p>
        </p:txBody>
      </p:sp>
      <p:sp>
        <p:nvSpPr>
          <p:cNvPr id="20" name="Node: g:EpicWestern"/>
          <p:cNvSpPr/>
          <p:nvPr/>
        </p:nvSpPr>
        <p:spPr>
          <a:xfrm>
            <a:off x="4594860" y="4617720"/>
            <a:ext cx="169164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g:EpicWestern</a:t>
            </a:r>
          </a:p>
        </p:txBody>
      </p:sp>
      <p:sp>
        <p:nvSpPr>
          <p:cNvPr id="21" name="TextBox 20"/>
          <p:cNvSpPr txBox="1"/>
          <p:nvPr/>
        </p:nvSpPr>
        <p:spPr>
          <a:xfrm>
            <a:off x="548640" y="5486400"/>
            <a:ext cx="5943600" cy="640080"/>
          </a:xfrm>
          <a:prstGeom prst="rect">
            <a:avLst/>
          </a:prstGeom>
          <a:noFill/>
        </p:spPr>
        <p:txBody>
          <a:bodyPr wrap="square" anchor="t" lIns="0" rIns="0" tIns="0" bIns="0">
            <a:noAutofit/>
          </a:bodyPr>
          <a:lstStyle/>
          <a:p>
            <a:pPr algn="l">
              <a:spcAft>
                <a:spcPts val="600"/>
              </a:spcAft>
            </a:pPr>
            <a:r>
              <a:rPr sz="1400" b="0" i="0">
                <a:solidFill>
                  <a:srgbClr val="5B6B70"/>
                </a:solidFill>
                <a:latin typeface="Calibri"/>
              </a:rPr>
              <a:t>Matching links two vocabularies while each term stays distinct in its own source.</a:t>
            </a:r>
          </a:p>
        </p:txBody>
      </p:sp>
      <p:sp>
        <p:nvSpPr>
          <p:cNvPr id="22" name="Code: SPARQL"/>
          <p:cNvSpPr/>
          <p:nvPr/>
        </p:nvSpPr>
        <p:spPr>
          <a:xfrm>
            <a:off x="6766560" y="1645920"/>
            <a:ext cx="4876495" cy="2331720"/>
          </a:xfrm>
          <a:prstGeom prst="roundRect">
            <a:avLst>
              <a:gd name="adj" fmla="val 4705"/>
            </a:avLst>
          </a:prstGeom>
          <a:solidFill>
            <a:srgbClr val="1C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180015" y="1755648"/>
            <a:ext cx="1280160" cy="228600"/>
          </a:xfrm>
          <a:prstGeom prst="rect">
            <a:avLst/>
          </a:prstGeom>
          <a:noFill/>
        </p:spPr>
        <p:txBody>
          <a:bodyPr wrap="square" anchor="t" lIns="0" rIns="0" tIns="0" bIns="0">
            <a:noAutofit/>
          </a:bodyPr>
          <a:lstStyle/>
          <a:p>
            <a:pPr algn="r">
              <a:spcAft>
                <a:spcPts val="600"/>
              </a:spcAft>
            </a:pPr>
            <a:r>
              <a:rPr sz="1000" b="1" i="0">
                <a:solidFill>
                  <a:srgbClr val="869AA0"/>
                </a:solidFill>
                <a:latin typeface="Calibri"/>
              </a:rPr>
              <a:t>SPARQL</a:t>
            </a:r>
          </a:p>
        </p:txBody>
      </p:sp>
      <p:sp>
        <p:nvSpPr>
          <p:cNvPr id="24" name="TextBox 23"/>
          <p:cNvSpPr txBox="1"/>
          <p:nvPr/>
        </p:nvSpPr>
        <p:spPr>
          <a:xfrm>
            <a:off x="6995160" y="1847088"/>
            <a:ext cx="4419295" cy="1965960"/>
          </a:xfrm>
          <a:prstGeom prst="rect">
            <a:avLst/>
          </a:prstGeom>
          <a:noFill/>
        </p:spPr>
        <p:txBody>
          <a:bodyPr wrap="none" lIns="0" rIns="0" tIns="0" bIns="0">
            <a:noAutofit/>
          </a:bodyPr>
          <a:lstStyle/>
          <a:p>
            <a:pPr>
              <a:lnSpc>
                <a:spcPct val="105000"/>
              </a:lnSpc>
            </a:pPr>
            <a:r>
              <a:rPr sz="1100" b="1" i="0">
                <a:solidFill>
                  <a:srgbClr val="F2B866"/>
                </a:solidFill>
                <a:latin typeface="Consolas"/>
              </a:rPr>
              <a:t>PREFIX</a:t>
            </a:r>
            <a:r>
              <a:rPr sz="1100" b="0" i="0">
                <a:solidFill>
                  <a:srgbClr val="E3EBEE"/>
                </a:solidFill>
                <a:latin typeface="Consolas"/>
              </a:rPr>
              <a:t> :     </a:t>
            </a:r>
            <a:r>
              <a:rPr sz="1100" b="0" i="0">
                <a:solidFill>
                  <a:srgbClr val="9AB0B8"/>
                </a:solidFill>
                <a:latin typeface="Consolas"/>
              </a:rPr>
              <a:t>&lt;http://studio.example/&gt;</a:t>
            </a:r>
          </a:p>
          <a:p>
            <a:pPr>
              <a:lnSpc>
                <a:spcPct val="105000"/>
              </a:lnSpc>
            </a:pPr>
            <a:r>
              <a:rPr sz="1100" b="1" i="0">
                <a:solidFill>
                  <a:srgbClr val="F2B866"/>
                </a:solidFill>
                <a:latin typeface="Consolas"/>
              </a:rPr>
              <a:t>PREFIX</a:t>
            </a:r>
            <a:r>
              <a:rPr sz="1100" b="0" i="0">
                <a:solidFill>
                  <a:srgbClr val="E3EBEE"/>
                </a:solidFill>
                <a:latin typeface="Consolas"/>
              </a:rPr>
              <a:t> </a:t>
            </a:r>
            <a:r>
              <a:rPr sz="1100" b="0" i="0">
                <a:solidFill>
                  <a:srgbClr val="A8CFF0"/>
                </a:solidFill>
                <a:latin typeface="Consolas"/>
              </a:rPr>
              <a:t>g:</a:t>
            </a:r>
            <a:r>
              <a:rPr sz="1100" b="0" i="0">
                <a:solidFill>
                  <a:srgbClr val="E3EBEE"/>
                </a:solidFill>
                <a:latin typeface="Consolas"/>
              </a:rPr>
              <a:t>    </a:t>
            </a:r>
            <a:r>
              <a:rPr sz="1100" b="0" i="0">
                <a:solidFill>
                  <a:srgbClr val="9AB0B8"/>
                </a:solidFill>
                <a:latin typeface="Consolas"/>
              </a:rPr>
              <a:t>&lt;http://studio.example/genre/&gt;</a:t>
            </a:r>
          </a:p>
          <a:p>
            <a:pPr>
              <a:lnSpc>
                <a:spcPct val="105000"/>
              </a:lnSpc>
            </a:pPr>
            <a:r>
              <a:rPr sz="1100" b="1" i="0">
                <a:solidFill>
                  <a:srgbClr val="F2B866"/>
                </a:solidFill>
                <a:latin typeface="Consolas"/>
              </a:rPr>
              <a:t>PREFIX</a:t>
            </a:r>
            <a:r>
              <a:rPr sz="1100" b="0" i="0">
                <a:solidFill>
                  <a:srgbClr val="E3EBEE"/>
                </a:solidFill>
                <a:latin typeface="Consolas"/>
              </a:rPr>
              <a:t> </a:t>
            </a:r>
            <a:r>
              <a:rPr sz="1100" b="0" i="0">
                <a:solidFill>
                  <a:srgbClr val="A8CFF0"/>
                </a:solidFill>
                <a:latin typeface="Consolas"/>
              </a:rPr>
              <a:t>skos:</a:t>
            </a:r>
            <a:r>
              <a:rPr sz="1100" b="0" i="0">
                <a:solidFill>
                  <a:srgbClr val="E3EBEE"/>
                </a:solidFill>
                <a:latin typeface="Consolas"/>
              </a:rPr>
              <a:t> </a:t>
            </a:r>
            <a:r>
              <a:rPr sz="1100" b="0" i="0">
                <a:solidFill>
                  <a:srgbClr val="9AB0B8"/>
                </a:solidFill>
                <a:latin typeface="Consolas"/>
              </a:rPr>
              <a:t>&lt;http://www.w3.org/2004/02/skos/core#&gt;</a:t>
            </a:r>
          </a:p>
          <a:p>
            <a:pPr>
              <a:lnSpc>
                <a:spcPct val="105000"/>
              </a:lnSpc>
            </a:pPr>
            <a:r>
              <a:rPr sz="1100" b="1" i="0">
                <a:solidFill>
                  <a:srgbClr val="F2B866"/>
                </a:solidFill>
                <a:latin typeface="Consolas"/>
              </a:rPr>
              <a:t>SELECT</a:t>
            </a:r>
            <a:r>
              <a:rPr sz="1100" b="0" i="0">
                <a:solidFill>
                  <a:srgbClr val="E3EBEE"/>
                </a:solidFill>
                <a:latin typeface="Consolas"/>
              </a:rPr>
              <a:t> </a:t>
            </a:r>
            <a:r>
              <a:rPr sz="1100" b="1" i="0">
                <a:solidFill>
                  <a:srgbClr val="7FD1C1"/>
                </a:solidFill>
                <a:latin typeface="Consolas"/>
              </a:rPr>
              <a:t>?title</a:t>
            </a:r>
            <a:r>
              <a:rPr sz="1100" b="0" i="0">
                <a:solidFill>
                  <a:srgbClr val="E3EBEE"/>
                </a:solidFill>
                <a:latin typeface="Consolas"/>
              </a:rPr>
              <a:t> </a:t>
            </a:r>
            <a:r>
              <a:rPr sz="1100" b="1" i="0">
                <a:solidFill>
                  <a:srgbClr val="7FD1C1"/>
                </a:solidFill>
                <a:latin typeface="Consolas"/>
              </a:rPr>
              <a:t>?genreLabel</a:t>
            </a:r>
          </a:p>
          <a:p>
            <a:pPr>
              <a:lnSpc>
                <a:spcPct val="105000"/>
              </a:lnSpc>
            </a:pPr>
            <a:r>
              <a:rPr sz="1100" b="1" i="0">
                <a:solidFill>
                  <a:srgbClr val="F2B866"/>
                </a:solidFill>
                <a:latin typeface="Consolas"/>
              </a:rPr>
              <a:t>WHERE</a:t>
            </a:r>
            <a:r>
              <a:rPr sz="1100" b="0" i="0">
                <a:solidFill>
                  <a:srgbClr val="E3EBEE"/>
                </a:solidFill>
                <a:latin typeface="Consolas"/>
              </a:rPr>
              <a:t> {</a:t>
            </a:r>
          </a:p>
          <a:p>
            <a:pPr>
              <a:lnSpc>
                <a:spcPct val="105000"/>
              </a:lnSpc>
            </a:pPr>
            <a:r>
              <a:rPr sz="1100" b="0" i="0">
                <a:solidFill>
                  <a:srgbClr val="E3EBEE"/>
                </a:solidFill>
                <a:latin typeface="Consolas"/>
              </a:rPr>
              <a:t>  </a:t>
            </a:r>
            <a:r>
              <a:rPr sz="1100" b="1" i="0">
                <a:solidFill>
                  <a:srgbClr val="7FD1C1"/>
                </a:solidFill>
                <a:latin typeface="Consolas"/>
              </a:rPr>
              <a:t>?movie</a:t>
            </a:r>
            <a:r>
              <a:rPr sz="1100" b="0" i="0">
                <a:solidFill>
                  <a:srgbClr val="E3EBEE"/>
                </a:solidFill>
                <a:latin typeface="Consolas"/>
              </a:rPr>
              <a:t> </a:t>
            </a:r>
            <a:r>
              <a:rPr sz="1100" b="0" i="0">
                <a:solidFill>
                  <a:srgbClr val="A8CFF0"/>
                </a:solidFill>
                <a:latin typeface="Consolas"/>
              </a:rPr>
              <a:t>:genre</a:t>
            </a:r>
            <a:r>
              <a:rPr sz="1100" b="0" i="0">
                <a:solidFill>
                  <a:srgbClr val="E3EBEE"/>
                </a:solidFill>
                <a:latin typeface="Consolas"/>
              </a:rPr>
              <a:t> </a:t>
            </a:r>
            <a:r>
              <a:rPr sz="1100" b="1" i="0">
                <a:solidFill>
                  <a:srgbClr val="7FD1C1"/>
                </a:solidFill>
                <a:latin typeface="Consolas"/>
              </a:rPr>
              <a:t>?genre</a:t>
            </a:r>
            <a:r>
              <a:rPr sz="1100" b="0" i="0">
                <a:solidFill>
                  <a:srgbClr val="E3EBEE"/>
                </a:solidFill>
                <a:latin typeface="Consolas"/>
              </a:rPr>
              <a:t> ;</a:t>
            </a:r>
          </a:p>
          <a:p>
            <a:pPr>
              <a:lnSpc>
                <a:spcPct val="105000"/>
              </a:lnSpc>
            </a:pPr>
            <a:r>
              <a:rPr sz="1100" b="0" i="0">
                <a:solidFill>
                  <a:srgbClr val="E3EBEE"/>
                </a:solidFill>
                <a:latin typeface="Consolas"/>
              </a:rPr>
              <a:t>         </a:t>
            </a:r>
            <a:r>
              <a:rPr sz="1100" b="0" i="0">
                <a:solidFill>
                  <a:srgbClr val="A8CFF0"/>
                </a:solidFill>
                <a:latin typeface="Consolas"/>
              </a:rPr>
              <a:t>:movieTitle</a:t>
            </a:r>
            <a:r>
              <a:rPr sz="1100" b="0" i="0">
                <a:solidFill>
                  <a:srgbClr val="E3EBEE"/>
                </a:solidFill>
                <a:latin typeface="Consolas"/>
              </a:rPr>
              <a:t> </a:t>
            </a:r>
            <a:r>
              <a:rPr sz="1100" b="1" i="0">
                <a:solidFill>
                  <a:srgbClr val="7FD1C1"/>
                </a:solidFill>
                <a:latin typeface="Consolas"/>
              </a:rPr>
              <a:t>?title</a:t>
            </a:r>
            <a:r>
              <a:rPr sz="1100" b="0" i="0">
                <a:solidFill>
                  <a:srgbClr val="E3EBEE"/>
                </a:solidFill>
                <a:latin typeface="Consolas"/>
              </a:rPr>
              <a:t> .</a:t>
            </a:r>
          </a:p>
          <a:p>
            <a:pPr>
              <a:lnSpc>
                <a:spcPct val="105000"/>
              </a:lnSpc>
            </a:pPr>
            <a:r>
              <a:rPr sz="1100" b="0" i="0">
                <a:solidFill>
                  <a:srgbClr val="E3EBEE"/>
                </a:solidFill>
                <a:latin typeface="Consolas"/>
              </a:rPr>
              <a:t>  </a:t>
            </a:r>
            <a:r>
              <a:rPr sz="1100" b="1" i="0">
                <a:solidFill>
                  <a:srgbClr val="7FD1C1"/>
                </a:solidFill>
                <a:latin typeface="Consolas"/>
              </a:rPr>
              <a:t>?genre</a:t>
            </a:r>
            <a:r>
              <a:rPr sz="1100" b="0" i="0">
                <a:solidFill>
                  <a:srgbClr val="E3EBEE"/>
                </a:solidFill>
                <a:latin typeface="Consolas"/>
              </a:rPr>
              <a:t> </a:t>
            </a:r>
            <a:r>
              <a:rPr sz="1100" b="0" i="0">
                <a:solidFill>
                  <a:srgbClr val="A8CFF0"/>
                </a:solidFill>
                <a:latin typeface="Consolas"/>
              </a:rPr>
              <a:t>skos:broader</a:t>
            </a:r>
            <a:r>
              <a:rPr sz="1100" b="0" i="0">
                <a:solidFill>
                  <a:srgbClr val="E3EBEE"/>
                </a:solidFill>
                <a:latin typeface="Consolas"/>
              </a:rPr>
              <a:t>* </a:t>
            </a:r>
            <a:r>
              <a:rPr sz="1100" b="0" i="0">
                <a:solidFill>
                  <a:srgbClr val="A8CFF0"/>
                </a:solidFill>
                <a:latin typeface="Consolas"/>
              </a:rPr>
              <a:t>g:Drama</a:t>
            </a:r>
            <a:r>
              <a:rPr sz="1100" b="0" i="0">
                <a:solidFill>
                  <a:srgbClr val="E3EBEE"/>
                </a:solidFill>
                <a:latin typeface="Consolas"/>
              </a:rPr>
              <a:t> ;</a:t>
            </a:r>
          </a:p>
          <a:p>
            <a:pPr>
              <a:lnSpc>
                <a:spcPct val="105000"/>
              </a:lnSpc>
            </a:pPr>
            <a:r>
              <a:rPr sz="1100" b="0" i="0">
                <a:solidFill>
                  <a:srgbClr val="E3EBEE"/>
                </a:solidFill>
                <a:latin typeface="Consolas"/>
              </a:rPr>
              <a:t>         </a:t>
            </a:r>
            <a:r>
              <a:rPr sz="1100" b="0" i="0">
                <a:solidFill>
                  <a:srgbClr val="A8CFF0"/>
                </a:solidFill>
                <a:latin typeface="Consolas"/>
              </a:rPr>
              <a:t>skos:prefLabel</a:t>
            </a:r>
            <a:r>
              <a:rPr sz="1100" b="0" i="0">
                <a:solidFill>
                  <a:srgbClr val="E3EBEE"/>
                </a:solidFill>
                <a:latin typeface="Consolas"/>
              </a:rPr>
              <a:t> </a:t>
            </a:r>
            <a:r>
              <a:rPr sz="1100" b="1" i="0">
                <a:solidFill>
                  <a:srgbClr val="7FD1C1"/>
                </a:solidFill>
                <a:latin typeface="Consolas"/>
              </a:rPr>
              <a:t>?genreLabel</a:t>
            </a:r>
            <a:r>
              <a:rPr sz="1100" b="0" i="0">
                <a:solidFill>
                  <a:srgbClr val="E3EBEE"/>
                </a:solidFill>
                <a:latin typeface="Consolas"/>
              </a:rPr>
              <a:t> .</a:t>
            </a:r>
          </a:p>
          <a:p>
            <a:pPr>
              <a:lnSpc>
                <a:spcPct val="105000"/>
              </a:lnSpc>
            </a:pPr>
            <a:r>
              <a:rPr sz="1100" b="0" i="0">
                <a:solidFill>
                  <a:srgbClr val="E3EBEE"/>
                </a:solidFill>
                <a:latin typeface="Consolas"/>
              </a:rPr>
              <a:t>}</a:t>
            </a:r>
          </a:p>
          <a:p>
            <a:pPr>
              <a:lnSpc>
                <a:spcPct val="105000"/>
              </a:lnSpc>
            </a:pPr>
            <a:r>
              <a:rPr sz="1100" b="1" i="0">
                <a:solidFill>
                  <a:srgbClr val="F2B866"/>
                </a:solidFill>
                <a:latin typeface="Consolas"/>
              </a:rPr>
              <a:t>ORDER BY</a:t>
            </a:r>
            <a:r>
              <a:rPr sz="1100" b="0" i="0">
                <a:solidFill>
                  <a:srgbClr val="E3EBEE"/>
                </a:solidFill>
                <a:latin typeface="Consolas"/>
              </a:rPr>
              <a:t> </a:t>
            </a:r>
            <a:r>
              <a:rPr sz="1100" b="1" i="0">
                <a:solidFill>
                  <a:srgbClr val="7FD1C1"/>
                </a:solidFill>
                <a:latin typeface="Consolas"/>
              </a:rPr>
              <a:t>?title</a:t>
            </a:r>
          </a:p>
        </p:txBody>
      </p:sp>
      <p:sp>
        <p:nvSpPr>
          <p:cNvPr id="25" name="TextBox 24"/>
          <p:cNvSpPr txBox="1"/>
          <p:nvPr/>
        </p:nvSpPr>
        <p:spPr>
          <a:xfrm>
            <a:off x="6766560" y="4114800"/>
            <a:ext cx="4876495" cy="274320"/>
          </a:xfrm>
          <a:prstGeom prst="rect">
            <a:avLst/>
          </a:prstGeom>
          <a:noFill/>
        </p:spPr>
        <p:txBody>
          <a:bodyPr wrap="square" anchor="t" lIns="0" rIns="0" tIns="0" bIns="0">
            <a:noAutofit/>
          </a:bodyPr>
          <a:lstStyle/>
          <a:p>
            <a:pPr algn="l">
              <a:spcAft>
                <a:spcPts val="600"/>
              </a:spcAft>
            </a:pPr>
            <a:r>
              <a:rPr sz="1300" b="1" i="0">
                <a:solidFill>
                  <a:srgbClr val="5B6B70"/>
                </a:solidFill>
                <a:latin typeface="Calibri"/>
              </a:rPr>
              <a:t>Which movies are dramas, at any depth?</a:t>
            </a:r>
          </a:p>
        </p:txBody>
      </p:sp>
      <p:graphicFrame>
        <p:nvGraphicFramePr>
          <p:cNvPr id="26" name="Table 25"/>
          <p:cNvGraphicFramePr>
            <a:graphicFrameLocks noGrp="1"/>
          </p:cNvGraphicFramePr>
          <p:nvPr/>
        </p:nvGraphicFramePr>
        <p:xfrm>
          <a:off x="6766560" y="4434840"/>
          <a:ext cx="4876495" cy="1316736"/>
        </p:xfrm>
        <a:graphic>
          <a:graphicData uri="http://schemas.openxmlformats.org/drawingml/2006/table">
            <a:tbl>
              <a:tblPr firstRow="0" bandRow="0">
                <a:tableStyleId>{5C22544A-7EE6-4342-B048-85BDC9FD1C3A}</a:tableStyleId>
              </a:tblPr>
              <a:tblGrid>
                <a:gridCol w="2651760"/>
                <a:gridCol w="2224735"/>
              </a:tblGrid>
              <a:tr h="329184">
                <a:tc>
                  <a:txBody>
                    <a:bodyPr wrap="square"/>
                    <a:lstStyle/>
                    <a:p>
                      <a:r>
                        <a:rPr sz="1300" b="1" i="0">
                          <a:solidFill>
                            <a:srgbClr val="FFFFFF"/>
                          </a:solidFill>
                          <a:latin typeface="Calibri"/>
                        </a:rPr>
                        <a:t>title</a:t>
                      </a:r>
                    </a:p>
                  </a:txBody>
                  <a:tcPr marL="91440" marR="91440" marT="27432" marB="27432" anchor="ctr">
                    <a:solidFill>
                      <a:srgbClr val="1F7A6D"/>
                    </a:solidFill>
                  </a:tcPr>
                </a:tc>
                <a:tc>
                  <a:txBody>
                    <a:bodyPr wrap="square"/>
                    <a:lstStyle/>
                    <a:p>
                      <a:r>
                        <a:rPr sz="1300" b="1" i="0">
                          <a:solidFill>
                            <a:srgbClr val="FFFFFF"/>
                          </a:solidFill>
                          <a:latin typeface="Calibri"/>
                        </a:rPr>
                        <a:t>genreLabel</a:t>
                      </a:r>
                    </a:p>
                  </a:txBody>
                  <a:tcPr marL="91440" marR="91440" marT="27432" marB="27432" anchor="ctr">
                    <a:solidFill>
                      <a:srgbClr val="1F7A6D"/>
                    </a:solidFill>
                  </a:tcPr>
                </a:tc>
              </a:tr>
              <a:tr h="329184">
                <a:tc>
                  <a:txBody>
                    <a:bodyPr wrap="square"/>
                    <a:lstStyle/>
                    <a:p>
                      <a:r>
                        <a:rPr sz="1300" b="0" i="0">
                          <a:solidFill>
                            <a:srgbClr val="17272E"/>
                          </a:solidFill>
                          <a:latin typeface="Calibri"/>
                        </a:rPr>
                        <a:t>East of Eden</a:t>
                      </a:r>
                    </a:p>
                  </a:txBody>
                  <a:tcPr marL="91440" marR="91440" marT="27432" marB="27432" anchor="ctr">
                    <a:solidFill>
                      <a:srgbClr val="FFFFFF"/>
                    </a:solidFill>
                  </a:tcPr>
                </a:tc>
                <a:tc>
                  <a:txBody>
                    <a:bodyPr wrap="square"/>
                    <a:lstStyle/>
                    <a:p>
                      <a:r>
                        <a:rPr sz="1300" b="0" i="0">
                          <a:solidFill>
                            <a:srgbClr val="17272E"/>
                          </a:solidFill>
                          <a:latin typeface="Calibri"/>
                        </a:rPr>
                        <a:t>Family drama</a:t>
                      </a:r>
                    </a:p>
                  </a:txBody>
                  <a:tcPr marL="91440" marR="91440" marT="27432" marB="27432" anchor="ctr">
                    <a:solidFill>
                      <a:srgbClr val="FFFFFF"/>
                    </a:solidFill>
                  </a:tcPr>
                </a:tc>
              </a:tr>
              <a:tr h="329184">
                <a:tc>
                  <a:txBody>
                    <a:bodyPr wrap="square"/>
                    <a:lstStyle/>
                    <a:p>
                      <a:r>
                        <a:rPr sz="1300" b="0" i="0">
                          <a:solidFill>
                            <a:srgbClr val="17272E"/>
                          </a:solidFill>
                          <a:latin typeface="Calibri"/>
                        </a:rPr>
                        <a:t>Giant</a:t>
                      </a:r>
                    </a:p>
                  </a:txBody>
                  <a:tcPr marL="91440" marR="91440" marT="27432" marB="27432" anchor="ctr">
                    <a:solidFill>
                      <a:srgbClr val="EAF3F0"/>
                    </a:solidFill>
                  </a:tcPr>
                </a:tc>
                <a:tc>
                  <a:txBody>
                    <a:bodyPr wrap="square"/>
                    <a:lstStyle/>
                    <a:p>
                      <a:r>
                        <a:rPr sz="1300" b="0" i="0">
                          <a:solidFill>
                            <a:srgbClr val="17272E"/>
                          </a:solidFill>
                          <a:latin typeface="Calibri"/>
                        </a:rPr>
                        <a:t>Family drama</a:t>
                      </a:r>
                    </a:p>
                  </a:txBody>
                  <a:tcPr marL="91440" marR="91440" marT="27432" marB="27432" anchor="ctr">
                    <a:solidFill>
                      <a:srgbClr val="EAF3F0"/>
                    </a:solidFill>
                  </a:tcPr>
                </a:tc>
              </a:tr>
              <a:tr h="329184">
                <a:tc>
                  <a:txBody>
                    <a:bodyPr wrap="square"/>
                    <a:lstStyle/>
                    <a:p>
                      <a:r>
                        <a:rPr sz="1300" b="0" i="0">
                          <a:solidFill>
                            <a:srgbClr val="17272E"/>
                          </a:solidFill>
                          <a:latin typeface="Calibri"/>
                        </a:rPr>
                        <a:t>Rebel Without a Cause</a:t>
                      </a:r>
                    </a:p>
                  </a:txBody>
                  <a:tcPr marL="91440" marR="91440" marT="27432" marB="27432" anchor="ctr">
                    <a:solidFill>
                      <a:srgbClr val="FFFFFF"/>
                    </a:solidFill>
                  </a:tcPr>
                </a:tc>
                <a:tc>
                  <a:txBody>
                    <a:bodyPr wrap="square"/>
                    <a:lstStyle/>
                    <a:p>
                      <a:r>
                        <a:rPr sz="1300" b="0" i="0">
                          <a:solidFill>
                            <a:srgbClr val="17272E"/>
                          </a:solidFill>
                          <a:latin typeface="Calibri"/>
                        </a:rPr>
                        <a:t>Teen drama</a:t>
                      </a:r>
                    </a:p>
                  </a:txBody>
                  <a:tcPr marL="91440" marR="91440" marT="27432" marB="27432" anchor="ctr">
                    <a:solidFill>
                      <a:srgbClr val="FFFFFF"/>
                    </a:solidFill>
                  </a:tcPr>
                </a:tc>
              </a:tr>
            </a:tbl>
          </a:graphicData>
        </a:graphic>
      </p:graphicFrame>
      <p:sp>
        <p:nvSpPr>
          <p:cNvPr id="27" name="TextBox 26"/>
          <p:cNvSpPr txBox="1"/>
          <p:nvPr/>
        </p:nvSpPr>
        <p:spPr>
          <a:xfrm>
            <a:off x="6766560" y="5806440"/>
            <a:ext cx="4876495" cy="365760"/>
          </a:xfrm>
          <a:prstGeom prst="rect">
            <a:avLst/>
          </a:prstGeom>
          <a:noFill/>
        </p:spPr>
        <p:txBody>
          <a:bodyPr wrap="square" anchor="t" lIns="0" rIns="0" tIns="0" bIns="0">
            <a:noAutofit/>
          </a:bodyPr>
          <a:lstStyle/>
          <a:p>
            <a:pPr algn="l">
              <a:spcAft>
                <a:spcPts val="600"/>
              </a:spcAft>
            </a:pPr>
            <a:r>
              <a:rPr sz="1200" b="0" i="0">
                <a:solidFill>
                  <a:srgbClr val="5B6B70"/>
                </a:solidFill>
                <a:latin typeface="Calibri"/>
              </a:rPr>
              <a:t>skos:broader isn't transitive by default; the query opts in with *.</a:t>
            </a:r>
          </a:p>
        </p:txBody>
      </p:sp>
      <p:sp>
        <p:nvSpPr>
          <p:cNvPr id="28"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29"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7272E"/>
        </a:solidFill>
        <a:effectLst/>
      </p:bgPr>
    </p:bg>
    <p:spTree>
      <p:nvGrpSpPr>
        <p:cNvPr id="1" name=""/>
        <p:cNvGrpSpPr/>
        <p:nvPr/>
      </p:nvGrpSpPr>
      <p:grpSpPr/>
      <p:sp>
        <p:nvSpPr>
          <p:cNvPr id="2" name="Title 1"/>
          <p:cNvSpPr>
            <a:spLocks noGrp="1"/>
          </p:cNvSpPr>
          <p:nvPr>
            <p:ph type="title"/>
          </p:nvPr>
        </p:nvSpPr>
        <p:spPr>
          <a:xfrm>
            <a:off x="548640" y="3154680"/>
            <a:ext cx="6949440" cy="1371600"/>
          </a:xfrm>
        </p:spPr>
        <p:txBody>
          <a:bodyPr wrap="square" anchor="t" lIns="0" rIns="0" tIns="0" bIns="0">
            <a:noAutofit/>
          </a:bodyPr>
          <a:lstStyle/>
          <a:p>
            <a:pPr algn="l"/>
            <a:r>
              <a:rPr sz="4000" b="1" i="0">
                <a:solidFill>
                  <a:srgbClr val="FFFFFF"/>
                </a:solidFill>
                <a:latin typeface="Cambria"/>
              </a:rPr>
              <a:t>Deep dive: OWL and ontologies at work</a:t>
            </a:r>
          </a:p>
        </p:txBody>
      </p:sp>
      <p:sp>
        <p:nvSpPr>
          <p:cNvPr id="3" name="Part number"/>
          <p:cNvSpPr txBox="1"/>
          <p:nvPr/>
        </p:nvSpPr>
        <p:spPr>
          <a:xfrm>
            <a:off x="548640" y="1325880"/>
            <a:ext cx="2743200" cy="1280160"/>
          </a:xfrm>
          <a:prstGeom prst="rect">
            <a:avLst/>
          </a:prstGeom>
          <a:noFill/>
        </p:spPr>
        <p:txBody>
          <a:bodyPr wrap="square" anchor="t" lIns="0" rIns="0" tIns="0" bIns="0">
            <a:noAutofit/>
          </a:bodyPr>
          <a:lstStyle/>
          <a:p>
            <a:pPr algn="l">
              <a:spcAft>
                <a:spcPts val="600"/>
              </a:spcAft>
            </a:pPr>
            <a:r>
              <a:rPr sz="9600" b="1" i="0">
                <a:solidFill>
                  <a:srgbClr val="E0952B"/>
                </a:solidFill>
                <a:latin typeface="Cambria"/>
              </a:rPr>
              <a:t>07</a:t>
            </a:r>
          </a:p>
        </p:txBody>
      </p:sp>
      <p:sp>
        <p:nvSpPr>
          <p:cNvPr id="4" name="TextBox 3"/>
          <p:cNvSpPr txBox="1"/>
          <p:nvPr/>
        </p:nvSpPr>
        <p:spPr>
          <a:xfrm>
            <a:off x="548640" y="2788920"/>
            <a:ext cx="6766560" cy="320040"/>
          </a:xfrm>
          <a:prstGeom prst="rect">
            <a:avLst/>
          </a:prstGeom>
          <a:noFill/>
        </p:spPr>
        <p:txBody>
          <a:bodyPr wrap="square" anchor="t" lIns="0" rIns="0" tIns="0" bIns="0">
            <a:noAutofit/>
          </a:bodyPr>
          <a:lstStyle/>
          <a:p>
            <a:pPr algn="l">
              <a:spcAft>
                <a:spcPts val="600"/>
              </a:spcAft>
            </a:pPr>
            <a:r>
              <a:rPr sz="1300" b="1" i="0">
                <a:solidFill>
                  <a:srgbClr val="7FD1C1"/>
                </a:solidFill>
                <a:latin typeface="Calibri"/>
              </a:rPr>
              <a:t>PART 7</a:t>
            </a:r>
          </a:p>
        </p:txBody>
      </p:sp>
      <p:sp>
        <p:nvSpPr>
          <p:cNvPr id="5" name="TextBox 4"/>
          <p:cNvSpPr txBox="1"/>
          <p:nvPr/>
        </p:nvSpPr>
        <p:spPr>
          <a:xfrm>
            <a:off x="548640" y="4572000"/>
            <a:ext cx="6583680" cy="731520"/>
          </a:xfrm>
          <a:prstGeom prst="rect">
            <a:avLst/>
          </a:prstGeom>
          <a:noFill/>
        </p:spPr>
        <p:txBody>
          <a:bodyPr wrap="square" anchor="t" lIns="0" rIns="0" tIns="0" bIns="0">
            <a:noAutofit/>
          </a:bodyPr>
          <a:lstStyle/>
          <a:p>
            <a:pPr algn="l">
              <a:spcAft>
                <a:spcPts val="600"/>
              </a:spcAft>
            </a:pPr>
            <a:r>
              <a:rPr sz="1800" b="0" i="0">
                <a:solidFill>
                  <a:srgbClr val="E3EBEE"/>
                </a:solidFill>
                <a:latin typeface="Calibri"/>
              </a:rPr>
              <a:t>Restrictions, sets and counting, and three ontologies used on the Web.</a:t>
            </a:r>
          </a:p>
        </p:txBody>
      </p:sp>
      <p:sp>
        <p:nvSpPr>
          <p:cNvPr id="6" name="Oval 5"/>
          <p:cNvSpPr/>
          <p:nvPr/>
        </p:nvSpPr>
        <p:spPr>
          <a:xfrm>
            <a:off x="58521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1</a:t>
            </a:r>
          </a:p>
        </p:txBody>
      </p:sp>
      <p:sp>
        <p:nvSpPr>
          <p:cNvPr id="7" name="Oval 6"/>
          <p:cNvSpPr/>
          <p:nvPr/>
        </p:nvSpPr>
        <p:spPr>
          <a:xfrm>
            <a:off x="108813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2</a:t>
            </a:r>
          </a:p>
        </p:txBody>
      </p:sp>
      <p:sp>
        <p:nvSpPr>
          <p:cNvPr id="8" name="Oval 7"/>
          <p:cNvSpPr/>
          <p:nvPr/>
        </p:nvSpPr>
        <p:spPr>
          <a:xfrm>
            <a:off x="159105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3</a:t>
            </a:r>
          </a:p>
        </p:txBody>
      </p:sp>
      <p:sp>
        <p:nvSpPr>
          <p:cNvPr id="9" name="Oval 8"/>
          <p:cNvSpPr/>
          <p:nvPr/>
        </p:nvSpPr>
        <p:spPr>
          <a:xfrm>
            <a:off x="209397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4</a:t>
            </a:r>
          </a:p>
        </p:txBody>
      </p:sp>
      <p:sp>
        <p:nvSpPr>
          <p:cNvPr id="10" name="Oval 9"/>
          <p:cNvSpPr/>
          <p:nvPr/>
        </p:nvSpPr>
        <p:spPr>
          <a:xfrm>
            <a:off x="259689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5</a:t>
            </a:r>
          </a:p>
        </p:txBody>
      </p:sp>
      <p:sp>
        <p:nvSpPr>
          <p:cNvPr id="11" name="Oval 10"/>
          <p:cNvSpPr/>
          <p:nvPr/>
        </p:nvSpPr>
        <p:spPr>
          <a:xfrm>
            <a:off x="3099815"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6</a:t>
            </a:r>
          </a:p>
        </p:txBody>
      </p:sp>
      <p:sp>
        <p:nvSpPr>
          <p:cNvPr id="12" name="Oval 11"/>
          <p:cNvSpPr/>
          <p:nvPr/>
        </p:nvSpPr>
        <p:spPr>
          <a:xfrm>
            <a:off x="3566160" y="5623559"/>
            <a:ext cx="365760" cy="365760"/>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200" b="1" i="0">
                <a:solidFill>
                  <a:srgbClr val="17272E"/>
                </a:solidFill>
                <a:latin typeface="Calibri"/>
              </a:rPr>
              <a:t>7</a:t>
            </a:r>
          </a:p>
        </p:txBody>
      </p:sp>
      <p:sp>
        <p:nvSpPr>
          <p:cNvPr id="13" name="Oval 12"/>
          <p:cNvSpPr/>
          <p:nvPr/>
        </p:nvSpPr>
        <p:spPr>
          <a:xfrm>
            <a:off x="4105656"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8</a:t>
            </a:r>
          </a:p>
        </p:txBody>
      </p:sp>
      <p:sp>
        <p:nvSpPr>
          <p:cNvPr id="14" name="Oval 13"/>
          <p:cNvSpPr/>
          <p:nvPr/>
        </p:nvSpPr>
        <p:spPr>
          <a:xfrm>
            <a:off x="4608576"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9</a:t>
            </a:r>
          </a:p>
        </p:txBody>
      </p:sp>
      <p:cxnSp>
        <p:nvCxnSpPr>
          <p:cNvPr id="15" name="Motif edge"/>
          <p:cNvCxnSpPr/>
          <p:nvPr/>
        </p:nvCxnSpPr>
        <p:spPr>
          <a:xfrm flipV="1">
            <a:off x="8257032" y="1568195"/>
            <a:ext cx="1536192" cy="576073"/>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6" name="Motif edge"/>
          <p:cNvCxnSpPr/>
          <p:nvPr/>
        </p:nvCxnSpPr>
        <p:spPr>
          <a:xfrm>
            <a:off x="9793224" y="1568195"/>
            <a:ext cx="1344168" cy="960121"/>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7" name="Motif edge"/>
          <p:cNvCxnSpPr/>
          <p:nvPr/>
        </p:nvCxnSpPr>
        <p:spPr>
          <a:xfrm>
            <a:off x="8257032" y="2144268"/>
            <a:ext cx="960120" cy="1344168"/>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8" name="Motif edge"/>
          <p:cNvCxnSpPr/>
          <p:nvPr/>
        </p:nvCxnSpPr>
        <p:spPr>
          <a:xfrm flipH="1">
            <a:off x="9217152" y="1568195"/>
            <a:ext cx="576072" cy="1920241"/>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9" name="Motif edge"/>
          <p:cNvCxnSpPr/>
          <p:nvPr/>
        </p:nvCxnSpPr>
        <p:spPr>
          <a:xfrm flipH="1">
            <a:off x="10657332" y="2528316"/>
            <a:ext cx="480060" cy="1728216"/>
          </a:xfrm>
          <a:prstGeom prst="line">
            <a:avLst/>
          </a:prstGeom>
          <a:ln w="28575">
            <a:solidFill>
              <a:srgbClr val="E0952B"/>
            </a:solidFill>
            <a:prstDash val="dash"/>
          </a:ln>
        </p:spPr>
        <p:style>
          <a:lnRef idx="2">
            <a:schemeClr val="accent1"/>
          </a:lnRef>
          <a:fillRef idx="0">
            <a:schemeClr val="accent1"/>
          </a:fillRef>
          <a:effectRef idx="1">
            <a:schemeClr val="accent1"/>
          </a:effectRef>
          <a:fontRef idx="minor">
            <a:schemeClr val="tx1"/>
          </a:fontRef>
        </p:style>
      </p:cxnSp>
      <p:cxnSp>
        <p:nvCxnSpPr>
          <p:cNvPr id="20" name="Motif edge"/>
          <p:cNvCxnSpPr/>
          <p:nvPr/>
        </p:nvCxnSpPr>
        <p:spPr>
          <a:xfrm>
            <a:off x="9217152" y="3488436"/>
            <a:ext cx="1440180" cy="768096"/>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1" name="Motif edge"/>
          <p:cNvCxnSpPr/>
          <p:nvPr/>
        </p:nvCxnSpPr>
        <p:spPr>
          <a:xfrm flipH="1">
            <a:off x="8161020" y="3488436"/>
            <a:ext cx="1056132" cy="1248156"/>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2" name="Motif edge"/>
          <p:cNvCxnSpPr/>
          <p:nvPr/>
        </p:nvCxnSpPr>
        <p:spPr>
          <a:xfrm flipH="1">
            <a:off x="9889236" y="4256532"/>
            <a:ext cx="768096" cy="1056132"/>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3" name="Motif edge"/>
          <p:cNvCxnSpPr/>
          <p:nvPr/>
        </p:nvCxnSpPr>
        <p:spPr>
          <a:xfrm>
            <a:off x="8161020" y="4736592"/>
            <a:ext cx="1728216" cy="576072"/>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sp>
        <p:nvSpPr>
          <p:cNvPr id="24" name="Motif node"/>
          <p:cNvSpPr/>
          <p:nvPr/>
        </p:nvSpPr>
        <p:spPr>
          <a:xfrm>
            <a:off x="8113014" y="2000249"/>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Motif node"/>
          <p:cNvSpPr/>
          <p:nvPr/>
        </p:nvSpPr>
        <p:spPr>
          <a:xfrm>
            <a:off x="9591598" y="1366570"/>
            <a:ext cx="403250" cy="403250"/>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otif node"/>
          <p:cNvSpPr/>
          <p:nvPr/>
        </p:nvSpPr>
        <p:spPr>
          <a:xfrm>
            <a:off x="10993374" y="2384298"/>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Motif node"/>
          <p:cNvSpPr/>
          <p:nvPr/>
        </p:nvSpPr>
        <p:spPr>
          <a:xfrm>
            <a:off x="9015526" y="3286810"/>
            <a:ext cx="403250" cy="403250"/>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Motif node"/>
          <p:cNvSpPr/>
          <p:nvPr/>
        </p:nvSpPr>
        <p:spPr>
          <a:xfrm>
            <a:off x="10455706" y="4054906"/>
            <a:ext cx="403250" cy="403250"/>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otif node"/>
          <p:cNvSpPr/>
          <p:nvPr/>
        </p:nvSpPr>
        <p:spPr>
          <a:xfrm>
            <a:off x="8017002" y="4592574"/>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Motif node"/>
          <p:cNvSpPr/>
          <p:nvPr/>
        </p:nvSpPr>
        <p:spPr>
          <a:xfrm>
            <a:off x="9745218" y="5168646"/>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7FD1C1"/>
                </a:solidFill>
                <a:latin typeface="Calibri"/>
              </a:rPr>
              <a:t>What is an ontology? · from RDF to OWL</a:t>
            </a:r>
          </a:p>
        </p:txBody>
      </p:sp>
      <p:sp>
        <p:nvSpPr>
          <p:cNvPr id="32"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7FD1C1"/>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Restrictions define classes from what's known</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7 · BASIC OWL</a:t>
            </a:r>
          </a:p>
        </p:txBody>
      </p:sp>
      <p:sp>
        <p:nvSpPr>
          <p:cNvPr id="4" name="Code: Turtle"/>
          <p:cNvSpPr/>
          <p:nvPr/>
        </p:nvSpPr>
        <p:spPr>
          <a:xfrm>
            <a:off x="548640" y="1645920"/>
            <a:ext cx="5852160" cy="1463040"/>
          </a:xfrm>
          <a:prstGeom prst="roundRect">
            <a:avLst>
              <a:gd name="adj" fmla="val 7500"/>
            </a:avLst>
          </a:prstGeom>
          <a:solidFill>
            <a:srgbClr val="1C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937760" y="1755648"/>
            <a:ext cx="1280160" cy="228600"/>
          </a:xfrm>
          <a:prstGeom prst="rect">
            <a:avLst/>
          </a:prstGeom>
          <a:noFill/>
        </p:spPr>
        <p:txBody>
          <a:bodyPr wrap="square" anchor="t" lIns="0" rIns="0" tIns="0" bIns="0">
            <a:noAutofit/>
          </a:bodyPr>
          <a:lstStyle/>
          <a:p>
            <a:pPr algn="r">
              <a:spcAft>
                <a:spcPts val="600"/>
              </a:spcAft>
            </a:pPr>
            <a:r>
              <a:rPr sz="1000" b="1" i="0">
                <a:solidFill>
                  <a:srgbClr val="869AA0"/>
                </a:solidFill>
                <a:latin typeface="Calibri"/>
              </a:rPr>
              <a:t>TURTLE</a:t>
            </a:r>
          </a:p>
        </p:txBody>
      </p:sp>
      <p:sp>
        <p:nvSpPr>
          <p:cNvPr id="6" name="TextBox 5"/>
          <p:cNvSpPr txBox="1"/>
          <p:nvPr/>
        </p:nvSpPr>
        <p:spPr>
          <a:xfrm>
            <a:off x="777240" y="1847088"/>
            <a:ext cx="5394960" cy="1097280"/>
          </a:xfrm>
          <a:prstGeom prst="rect">
            <a:avLst/>
          </a:prstGeom>
          <a:noFill/>
        </p:spPr>
        <p:txBody>
          <a:bodyPr wrap="none" lIns="0" rIns="0" tIns="0" bIns="0">
            <a:noAutofit/>
          </a:bodyPr>
          <a:lstStyle/>
          <a:p>
            <a:pPr>
              <a:lnSpc>
                <a:spcPct val="105000"/>
              </a:lnSpc>
            </a:pPr>
            <a:r>
              <a:rPr sz="1300" b="0" i="0">
                <a:solidFill>
                  <a:srgbClr val="A8CFF0"/>
                </a:solidFill>
                <a:latin typeface="Consolas"/>
              </a:rPr>
              <a:t>:JamesDeanMovie</a:t>
            </a:r>
            <a:r>
              <a:rPr sz="1300" b="0" i="0">
                <a:solidFill>
                  <a:srgbClr val="E3EBEE"/>
                </a:solidFill>
                <a:latin typeface="Consolas"/>
              </a:rPr>
              <a:t> </a:t>
            </a:r>
            <a:r>
              <a:rPr sz="1300" b="0" i="0">
                <a:solidFill>
                  <a:srgbClr val="A8CFF0"/>
                </a:solidFill>
                <a:latin typeface="Consolas"/>
              </a:rPr>
              <a:t>owl:equivalentClass</a:t>
            </a:r>
            <a:r>
              <a:rPr sz="1300" b="0" i="0">
                <a:solidFill>
                  <a:srgbClr val="E3EBEE"/>
                </a:solidFill>
                <a:latin typeface="Consolas"/>
              </a:rPr>
              <a:t> [</a:t>
            </a:r>
          </a:p>
          <a:p>
            <a:pPr>
              <a:lnSpc>
                <a:spcPct val="105000"/>
              </a:lnSpc>
            </a:pPr>
            <a:r>
              <a:rPr sz="1300" b="0" i="0">
                <a:solidFill>
                  <a:srgbClr val="E3EBEE"/>
                </a:solidFill>
                <a:latin typeface="Consolas"/>
              </a:rPr>
              <a:t>    </a:t>
            </a:r>
            <a:r>
              <a:rPr sz="1300" b="1" i="0">
                <a:solidFill>
                  <a:srgbClr val="F2B866"/>
                </a:solidFill>
                <a:latin typeface="Consolas"/>
              </a:rPr>
              <a:t>a</a:t>
            </a:r>
            <a:r>
              <a:rPr sz="1300" b="0" i="0">
                <a:solidFill>
                  <a:srgbClr val="E3EBEE"/>
                </a:solidFill>
                <a:latin typeface="Consolas"/>
              </a:rPr>
              <a:t> </a:t>
            </a:r>
            <a:r>
              <a:rPr sz="1300" b="0" i="0">
                <a:solidFill>
                  <a:srgbClr val="A8CFF0"/>
                </a:solidFill>
                <a:latin typeface="Consolas"/>
              </a:rPr>
              <a:t>owl:Restriction</a:t>
            </a:r>
            <a:r>
              <a:rPr sz="1300" b="0" i="0">
                <a:solidFill>
                  <a:srgbClr val="E3EBEE"/>
                </a:solidFill>
                <a:latin typeface="Consolas"/>
              </a:rPr>
              <a:t> ;</a:t>
            </a:r>
          </a:p>
          <a:p>
            <a:pPr>
              <a:lnSpc>
                <a:spcPct val="105000"/>
              </a:lnSpc>
            </a:pPr>
            <a:r>
              <a:rPr sz="1300" b="0" i="0">
                <a:solidFill>
                  <a:srgbClr val="E3EBEE"/>
                </a:solidFill>
                <a:latin typeface="Consolas"/>
              </a:rPr>
              <a:t>    </a:t>
            </a:r>
            <a:r>
              <a:rPr sz="1300" b="0" i="0">
                <a:solidFill>
                  <a:srgbClr val="A8CFF0"/>
                </a:solidFill>
                <a:latin typeface="Consolas"/>
              </a:rPr>
              <a:t>owl:onProperty</a:t>
            </a:r>
            <a:r>
              <a:rPr sz="1300" b="0" i="0">
                <a:solidFill>
                  <a:srgbClr val="E3EBEE"/>
                </a:solidFill>
                <a:latin typeface="Consolas"/>
              </a:rPr>
              <a:t> </a:t>
            </a:r>
            <a:r>
              <a:rPr sz="1300" b="0" i="0">
                <a:solidFill>
                  <a:srgbClr val="A8CFF0"/>
                </a:solidFill>
                <a:latin typeface="Consolas"/>
              </a:rPr>
              <a:t>:starring</a:t>
            </a:r>
            <a:r>
              <a:rPr sz="1300" b="0" i="0">
                <a:solidFill>
                  <a:srgbClr val="E3EBEE"/>
                </a:solidFill>
                <a:latin typeface="Consolas"/>
              </a:rPr>
              <a:t> ;</a:t>
            </a:r>
          </a:p>
          <a:p>
            <a:pPr>
              <a:lnSpc>
                <a:spcPct val="105000"/>
              </a:lnSpc>
            </a:pPr>
            <a:r>
              <a:rPr sz="1300" b="0" i="0">
                <a:solidFill>
                  <a:srgbClr val="E3EBEE"/>
                </a:solidFill>
                <a:latin typeface="Consolas"/>
              </a:rPr>
              <a:t>    </a:t>
            </a:r>
            <a:r>
              <a:rPr sz="1300" b="0" i="0">
                <a:solidFill>
                  <a:srgbClr val="A8CFF0"/>
                </a:solidFill>
                <a:latin typeface="Consolas"/>
              </a:rPr>
              <a:t>owl:hasValue</a:t>
            </a:r>
            <a:r>
              <a:rPr sz="1300" b="0" i="0">
                <a:solidFill>
                  <a:srgbClr val="E3EBEE"/>
                </a:solidFill>
                <a:latin typeface="Consolas"/>
              </a:rPr>
              <a:t>   </a:t>
            </a:r>
            <a:r>
              <a:rPr sz="1300" b="0" i="0">
                <a:solidFill>
                  <a:srgbClr val="A8CFF0"/>
                </a:solidFill>
                <a:latin typeface="Consolas"/>
              </a:rPr>
              <a:t>:JamesDean</a:t>
            </a:r>
          </a:p>
          <a:p>
            <a:pPr>
              <a:lnSpc>
                <a:spcPct val="105000"/>
              </a:lnSpc>
            </a:pPr>
            <a:r>
              <a:rPr sz="1300" b="0" i="0">
                <a:solidFill>
                  <a:srgbClr val="E3EBEE"/>
                </a:solidFill>
                <a:latin typeface="Consolas"/>
              </a:rPr>
              <a:t>] .</a:t>
            </a:r>
          </a:p>
        </p:txBody>
      </p:sp>
      <p:sp>
        <p:nvSpPr>
          <p:cNvPr id="7" name="TextBox 6"/>
          <p:cNvSpPr txBox="1"/>
          <p:nvPr/>
        </p:nvSpPr>
        <p:spPr>
          <a:xfrm>
            <a:off x="548640" y="3383280"/>
            <a:ext cx="5852160" cy="274320"/>
          </a:xfrm>
          <a:prstGeom prst="rect">
            <a:avLst/>
          </a:prstGeom>
          <a:noFill/>
        </p:spPr>
        <p:txBody>
          <a:bodyPr wrap="square" anchor="t" lIns="0" rIns="0" tIns="0" bIns="0">
            <a:noAutofit/>
          </a:bodyPr>
          <a:lstStyle/>
          <a:p>
            <a:pPr algn="l">
              <a:spcAft>
                <a:spcPts val="600"/>
              </a:spcAft>
            </a:pPr>
            <a:r>
              <a:rPr sz="1300" b="1" i="0">
                <a:solidFill>
                  <a:srgbClr val="5B6B70"/>
                </a:solidFill>
                <a:latin typeface="Calibri"/>
              </a:rPr>
              <a:t>Inferred by OWL RL</a:t>
            </a:r>
          </a:p>
        </p:txBody>
      </p:sp>
      <p:graphicFrame>
        <p:nvGraphicFramePr>
          <p:cNvPr id="8" name="Table 7"/>
          <p:cNvGraphicFramePr>
            <a:graphicFrameLocks noGrp="1"/>
          </p:cNvGraphicFramePr>
          <p:nvPr/>
        </p:nvGraphicFramePr>
        <p:xfrm>
          <a:off x="548640" y="3703320"/>
          <a:ext cx="5852160" cy="1389888"/>
        </p:xfrm>
        <a:graphic>
          <a:graphicData uri="http://schemas.openxmlformats.org/drawingml/2006/table">
            <a:tbl>
              <a:tblPr firstRow="0" bandRow="0">
                <a:tableStyleId>{5C22544A-7EE6-4342-B048-85BDC9FD1C3A}</a:tableStyleId>
              </a:tblPr>
              <a:tblGrid>
                <a:gridCol w="2286000"/>
                <a:gridCol w="1280160"/>
                <a:gridCol w="2286000"/>
              </a:tblGrid>
              <a:tr h="347472">
                <a:tc>
                  <a:txBody>
                    <a:bodyPr wrap="square"/>
                    <a:lstStyle/>
                    <a:p>
                      <a:r>
                        <a:rPr sz="1300" b="1" i="0">
                          <a:solidFill>
                            <a:srgbClr val="FFFFFF"/>
                          </a:solidFill>
                          <a:latin typeface="Calibri"/>
                        </a:rPr>
                        <a:t>subject</a:t>
                      </a:r>
                    </a:p>
                  </a:txBody>
                  <a:tcPr marL="91440" marR="91440" marT="27432" marB="27432" anchor="ctr">
                    <a:solidFill>
                      <a:srgbClr val="E0952B"/>
                    </a:solidFill>
                  </a:tcPr>
                </a:tc>
                <a:tc>
                  <a:txBody>
                    <a:bodyPr wrap="square"/>
                    <a:lstStyle/>
                    <a:p>
                      <a:r>
                        <a:rPr sz="1300" b="1" i="0">
                          <a:solidFill>
                            <a:srgbClr val="FFFFFF"/>
                          </a:solidFill>
                          <a:latin typeface="Calibri"/>
                        </a:rPr>
                        <a:t>predicate</a:t>
                      </a:r>
                    </a:p>
                  </a:txBody>
                  <a:tcPr marL="91440" marR="91440" marT="27432" marB="27432" anchor="ctr">
                    <a:solidFill>
                      <a:srgbClr val="E0952B"/>
                    </a:solidFill>
                  </a:tcPr>
                </a:tc>
                <a:tc>
                  <a:txBody>
                    <a:bodyPr wrap="square"/>
                    <a:lstStyle/>
                    <a:p>
                      <a:r>
                        <a:rPr sz="1300" b="1" i="0">
                          <a:solidFill>
                            <a:srgbClr val="FFFFFF"/>
                          </a:solidFill>
                          <a:latin typeface="Calibri"/>
                        </a:rPr>
                        <a:t>object</a:t>
                      </a:r>
                    </a:p>
                  </a:txBody>
                  <a:tcPr marL="91440" marR="91440" marT="27432" marB="27432" anchor="ctr">
                    <a:solidFill>
                      <a:srgbClr val="E0952B"/>
                    </a:solidFill>
                  </a:tcPr>
                </a:tc>
              </a:tr>
              <a:tr h="347472">
                <a:tc>
                  <a:txBody>
                    <a:bodyPr wrap="square"/>
                    <a:lstStyle/>
                    <a:p>
                      <a:r>
                        <a:rPr sz="1200" b="0" i="0">
                          <a:solidFill>
                            <a:srgbClr val="17272E"/>
                          </a:solidFill>
                          <a:latin typeface="Consolas"/>
                        </a:rPr>
                        <a:t>:EastOfEden</a:t>
                      </a:r>
                    </a:p>
                  </a:txBody>
                  <a:tcPr marL="91440" marR="91440" marT="27432" marB="27432" anchor="ctr">
                    <a:solidFill>
                      <a:srgbClr val="FFFFFF"/>
                    </a:solidFill>
                  </a:tcPr>
                </a:tc>
                <a:tc>
                  <a:txBody>
                    <a:bodyPr wrap="square"/>
                    <a:lstStyle/>
                    <a:p>
                      <a:r>
                        <a:rPr sz="1200" b="0" i="0">
                          <a:solidFill>
                            <a:srgbClr val="17272E"/>
                          </a:solidFill>
                          <a:latin typeface="Consolas"/>
                        </a:rPr>
                        <a:t>rdf:type</a:t>
                      </a:r>
                    </a:p>
                  </a:txBody>
                  <a:tcPr marL="91440" marR="91440" marT="27432" marB="27432" anchor="ctr">
                    <a:solidFill>
                      <a:srgbClr val="FFFFFF"/>
                    </a:solidFill>
                  </a:tcPr>
                </a:tc>
                <a:tc>
                  <a:txBody>
                    <a:bodyPr wrap="square"/>
                    <a:lstStyle/>
                    <a:p>
                      <a:r>
                        <a:rPr sz="1200" b="0" i="0">
                          <a:solidFill>
                            <a:srgbClr val="17272E"/>
                          </a:solidFill>
                          <a:latin typeface="Consolas"/>
                        </a:rPr>
                        <a:t>:JamesDeanMovie</a:t>
                      </a:r>
                    </a:p>
                  </a:txBody>
                  <a:tcPr marL="91440" marR="91440" marT="27432" marB="27432" anchor="ctr">
                    <a:solidFill>
                      <a:srgbClr val="FFFFFF"/>
                    </a:solidFill>
                  </a:tcPr>
                </a:tc>
              </a:tr>
              <a:tr h="347472">
                <a:tc>
                  <a:txBody>
                    <a:bodyPr wrap="square"/>
                    <a:lstStyle/>
                    <a:p>
                      <a:r>
                        <a:rPr sz="1200" b="0" i="0">
                          <a:solidFill>
                            <a:srgbClr val="17272E"/>
                          </a:solidFill>
                          <a:latin typeface="Consolas"/>
                        </a:rPr>
                        <a:t>:Giant</a:t>
                      </a:r>
                    </a:p>
                  </a:txBody>
                  <a:tcPr marL="91440" marR="91440" marT="27432" marB="27432" anchor="ctr">
                    <a:solidFill>
                      <a:srgbClr val="EAF3F0"/>
                    </a:solidFill>
                  </a:tcPr>
                </a:tc>
                <a:tc>
                  <a:txBody>
                    <a:bodyPr wrap="square"/>
                    <a:lstStyle/>
                    <a:p>
                      <a:r>
                        <a:rPr sz="1200" b="0" i="0">
                          <a:solidFill>
                            <a:srgbClr val="17272E"/>
                          </a:solidFill>
                          <a:latin typeface="Consolas"/>
                        </a:rPr>
                        <a:t>rdf:type</a:t>
                      </a:r>
                    </a:p>
                  </a:txBody>
                  <a:tcPr marL="91440" marR="91440" marT="27432" marB="27432" anchor="ctr">
                    <a:solidFill>
                      <a:srgbClr val="EAF3F0"/>
                    </a:solidFill>
                  </a:tcPr>
                </a:tc>
                <a:tc>
                  <a:txBody>
                    <a:bodyPr wrap="square"/>
                    <a:lstStyle/>
                    <a:p>
                      <a:r>
                        <a:rPr sz="1200" b="0" i="0">
                          <a:solidFill>
                            <a:srgbClr val="17272E"/>
                          </a:solidFill>
                          <a:latin typeface="Consolas"/>
                        </a:rPr>
                        <a:t>:JamesDeanMovie</a:t>
                      </a:r>
                    </a:p>
                  </a:txBody>
                  <a:tcPr marL="91440" marR="91440" marT="27432" marB="27432" anchor="ctr">
                    <a:solidFill>
                      <a:srgbClr val="EAF3F0"/>
                    </a:solidFill>
                  </a:tcPr>
                </a:tc>
              </a:tr>
              <a:tr h="347472">
                <a:tc>
                  <a:txBody>
                    <a:bodyPr wrap="square"/>
                    <a:lstStyle/>
                    <a:p>
                      <a:r>
                        <a:rPr sz="1200" b="0" i="0">
                          <a:solidFill>
                            <a:srgbClr val="17272E"/>
                          </a:solidFill>
                          <a:latin typeface="Consolas"/>
                        </a:rPr>
                        <a:t>:RebelWithoutACause</a:t>
                      </a:r>
                    </a:p>
                  </a:txBody>
                  <a:tcPr marL="91440" marR="91440" marT="27432" marB="27432" anchor="ctr">
                    <a:solidFill>
                      <a:srgbClr val="FFFFFF"/>
                    </a:solidFill>
                  </a:tcPr>
                </a:tc>
                <a:tc>
                  <a:txBody>
                    <a:bodyPr wrap="square"/>
                    <a:lstStyle/>
                    <a:p>
                      <a:r>
                        <a:rPr sz="1200" b="0" i="0">
                          <a:solidFill>
                            <a:srgbClr val="17272E"/>
                          </a:solidFill>
                          <a:latin typeface="Consolas"/>
                        </a:rPr>
                        <a:t>rdf:type</a:t>
                      </a:r>
                    </a:p>
                  </a:txBody>
                  <a:tcPr marL="91440" marR="91440" marT="27432" marB="27432" anchor="ctr">
                    <a:solidFill>
                      <a:srgbClr val="FFFFFF"/>
                    </a:solidFill>
                  </a:tcPr>
                </a:tc>
                <a:tc>
                  <a:txBody>
                    <a:bodyPr wrap="square"/>
                    <a:lstStyle/>
                    <a:p>
                      <a:r>
                        <a:rPr sz="1200" b="0" i="0">
                          <a:solidFill>
                            <a:srgbClr val="17272E"/>
                          </a:solidFill>
                          <a:latin typeface="Consolas"/>
                        </a:rPr>
                        <a:t>:JamesDeanMovie</a:t>
                      </a:r>
                    </a:p>
                  </a:txBody>
                  <a:tcPr marL="91440" marR="91440" marT="27432" marB="27432" anchor="ctr">
                    <a:solidFill>
                      <a:srgbClr val="FFFFFF"/>
                    </a:solidFill>
                  </a:tcPr>
                </a:tc>
              </a:tr>
            </a:tbl>
          </a:graphicData>
        </a:graphic>
      </p:graphicFrame>
      <p:sp>
        <p:nvSpPr>
          <p:cNvPr id="9" name="TextBox 8"/>
          <p:cNvSpPr txBox="1"/>
          <p:nvPr/>
        </p:nvSpPr>
        <p:spPr>
          <a:xfrm>
            <a:off x="548640" y="5349240"/>
            <a:ext cx="5852160" cy="731520"/>
          </a:xfrm>
          <a:prstGeom prst="rect">
            <a:avLst/>
          </a:prstGeom>
          <a:noFill/>
        </p:spPr>
        <p:txBody>
          <a:bodyPr wrap="square" anchor="t" lIns="0" rIns="0" tIns="0" bIns="0">
            <a:noAutofit/>
          </a:bodyPr>
          <a:lstStyle/>
          <a:p>
            <a:pPr algn="l">
              <a:spcAft>
                <a:spcPts val="600"/>
              </a:spcAft>
            </a:pPr>
            <a:r>
              <a:rPr sz="1400" b="0" i="0">
                <a:solidFill>
                  <a:srgbClr val="17272E"/>
                </a:solidFill>
                <a:latin typeface="Calibri"/>
              </a:rPr>
              <a:t>Membership is computed: any movie starring :JamesDean, from any source, joins the class.</a:t>
            </a:r>
          </a:p>
        </p:txBody>
      </p:sp>
      <p:sp>
        <p:nvSpPr>
          <p:cNvPr id="10" name="Card: owl:hasValue"/>
          <p:cNvSpPr/>
          <p:nvPr/>
        </p:nvSpPr>
        <p:spPr>
          <a:xfrm>
            <a:off x="6766560" y="1645920"/>
            <a:ext cx="4876495" cy="1188720"/>
          </a:xfrm>
          <a:prstGeom prst="roundRect">
            <a:avLst>
              <a:gd name="adj" fmla="val 10769"/>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995160" y="1911095"/>
            <a:ext cx="4419295" cy="411480"/>
          </a:xfrm>
          <a:prstGeom prst="rect">
            <a:avLst/>
          </a:prstGeom>
          <a:noFill/>
        </p:spPr>
        <p:txBody>
          <a:bodyPr wrap="square" anchor="t" lIns="0" rIns="0" tIns="0" bIns="0">
            <a:noAutofit/>
          </a:bodyPr>
          <a:lstStyle/>
          <a:p>
            <a:pPr algn="l">
              <a:spcAft>
                <a:spcPts val="600"/>
              </a:spcAft>
            </a:pPr>
            <a:r>
              <a:rPr sz="1500" b="1" i="0">
                <a:solidFill>
                  <a:srgbClr val="17272E"/>
                </a:solidFill>
                <a:latin typeface="Calibri"/>
              </a:rPr>
              <a:t>owl:hasValue</a:t>
            </a:r>
          </a:p>
        </p:txBody>
      </p:sp>
      <p:sp>
        <p:nvSpPr>
          <p:cNvPr id="12" name="TextBox 11"/>
          <p:cNvSpPr txBox="1"/>
          <p:nvPr/>
        </p:nvSpPr>
        <p:spPr>
          <a:xfrm>
            <a:off x="6995160" y="2331720"/>
            <a:ext cx="4419295" cy="365760"/>
          </a:xfrm>
          <a:prstGeom prst="rect">
            <a:avLst/>
          </a:prstGeom>
          <a:noFill/>
        </p:spPr>
        <p:txBody>
          <a:bodyPr wrap="square" anchor="t" lIns="0" rIns="0" tIns="0" bIns="0">
            <a:noAutofit/>
          </a:bodyPr>
          <a:lstStyle/>
          <a:p>
            <a:pPr algn="l">
              <a:spcAft>
                <a:spcPts val="500"/>
              </a:spcAft>
            </a:pPr>
            <a:r>
              <a:rPr sz="1400" b="0" i="0">
                <a:solidFill>
                  <a:srgbClr val="17272E"/>
                </a:solidFill>
                <a:latin typeface="Calibri"/>
              </a:rPr>
              <a:t>Members have a particular value: starring :JamesDean.</a:t>
            </a:r>
          </a:p>
        </p:txBody>
      </p:sp>
      <p:sp>
        <p:nvSpPr>
          <p:cNvPr id="13" name="Card: owl:someValuesFrom"/>
          <p:cNvSpPr/>
          <p:nvPr/>
        </p:nvSpPr>
        <p:spPr>
          <a:xfrm>
            <a:off x="6766560" y="2971800"/>
            <a:ext cx="4876495" cy="1188720"/>
          </a:xfrm>
          <a:prstGeom prst="roundRect">
            <a:avLst>
              <a:gd name="adj" fmla="val 10769"/>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995160" y="3236976"/>
            <a:ext cx="4419295" cy="411480"/>
          </a:xfrm>
          <a:prstGeom prst="rect">
            <a:avLst/>
          </a:prstGeom>
          <a:noFill/>
        </p:spPr>
        <p:txBody>
          <a:bodyPr wrap="square" anchor="t" lIns="0" rIns="0" tIns="0" bIns="0">
            <a:noAutofit/>
          </a:bodyPr>
          <a:lstStyle/>
          <a:p>
            <a:pPr algn="l">
              <a:spcAft>
                <a:spcPts val="600"/>
              </a:spcAft>
            </a:pPr>
            <a:r>
              <a:rPr sz="1500" b="1" i="0">
                <a:solidFill>
                  <a:srgbClr val="17272E"/>
                </a:solidFill>
                <a:latin typeface="Calibri"/>
              </a:rPr>
              <a:t>owl:someValuesFrom</a:t>
            </a:r>
          </a:p>
        </p:txBody>
      </p:sp>
      <p:sp>
        <p:nvSpPr>
          <p:cNvPr id="15" name="TextBox 14"/>
          <p:cNvSpPr txBox="1"/>
          <p:nvPr/>
        </p:nvSpPr>
        <p:spPr>
          <a:xfrm>
            <a:off x="6995160" y="3657600"/>
            <a:ext cx="4419295" cy="365759"/>
          </a:xfrm>
          <a:prstGeom prst="rect">
            <a:avLst/>
          </a:prstGeom>
          <a:noFill/>
        </p:spPr>
        <p:txBody>
          <a:bodyPr wrap="square" anchor="t" lIns="0" rIns="0" tIns="0" bIns="0">
            <a:noAutofit/>
          </a:bodyPr>
          <a:lstStyle/>
          <a:p>
            <a:pPr algn="l">
              <a:spcAft>
                <a:spcPts val="500"/>
              </a:spcAft>
            </a:pPr>
            <a:r>
              <a:rPr sz="1400" b="0" i="0">
                <a:solidFill>
                  <a:srgbClr val="17272E"/>
                </a:solidFill>
                <a:latin typeface="Calibri"/>
              </a:rPr>
              <a:t>At least one value comes from a class: starring some :Actor.</a:t>
            </a:r>
          </a:p>
        </p:txBody>
      </p:sp>
      <p:sp>
        <p:nvSpPr>
          <p:cNvPr id="16" name="Card: owl:allValuesFrom"/>
          <p:cNvSpPr/>
          <p:nvPr/>
        </p:nvSpPr>
        <p:spPr>
          <a:xfrm>
            <a:off x="6766560" y="4297680"/>
            <a:ext cx="4876495" cy="1188720"/>
          </a:xfrm>
          <a:prstGeom prst="roundRect">
            <a:avLst>
              <a:gd name="adj" fmla="val 10769"/>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95160" y="4562856"/>
            <a:ext cx="4419295" cy="411480"/>
          </a:xfrm>
          <a:prstGeom prst="rect">
            <a:avLst/>
          </a:prstGeom>
          <a:noFill/>
        </p:spPr>
        <p:txBody>
          <a:bodyPr wrap="square" anchor="t" lIns="0" rIns="0" tIns="0" bIns="0">
            <a:noAutofit/>
          </a:bodyPr>
          <a:lstStyle/>
          <a:p>
            <a:pPr algn="l">
              <a:spcAft>
                <a:spcPts val="600"/>
              </a:spcAft>
            </a:pPr>
            <a:r>
              <a:rPr sz="1500" b="1" i="0">
                <a:solidFill>
                  <a:srgbClr val="17272E"/>
                </a:solidFill>
                <a:latin typeface="Calibri"/>
              </a:rPr>
              <a:t>owl:allValuesFrom</a:t>
            </a:r>
          </a:p>
        </p:txBody>
      </p:sp>
      <p:sp>
        <p:nvSpPr>
          <p:cNvPr id="18" name="TextBox 17"/>
          <p:cNvSpPr txBox="1"/>
          <p:nvPr/>
        </p:nvSpPr>
        <p:spPr>
          <a:xfrm>
            <a:off x="6995160" y="4983480"/>
            <a:ext cx="4419295" cy="365759"/>
          </a:xfrm>
          <a:prstGeom prst="rect">
            <a:avLst/>
          </a:prstGeom>
          <a:noFill/>
        </p:spPr>
        <p:txBody>
          <a:bodyPr wrap="square" anchor="t" lIns="0" rIns="0" tIns="0" bIns="0">
            <a:noAutofit/>
          </a:bodyPr>
          <a:lstStyle/>
          <a:p>
            <a:pPr algn="l">
              <a:spcAft>
                <a:spcPts val="500"/>
              </a:spcAft>
            </a:pPr>
            <a:r>
              <a:rPr sz="1400" b="0" i="0">
                <a:solidFill>
                  <a:srgbClr val="17272E"/>
                </a:solidFill>
                <a:latin typeface="Calibri"/>
              </a:rPr>
              <a:t>Every value, if any, comes from a class: genre only drama concepts.</a:t>
            </a:r>
          </a:p>
        </p:txBody>
      </p:sp>
      <p:sp>
        <p:nvSpPr>
          <p:cNvPr id="19" name="Oval 18"/>
          <p:cNvSpPr/>
          <p:nvPr/>
        </p:nvSpPr>
        <p:spPr>
          <a:xfrm>
            <a:off x="6766560" y="5715000"/>
            <a:ext cx="329184" cy="329184"/>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a:t>
            </a:r>
          </a:p>
        </p:txBody>
      </p:sp>
      <p:sp>
        <p:nvSpPr>
          <p:cNvPr id="20" name="Takeaway"/>
          <p:cNvSpPr txBox="1"/>
          <p:nvPr/>
        </p:nvSpPr>
        <p:spPr>
          <a:xfrm>
            <a:off x="7223760" y="5715000"/>
            <a:ext cx="4419295" cy="329184"/>
          </a:xfrm>
          <a:prstGeom prst="rect">
            <a:avLst/>
          </a:prstGeom>
          <a:noFill/>
        </p:spPr>
        <p:txBody>
          <a:bodyPr wrap="square" anchor="ctr" lIns="0" rIns="0" tIns="0" bIns="0">
            <a:noAutofit/>
          </a:bodyPr>
          <a:lstStyle/>
          <a:p>
            <a:pPr algn="l">
              <a:spcAft>
                <a:spcPts val="600"/>
              </a:spcAft>
            </a:pPr>
            <a:r>
              <a:rPr sz="1400" b="1" i="0">
                <a:solidFill>
                  <a:srgbClr val="17272E"/>
                </a:solidFill>
                <a:latin typeface="Calibri"/>
              </a:rPr>
              <a:t>A restriction is a class, so others can reuse it.</a:t>
            </a:r>
          </a:p>
        </p:txBody>
      </p:sp>
      <p:sp>
        <p:nvSpPr>
          <p:cNvPr id="21"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22"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Counting needs a closed world: close it on purpose</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7 · COUNTING AND SETS</a:t>
            </a:r>
          </a:p>
        </p:txBody>
      </p:sp>
      <p:sp>
        <p:nvSpPr>
          <p:cNvPr id="4" name="Rounded Rectangle 3"/>
          <p:cNvSpPr/>
          <p:nvPr/>
        </p:nvSpPr>
        <p:spPr>
          <a:xfrm>
            <a:off x="548640" y="1645920"/>
            <a:ext cx="2491739" cy="822960"/>
          </a:xfrm>
          <a:prstGeom prst="roundRect">
            <a:avLst>
              <a:gd name="adj" fmla="val 11111"/>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8288" bIns="18288">
            <a:noAutofit/>
          </a:bodyPr>
          <a:lstStyle/>
          <a:p>
            <a:pPr algn="l"/>
            <a:r>
              <a:rPr sz="1300" b="1" i="0">
                <a:solidFill>
                  <a:srgbClr val="17272E"/>
                </a:solidFill>
                <a:latin typeface="Consolas"/>
              </a:rPr>
              <a:t>owl:unionOf</a:t>
            </a:r>
          </a:p>
          <a:p>
            <a:pPr algn="l"/>
            <a:r>
              <a:rPr sz="1300" b="0" i="0">
                <a:solidFill>
                  <a:srgbClr val="5B6B70"/>
                </a:solidFill>
                <a:latin typeface="Calibri"/>
              </a:rPr>
              <a:t>either class</a:t>
            </a:r>
          </a:p>
        </p:txBody>
      </p:sp>
      <p:sp>
        <p:nvSpPr>
          <p:cNvPr id="5" name="Rounded Rectangle 4"/>
          <p:cNvSpPr/>
          <p:nvPr/>
        </p:nvSpPr>
        <p:spPr>
          <a:xfrm>
            <a:off x="3177539" y="1645920"/>
            <a:ext cx="2491739" cy="822960"/>
          </a:xfrm>
          <a:prstGeom prst="roundRect">
            <a:avLst>
              <a:gd name="adj" fmla="val 11111"/>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8288" bIns="18288">
            <a:noAutofit/>
          </a:bodyPr>
          <a:lstStyle/>
          <a:p>
            <a:pPr algn="l"/>
            <a:r>
              <a:rPr sz="1300" b="1" i="0">
                <a:solidFill>
                  <a:srgbClr val="17272E"/>
                </a:solidFill>
                <a:latin typeface="Consolas"/>
              </a:rPr>
              <a:t>owl:intersectionOf</a:t>
            </a:r>
          </a:p>
          <a:p>
            <a:pPr algn="l"/>
            <a:r>
              <a:rPr sz="1300" b="0" i="0">
                <a:solidFill>
                  <a:srgbClr val="5B6B70"/>
                </a:solidFill>
                <a:latin typeface="Calibri"/>
              </a:rPr>
              <a:t>both classes</a:t>
            </a:r>
          </a:p>
        </p:txBody>
      </p:sp>
      <p:sp>
        <p:nvSpPr>
          <p:cNvPr id="6" name="Rounded Rectangle 5"/>
          <p:cNvSpPr/>
          <p:nvPr/>
        </p:nvSpPr>
        <p:spPr>
          <a:xfrm>
            <a:off x="548640" y="2606040"/>
            <a:ext cx="2491739" cy="822960"/>
          </a:xfrm>
          <a:prstGeom prst="roundRect">
            <a:avLst>
              <a:gd name="adj" fmla="val 11111"/>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8288" bIns="18288">
            <a:noAutofit/>
          </a:bodyPr>
          <a:lstStyle/>
          <a:p>
            <a:pPr algn="l"/>
            <a:r>
              <a:rPr sz="1300" b="1" i="0">
                <a:solidFill>
                  <a:srgbClr val="17272E"/>
                </a:solidFill>
                <a:latin typeface="Consolas"/>
              </a:rPr>
              <a:t>owl:complementOf</a:t>
            </a:r>
          </a:p>
          <a:p>
            <a:pPr algn="l"/>
            <a:r>
              <a:rPr sz="1300" b="0" i="0">
                <a:solidFill>
                  <a:srgbClr val="5B6B70"/>
                </a:solidFill>
                <a:latin typeface="Calibri"/>
              </a:rPr>
              <a:t>not in the class</a:t>
            </a:r>
          </a:p>
        </p:txBody>
      </p:sp>
      <p:sp>
        <p:nvSpPr>
          <p:cNvPr id="7" name="Rounded Rectangle 6"/>
          <p:cNvSpPr/>
          <p:nvPr/>
        </p:nvSpPr>
        <p:spPr>
          <a:xfrm>
            <a:off x="3177539" y="2606040"/>
            <a:ext cx="2491739" cy="822960"/>
          </a:xfrm>
          <a:prstGeom prst="roundRect">
            <a:avLst>
              <a:gd name="adj" fmla="val 11111"/>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8288" bIns="18288">
            <a:noAutofit/>
          </a:bodyPr>
          <a:lstStyle/>
          <a:p>
            <a:pPr algn="l"/>
            <a:r>
              <a:rPr sz="1300" b="1" i="0">
                <a:solidFill>
                  <a:srgbClr val="17272E"/>
                </a:solidFill>
                <a:latin typeface="Consolas"/>
              </a:rPr>
              <a:t>owl:cardinality</a:t>
            </a:r>
          </a:p>
          <a:p>
            <a:pPr algn="l"/>
            <a:r>
              <a:rPr sz="1300" b="0" i="0">
                <a:solidFill>
                  <a:srgbClr val="5B6B70"/>
                </a:solidFill>
                <a:latin typeface="Calibri"/>
              </a:rPr>
              <a:t>min, max, exact</a:t>
            </a:r>
          </a:p>
        </p:txBody>
      </p:sp>
      <p:sp>
        <p:nvSpPr>
          <p:cNvPr id="8" name="Rounded Rectangle 7"/>
          <p:cNvSpPr/>
          <p:nvPr/>
        </p:nvSpPr>
        <p:spPr>
          <a:xfrm>
            <a:off x="548640" y="3566160"/>
            <a:ext cx="2491739" cy="822960"/>
          </a:xfrm>
          <a:prstGeom prst="roundRect">
            <a:avLst>
              <a:gd name="adj" fmla="val 11111"/>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8288" bIns="18288">
            <a:noAutofit/>
          </a:bodyPr>
          <a:lstStyle/>
          <a:p>
            <a:pPr algn="l"/>
            <a:r>
              <a:rPr sz="1300" b="1" i="0">
                <a:solidFill>
                  <a:srgbClr val="17272E"/>
                </a:solidFill>
                <a:latin typeface="Consolas"/>
              </a:rPr>
              <a:t>owl:disjointWith</a:t>
            </a:r>
          </a:p>
          <a:p>
            <a:pPr algn="l"/>
            <a:r>
              <a:rPr sz="1300" b="0" i="0">
                <a:solidFill>
                  <a:srgbClr val="5B6B70"/>
                </a:solidFill>
                <a:latin typeface="Calibri"/>
              </a:rPr>
              <a:t>no shared members</a:t>
            </a:r>
          </a:p>
        </p:txBody>
      </p:sp>
      <p:sp>
        <p:nvSpPr>
          <p:cNvPr id="9" name="Rounded Rectangle 8"/>
          <p:cNvSpPr/>
          <p:nvPr/>
        </p:nvSpPr>
        <p:spPr>
          <a:xfrm>
            <a:off x="3177539" y="3566160"/>
            <a:ext cx="2491739" cy="822960"/>
          </a:xfrm>
          <a:prstGeom prst="roundRect">
            <a:avLst>
              <a:gd name="adj" fmla="val 11111"/>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8288" bIns="18288">
            <a:noAutofit/>
          </a:bodyPr>
          <a:lstStyle/>
          <a:p>
            <a:pPr algn="l"/>
            <a:r>
              <a:rPr sz="1300" b="1" i="0">
                <a:solidFill>
                  <a:srgbClr val="17272E"/>
                </a:solidFill>
                <a:latin typeface="Consolas"/>
              </a:rPr>
              <a:t>owl:differentFrom</a:t>
            </a:r>
          </a:p>
          <a:p>
            <a:pPr algn="l"/>
            <a:r>
              <a:rPr sz="1300" b="0" i="0">
                <a:solidFill>
                  <a:srgbClr val="5B6B70"/>
                </a:solidFill>
                <a:latin typeface="Calibri"/>
              </a:rPr>
              <a:t>these names differ</a:t>
            </a:r>
          </a:p>
        </p:txBody>
      </p:sp>
      <p:sp>
        <p:nvSpPr>
          <p:cNvPr id="10" name="TextBox 9"/>
          <p:cNvSpPr txBox="1"/>
          <p:nvPr/>
        </p:nvSpPr>
        <p:spPr>
          <a:xfrm>
            <a:off x="548640" y="4663440"/>
            <a:ext cx="5120640" cy="1463040"/>
          </a:xfrm>
          <a:prstGeom prst="rect">
            <a:avLst/>
          </a:prstGeom>
          <a:noFill/>
        </p:spPr>
        <p:txBody>
          <a:bodyPr wrap="square" anchor="t" lIns="0" rIns="0" tIns="0" bIns="0">
            <a:noAutofit/>
          </a:bodyPr>
          <a:lstStyle/>
          <a:p>
            <a:pPr algn="l">
              <a:spcAft>
                <a:spcPts val="600"/>
              </a:spcAft>
            </a:pPr>
            <a:r>
              <a:rPr sz="1500" b="0" i="0">
                <a:solidFill>
                  <a:srgbClr val="17272E"/>
                </a:solidFill>
                <a:latin typeface="Calibri"/>
              </a:rPr>
              <a:t>Open world and nonunique names make OWL cautious: two names may be one thing, and more facts may turn up.</a:t>
            </a:r>
          </a:p>
        </p:txBody>
      </p:sp>
      <p:sp>
        <p:nvSpPr>
          <p:cNvPr id="11" name="Code: Turtle"/>
          <p:cNvSpPr/>
          <p:nvPr/>
        </p:nvSpPr>
        <p:spPr>
          <a:xfrm>
            <a:off x="6126480" y="1645920"/>
            <a:ext cx="5516575" cy="1828800"/>
          </a:xfrm>
          <a:prstGeom prst="roundRect">
            <a:avLst>
              <a:gd name="adj" fmla="val 6000"/>
            </a:avLst>
          </a:prstGeom>
          <a:solidFill>
            <a:srgbClr val="1C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180015" y="1755648"/>
            <a:ext cx="1280160" cy="228600"/>
          </a:xfrm>
          <a:prstGeom prst="rect">
            <a:avLst/>
          </a:prstGeom>
          <a:noFill/>
        </p:spPr>
        <p:txBody>
          <a:bodyPr wrap="square" anchor="t" lIns="0" rIns="0" tIns="0" bIns="0">
            <a:noAutofit/>
          </a:bodyPr>
          <a:lstStyle/>
          <a:p>
            <a:pPr algn="r">
              <a:spcAft>
                <a:spcPts val="600"/>
              </a:spcAft>
            </a:pPr>
            <a:r>
              <a:rPr sz="1000" b="1" i="0">
                <a:solidFill>
                  <a:srgbClr val="869AA0"/>
                </a:solidFill>
                <a:latin typeface="Calibri"/>
              </a:rPr>
              <a:t>TURTLE</a:t>
            </a:r>
          </a:p>
        </p:txBody>
      </p:sp>
      <p:sp>
        <p:nvSpPr>
          <p:cNvPr id="13" name="TextBox 12"/>
          <p:cNvSpPr txBox="1"/>
          <p:nvPr/>
        </p:nvSpPr>
        <p:spPr>
          <a:xfrm>
            <a:off x="6355080" y="1847088"/>
            <a:ext cx="5059375" cy="1463040"/>
          </a:xfrm>
          <a:prstGeom prst="rect">
            <a:avLst/>
          </a:prstGeom>
          <a:noFill/>
        </p:spPr>
        <p:txBody>
          <a:bodyPr wrap="none" lIns="0" rIns="0" tIns="0" bIns="0">
            <a:noAutofit/>
          </a:bodyPr>
          <a:lstStyle/>
          <a:p>
            <a:pPr>
              <a:lnSpc>
                <a:spcPct val="105000"/>
              </a:lnSpc>
            </a:pPr>
            <a:r>
              <a:rPr sz="1200" b="0" i="0">
                <a:solidFill>
                  <a:srgbClr val="A8CFF0"/>
                </a:solidFill>
                <a:latin typeface="Consolas"/>
              </a:rPr>
              <a:t>:Movie</a:t>
            </a:r>
            <a:r>
              <a:rPr sz="1200" b="0" i="0">
                <a:solidFill>
                  <a:srgbClr val="E3EBEE"/>
                </a:solidFill>
                <a:latin typeface="Consolas"/>
              </a:rPr>
              <a:t> </a:t>
            </a:r>
            <a:r>
              <a:rPr sz="1200" b="0" i="0">
                <a:solidFill>
                  <a:srgbClr val="A8CFF0"/>
                </a:solidFill>
                <a:latin typeface="Consolas"/>
              </a:rPr>
              <a:t>rdfs:subClassOf</a:t>
            </a:r>
            <a:r>
              <a:rPr sz="1200" b="0" i="0">
                <a:solidFill>
                  <a:srgbClr val="E3EBEE"/>
                </a:solidFill>
                <a:latin typeface="Consolas"/>
              </a:rPr>
              <a:t> [</a:t>
            </a:r>
          </a:p>
          <a:p>
            <a:pPr>
              <a:lnSpc>
                <a:spcPct val="105000"/>
              </a:lnSpc>
            </a:pPr>
            <a:r>
              <a:rPr sz="1200" b="0" i="0">
                <a:solidFill>
                  <a:srgbClr val="E3EBEE"/>
                </a:solidFill>
                <a:latin typeface="Consolas"/>
              </a:rPr>
              <a:t>    </a:t>
            </a:r>
            <a:r>
              <a:rPr sz="1200" b="1" i="0">
                <a:solidFill>
                  <a:srgbClr val="F2B866"/>
                </a:solidFill>
                <a:latin typeface="Consolas"/>
              </a:rPr>
              <a:t>a</a:t>
            </a:r>
            <a:r>
              <a:rPr sz="1200" b="0" i="0">
                <a:solidFill>
                  <a:srgbClr val="E3EBEE"/>
                </a:solidFill>
                <a:latin typeface="Consolas"/>
              </a:rPr>
              <a:t> </a:t>
            </a:r>
            <a:r>
              <a:rPr sz="1200" b="0" i="0">
                <a:solidFill>
                  <a:srgbClr val="A8CFF0"/>
                </a:solidFill>
                <a:latin typeface="Consolas"/>
              </a:rPr>
              <a:t>owl:Restriction</a:t>
            </a:r>
            <a:r>
              <a:rPr sz="1200" b="0" i="0">
                <a:solidFill>
                  <a:srgbClr val="E3EBEE"/>
                </a:solidFill>
                <a:latin typeface="Consolas"/>
              </a:rPr>
              <a:t> ;</a:t>
            </a:r>
          </a:p>
          <a:p>
            <a:pPr>
              <a:lnSpc>
                <a:spcPct val="105000"/>
              </a:lnSpc>
            </a:pPr>
            <a:r>
              <a:rPr sz="1200" b="0" i="0">
                <a:solidFill>
                  <a:srgbClr val="E3EBEE"/>
                </a:solidFill>
                <a:latin typeface="Consolas"/>
              </a:rPr>
              <a:t>    </a:t>
            </a:r>
            <a:r>
              <a:rPr sz="1200" b="0" i="0">
                <a:solidFill>
                  <a:srgbClr val="A8CFF0"/>
                </a:solidFill>
                <a:latin typeface="Consolas"/>
              </a:rPr>
              <a:t>owl:onProperty</a:t>
            </a:r>
            <a:r>
              <a:rPr sz="1200" b="0" i="0">
                <a:solidFill>
                  <a:srgbClr val="E3EBEE"/>
                </a:solidFill>
                <a:latin typeface="Consolas"/>
              </a:rPr>
              <a:t> </a:t>
            </a:r>
            <a:r>
              <a:rPr sz="1200" b="0" i="0">
                <a:solidFill>
                  <a:srgbClr val="A8CFF0"/>
                </a:solidFill>
                <a:latin typeface="Consolas"/>
              </a:rPr>
              <a:t>:directedBy</a:t>
            </a:r>
            <a:r>
              <a:rPr sz="1200" b="0" i="0">
                <a:solidFill>
                  <a:srgbClr val="E3EBEE"/>
                </a:solidFill>
                <a:latin typeface="Consolas"/>
              </a:rPr>
              <a:t> ;</a:t>
            </a:r>
          </a:p>
          <a:p>
            <a:pPr>
              <a:lnSpc>
                <a:spcPct val="105000"/>
              </a:lnSpc>
            </a:pPr>
            <a:r>
              <a:rPr sz="1200" b="0" i="0">
                <a:solidFill>
                  <a:srgbClr val="E3EBEE"/>
                </a:solidFill>
                <a:latin typeface="Consolas"/>
              </a:rPr>
              <a:t>    </a:t>
            </a:r>
            <a:r>
              <a:rPr sz="1200" b="0" i="0">
                <a:solidFill>
                  <a:srgbClr val="A8CFF0"/>
                </a:solidFill>
                <a:latin typeface="Consolas"/>
              </a:rPr>
              <a:t>owl:maxCardinality</a:t>
            </a:r>
            <a:r>
              <a:rPr sz="1200" b="0" i="0">
                <a:solidFill>
                  <a:srgbClr val="E3EBEE"/>
                </a:solidFill>
                <a:latin typeface="Consolas"/>
              </a:rPr>
              <a:t> </a:t>
            </a:r>
            <a:r>
              <a:rPr sz="1200" b="0" i="0">
                <a:solidFill>
                  <a:srgbClr val="B5D98F"/>
                </a:solidFill>
                <a:latin typeface="Consolas"/>
              </a:rPr>
              <a:t>1</a:t>
            </a:r>
          </a:p>
          <a:p>
            <a:pPr>
              <a:lnSpc>
                <a:spcPct val="105000"/>
              </a:lnSpc>
            </a:pPr>
            <a:r>
              <a:rPr sz="1200" b="0" i="0">
                <a:solidFill>
                  <a:srgbClr val="E3EBEE"/>
                </a:solidFill>
                <a:latin typeface="Consolas"/>
              </a:rPr>
              <a:t>] .</a:t>
            </a:r>
          </a:p>
          <a:p>
            <a:pPr>
              <a:lnSpc>
                <a:spcPct val="105000"/>
              </a:lnSpc>
            </a:pPr>
            <a:r>
              <a:rPr sz="1200" b="0" i="0">
                <a:solidFill>
                  <a:srgbClr val="E3EBEE"/>
                </a:solidFill>
                <a:latin typeface="Consolas"/>
              </a:rPr>
              <a:t> </a:t>
            </a:r>
          </a:p>
          <a:p>
            <a:pPr>
              <a:lnSpc>
                <a:spcPct val="105000"/>
              </a:lnSpc>
            </a:pPr>
            <a:r>
              <a:rPr sz="1200" b="0" i="0">
                <a:solidFill>
                  <a:srgbClr val="A8CFF0"/>
                </a:solidFill>
                <a:latin typeface="Consolas"/>
              </a:rPr>
              <a:t>:Giant</a:t>
            </a:r>
            <a:r>
              <a:rPr sz="1200" b="0" i="0">
                <a:solidFill>
                  <a:srgbClr val="E3EBEE"/>
                </a:solidFill>
                <a:latin typeface="Consolas"/>
              </a:rPr>
              <a:t> </a:t>
            </a:r>
            <a:r>
              <a:rPr sz="1200" b="0" i="0">
                <a:solidFill>
                  <a:srgbClr val="A8CFF0"/>
                </a:solidFill>
                <a:latin typeface="Consolas"/>
              </a:rPr>
              <a:t>:directedBy</a:t>
            </a:r>
            <a:r>
              <a:rPr sz="1200" b="0" i="0">
                <a:solidFill>
                  <a:srgbClr val="E3EBEE"/>
                </a:solidFill>
                <a:latin typeface="Consolas"/>
              </a:rPr>
              <a:t> </a:t>
            </a:r>
            <a:r>
              <a:rPr sz="1200" b="0" i="0">
                <a:solidFill>
                  <a:srgbClr val="A8CFF0"/>
                </a:solidFill>
                <a:latin typeface="Consolas"/>
              </a:rPr>
              <a:t>fan:G_Stevens</a:t>
            </a:r>
            <a:r>
              <a:rPr sz="1200" b="0" i="0">
                <a:solidFill>
                  <a:srgbClr val="E3EBEE"/>
                </a:solidFill>
                <a:latin typeface="Consolas"/>
              </a:rPr>
              <a:t> .</a:t>
            </a:r>
          </a:p>
        </p:txBody>
      </p:sp>
      <p:sp>
        <p:nvSpPr>
          <p:cNvPr id="14" name="TextBox 13"/>
          <p:cNvSpPr txBox="1"/>
          <p:nvPr/>
        </p:nvSpPr>
        <p:spPr>
          <a:xfrm>
            <a:off x="6126480" y="3657600"/>
            <a:ext cx="5516575" cy="274320"/>
          </a:xfrm>
          <a:prstGeom prst="rect">
            <a:avLst/>
          </a:prstGeom>
          <a:noFill/>
        </p:spPr>
        <p:txBody>
          <a:bodyPr wrap="square" anchor="t" lIns="0" rIns="0" tIns="0" bIns="0">
            <a:noAutofit/>
          </a:bodyPr>
          <a:lstStyle/>
          <a:p>
            <a:pPr algn="l">
              <a:spcAft>
                <a:spcPts val="600"/>
              </a:spcAft>
            </a:pPr>
            <a:r>
              <a:rPr sz="1300" b="1" i="0">
                <a:solidFill>
                  <a:srgbClr val="5B6B70"/>
                </a:solidFill>
                <a:latin typeface="Calibri"/>
              </a:rPr>
              <a:t>Two directors for Giant? OWL concludes:</a:t>
            </a:r>
          </a:p>
        </p:txBody>
      </p:sp>
      <p:sp>
        <p:nvSpPr>
          <p:cNvPr id="15" name="Rounded Rectangle 14"/>
          <p:cNvSpPr/>
          <p:nvPr/>
        </p:nvSpPr>
        <p:spPr>
          <a:xfrm>
            <a:off x="6126480" y="3977639"/>
            <a:ext cx="5516575" cy="438912"/>
          </a:xfrm>
          <a:prstGeom prst="roundRect">
            <a:avLst>
              <a:gd name="adj" fmla="val 50000"/>
            </a:avLst>
          </a:prstGeom>
          <a:solidFill>
            <a:srgbClr val="FCF1DF"/>
          </a:solidFill>
          <a:ln w="12700">
            <a:solidFill>
              <a:srgbClr val="E095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1300" b="1" i="0">
                <a:solidFill>
                  <a:srgbClr val="17272E"/>
                </a:solidFill>
                <a:latin typeface="Consolas"/>
              </a:rPr>
              <a:t>:GeorgeStevens owl:sameAs fan:G_Stevens</a:t>
            </a:r>
          </a:p>
        </p:txBody>
      </p:sp>
      <p:sp>
        <p:nvSpPr>
          <p:cNvPr id="16" name="TextBox 15"/>
          <p:cNvSpPr txBox="1"/>
          <p:nvPr/>
        </p:nvSpPr>
        <p:spPr>
          <a:xfrm>
            <a:off x="6126480" y="4663440"/>
            <a:ext cx="5516575" cy="274320"/>
          </a:xfrm>
          <a:prstGeom prst="rect">
            <a:avLst/>
          </a:prstGeom>
          <a:noFill/>
        </p:spPr>
        <p:txBody>
          <a:bodyPr wrap="square" anchor="t" lIns="0" rIns="0" tIns="0" bIns="0">
            <a:noAutofit/>
          </a:bodyPr>
          <a:lstStyle/>
          <a:p>
            <a:pPr algn="l">
              <a:spcAft>
                <a:spcPts val="600"/>
              </a:spcAft>
            </a:pPr>
            <a:r>
              <a:rPr sz="1300" b="1" i="0">
                <a:solidFill>
                  <a:srgbClr val="5B6B70"/>
                </a:solidFill>
                <a:latin typeface="Calibri"/>
              </a:rPr>
              <a:t>Close the world: declare the names different</a:t>
            </a:r>
          </a:p>
        </p:txBody>
      </p:sp>
      <p:sp>
        <p:nvSpPr>
          <p:cNvPr id="17" name="Rounded Rectangle 16"/>
          <p:cNvSpPr/>
          <p:nvPr/>
        </p:nvSpPr>
        <p:spPr>
          <a:xfrm>
            <a:off x="6126480" y="4983480"/>
            <a:ext cx="5516575" cy="685800"/>
          </a:xfrm>
          <a:prstGeom prst="roundRect">
            <a:avLst>
              <a:gd name="adj" fmla="val 50000"/>
            </a:avLst>
          </a:prstGeom>
          <a:solidFill>
            <a:srgbClr val="F8E4DF"/>
          </a:solidFill>
          <a:ln w="12700">
            <a:solidFill>
              <a:srgbClr val="C24E3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noAutofit/>
          </a:bodyPr>
          <a:lstStyle/>
          <a:p>
            <a:pPr algn="ctr"/>
            <a:r>
              <a:rPr sz="1400" b="1" i="0">
                <a:solidFill>
                  <a:srgbClr val="17272E"/>
                </a:solidFill>
                <a:latin typeface="Calibri"/>
              </a:rPr>
              <a:t>OWL RL reports an inconsistency: sameAs and differentFrom on the same pair</a:t>
            </a:r>
          </a:p>
        </p:txBody>
      </p:sp>
      <p:sp>
        <p:nvSpPr>
          <p:cNvPr id="18"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19"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Ontologies on the Web span a data spectrum</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7 · ONTOLOGIES ON THE WEB</a:t>
            </a:r>
          </a:p>
        </p:txBody>
      </p:sp>
      <p:cxnSp>
        <p:nvCxnSpPr>
          <p:cNvPr id="4" name="Connector 3"/>
          <p:cNvCxnSpPr/>
          <p:nvPr/>
        </p:nvCxnSpPr>
        <p:spPr>
          <a:xfrm>
            <a:off x="822959" y="1965960"/>
            <a:ext cx="10545776" cy="0"/>
          </a:xfrm>
          <a:prstGeom prst="line">
            <a:avLst/>
          </a:prstGeom>
          <a:ln w="3175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554480"/>
            <a:ext cx="4572000" cy="320040"/>
          </a:xfrm>
          <a:prstGeom prst="rect">
            <a:avLst/>
          </a:prstGeom>
          <a:noFill/>
        </p:spPr>
        <p:txBody>
          <a:bodyPr wrap="square" anchor="t" lIns="0" rIns="0" tIns="0" bIns="0">
            <a:noAutofit/>
          </a:bodyPr>
          <a:lstStyle/>
          <a:p>
            <a:pPr algn="l">
              <a:spcAft>
                <a:spcPts val="600"/>
              </a:spcAft>
            </a:pPr>
            <a:r>
              <a:rPr sz="1300" b="0" i="0">
                <a:solidFill>
                  <a:srgbClr val="5B6B70"/>
                </a:solidFill>
                <a:latin typeface="Calibri"/>
              </a:rPr>
              <a:t>almost no data in the ontology</a:t>
            </a:r>
          </a:p>
        </p:txBody>
      </p:sp>
      <p:sp>
        <p:nvSpPr>
          <p:cNvPr id="6" name="TextBox 5"/>
          <p:cNvSpPr txBox="1"/>
          <p:nvPr/>
        </p:nvSpPr>
        <p:spPr>
          <a:xfrm>
            <a:off x="7071055" y="1554480"/>
            <a:ext cx="4572000" cy="320040"/>
          </a:xfrm>
          <a:prstGeom prst="rect">
            <a:avLst/>
          </a:prstGeom>
          <a:noFill/>
        </p:spPr>
        <p:txBody>
          <a:bodyPr wrap="square" anchor="t" lIns="0" rIns="0" tIns="0" bIns="0">
            <a:noAutofit/>
          </a:bodyPr>
          <a:lstStyle/>
          <a:p>
            <a:pPr algn="r">
              <a:spcAft>
                <a:spcPts val="600"/>
              </a:spcAft>
            </a:pPr>
            <a:r>
              <a:rPr sz="1300" b="0" i="0">
                <a:solidFill>
                  <a:srgbClr val="5B6B70"/>
                </a:solidFill>
                <a:latin typeface="Calibri"/>
              </a:rPr>
              <a:t>very large, richly connected data</a:t>
            </a:r>
          </a:p>
        </p:txBody>
      </p:sp>
      <p:sp>
        <p:nvSpPr>
          <p:cNvPr id="7" name="Oval 6"/>
          <p:cNvSpPr/>
          <p:nvPr/>
        </p:nvSpPr>
        <p:spPr>
          <a:xfrm>
            <a:off x="2150821" y="1810512"/>
            <a:ext cx="310896" cy="310896"/>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Good Relations"/>
          <p:cNvSpPr/>
          <p:nvPr/>
        </p:nvSpPr>
        <p:spPr>
          <a:xfrm>
            <a:off x="548640" y="2377440"/>
            <a:ext cx="3515258" cy="2743200"/>
          </a:xfrm>
          <a:prstGeom prst="roundRect">
            <a:avLst>
              <a:gd name="adj" fmla="val 4666"/>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642616"/>
            <a:ext cx="3058058" cy="411480"/>
          </a:xfrm>
          <a:prstGeom prst="rect">
            <a:avLst/>
          </a:prstGeom>
          <a:noFill/>
        </p:spPr>
        <p:txBody>
          <a:bodyPr wrap="square" anchor="t" lIns="0" rIns="0" tIns="0" bIns="0">
            <a:noAutofit/>
          </a:bodyPr>
          <a:lstStyle/>
          <a:p>
            <a:pPr algn="l">
              <a:spcAft>
                <a:spcPts val="600"/>
              </a:spcAft>
            </a:pPr>
            <a:r>
              <a:rPr sz="1800" b="1" i="0">
                <a:solidFill>
                  <a:srgbClr val="17272E"/>
                </a:solidFill>
                <a:latin typeface="Calibri"/>
              </a:rPr>
              <a:t>Good Relations</a:t>
            </a:r>
          </a:p>
        </p:txBody>
      </p:sp>
      <p:sp>
        <p:nvSpPr>
          <p:cNvPr id="10" name="TextBox 9"/>
          <p:cNvSpPr txBox="1"/>
          <p:nvPr/>
        </p:nvSpPr>
        <p:spPr>
          <a:xfrm>
            <a:off x="777240" y="3063240"/>
            <a:ext cx="3058058" cy="1920239"/>
          </a:xfrm>
          <a:prstGeom prst="rect">
            <a:avLst/>
          </a:prstGeom>
          <a:noFill/>
        </p:spPr>
        <p:txBody>
          <a:bodyPr wrap="square" anchor="t" lIns="0" rIns="0" tIns="0" bIns="0">
            <a:noAutofit/>
          </a:bodyPr>
          <a:lstStyle/>
          <a:p>
            <a:pPr algn="l" marL="228600" indent="-228600">
              <a:spcAft>
                <a:spcPts val="500"/>
              </a:spcAft>
              <a:buClr>
                <a:srgbClr val="1F7A6D"/>
              </a:buClr>
              <a:buFont typeface="Arial"/>
              <a:buChar char="•"/>
            </a:pPr>
            <a:r>
              <a:rPr sz="1400" b="0" i="0">
                <a:solidFill>
                  <a:srgbClr val="17272E"/>
                </a:solidFill>
                <a:latin typeface="Calibri"/>
              </a:rPr>
              <a:t>Small vocabulary for business offerings, in RDFa on product pages</a:t>
            </a:r>
          </a:p>
          <a:p>
            <a:pPr algn="l" marL="228600" indent="-228600">
              <a:spcAft>
                <a:spcPts val="500"/>
              </a:spcAft>
              <a:buClr>
                <a:srgbClr val="1F7A6D"/>
              </a:buClr>
              <a:buFont typeface="Arial"/>
              <a:buChar char="•"/>
            </a:pPr>
            <a:r>
              <a:rPr sz="1400" b="0" i="0">
                <a:solidFill>
                  <a:srgbClr val="17272E"/>
                </a:solidFill>
                <a:latin typeface="Calibri"/>
              </a:rPr>
              <a:t>Links to UN/CEFACT unit codes</a:t>
            </a:r>
          </a:p>
          <a:p>
            <a:pPr algn="l" marL="228600" indent="-228600">
              <a:spcAft>
                <a:spcPts val="500"/>
              </a:spcAft>
              <a:buClr>
                <a:srgbClr val="1F7A6D"/>
              </a:buClr>
              <a:buFont typeface="Arial"/>
              <a:buChar char="•"/>
            </a:pPr>
            <a:r>
              <a:rPr sz="1400" b="0" i="0">
                <a:solidFill>
                  <a:srgbClr val="17272E"/>
                </a:solidFill>
                <a:latin typeface="Calibri"/>
              </a:rPr>
              <a:t>Used on tens of thousands of sites; richer search results</a:t>
            </a:r>
          </a:p>
        </p:txBody>
      </p:sp>
      <p:sp>
        <p:nvSpPr>
          <p:cNvPr id="11" name="Oval 10"/>
          <p:cNvSpPr/>
          <p:nvPr/>
        </p:nvSpPr>
        <p:spPr>
          <a:xfrm>
            <a:off x="5940399" y="1810512"/>
            <a:ext cx="310896" cy="310896"/>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ard: QUDT (NASA)"/>
          <p:cNvSpPr/>
          <p:nvPr/>
        </p:nvSpPr>
        <p:spPr>
          <a:xfrm>
            <a:off x="4338218" y="2377440"/>
            <a:ext cx="3515258" cy="2743200"/>
          </a:xfrm>
          <a:prstGeom prst="roundRect">
            <a:avLst>
              <a:gd name="adj" fmla="val 4666"/>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66818" y="2642616"/>
            <a:ext cx="3058058" cy="411480"/>
          </a:xfrm>
          <a:prstGeom prst="rect">
            <a:avLst/>
          </a:prstGeom>
          <a:noFill/>
        </p:spPr>
        <p:txBody>
          <a:bodyPr wrap="square" anchor="t" lIns="0" rIns="0" tIns="0" bIns="0">
            <a:noAutofit/>
          </a:bodyPr>
          <a:lstStyle/>
          <a:p>
            <a:pPr algn="l">
              <a:spcAft>
                <a:spcPts val="600"/>
              </a:spcAft>
            </a:pPr>
            <a:r>
              <a:rPr sz="1800" b="1" i="0">
                <a:solidFill>
                  <a:srgbClr val="17272E"/>
                </a:solidFill>
                <a:latin typeface="Calibri"/>
              </a:rPr>
              <a:t>QUDT (NASA)</a:t>
            </a:r>
          </a:p>
        </p:txBody>
      </p:sp>
      <p:sp>
        <p:nvSpPr>
          <p:cNvPr id="14" name="TextBox 13"/>
          <p:cNvSpPr txBox="1"/>
          <p:nvPr/>
        </p:nvSpPr>
        <p:spPr>
          <a:xfrm>
            <a:off x="4566818" y="3063240"/>
            <a:ext cx="3058058" cy="1920239"/>
          </a:xfrm>
          <a:prstGeom prst="rect">
            <a:avLst/>
          </a:prstGeom>
          <a:noFill/>
        </p:spPr>
        <p:txBody>
          <a:bodyPr wrap="square" anchor="t" lIns="0" rIns="0" tIns="0" bIns="0">
            <a:noAutofit/>
          </a:bodyPr>
          <a:lstStyle/>
          <a:p>
            <a:pPr algn="l" marL="228600" indent="-228600">
              <a:spcAft>
                <a:spcPts val="500"/>
              </a:spcAft>
              <a:buClr>
                <a:srgbClr val="1F7A6D"/>
              </a:buClr>
              <a:buFont typeface="Arial"/>
              <a:buChar char="•"/>
            </a:pPr>
            <a:r>
              <a:rPr sz="1400" b="0" i="0">
                <a:solidFill>
                  <a:srgbClr val="17272E"/>
                </a:solidFill>
                <a:latin typeface="Calibri"/>
              </a:rPr>
              <a:t>A global URI per unit, so “pound” is unambiguous</a:t>
            </a:r>
          </a:p>
          <a:p>
            <a:pPr algn="l" marL="228600" indent="-228600">
              <a:spcAft>
                <a:spcPts val="500"/>
              </a:spcAft>
              <a:buClr>
                <a:srgbClr val="1F7A6D"/>
              </a:buClr>
              <a:buFont typeface="Arial"/>
              <a:buChar char="•"/>
            </a:pPr>
            <a:r>
              <a:rPr sz="1400" b="0" i="0">
                <a:solidFill>
                  <a:srgbClr val="17272E"/>
                </a:solidFill>
                <a:latin typeface="Calibri"/>
              </a:rPr>
              <a:t>Converts between commensurate units</a:t>
            </a:r>
          </a:p>
          <a:p>
            <a:pPr algn="l" marL="228600" indent="-228600">
              <a:spcAft>
                <a:spcPts val="500"/>
              </a:spcAft>
              <a:buClr>
                <a:srgbClr val="1F7A6D"/>
              </a:buClr>
              <a:buFont typeface="Arial"/>
              <a:buChar char="•"/>
            </a:pPr>
            <a:r>
              <a:rPr sz="1400" b="0" i="0">
                <a:solidFill>
                  <a:srgbClr val="17272E"/>
                </a:solidFill>
                <a:latin typeface="Calibri"/>
              </a:rPr>
              <a:t>Dimensional analysis catches kilograms + centimetres</a:t>
            </a:r>
          </a:p>
        </p:txBody>
      </p:sp>
      <p:sp>
        <p:nvSpPr>
          <p:cNvPr id="15" name="Oval 14"/>
          <p:cNvSpPr/>
          <p:nvPr/>
        </p:nvSpPr>
        <p:spPr>
          <a:xfrm>
            <a:off x="9729978" y="1810512"/>
            <a:ext cx="310896" cy="310896"/>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OBO ontologies"/>
          <p:cNvSpPr/>
          <p:nvPr/>
        </p:nvSpPr>
        <p:spPr>
          <a:xfrm>
            <a:off x="8127796" y="2377440"/>
            <a:ext cx="3515258" cy="2743200"/>
          </a:xfrm>
          <a:prstGeom prst="roundRect">
            <a:avLst>
              <a:gd name="adj" fmla="val 4666"/>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356396" y="2642616"/>
            <a:ext cx="3058058" cy="411480"/>
          </a:xfrm>
          <a:prstGeom prst="rect">
            <a:avLst/>
          </a:prstGeom>
          <a:noFill/>
        </p:spPr>
        <p:txBody>
          <a:bodyPr wrap="square" anchor="t" lIns="0" rIns="0" tIns="0" bIns="0">
            <a:noAutofit/>
          </a:bodyPr>
          <a:lstStyle/>
          <a:p>
            <a:pPr algn="l">
              <a:spcAft>
                <a:spcPts val="600"/>
              </a:spcAft>
            </a:pPr>
            <a:r>
              <a:rPr sz="1800" b="1" i="0">
                <a:solidFill>
                  <a:srgbClr val="17272E"/>
                </a:solidFill>
                <a:latin typeface="Calibri"/>
              </a:rPr>
              <a:t>OBO ontologies</a:t>
            </a:r>
          </a:p>
        </p:txBody>
      </p:sp>
      <p:sp>
        <p:nvSpPr>
          <p:cNvPr id="18" name="TextBox 17"/>
          <p:cNvSpPr txBox="1"/>
          <p:nvPr/>
        </p:nvSpPr>
        <p:spPr>
          <a:xfrm>
            <a:off x="8356396" y="3063240"/>
            <a:ext cx="3058058" cy="1920239"/>
          </a:xfrm>
          <a:prstGeom prst="rect">
            <a:avLst/>
          </a:prstGeom>
          <a:noFill/>
        </p:spPr>
        <p:txBody>
          <a:bodyPr wrap="square" anchor="t" lIns="0" rIns="0" tIns="0" bIns="0">
            <a:noAutofit/>
          </a:bodyPr>
          <a:lstStyle/>
          <a:p>
            <a:pPr algn="l" marL="228600" indent="-228600">
              <a:spcAft>
                <a:spcPts val="500"/>
              </a:spcAft>
              <a:buClr>
                <a:srgbClr val="1F7A6D"/>
              </a:buClr>
              <a:buFont typeface="Arial"/>
              <a:buChar char="•"/>
            </a:pPr>
            <a:r>
              <a:rPr sz="1400" b="0" i="0">
                <a:solidFill>
                  <a:srgbClr val="17272E"/>
                </a:solidFill>
                <a:latin typeface="Calibri"/>
              </a:rPr>
              <a:t>Unambiguous names for tens of thousands of biological concepts (e.g. ChEBI)</a:t>
            </a:r>
          </a:p>
          <a:p>
            <a:pPr algn="l" marL="228600" indent="-228600">
              <a:spcAft>
                <a:spcPts val="500"/>
              </a:spcAft>
              <a:buClr>
                <a:srgbClr val="1F7A6D"/>
              </a:buClr>
              <a:buFont typeface="Arial"/>
              <a:buChar char="•"/>
            </a:pPr>
            <a:r>
              <a:rPr sz="1400" b="0" i="0">
                <a:solidFill>
                  <a:srgbClr val="17272E"/>
                </a:solidFill>
                <a:latin typeface="Calibri"/>
              </a:rPr>
              <a:t>Organize lab data and locate publications</a:t>
            </a:r>
          </a:p>
          <a:p>
            <a:pPr algn="l" marL="228600" indent="-228600">
              <a:spcAft>
                <a:spcPts val="500"/>
              </a:spcAft>
              <a:buClr>
                <a:srgbClr val="1F7A6D"/>
              </a:buClr>
              <a:buFont typeface="Arial"/>
              <a:buChar char="•"/>
            </a:pPr>
            <a:r>
              <a:rPr sz="1400" b="0" i="0">
                <a:solidFill>
                  <a:srgbClr val="17272E"/>
                </a:solidFill>
                <a:latin typeface="Calibri"/>
              </a:rPr>
              <a:t>A Rosetta Stone across naming schemes</a:t>
            </a:r>
          </a:p>
        </p:txBody>
      </p:sp>
      <p:sp>
        <p:nvSpPr>
          <p:cNvPr id="19" name="Oval 18"/>
          <p:cNvSpPr/>
          <p:nvPr/>
        </p:nvSpPr>
        <p:spPr>
          <a:xfrm>
            <a:off x="548640" y="5440680"/>
            <a:ext cx="329184" cy="329184"/>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a:t>
            </a:r>
          </a:p>
        </p:txBody>
      </p:sp>
      <p:sp>
        <p:nvSpPr>
          <p:cNvPr id="20" name="Takeaway"/>
          <p:cNvSpPr txBox="1"/>
          <p:nvPr/>
        </p:nvSpPr>
        <p:spPr>
          <a:xfrm>
            <a:off x="1005840" y="5440680"/>
            <a:ext cx="10637215" cy="329184"/>
          </a:xfrm>
          <a:prstGeom prst="rect">
            <a:avLst/>
          </a:prstGeom>
          <a:noFill/>
        </p:spPr>
        <p:txBody>
          <a:bodyPr wrap="square" anchor="ctr" lIns="0" rIns="0" tIns="0" bIns="0">
            <a:noAutofit/>
          </a:bodyPr>
          <a:lstStyle/>
          <a:p>
            <a:pPr algn="l">
              <a:spcAft>
                <a:spcPts val="600"/>
              </a:spcAft>
            </a:pPr>
            <a:r>
              <a:rPr sz="1500" b="1" i="0">
                <a:solidFill>
                  <a:srgbClr val="17272E"/>
                </a:solidFill>
                <a:latin typeface="Calibri"/>
              </a:rPr>
              <a:t>Shared role: give standard entities globally unambiguous names.</a:t>
            </a:r>
          </a:p>
        </p:txBody>
      </p:sp>
      <p:sp>
        <p:nvSpPr>
          <p:cNvPr id="21"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22"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7272E"/>
        </a:solidFill>
        <a:effectLst/>
      </p:bgPr>
    </p:bg>
    <p:spTree>
      <p:nvGrpSpPr>
        <p:cNvPr id="1" name=""/>
        <p:cNvGrpSpPr/>
        <p:nvPr/>
      </p:nvGrpSpPr>
      <p:grpSpPr/>
      <p:sp>
        <p:nvSpPr>
          <p:cNvPr id="2" name="Title 1"/>
          <p:cNvSpPr>
            <a:spLocks noGrp="1"/>
          </p:cNvSpPr>
          <p:nvPr>
            <p:ph type="title"/>
          </p:nvPr>
        </p:nvSpPr>
        <p:spPr>
          <a:xfrm>
            <a:off x="548640" y="3154680"/>
            <a:ext cx="6949440" cy="1371600"/>
          </a:xfrm>
        </p:spPr>
        <p:txBody>
          <a:bodyPr wrap="square" anchor="t" lIns="0" rIns="0" tIns="0" bIns="0">
            <a:noAutofit/>
          </a:bodyPr>
          <a:lstStyle/>
          <a:p>
            <a:pPr algn="l"/>
            <a:r>
              <a:rPr sz="4000" b="1" i="0">
                <a:solidFill>
                  <a:srgbClr val="FFFFFF"/>
                </a:solidFill>
                <a:latin typeface="Cambria"/>
              </a:rPr>
              <a:t>Deep dive: modeling well</a:t>
            </a:r>
          </a:p>
        </p:txBody>
      </p:sp>
      <p:sp>
        <p:nvSpPr>
          <p:cNvPr id="3" name="Part number"/>
          <p:cNvSpPr txBox="1"/>
          <p:nvPr/>
        </p:nvSpPr>
        <p:spPr>
          <a:xfrm>
            <a:off x="548640" y="1325880"/>
            <a:ext cx="2743200" cy="1280160"/>
          </a:xfrm>
          <a:prstGeom prst="rect">
            <a:avLst/>
          </a:prstGeom>
          <a:noFill/>
        </p:spPr>
        <p:txBody>
          <a:bodyPr wrap="square" anchor="t" lIns="0" rIns="0" tIns="0" bIns="0">
            <a:noAutofit/>
          </a:bodyPr>
          <a:lstStyle/>
          <a:p>
            <a:pPr algn="l">
              <a:spcAft>
                <a:spcPts val="600"/>
              </a:spcAft>
            </a:pPr>
            <a:r>
              <a:rPr sz="9600" b="1" i="0">
                <a:solidFill>
                  <a:srgbClr val="E0952B"/>
                </a:solidFill>
                <a:latin typeface="Cambria"/>
              </a:rPr>
              <a:t>08</a:t>
            </a:r>
          </a:p>
        </p:txBody>
      </p:sp>
      <p:sp>
        <p:nvSpPr>
          <p:cNvPr id="4" name="TextBox 3"/>
          <p:cNvSpPr txBox="1"/>
          <p:nvPr/>
        </p:nvSpPr>
        <p:spPr>
          <a:xfrm>
            <a:off x="548640" y="2788920"/>
            <a:ext cx="6766560" cy="320040"/>
          </a:xfrm>
          <a:prstGeom prst="rect">
            <a:avLst/>
          </a:prstGeom>
          <a:noFill/>
        </p:spPr>
        <p:txBody>
          <a:bodyPr wrap="square" anchor="t" lIns="0" rIns="0" tIns="0" bIns="0">
            <a:noAutofit/>
          </a:bodyPr>
          <a:lstStyle/>
          <a:p>
            <a:pPr algn="l">
              <a:spcAft>
                <a:spcPts val="600"/>
              </a:spcAft>
            </a:pPr>
            <a:r>
              <a:rPr sz="1300" b="1" i="0">
                <a:solidFill>
                  <a:srgbClr val="7FD1C1"/>
                </a:solidFill>
                <a:latin typeface="Calibri"/>
              </a:rPr>
              <a:t>PART 8</a:t>
            </a:r>
          </a:p>
        </p:txBody>
      </p:sp>
      <p:sp>
        <p:nvSpPr>
          <p:cNvPr id="5" name="TextBox 4"/>
          <p:cNvSpPr txBox="1"/>
          <p:nvPr/>
        </p:nvSpPr>
        <p:spPr>
          <a:xfrm>
            <a:off x="548640" y="4572000"/>
            <a:ext cx="6583680" cy="731520"/>
          </a:xfrm>
          <a:prstGeom prst="rect">
            <a:avLst/>
          </a:prstGeom>
          <a:noFill/>
        </p:spPr>
        <p:txBody>
          <a:bodyPr wrap="square" anchor="t" lIns="0" rIns="0" tIns="0" bIns="0">
            <a:noAutofit/>
          </a:bodyPr>
          <a:lstStyle/>
          <a:p>
            <a:pPr algn="l">
              <a:spcAft>
                <a:spcPts val="600"/>
              </a:spcAft>
            </a:pPr>
            <a:r>
              <a:rPr sz="1800" b="0" i="0">
                <a:solidFill>
                  <a:srgbClr val="E3EBEE"/>
                </a:solidFill>
                <a:latin typeface="Calibri"/>
              </a:rPr>
              <a:t>Good and bad practice, OWL 2 profiles, and rules.</a:t>
            </a:r>
          </a:p>
        </p:txBody>
      </p:sp>
      <p:sp>
        <p:nvSpPr>
          <p:cNvPr id="6" name="Oval 5"/>
          <p:cNvSpPr/>
          <p:nvPr/>
        </p:nvSpPr>
        <p:spPr>
          <a:xfrm>
            <a:off x="58521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1</a:t>
            </a:r>
          </a:p>
        </p:txBody>
      </p:sp>
      <p:sp>
        <p:nvSpPr>
          <p:cNvPr id="7" name="Oval 6"/>
          <p:cNvSpPr/>
          <p:nvPr/>
        </p:nvSpPr>
        <p:spPr>
          <a:xfrm>
            <a:off x="108813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2</a:t>
            </a:r>
          </a:p>
        </p:txBody>
      </p:sp>
      <p:sp>
        <p:nvSpPr>
          <p:cNvPr id="8" name="Oval 7"/>
          <p:cNvSpPr/>
          <p:nvPr/>
        </p:nvSpPr>
        <p:spPr>
          <a:xfrm>
            <a:off x="159105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3</a:t>
            </a:r>
          </a:p>
        </p:txBody>
      </p:sp>
      <p:sp>
        <p:nvSpPr>
          <p:cNvPr id="9" name="Oval 8"/>
          <p:cNvSpPr/>
          <p:nvPr/>
        </p:nvSpPr>
        <p:spPr>
          <a:xfrm>
            <a:off x="209397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4</a:t>
            </a:r>
          </a:p>
        </p:txBody>
      </p:sp>
      <p:sp>
        <p:nvSpPr>
          <p:cNvPr id="10" name="Oval 9"/>
          <p:cNvSpPr/>
          <p:nvPr/>
        </p:nvSpPr>
        <p:spPr>
          <a:xfrm>
            <a:off x="259689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5</a:t>
            </a:r>
          </a:p>
        </p:txBody>
      </p:sp>
      <p:sp>
        <p:nvSpPr>
          <p:cNvPr id="11" name="Oval 10"/>
          <p:cNvSpPr/>
          <p:nvPr/>
        </p:nvSpPr>
        <p:spPr>
          <a:xfrm>
            <a:off x="3099815"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6</a:t>
            </a:r>
          </a:p>
        </p:txBody>
      </p:sp>
      <p:sp>
        <p:nvSpPr>
          <p:cNvPr id="12" name="Oval 11"/>
          <p:cNvSpPr/>
          <p:nvPr/>
        </p:nvSpPr>
        <p:spPr>
          <a:xfrm>
            <a:off x="360273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7</a:t>
            </a:r>
          </a:p>
        </p:txBody>
      </p:sp>
      <p:sp>
        <p:nvSpPr>
          <p:cNvPr id="13" name="Oval 12"/>
          <p:cNvSpPr/>
          <p:nvPr/>
        </p:nvSpPr>
        <p:spPr>
          <a:xfrm>
            <a:off x="4069080" y="5623559"/>
            <a:ext cx="365760" cy="365760"/>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200" b="1" i="0">
                <a:solidFill>
                  <a:srgbClr val="17272E"/>
                </a:solidFill>
                <a:latin typeface="Calibri"/>
              </a:rPr>
              <a:t>8</a:t>
            </a:r>
          </a:p>
        </p:txBody>
      </p:sp>
      <p:sp>
        <p:nvSpPr>
          <p:cNvPr id="14" name="Oval 13"/>
          <p:cNvSpPr/>
          <p:nvPr/>
        </p:nvSpPr>
        <p:spPr>
          <a:xfrm>
            <a:off x="4608576" y="5660136"/>
            <a:ext cx="292608" cy="292608"/>
          </a:xfrm>
          <a:prstGeom prst="ellipse">
            <a:avLst/>
          </a:prstGeom>
          <a:solidFill>
            <a:srgbClr val="17272E"/>
          </a:solidFill>
          <a:ln w="12700">
            <a:solidFill>
              <a:srgbClr val="7FD1C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7FD1C1"/>
                </a:solidFill>
                <a:latin typeface="Calibri"/>
              </a:rPr>
              <a:t>9</a:t>
            </a:r>
          </a:p>
        </p:txBody>
      </p:sp>
      <p:cxnSp>
        <p:nvCxnSpPr>
          <p:cNvPr id="15" name="Motif edge"/>
          <p:cNvCxnSpPr/>
          <p:nvPr/>
        </p:nvCxnSpPr>
        <p:spPr>
          <a:xfrm flipV="1">
            <a:off x="8257032" y="1568195"/>
            <a:ext cx="1536192" cy="576073"/>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6" name="Motif edge"/>
          <p:cNvCxnSpPr/>
          <p:nvPr/>
        </p:nvCxnSpPr>
        <p:spPr>
          <a:xfrm>
            <a:off x="9793224" y="1568195"/>
            <a:ext cx="1344168" cy="960121"/>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7" name="Motif edge"/>
          <p:cNvCxnSpPr/>
          <p:nvPr/>
        </p:nvCxnSpPr>
        <p:spPr>
          <a:xfrm>
            <a:off x="8257032" y="2144268"/>
            <a:ext cx="960120" cy="1344168"/>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8" name="Motif edge"/>
          <p:cNvCxnSpPr/>
          <p:nvPr/>
        </p:nvCxnSpPr>
        <p:spPr>
          <a:xfrm flipH="1">
            <a:off x="9217152" y="1568195"/>
            <a:ext cx="576072" cy="1920241"/>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9" name="Motif edge"/>
          <p:cNvCxnSpPr/>
          <p:nvPr/>
        </p:nvCxnSpPr>
        <p:spPr>
          <a:xfrm flipH="1">
            <a:off x="10657332" y="2528316"/>
            <a:ext cx="480060" cy="1728216"/>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0" name="Motif edge"/>
          <p:cNvCxnSpPr/>
          <p:nvPr/>
        </p:nvCxnSpPr>
        <p:spPr>
          <a:xfrm>
            <a:off x="9217152" y="3488436"/>
            <a:ext cx="1440180" cy="768096"/>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1" name="Motif edge"/>
          <p:cNvCxnSpPr/>
          <p:nvPr/>
        </p:nvCxnSpPr>
        <p:spPr>
          <a:xfrm flipH="1">
            <a:off x="8161020" y="3488436"/>
            <a:ext cx="1056132" cy="1248156"/>
          </a:xfrm>
          <a:prstGeom prst="line">
            <a:avLst/>
          </a:prstGeom>
          <a:ln w="28575">
            <a:solidFill>
              <a:srgbClr val="E0952B"/>
            </a:solidFill>
            <a:prstDash val="dash"/>
          </a:ln>
        </p:spPr>
        <p:style>
          <a:lnRef idx="2">
            <a:schemeClr val="accent1"/>
          </a:lnRef>
          <a:fillRef idx="0">
            <a:schemeClr val="accent1"/>
          </a:fillRef>
          <a:effectRef idx="1">
            <a:schemeClr val="accent1"/>
          </a:effectRef>
          <a:fontRef idx="minor">
            <a:schemeClr val="tx1"/>
          </a:fontRef>
        </p:style>
      </p:cxnSp>
      <p:cxnSp>
        <p:nvCxnSpPr>
          <p:cNvPr id="22" name="Motif edge"/>
          <p:cNvCxnSpPr/>
          <p:nvPr/>
        </p:nvCxnSpPr>
        <p:spPr>
          <a:xfrm flipH="1">
            <a:off x="9889236" y="4256532"/>
            <a:ext cx="768096" cy="1056132"/>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3" name="Motif edge"/>
          <p:cNvCxnSpPr/>
          <p:nvPr/>
        </p:nvCxnSpPr>
        <p:spPr>
          <a:xfrm>
            <a:off x="8161020" y="4736592"/>
            <a:ext cx="1728216" cy="576072"/>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sp>
        <p:nvSpPr>
          <p:cNvPr id="24" name="Motif node"/>
          <p:cNvSpPr/>
          <p:nvPr/>
        </p:nvSpPr>
        <p:spPr>
          <a:xfrm>
            <a:off x="8113014" y="2000249"/>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Motif node"/>
          <p:cNvSpPr/>
          <p:nvPr/>
        </p:nvSpPr>
        <p:spPr>
          <a:xfrm>
            <a:off x="9591598" y="1366570"/>
            <a:ext cx="403250" cy="403250"/>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otif node"/>
          <p:cNvSpPr/>
          <p:nvPr/>
        </p:nvSpPr>
        <p:spPr>
          <a:xfrm>
            <a:off x="10993374" y="2384298"/>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Motif node"/>
          <p:cNvSpPr/>
          <p:nvPr/>
        </p:nvSpPr>
        <p:spPr>
          <a:xfrm>
            <a:off x="9015526" y="3286810"/>
            <a:ext cx="403250" cy="403250"/>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Motif node"/>
          <p:cNvSpPr/>
          <p:nvPr/>
        </p:nvSpPr>
        <p:spPr>
          <a:xfrm>
            <a:off x="10455706" y="4054906"/>
            <a:ext cx="403250" cy="403250"/>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otif node"/>
          <p:cNvSpPr/>
          <p:nvPr/>
        </p:nvSpPr>
        <p:spPr>
          <a:xfrm>
            <a:off x="8017002" y="4592574"/>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Motif node"/>
          <p:cNvSpPr/>
          <p:nvPr/>
        </p:nvSpPr>
        <p:spPr>
          <a:xfrm>
            <a:off x="9745218" y="5168646"/>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7FD1C1"/>
                </a:solidFill>
                <a:latin typeface="Calibri"/>
              </a:rPr>
              <a:t>What is an ontology? · from RDF to OWL</a:t>
            </a:r>
          </a:p>
        </p:txBody>
      </p:sp>
      <p:sp>
        <p:nvSpPr>
          <p:cNvPr id="32"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7FD1C1"/>
                </a:solidFill>
                <a:latin typeface="Calibr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Good models start from competency questions</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8 · GOOD AND BAD PRACTICE</a:t>
            </a:r>
          </a:p>
        </p:txBody>
      </p:sp>
      <p:sp>
        <p:nvSpPr>
          <p:cNvPr id="4" name="Oval 3"/>
          <p:cNvSpPr/>
          <p:nvPr/>
        </p:nvSpPr>
        <p:spPr>
          <a:xfrm>
            <a:off x="548640" y="1645919"/>
            <a:ext cx="457200" cy="457200"/>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600" b="1" i="0">
                <a:solidFill>
                  <a:srgbClr val="FFFFFF"/>
                </a:solidFill>
                <a:latin typeface="Calibri"/>
              </a:rPr>
              <a:t>1</a:t>
            </a:r>
          </a:p>
        </p:txBody>
      </p:sp>
      <p:sp>
        <p:nvSpPr>
          <p:cNvPr id="5" name="TextBox 4"/>
          <p:cNvSpPr txBox="1"/>
          <p:nvPr/>
        </p:nvSpPr>
        <p:spPr>
          <a:xfrm>
            <a:off x="1188719" y="1673352"/>
            <a:ext cx="4206240" cy="32004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Know what you want</a:t>
            </a:r>
          </a:p>
        </p:txBody>
      </p:sp>
      <p:sp>
        <p:nvSpPr>
          <p:cNvPr id="6" name="TextBox 5"/>
          <p:cNvSpPr txBox="1"/>
          <p:nvPr/>
        </p:nvSpPr>
        <p:spPr>
          <a:xfrm>
            <a:off x="1188719" y="2029968"/>
            <a:ext cx="4206240" cy="685800"/>
          </a:xfrm>
          <a:prstGeom prst="rect">
            <a:avLst/>
          </a:prstGeom>
          <a:noFill/>
        </p:spPr>
        <p:txBody>
          <a:bodyPr wrap="square" anchor="t" lIns="0" rIns="0" tIns="0" bIns="0">
            <a:noAutofit/>
          </a:bodyPr>
          <a:lstStyle/>
          <a:p>
            <a:pPr algn="l">
              <a:spcAft>
                <a:spcPts val="600"/>
              </a:spcAft>
            </a:pPr>
            <a:r>
              <a:rPr sz="1400" b="0" i="0">
                <a:solidFill>
                  <a:srgbClr val="5B6B70"/>
                </a:solidFill>
                <a:latin typeface="Calibri"/>
              </a:rPr>
              <a:t>Competency questions set the scope; expect unanticipated merges too.</a:t>
            </a:r>
          </a:p>
        </p:txBody>
      </p:sp>
      <p:sp>
        <p:nvSpPr>
          <p:cNvPr id="7" name="Oval 6"/>
          <p:cNvSpPr/>
          <p:nvPr/>
        </p:nvSpPr>
        <p:spPr>
          <a:xfrm>
            <a:off x="548640" y="2743200"/>
            <a:ext cx="457200" cy="457200"/>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600" b="1" i="0">
                <a:solidFill>
                  <a:srgbClr val="FFFFFF"/>
                </a:solidFill>
                <a:latin typeface="Calibri"/>
              </a:rPr>
              <a:t>2</a:t>
            </a:r>
          </a:p>
        </p:txBody>
      </p:sp>
      <p:sp>
        <p:nvSpPr>
          <p:cNvPr id="8" name="TextBox 7"/>
          <p:cNvSpPr txBox="1"/>
          <p:nvPr/>
        </p:nvSpPr>
        <p:spPr>
          <a:xfrm>
            <a:off x="1188719" y="2770632"/>
            <a:ext cx="4206240" cy="32004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Say what you mean</a:t>
            </a:r>
          </a:p>
        </p:txBody>
      </p:sp>
      <p:sp>
        <p:nvSpPr>
          <p:cNvPr id="9" name="TextBox 8"/>
          <p:cNvSpPr txBox="1"/>
          <p:nvPr/>
        </p:nvSpPr>
        <p:spPr>
          <a:xfrm>
            <a:off x="1188719" y="3127248"/>
            <a:ext cx="4206240" cy="685800"/>
          </a:xfrm>
          <a:prstGeom prst="rect">
            <a:avLst/>
          </a:prstGeom>
          <a:noFill/>
        </p:spPr>
        <p:txBody>
          <a:bodyPr wrap="square" anchor="t" lIns="0" rIns="0" tIns="0" bIns="0">
            <a:noAutofit/>
          </a:bodyPr>
          <a:lstStyle/>
          <a:p>
            <a:pPr algn="l">
              <a:spcAft>
                <a:spcPts val="600"/>
              </a:spcAft>
            </a:pPr>
            <a:r>
              <a:rPr sz="1400" b="0" i="0">
                <a:solidFill>
                  <a:srgbClr val="5B6B70"/>
                </a:solidFill>
                <a:latin typeface="Calibri"/>
              </a:rPr>
              <a:t>Avoid wishful naming: check that inferences match intent.</a:t>
            </a:r>
          </a:p>
        </p:txBody>
      </p:sp>
      <p:sp>
        <p:nvSpPr>
          <p:cNvPr id="10" name="Oval 9"/>
          <p:cNvSpPr/>
          <p:nvPr/>
        </p:nvSpPr>
        <p:spPr>
          <a:xfrm>
            <a:off x="548640" y="3840480"/>
            <a:ext cx="457200" cy="457200"/>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600" b="1" i="0">
                <a:solidFill>
                  <a:srgbClr val="FFFFFF"/>
                </a:solidFill>
                <a:latin typeface="Calibri"/>
              </a:rPr>
              <a:t>3</a:t>
            </a:r>
          </a:p>
        </p:txBody>
      </p:sp>
      <p:sp>
        <p:nvSpPr>
          <p:cNvPr id="11" name="TextBox 10"/>
          <p:cNvSpPr txBox="1"/>
          <p:nvPr/>
        </p:nvSpPr>
        <p:spPr>
          <a:xfrm>
            <a:off x="1188719" y="3867912"/>
            <a:ext cx="4206240" cy="32004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Model for reuse</a:t>
            </a:r>
          </a:p>
        </p:txBody>
      </p:sp>
      <p:sp>
        <p:nvSpPr>
          <p:cNvPr id="12" name="TextBox 11"/>
          <p:cNvSpPr txBox="1"/>
          <p:nvPr/>
        </p:nvSpPr>
        <p:spPr>
          <a:xfrm>
            <a:off x="1188719" y="4224528"/>
            <a:ext cx="4206240" cy="685800"/>
          </a:xfrm>
          <a:prstGeom prst="rect">
            <a:avLst/>
          </a:prstGeom>
          <a:noFill/>
        </p:spPr>
        <p:txBody>
          <a:bodyPr wrap="square" anchor="t" lIns="0" rIns="0" tIns="0" bIns="0">
            <a:noAutofit/>
          </a:bodyPr>
          <a:lstStyle/>
          <a:p>
            <a:pPr algn="l">
              <a:spcAft>
                <a:spcPts val="600"/>
              </a:spcAft>
            </a:pPr>
            <a:r>
              <a:rPr sz="1400" b="0" i="0">
                <a:solidFill>
                  <a:srgbClr val="5B6B70"/>
                </a:solidFill>
                <a:latin typeface="Calibri"/>
              </a:rPr>
              <a:t>Clear names plus rdfs:label, rdfs:comment, rdfs:seeAlso.</a:t>
            </a:r>
          </a:p>
        </p:txBody>
      </p:sp>
      <p:sp>
        <p:nvSpPr>
          <p:cNvPr id="13" name="Oval 12"/>
          <p:cNvSpPr/>
          <p:nvPr/>
        </p:nvSpPr>
        <p:spPr>
          <a:xfrm>
            <a:off x="548640" y="4937759"/>
            <a:ext cx="457200" cy="457200"/>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600" b="1" i="0">
                <a:solidFill>
                  <a:srgbClr val="FFFFFF"/>
                </a:solidFill>
                <a:latin typeface="Calibri"/>
              </a:rPr>
              <a:t>4</a:t>
            </a:r>
          </a:p>
        </p:txBody>
      </p:sp>
      <p:sp>
        <p:nvSpPr>
          <p:cNvPr id="14" name="TextBox 13"/>
          <p:cNvSpPr txBox="1"/>
          <p:nvPr/>
        </p:nvSpPr>
        <p:spPr>
          <a:xfrm>
            <a:off x="1188719" y="4965192"/>
            <a:ext cx="4206240" cy="32004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Classes vs individuals</a:t>
            </a:r>
          </a:p>
        </p:txBody>
      </p:sp>
      <p:sp>
        <p:nvSpPr>
          <p:cNvPr id="15" name="TextBox 14"/>
          <p:cNvSpPr txBox="1"/>
          <p:nvPr/>
        </p:nvSpPr>
        <p:spPr>
          <a:xfrm>
            <a:off x="1188719" y="5321807"/>
            <a:ext cx="4206240" cy="685800"/>
          </a:xfrm>
          <a:prstGeom prst="rect">
            <a:avLst/>
          </a:prstGeom>
          <a:noFill/>
        </p:spPr>
        <p:txBody>
          <a:bodyPr wrap="square" anchor="t" lIns="0" rIns="0" tIns="0" bIns="0">
            <a:noAutofit/>
          </a:bodyPr>
          <a:lstStyle/>
          <a:p>
            <a:pPr algn="l">
              <a:spcAft>
                <a:spcPts val="600"/>
              </a:spcAft>
            </a:pPr>
            <a:r>
              <a:rPr sz="1400" b="0" i="0">
                <a:solidFill>
                  <a:srgbClr val="5B6B70"/>
                </a:solidFill>
                <a:latin typeface="Calibri"/>
              </a:rPr>
              <a:t>Can't imagine instances? Not a class. Know its values? An instance.</a:t>
            </a:r>
          </a:p>
        </p:txBody>
      </p:sp>
      <p:sp>
        <p:nvSpPr>
          <p:cNvPr id="16" name="TextBox 15"/>
          <p:cNvSpPr txBox="1"/>
          <p:nvPr/>
        </p:nvSpPr>
        <p:spPr>
          <a:xfrm>
            <a:off x="5486400" y="1645920"/>
            <a:ext cx="6156655" cy="32004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Competency questions as executable tests</a:t>
            </a:r>
          </a:p>
        </p:txBody>
      </p:sp>
      <p:graphicFrame>
        <p:nvGraphicFramePr>
          <p:cNvPr id="17" name="Table 16"/>
          <p:cNvGraphicFramePr>
            <a:graphicFrameLocks noGrp="1"/>
          </p:cNvGraphicFramePr>
          <p:nvPr/>
        </p:nvGraphicFramePr>
        <p:xfrm>
          <a:off x="5486400" y="2103120"/>
          <a:ext cx="6156655" cy="2514600"/>
        </p:xfrm>
        <a:graphic>
          <a:graphicData uri="http://schemas.openxmlformats.org/drawingml/2006/table">
            <a:tbl>
              <a:tblPr firstRow="0" bandRow="0">
                <a:tableStyleId>{5C22544A-7EE6-4342-B048-85BDC9FD1C3A}</a:tableStyleId>
              </a:tblPr>
              <a:tblGrid>
                <a:gridCol w="2377440"/>
                <a:gridCol w="3108960"/>
                <a:gridCol w="670255"/>
              </a:tblGrid>
              <a:tr h="502920">
                <a:tc>
                  <a:txBody>
                    <a:bodyPr wrap="square"/>
                    <a:lstStyle/>
                    <a:p>
                      <a:r>
                        <a:rPr sz="1300" b="1" i="0">
                          <a:solidFill>
                            <a:srgbClr val="FFFFFF"/>
                          </a:solidFill>
                          <a:latin typeface="Calibri"/>
                        </a:rPr>
                        <a:t>Competency question</a:t>
                      </a:r>
                    </a:p>
                  </a:txBody>
                  <a:tcPr marL="91440" marR="91440" marT="27432" marB="27432" anchor="ctr">
                    <a:solidFill>
                      <a:srgbClr val="1F7A6D"/>
                    </a:solidFill>
                  </a:tcPr>
                </a:tc>
                <a:tc>
                  <a:txBody>
                    <a:bodyPr wrap="square"/>
                    <a:lstStyle/>
                    <a:p>
                      <a:r>
                        <a:rPr sz="1300" b="1" i="0">
                          <a:solidFill>
                            <a:srgbClr val="FFFFFF"/>
                          </a:solidFill>
                          <a:latin typeface="Calibri"/>
                        </a:rPr>
                        <a:t>SPARQL ASK</a:t>
                      </a:r>
                    </a:p>
                  </a:txBody>
                  <a:tcPr marL="91440" marR="91440" marT="27432" marB="27432" anchor="ctr">
                    <a:solidFill>
                      <a:srgbClr val="1F7A6D"/>
                    </a:solidFill>
                  </a:tcPr>
                </a:tc>
                <a:tc>
                  <a:txBody>
                    <a:bodyPr wrap="square"/>
                    <a:lstStyle/>
                    <a:p>
                      <a:r>
                        <a:rPr sz="1300" b="1" i="0">
                          <a:solidFill>
                            <a:srgbClr val="FFFFFF"/>
                          </a:solidFill>
                          <a:latin typeface="Calibri"/>
                        </a:rPr>
                        <a:t>Result</a:t>
                      </a:r>
                    </a:p>
                  </a:txBody>
                  <a:tcPr marL="91440" marR="91440" marT="27432" marB="27432" anchor="ctr">
                    <a:solidFill>
                      <a:srgbClr val="1F7A6D"/>
                    </a:solidFill>
                  </a:tcPr>
                </a:tc>
              </a:tr>
              <a:tr h="502920">
                <a:tc>
                  <a:txBody>
                    <a:bodyPr wrap="square"/>
                    <a:lstStyle/>
                    <a:p>
                      <a:r>
                        <a:rPr sz="1300" b="0" i="0">
                          <a:solidFill>
                            <a:srgbClr val="17272E"/>
                          </a:solidFill>
                          <a:latin typeface="Calibri"/>
                        </a:rPr>
                        <a:t>Which movies did James Dean star in?</a:t>
                      </a:r>
                    </a:p>
                  </a:txBody>
                  <a:tcPr marL="91440" marR="91440" marT="27432" marB="27432" anchor="ctr">
                    <a:solidFill>
                      <a:srgbClr val="FFFFFF"/>
                    </a:solidFill>
                  </a:tcPr>
                </a:tc>
                <a:tc>
                  <a:txBody>
                    <a:bodyPr wrap="square"/>
                    <a:lstStyle/>
                    <a:p>
                      <a:r>
                        <a:rPr sz="1200" b="0" i="0">
                          <a:solidFill>
                            <a:srgbClr val="17272E"/>
                          </a:solidFill>
                          <a:latin typeface="Consolas"/>
                        </a:rPr>
                        <a:t>ASK { ?m :starring :JamesDean }</a:t>
                      </a:r>
                    </a:p>
                  </a:txBody>
                  <a:tcPr marL="91440" marR="91440" marT="27432" marB="27432" anchor="ctr">
                    <a:solidFill>
                      <a:srgbClr val="FFFFFF"/>
                    </a:solidFill>
                  </a:tcPr>
                </a:tc>
                <a:tc>
                  <a:txBody>
                    <a:bodyPr wrap="square"/>
                    <a:lstStyle/>
                    <a:p>
                      <a:r>
                        <a:rPr sz="1300" b="1" i="0">
                          <a:solidFill>
                            <a:srgbClr val="155E54"/>
                          </a:solidFill>
                          <a:latin typeface="Calibri"/>
                        </a:rPr>
                        <a:t>pass</a:t>
                      </a:r>
                    </a:p>
                  </a:txBody>
                  <a:tcPr marL="91440" marR="91440" marT="27432" marB="27432" anchor="ctr">
                    <a:solidFill>
                      <a:srgbClr val="C6E8E0"/>
                    </a:solidFill>
                  </a:tcPr>
                </a:tc>
              </a:tr>
              <a:tr h="502920">
                <a:tc>
                  <a:txBody>
                    <a:bodyPr wrap="square"/>
                    <a:lstStyle/>
                    <a:p>
                      <a:r>
                        <a:rPr sz="1300" b="0" i="0">
                          <a:solidFill>
                            <a:srgbClr val="17272E"/>
                          </a:solidFill>
                          <a:latin typeface="Calibri"/>
                        </a:rPr>
                        <a:t>Are directors people too?</a:t>
                      </a:r>
                    </a:p>
                  </a:txBody>
                  <a:tcPr marL="91440" marR="91440" marT="27432" marB="27432" anchor="ctr">
                    <a:solidFill>
                      <a:srgbClr val="EAF3F0"/>
                    </a:solidFill>
                  </a:tcPr>
                </a:tc>
                <a:tc>
                  <a:txBody>
                    <a:bodyPr wrap="square"/>
                    <a:lstStyle/>
                    <a:p>
                      <a:r>
                        <a:rPr sz="1200" b="0" i="0">
                          <a:solidFill>
                            <a:srgbClr val="17272E"/>
                          </a:solidFill>
                          <a:latin typeface="Consolas"/>
                        </a:rPr>
                        <a:t>ASK { :NicholasRay a :Person }</a:t>
                      </a:r>
                    </a:p>
                  </a:txBody>
                  <a:tcPr marL="91440" marR="91440" marT="27432" marB="27432" anchor="ctr">
                    <a:solidFill>
                      <a:srgbClr val="EAF3F0"/>
                    </a:solidFill>
                  </a:tcPr>
                </a:tc>
                <a:tc>
                  <a:txBody>
                    <a:bodyPr wrap="square"/>
                    <a:lstStyle/>
                    <a:p>
                      <a:r>
                        <a:rPr sz="1300" b="1" i="0">
                          <a:solidFill>
                            <a:srgbClr val="155E54"/>
                          </a:solidFill>
                          <a:latin typeface="Calibri"/>
                        </a:rPr>
                        <a:t>pass</a:t>
                      </a:r>
                    </a:p>
                  </a:txBody>
                  <a:tcPr marL="91440" marR="91440" marT="27432" marB="27432" anchor="ctr">
                    <a:solidFill>
                      <a:srgbClr val="C6E8E0"/>
                    </a:solidFill>
                  </a:tcPr>
                </a:tc>
              </a:tr>
              <a:tr h="502920">
                <a:tc>
                  <a:txBody>
                    <a:bodyPr wrap="square"/>
                    <a:lstStyle/>
                    <a:p>
                      <a:r>
                        <a:rPr sz="1300" b="0" i="0">
                          <a:solidFill>
                            <a:srgbClr val="17272E"/>
                          </a:solidFill>
                          <a:latin typeface="Calibri"/>
                        </a:rPr>
                        <a:t>Can a generic UI label any movie?</a:t>
                      </a:r>
                    </a:p>
                  </a:txBody>
                  <a:tcPr marL="91440" marR="91440" marT="27432" marB="27432" anchor="ctr">
                    <a:solidFill>
                      <a:srgbClr val="FFFFFF"/>
                    </a:solidFill>
                  </a:tcPr>
                </a:tc>
                <a:tc>
                  <a:txBody>
                    <a:bodyPr wrap="square"/>
                    <a:lstStyle/>
                    <a:p>
                      <a:r>
                        <a:rPr sz="1200" b="0" i="0">
                          <a:solidFill>
                            <a:srgbClr val="17272E"/>
                          </a:solidFill>
                          <a:latin typeface="Consolas"/>
                        </a:rPr>
                        <a:t>ASK { :Giant rdfs:label ?l }</a:t>
                      </a:r>
                    </a:p>
                  </a:txBody>
                  <a:tcPr marL="91440" marR="91440" marT="27432" marB="27432" anchor="ctr">
                    <a:solidFill>
                      <a:srgbClr val="FFFFFF"/>
                    </a:solidFill>
                  </a:tcPr>
                </a:tc>
                <a:tc>
                  <a:txBody>
                    <a:bodyPr wrap="square"/>
                    <a:lstStyle/>
                    <a:p>
                      <a:r>
                        <a:rPr sz="1300" b="1" i="0">
                          <a:solidFill>
                            <a:srgbClr val="155E54"/>
                          </a:solidFill>
                          <a:latin typeface="Calibri"/>
                        </a:rPr>
                        <a:t>pass</a:t>
                      </a:r>
                    </a:p>
                  </a:txBody>
                  <a:tcPr marL="91440" marR="91440" marT="27432" marB="27432" anchor="ctr">
                    <a:solidFill>
                      <a:srgbClr val="C6E8E0"/>
                    </a:solidFill>
                  </a:tcPr>
                </a:tc>
              </a:tr>
              <a:tr h="502920">
                <a:tc>
                  <a:txBody>
                    <a:bodyPr wrap="square"/>
                    <a:lstStyle/>
                    <a:p>
                      <a:r>
                        <a:rPr sz="1300" b="0" i="0">
                          <a:solidFill>
                            <a:srgbClr val="17272E"/>
                          </a:solidFill>
                          <a:latin typeface="Calibri"/>
                        </a:rPr>
                        <a:t>Which awards did a movie win?</a:t>
                      </a:r>
                    </a:p>
                  </a:txBody>
                  <a:tcPr marL="91440" marR="91440" marT="27432" marB="27432" anchor="ctr">
                    <a:solidFill>
                      <a:srgbClr val="EAF3F0"/>
                    </a:solidFill>
                  </a:tcPr>
                </a:tc>
                <a:tc>
                  <a:txBody>
                    <a:bodyPr wrap="square"/>
                    <a:lstStyle/>
                    <a:p>
                      <a:r>
                        <a:rPr sz="1200" b="0" i="0">
                          <a:solidFill>
                            <a:srgbClr val="17272E"/>
                          </a:solidFill>
                          <a:latin typeface="Consolas"/>
                        </a:rPr>
                        <a:t>ASK { ?m :wonAward ?a }</a:t>
                      </a:r>
                    </a:p>
                  </a:txBody>
                  <a:tcPr marL="91440" marR="91440" marT="27432" marB="27432" anchor="ctr">
                    <a:solidFill>
                      <a:srgbClr val="EAF3F0"/>
                    </a:solidFill>
                  </a:tcPr>
                </a:tc>
                <a:tc>
                  <a:txBody>
                    <a:bodyPr wrap="square"/>
                    <a:lstStyle/>
                    <a:p>
                      <a:r>
                        <a:rPr sz="1300" b="1" i="0">
                          <a:solidFill>
                            <a:srgbClr val="C24E36"/>
                          </a:solidFill>
                          <a:latin typeface="Calibri"/>
                        </a:rPr>
                        <a:t>fail</a:t>
                      </a:r>
                    </a:p>
                  </a:txBody>
                  <a:tcPr marL="91440" marR="91440" marT="27432" marB="27432" anchor="ctr">
                    <a:solidFill>
                      <a:srgbClr val="F8E4DF"/>
                    </a:solidFill>
                  </a:tcPr>
                </a:tc>
              </a:tr>
            </a:tbl>
          </a:graphicData>
        </a:graphic>
      </p:graphicFrame>
      <p:sp>
        <p:nvSpPr>
          <p:cNvPr id="18" name="TextBox 17"/>
          <p:cNvSpPr txBox="1"/>
          <p:nvPr/>
        </p:nvSpPr>
        <p:spPr>
          <a:xfrm>
            <a:off x="5486400" y="4800600"/>
            <a:ext cx="6156655" cy="1280160"/>
          </a:xfrm>
          <a:prstGeom prst="rect">
            <a:avLst/>
          </a:prstGeom>
          <a:noFill/>
        </p:spPr>
        <p:txBody>
          <a:bodyPr wrap="square" anchor="t" lIns="0" rIns="0" tIns="0" bIns="0">
            <a:noAutofit/>
          </a:bodyPr>
          <a:lstStyle/>
          <a:p>
            <a:pPr algn="l">
              <a:spcAft>
                <a:spcPts val="600"/>
              </a:spcAft>
            </a:pPr>
            <a:r>
              <a:rPr sz="1400" b="0" i="0">
                <a:solidFill>
                  <a:srgbClr val="17272E"/>
                </a:solidFill>
                <a:latin typeface="Calibri"/>
              </a:rPr>
              <a:t>The failing question is a finding, not a bug: the model has no awards yet. Testing also means checking how inferences behave on data from other sources.</a:t>
            </a:r>
          </a:p>
        </p:txBody>
      </p:sp>
      <p:sp>
        <p:nvSpPr>
          <p:cNvPr id="19"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20"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Four antipatterns to avoid</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8 · GOOD AND BAD PRACTICE</a:t>
            </a:r>
          </a:p>
        </p:txBody>
      </p:sp>
      <p:sp>
        <p:nvSpPr>
          <p:cNvPr id="4" name="Card: Rampant classism"/>
          <p:cNvSpPr/>
          <p:nvPr/>
        </p:nvSpPr>
        <p:spPr>
          <a:xfrm>
            <a:off x="548640" y="1645920"/>
            <a:ext cx="5410047" cy="2103120"/>
          </a:xfrm>
          <a:prstGeom prst="roundRect">
            <a:avLst>
              <a:gd name="adj" fmla="val 6086"/>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1874519"/>
            <a:ext cx="402336" cy="402336"/>
          </a:xfrm>
          <a:prstGeom prst="ellipse">
            <a:avLst/>
          </a:prstGeom>
          <a:solidFill>
            <a:srgbClr val="C24E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1</a:t>
            </a:r>
          </a:p>
        </p:txBody>
      </p:sp>
      <p:sp>
        <p:nvSpPr>
          <p:cNvPr id="6" name="TextBox 5"/>
          <p:cNvSpPr txBox="1"/>
          <p:nvPr/>
        </p:nvSpPr>
        <p:spPr>
          <a:xfrm>
            <a:off x="1325880" y="1911095"/>
            <a:ext cx="4404207" cy="411480"/>
          </a:xfrm>
          <a:prstGeom prst="rect">
            <a:avLst/>
          </a:prstGeom>
          <a:noFill/>
        </p:spPr>
        <p:txBody>
          <a:bodyPr wrap="square" anchor="ctr" lIns="0" rIns="0" tIns="0" bIns="0">
            <a:noAutofit/>
          </a:bodyPr>
          <a:lstStyle/>
          <a:p>
            <a:pPr algn="l">
              <a:spcAft>
                <a:spcPts val="600"/>
              </a:spcAft>
            </a:pPr>
            <a:r>
              <a:rPr sz="1800" b="1" i="0">
                <a:solidFill>
                  <a:srgbClr val="17272E"/>
                </a:solidFill>
                <a:latin typeface="Calibri"/>
              </a:rPr>
              <a:t>Rampant classism</a:t>
            </a:r>
          </a:p>
        </p:txBody>
      </p:sp>
      <p:sp>
        <p:nvSpPr>
          <p:cNvPr id="7" name="TextBox 6"/>
          <p:cNvSpPr txBox="1"/>
          <p:nvPr/>
        </p:nvSpPr>
        <p:spPr>
          <a:xfrm>
            <a:off x="777240" y="2441448"/>
            <a:ext cx="4952847" cy="1170431"/>
          </a:xfrm>
          <a:prstGeom prst="rect">
            <a:avLst/>
          </a:prstGeom>
          <a:noFill/>
        </p:spPr>
        <p:txBody>
          <a:bodyPr wrap="square" anchor="t" lIns="0" rIns="0" tIns="0" bIns="0">
            <a:noAutofit/>
          </a:bodyPr>
          <a:lstStyle/>
          <a:p>
            <a:pPr algn="l">
              <a:spcAft>
                <a:spcPts val="500"/>
              </a:spcAft>
            </a:pPr>
            <a:r>
              <a:rPr sz="1500" b="0" i="0">
                <a:solidFill>
                  <a:srgbClr val="17272E"/>
                </a:solidFill>
                <a:latin typeface="Calibri"/>
              </a:rPr>
              <a:t>Making everything a class, driven by tooling or thesaurus conversion.</a:t>
            </a:r>
          </a:p>
          <a:p>
            <a:pPr algn="l">
              <a:spcAft>
                <a:spcPts val="500"/>
              </a:spcAft>
            </a:pPr>
            <a:r>
              <a:rPr sz="1500" b="0" i="1">
                <a:solidFill>
                  <a:srgbClr val="5B6B70"/>
                </a:solidFill>
                <a:latin typeface="Calibri"/>
              </a:rPr>
              <a:t>e.g. a class :JamesDean, though he has a registry id: an instance.</a:t>
            </a:r>
          </a:p>
        </p:txBody>
      </p:sp>
      <p:sp>
        <p:nvSpPr>
          <p:cNvPr id="8" name="Card: Exclusivity"/>
          <p:cNvSpPr/>
          <p:nvPr/>
        </p:nvSpPr>
        <p:spPr>
          <a:xfrm>
            <a:off x="6233007" y="1645920"/>
            <a:ext cx="5410047" cy="2103120"/>
          </a:xfrm>
          <a:prstGeom prst="roundRect">
            <a:avLst>
              <a:gd name="adj" fmla="val 6086"/>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461607" y="1874519"/>
            <a:ext cx="402336" cy="402336"/>
          </a:xfrm>
          <a:prstGeom prst="ellipse">
            <a:avLst/>
          </a:prstGeom>
          <a:solidFill>
            <a:srgbClr val="C24E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2</a:t>
            </a:r>
          </a:p>
        </p:txBody>
      </p:sp>
      <p:sp>
        <p:nvSpPr>
          <p:cNvPr id="10" name="TextBox 9"/>
          <p:cNvSpPr txBox="1"/>
          <p:nvPr/>
        </p:nvSpPr>
        <p:spPr>
          <a:xfrm>
            <a:off x="7010247" y="1911095"/>
            <a:ext cx="4404207" cy="411480"/>
          </a:xfrm>
          <a:prstGeom prst="rect">
            <a:avLst/>
          </a:prstGeom>
          <a:noFill/>
        </p:spPr>
        <p:txBody>
          <a:bodyPr wrap="square" anchor="ctr" lIns="0" rIns="0" tIns="0" bIns="0">
            <a:noAutofit/>
          </a:bodyPr>
          <a:lstStyle/>
          <a:p>
            <a:pPr algn="l">
              <a:spcAft>
                <a:spcPts val="600"/>
              </a:spcAft>
            </a:pPr>
            <a:r>
              <a:rPr sz="1800" b="1" i="0">
                <a:solidFill>
                  <a:srgbClr val="17272E"/>
                </a:solidFill>
                <a:latin typeface="Calibri"/>
              </a:rPr>
              <a:t>Exclusivity</a:t>
            </a:r>
          </a:p>
        </p:txBody>
      </p:sp>
      <p:sp>
        <p:nvSpPr>
          <p:cNvPr id="11" name="TextBox 10"/>
          <p:cNvSpPr txBox="1"/>
          <p:nvPr/>
        </p:nvSpPr>
        <p:spPr>
          <a:xfrm>
            <a:off x="6461607" y="2441448"/>
            <a:ext cx="4952847" cy="1170431"/>
          </a:xfrm>
          <a:prstGeom prst="rect">
            <a:avLst/>
          </a:prstGeom>
          <a:noFill/>
        </p:spPr>
        <p:txBody>
          <a:bodyPr wrap="square" anchor="t" lIns="0" rIns="0" tIns="0" bIns="0">
            <a:noAutofit/>
          </a:bodyPr>
          <a:lstStyle/>
          <a:p>
            <a:pPr algn="l">
              <a:spcAft>
                <a:spcPts val="500"/>
              </a:spcAft>
            </a:pPr>
            <a:r>
              <a:rPr sz="1500" b="0" i="0">
                <a:solidFill>
                  <a:srgbClr val="17272E"/>
                </a:solidFill>
                <a:latin typeface="Calibri"/>
              </a:rPr>
              <a:t>Assuming only known members of a superclass can belong to a subclass.</a:t>
            </a:r>
          </a:p>
          <a:p>
            <a:pPr algn="l">
              <a:spcAft>
                <a:spcPts val="500"/>
              </a:spcAft>
            </a:pPr>
            <a:r>
              <a:rPr sz="1500" b="0" i="1">
                <a:solidFill>
                  <a:srgbClr val="5B6B70"/>
                </a:solidFill>
                <a:latin typeface="Calibri"/>
              </a:rPr>
              <a:t>e.g. treating the three listed films as the only possible :JamesDeanMovie.</a:t>
            </a:r>
          </a:p>
        </p:txBody>
      </p:sp>
      <p:sp>
        <p:nvSpPr>
          <p:cNvPr id="12" name="Card: Objectification"/>
          <p:cNvSpPr/>
          <p:nvPr/>
        </p:nvSpPr>
        <p:spPr>
          <a:xfrm>
            <a:off x="548640" y="3977639"/>
            <a:ext cx="5410047" cy="2103120"/>
          </a:xfrm>
          <a:prstGeom prst="roundRect">
            <a:avLst>
              <a:gd name="adj" fmla="val 6086"/>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77240" y="4206240"/>
            <a:ext cx="402336" cy="402336"/>
          </a:xfrm>
          <a:prstGeom prst="ellipse">
            <a:avLst/>
          </a:prstGeom>
          <a:solidFill>
            <a:srgbClr val="C24E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3</a:t>
            </a:r>
          </a:p>
        </p:txBody>
      </p:sp>
      <p:sp>
        <p:nvSpPr>
          <p:cNvPr id="14" name="TextBox 13"/>
          <p:cNvSpPr txBox="1"/>
          <p:nvPr/>
        </p:nvSpPr>
        <p:spPr>
          <a:xfrm>
            <a:off x="1325880" y="4242816"/>
            <a:ext cx="4404207" cy="411480"/>
          </a:xfrm>
          <a:prstGeom prst="rect">
            <a:avLst/>
          </a:prstGeom>
          <a:noFill/>
        </p:spPr>
        <p:txBody>
          <a:bodyPr wrap="square" anchor="ctr" lIns="0" rIns="0" tIns="0" bIns="0">
            <a:noAutofit/>
          </a:bodyPr>
          <a:lstStyle/>
          <a:p>
            <a:pPr algn="l">
              <a:spcAft>
                <a:spcPts val="600"/>
              </a:spcAft>
            </a:pPr>
            <a:r>
              <a:rPr sz="1800" b="1" i="0">
                <a:solidFill>
                  <a:srgbClr val="17272E"/>
                </a:solidFill>
                <a:latin typeface="Calibri"/>
              </a:rPr>
              <a:t>Objectification</a:t>
            </a:r>
          </a:p>
        </p:txBody>
      </p:sp>
      <p:sp>
        <p:nvSpPr>
          <p:cNvPr id="15" name="TextBox 14"/>
          <p:cNvSpPr txBox="1"/>
          <p:nvPr/>
        </p:nvSpPr>
        <p:spPr>
          <a:xfrm>
            <a:off x="777240" y="4773168"/>
            <a:ext cx="4952847" cy="1170431"/>
          </a:xfrm>
          <a:prstGeom prst="rect">
            <a:avLst/>
          </a:prstGeom>
          <a:noFill/>
        </p:spPr>
        <p:txBody>
          <a:bodyPr wrap="square" anchor="t" lIns="0" rIns="0" tIns="0" bIns="0">
            <a:noAutofit/>
          </a:bodyPr>
          <a:lstStyle/>
          <a:p>
            <a:pPr algn="l">
              <a:spcAft>
                <a:spcPts val="500"/>
              </a:spcAft>
            </a:pPr>
            <a:r>
              <a:rPr sz="1500" b="0" i="0">
                <a:solidFill>
                  <a:srgbClr val="17272E"/>
                </a:solidFill>
                <a:latin typeface="Calibri"/>
              </a:rPr>
              <a:t>Treating classes as templates. Properties stand alone; classes are sets.</a:t>
            </a:r>
          </a:p>
          <a:p>
            <a:pPr algn="l">
              <a:spcAft>
                <a:spcPts val="500"/>
              </a:spcAft>
            </a:pPr>
            <a:r>
              <a:rPr sz="1500" b="0" i="1">
                <a:solidFill>
                  <a:srgbClr val="5B6B70"/>
                </a:solidFill>
                <a:latin typeface="Calibri"/>
              </a:rPr>
              <a:t>e.g. thinking :starring belongs to :Movie, so nothing else may use it.</a:t>
            </a:r>
          </a:p>
        </p:txBody>
      </p:sp>
      <p:sp>
        <p:nvSpPr>
          <p:cNvPr id="16" name="Card: Creeping conceptualization"/>
          <p:cNvSpPr/>
          <p:nvPr/>
        </p:nvSpPr>
        <p:spPr>
          <a:xfrm>
            <a:off x="6233007" y="3977639"/>
            <a:ext cx="5410047" cy="2103120"/>
          </a:xfrm>
          <a:prstGeom prst="roundRect">
            <a:avLst>
              <a:gd name="adj" fmla="val 6086"/>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461607" y="4206240"/>
            <a:ext cx="402336" cy="402336"/>
          </a:xfrm>
          <a:prstGeom prst="ellipse">
            <a:avLst/>
          </a:prstGeom>
          <a:solidFill>
            <a:srgbClr val="C24E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4</a:t>
            </a:r>
          </a:p>
        </p:txBody>
      </p:sp>
      <p:sp>
        <p:nvSpPr>
          <p:cNvPr id="18" name="TextBox 17"/>
          <p:cNvSpPr txBox="1"/>
          <p:nvPr/>
        </p:nvSpPr>
        <p:spPr>
          <a:xfrm>
            <a:off x="7010247" y="4242816"/>
            <a:ext cx="4404207" cy="411480"/>
          </a:xfrm>
          <a:prstGeom prst="rect">
            <a:avLst/>
          </a:prstGeom>
          <a:noFill/>
        </p:spPr>
        <p:txBody>
          <a:bodyPr wrap="square" anchor="ctr" lIns="0" rIns="0" tIns="0" bIns="0">
            <a:noAutofit/>
          </a:bodyPr>
          <a:lstStyle/>
          <a:p>
            <a:pPr algn="l">
              <a:spcAft>
                <a:spcPts val="600"/>
              </a:spcAft>
            </a:pPr>
            <a:r>
              <a:rPr sz="1800" b="1" i="0">
                <a:solidFill>
                  <a:srgbClr val="17272E"/>
                </a:solidFill>
                <a:latin typeface="Calibri"/>
              </a:rPr>
              <a:t>Creeping conceptualization</a:t>
            </a:r>
          </a:p>
        </p:txBody>
      </p:sp>
      <p:sp>
        <p:nvSpPr>
          <p:cNvPr id="19" name="TextBox 18"/>
          <p:cNvSpPr txBox="1"/>
          <p:nvPr/>
        </p:nvSpPr>
        <p:spPr>
          <a:xfrm>
            <a:off x="6461607" y="4773168"/>
            <a:ext cx="4952847" cy="1170431"/>
          </a:xfrm>
          <a:prstGeom prst="rect">
            <a:avLst/>
          </a:prstGeom>
          <a:noFill/>
        </p:spPr>
        <p:txBody>
          <a:bodyPr wrap="square" anchor="t" lIns="0" rIns="0" tIns="0" bIns="0">
            <a:noAutofit/>
          </a:bodyPr>
          <a:lstStyle/>
          <a:p>
            <a:pPr algn="l">
              <a:spcAft>
                <a:spcPts val="500"/>
              </a:spcAft>
            </a:pPr>
            <a:r>
              <a:rPr sz="1500" b="0" i="0">
                <a:solidFill>
                  <a:srgbClr val="17272E"/>
                </a:solidFill>
                <a:latin typeface="Calibri"/>
              </a:rPr>
              <a:t>“Design for reuse” is not “say everything you can”.</a:t>
            </a:r>
          </a:p>
          <a:p>
            <a:pPr algn="l">
              <a:spcAft>
                <a:spcPts val="500"/>
              </a:spcAft>
            </a:pPr>
            <a:r>
              <a:rPr sz="1500" b="0" i="1">
                <a:solidFill>
                  <a:srgbClr val="5B6B70"/>
                </a:solidFill>
                <a:latin typeface="Calibri"/>
              </a:rPr>
              <a:t>Warning sign: :FeatureFilm, :ColorFeatureFilm, … with no instances.</a:t>
            </a:r>
          </a:p>
        </p:txBody>
      </p:sp>
      <p:sp>
        <p:nvSpPr>
          <p:cNvPr id="20"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21"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OWL 2 profiles: provable or practical</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8 · EXPERT MODELING IN OWL</a:t>
            </a:r>
          </a:p>
        </p:txBody>
      </p:sp>
      <p:sp>
        <p:nvSpPr>
          <p:cNvPr id="4" name="Card: Provable"/>
          <p:cNvSpPr/>
          <p:nvPr/>
        </p:nvSpPr>
        <p:spPr>
          <a:xfrm>
            <a:off x="548640" y="1645920"/>
            <a:ext cx="4754880" cy="2057400"/>
          </a:xfrm>
          <a:prstGeom prst="roundRect">
            <a:avLst>
              <a:gd name="adj" fmla="val 6222"/>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1874519"/>
            <a:ext cx="402336" cy="402336"/>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1</a:t>
            </a:r>
          </a:p>
        </p:txBody>
      </p:sp>
      <p:sp>
        <p:nvSpPr>
          <p:cNvPr id="6" name="TextBox 5"/>
          <p:cNvSpPr txBox="1"/>
          <p:nvPr/>
        </p:nvSpPr>
        <p:spPr>
          <a:xfrm>
            <a:off x="1325880" y="1911095"/>
            <a:ext cx="3749039" cy="411480"/>
          </a:xfrm>
          <a:prstGeom prst="rect">
            <a:avLst/>
          </a:prstGeom>
          <a:noFill/>
        </p:spPr>
        <p:txBody>
          <a:bodyPr wrap="square" anchor="ctr" lIns="0" rIns="0" tIns="0" bIns="0">
            <a:noAutofit/>
          </a:bodyPr>
          <a:lstStyle/>
          <a:p>
            <a:pPr algn="l">
              <a:spcAft>
                <a:spcPts val="600"/>
              </a:spcAft>
            </a:pPr>
            <a:r>
              <a:rPr sz="1800" b="1" i="0">
                <a:solidFill>
                  <a:srgbClr val="17272E"/>
                </a:solidFill>
                <a:latin typeface="Calibri"/>
              </a:rPr>
              <a:t>Provable</a:t>
            </a:r>
          </a:p>
        </p:txBody>
      </p:sp>
      <p:sp>
        <p:nvSpPr>
          <p:cNvPr id="7" name="TextBox 6"/>
          <p:cNvSpPr txBox="1"/>
          <p:nvPr/>
        </p:nvSpPr>
        <p:spPr>
          <a:xfrm>
            <a:off x="777240" y="2441448"/>
            <a:ext cx="4297680" cy="1124712"/>
          </a:xfrm>
          <a:prstGeom prst="rect">
            <a:avLst/>
          </a:prstGeom>
          <a:noFill/>
        </p:spPr>
        <p:txBody>
          <a:bodyPr wrap="square" anchor="t" lIns="0" rIns="0" tIns="0" bIns="0">
            <a:noAutofit/>
          </a:bodyPr>
          <a:lstStyle/>
          <a:p>
            <a:pPr algn="l">
              <a:spcAft>
                <a:spcPts val="500"/>
              </a:spcAft>
            </a:pPr>
            <a:r>
              <a:rPr sz="1400" b="0" i="0">
                <a:solidFill>
                  <a:srgbClr val="17272E"/>
                </a:solidFill>
                <a:latin typeface="Calibri"/>
              </a:rPr>
              <a:t>A computer can always decide, in finite time, whether two sources mean the same thing. That needs carefully restricted logic.</a:t>
            </a:r>
          </a:p>
        </p:txBody>
      </p:sp>
      <p:sp>
        <p:nvSpPr>
          <p:cNvPr id="8" name="Card: Practical"/>
          <p:cNvSpPr/>
          <p:nvPr/>
        </p:nvSpPr>
        <p:spPr>
          <a:xfrm>
            <a:off x="548640" y="3931920"/>
            <a:ext cx="4754880" cy="2057400"/>
          </a:xfrm>
          <a:prstGeom prst="roundRect">
            <a:avLst>
              <a:gd name="adj" fmla="val 6222"/>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4160520"/>
            <a:ext cx="402336" cy="402336"/>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2</a:t>
            </a:r>
          </a:p>
        </p:txBody>
      </p:sp>
      <p:sp>
        <p:nvSpPr>
          <p:cNvPr id="10" name="TextBox 9"/>
          <p:cNvSpPr txBox="1"/>
          <p:nvPr/>
        </p:nvSpPr>
        <p:spPr>
          <a:xfrm>
            <a:off x="1325880" y="4197096"/>
            <a:ext cx="3749039" cy="411480"/>
          </a:xfrm>
          <a:prstGeom prst="rect">
            <a:avLst/>
          </a:prstGeom>
          <a:noFill/>
        </p:spPr>
        <p:txBody>
          <a:bodyPr wrap="square" anchor="ctr" lIns="0" rIns="0" tIns="0" bIns="0">
            <a:noAutofit/>
          </a:bodyPr>
          <a:lstStyle/>
          <a:p>
            <a:pPr algn="l">
              <a:spcAft>
                <a:spcPts val="600"/>
              </a:spcAft>
            </a:pPr>
            <a:r>
              <a:rPr sz="1800" b="1" i="0">
                <a:solidFill>
                  <a:srgbClr val="17272E"/>
                </a:solidFill>
                <a:latin typeface="Calibri"/>
              </a:rPr>
              <a:t>Practical</a:t>
            </a:r>
          </a:p>
        </p:txBody>
      </p:sp>
      <p:sp>
        <p:nvSpPr>
          <p:cNvPr id="11" name="TextBox 10"/>
          <p:cNvSpPr txBox="1"/>
          <p:nvPr/>
        </p:nvSpPr>
        <p:spPr>
          <a:xfrm>
            <a:off x="777240" y="4727448"/>
            <a:ext cx="4297680" cy="1124712"/>
          </a:xfrm>
          <a:prstGeom prst="rect">
            <a:avLst/>
          </a:prstGeom>
          <a:noFill/>
        </p:spPr>
        <p:txBody>
          <a:bodyPr wrap="square" anchor="t" lIns="0" rIns="0" tIns="0" bIns="0">
            <a:noAutofit/>
          </a:bodyPr>
          <a:lstStyle/>
          <a:p>
            <a:pPr algn="l">
              <a:spcAft>
                <a:spcPts val="500"/>
              </a:spcAft>
            </a:pPr>
            <a:r>
              <a:rPr sz="1400" b="0" i="0">
                <a:solidFill>
                  <a:srgbClr val="17272E"/>
                </a:solidFill>
                <a:latin typeface="Calibri"/>
              </a:rPr>
              <a:t>Treat the model like a program: test and fix until it behaves on the data that matters. Good answers most of the time.</a:t>
            </a:r>
          </a:p>
        </p:txBody>
      </p:sp>
      <p:sp>
        <p:nvSpPr>
          <p:cNvPr id="12" name="TextBox 11"/>
          <p:cNvSpPr txBox="1"/>
          <p:nvPr/>
        </p:nvSpPr>
        <p:spPr>
          <a:xfrm>
            <a:off x="5669280" y="1645920"/>
            <a:ext cx="5973775" cy="365760"/>
          </a:xfrm>
          <a:prstGeom prst="rect">
            <a:avLst/>
          </a:prstGeom>
          <a:noFill/>
        </p:spPr>
        <p:txBody>
          <a:bodyPr wrap="square" anchor="t" lIns="0" rIns="0" tIns="0" bIns="0">
            <a:noAutofit/>
          </a:bodyPr>
          <a:lstStyle/>
          <a:p>
            <a:pPr algn="l">
              <a:spcAft>
                <a:spcPts val="600"/>
              </a:spcAft>
            </a:pPr>
            <a:r>
              <a:rPr sz="1500" b="1" i="0">
                <a:solidFill>
                  <a:srgbClr val="17272E"/>
                </a:solidFill>
                <a:latin typeface="Calibri"/>
              </a:rPr>
              <a:t>Same vocabulary everywhere; only the usage rules differ</a:t>
            </a:r>
          </a:p>
        </p:txBody>
      </p:sp>
      <p:graphicFrame>
        <p:nvGraphicFramePr>
          <p:cNvPr id="13" name="Table 12"/>
          <p:cNvGraphicFramePr>
            <a:graphicFrameLocks noGrp="1"/>
          </p:cNvGraphicFramePr>
          <p:nvPr/>
        </p:nvGraphicFramePr>
        <p:xfrm>
          <a:off x="5669280" y="2148840"/>
          <a:ext cx="5973775" cy="2834640"/>
        </p:xfrm>
        <a:graphic>
          <a:graphicData uri="http://schemas.openxmlformats.org/drawingml/2006/table">
            <a:tbl>
              <a:tblPr firstRow="0" bandRow="0">
                <a:tableStyleId>{5C22544A-7EE6-4342-B048-85BDC9FD1C3A}</a:tableStyleId>
              </a:tblPr>
              <a:tblGrid>
                <a:gridCol w="1463040"/>
                <a:gridCol w="4510735"/>
              </a:tblGrid>
              <a:tr h="566928">
                <a:tc>
                  <a:txBody>
                    <a:bodyPr wrap="square"/>
                    <a:lstStyle/>
                    <a:p>
                      <a:r>
                        <a:rPr sz="1500" b="1" i="0">
                          <a:solidFill>
                            <a:srgbClr val="FFFFFF"/>
                          </a:solidFill>
                          <a:latin typeface="Calibri"/>
                        </a:rPr>
                        <a:t>Profile</a:t>
                      </a:r>
                    </a:p>
                  </a:txBody>
                  <a:tcPr marL="91440" marR="91440" marT="27432" marB="27432" anchor="ctr">
                    <a:solidFill>
                      <a:srgbClr val="1F7A6D"/>
                    </a:solidFill>
                  </a:tcPr>
                </a:tc>
                <a:tc>
                  <a:txBody>
                    <a:bodyPr wrap="square"/>
                    <a:lstStyle/>
                    <a:p>
                      <a:r>
                        <a:rPr sz="1500" b="1" i="0">
                          <a:solidFill>
                            <a:srgbClr val="FFFFFF"/>
                          </a:solidFill>
                          <a:latin typeface="Calibri"/>
                        </a:rPr>
                        <a:t>Built for</a:t>
                      </a:r>
                    </a:p>
                  </a:txBody>
                  <a:tcPr marL="91440" marR="91440" marT="27432" marB="27432" anchor="ctr">
                    <a:solidFill>
                      <a:srgbClr val="1F7A6D"/>
                    </a:solidFill>
                  </a:tcPr>
                </a:tc>
              </a:tr>
              <a:tr h="566928">
                <a:tc>
                  <a:txBody>
                    <a:bodyPr wrap="square"/>
                    <a:lstStyle/>
                    <a:p>
                      <a:r>
                        <a:rPr sz="1500" b="0" i="0">
                          <a:solidFill>
                            <a:srgbClr val="155E54"/>
                          </a:solidFill>
                          <a:latin typeface="Calibri"/>
                        </a:rPr>
                        <a:t>OWL 2 DL</a:t>
                      </a:r>
                    </a:p>
                  </a:txBody>
                  <a:tcPr marL="91440" marR="91440" marT="27432" marB="27432" anchor="ctr">
                    <a:solidFill>
                      <a:srgbClr val="FFFFFF"/>
                    </a:solidFill>
                  </a:tcPr>
                </a:tc>
                <a:tc>
                  <a:txBody>
                    <a:bodyPr wrap="square"/>
                    <a:lstStyle/>
                    <a:p>
                      <a:r>
                        <a:rPr sz="1500" b="0" i="0">
                          <a:solidFill>
                            <a:srgbClr val="17272E"/>
                          </a:solidFill>
                          <a:latin typeface="Calibri"/>
                        </a:rPr>
                        <a:t>Most expressive while keeping provable answers</a:t>
                      </a:r>
                    </a:p>
                  </a:txBody>
                  <a:tcPr marL="91440" marR="91440" marT="27432" marB="27432" anchor="ctr">
                    <a:solidFill>
                      <a:srgbClr val="FFFFFF"/>
                    </a:solidFill>
                  </a:tcPr>
                </a:tc>
              </a:tr>
              <a:tr h="566928">
                <a:tc>
                  <a:txBody>
                    <a:bodyPr wrap="square"/>
                    <a:lstStyle/>
                    <a:p>
                      <a:r>
                        <a:rPr sz="1500" b="0" i="0">
                          <a:solidFill>
                            <a:srgbClr val="155E54"/>
                          </a:solidFill>
                          <a:latin typeface="Calibri"/>
                        </a:rPr>
                        <a:t>OWL 2 QL</a:t>
                      </a:r>
                    </a:p>
                  </a:txBody>
                  <a:tcPr marL="91440" marR="91440" marT="27432" marB="27432" anchor="ctr">
                    <a:solidFill>
                      <a:srgbClr val="EAF3F0"/>
                    </a:solidFill>
                  </a:tcPr>
                </a:tc>
                <a:tc>
                  <a:txBody>
                    <a:bodyPr wrap="square"/>
                    <a:lstStyle/>
                    <a:p>
                      <a:r>
                        <a:rPr sz="1500" b="0" i="0">
                          <a:solidFill>
                            <a:srgbClr val="17272E"/>
                          </a:solidFill>
                          <a:latin typeface="Calibri"/>
                        </a:rPr>
                        <a:t>Applications on top of ordinary databases</a:t>
                      </a:r>
                    </a:p>
                  </a:txBody>
                  <a:tcPr marL="91440" marR="91440" marT="27432" marB="27432" anchor="ctr">
                    <a:solidFill>
                      <a:srgbClr val="EAF3F0"/>
                    </a:solidFill>
                  </a:tcPr>
                </a:tc>
              </a:tr>
              <a:tr h="566928">
                <a:tc>
                  <a:txBody>
                    <a:bodyPr wrap="square"/>
                    <a:lstStyle/>
                    <a:p>
                      <a:r>
                        <a:rPr sz="1500" b="0" i="0">
                          <a:solidFill>
                            <a:srgbClr val="155E54"/>
                          </a:solidFill>
                          <a:latin typeface="Calibri"/>
                        </a:rPr>
                        <a:t>OWL 2 EL</a:t>
                      </a:r>
                    </a:p>
                  </a:txBody>
                  <a:tcPr marL="91440" marR="91440" marT="27432" marB="27432" anchor="ctr">
                    <a:solidFill>
                      <a:srgbClr val="FFFFFF"/>
                    </a:solidFill>
                  </a:tcPr>
                </a:tc>
                <a:tc>
                  <a:txBody>
                    <a:bodyPr wrap="square"/>
                    <a:lstStyle/>
                    <a:p>
                      <a:r>
                        <a:rPr sz="1500" b="0" i="0">
                          <a:solidFill>
                            <a:srgbClr val="17272E"/>
                          </a:solidFill>
                          <a:latin typeface="Calibri"/>
                        </a:rPr>
                        <a:t>Very large ontologies, as in the life sciences</a:t>
                      </a:r>
                    </a:p>
                  </a:txBody>
                  <a:tcPr marL="91440" marR="91440" marT="27432" marB="27432" anchor="ctr">
                    <a:solidFill>
                      <a:srgbClr val="FFFFFF"/>
                    </a:solidFill>
                  </a:tcPr>
                </a:tc>
              </a:tr>
              <a:tr h="566928">
                <a:tc>
                  <a:txBody>
                    <a:bodyPr wrap="square"/>
                    <a:lstStyle/>
                    <a:p>
                      <a:r>
                        <a:rPr sz="1500" b="0" i="0">
                          <a:solidFill>
                            <a:srgbClr val="155E54"/>
                          </a:solidFill>
                          <a:latin typeface="Calibri"/>
                        </a:rPr>
                        <a:t>OWL 2 RL</a:t>
                      </a:r>
                    </a:p>
                  </a:txBody>
                  <a:tcPr marL="91440" marR="91440" marT="27432" marB="27432" anchor="ctr">
                    <a:solidFill>
                      <a:srgbClr val="EAF3F0"/>
                    </a:solidFill>
                  </a:tcPr>
                </a:tc>
                <a:tc>
                  <a:txBody>
                    <a:bodyPr wrap="square"/>
                    <a:lstStyle/>
                    <a:p>
                      <a:r>
                        <a:rPr sz="1500" b="0" i="0">
                          <a:solidFill>
                            <a:srgbClr val="17272E"/>
                          </a:solidFill>
                          <a:latin typeface="Calibri"/>
                        </a:rPr>
                        <a:t>Rule-based software (owlrl, which built this deck)</a:t>
                      </a:r>
                    </a:p>
                  </a:txBody>
                  <a:tcPr marL="91440" marR="91440" marT="27432" marB="27432" anchor="ctr">
                    <a:solidFill>
                      <a:srgbClr val="EAF3F0"/>
                    </a:solidFill>
                  </a:tcPr>
                </a:tc>
              </a:tr>
            </a:tbl>
          </a:graphicData>
        </a:graphic>
      </p:graphicFrame>
      <p:sp>
        <p:nvSpPr>
          <p:cNvPr id="14" name="Oval 13"/>
          <p:cNvSpPr/>
          <p:nvPr/>
        </p:nvSpPr>
        <p:spPr>
          <a:xfrm>
            <a:off x="5669280" y="5349240"/>
            <a:ext cx="329184" cy="329184"/>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a:t>
            </a:r>
          </a:p>
        </p:txBody>
      </p:sp>
      <p:sp>
        <p:nvSpPr>
          <p:cNvPr id="15" name="Takeaway"/>
          <p:cNvSpPr txBox="1"/>
          <p:nvPr/>
        </p:nvSpPr>
        <p:spPr>
          <a:xfrm>
            <a:off x="6126480" y="5349240"/>
            <a:ext cx="5516575" cy="329184"/>
          </a:xfrm>
          <a:prstGeom prst="rect">
            <a:avLst/>
          </a:prstGeom>
          <a:noFill/>
        </p:spPr>
        <p:txBody>
          <a:bodyPr wrap="square" anchor="ctr" lIns="0" rIns="0" tIns="0" bIns="0">
            <a:noAutofit/>
          </a:bodyPr>
          <a:lstStyle/>
          <a:p>
            <a:pPr algn="l">
              <a:spcAft>
                <a:spcPts val="600"/>
              </a:spcAft>
            </a:pPr>
            <a:r>
              <a:rPr sz="1400" b="1" i="0">
                <a:solidFill>
                  <a:srgbClr val="17272E"/>
                </a:solidFill>
                <a:latin typeface="Calibri"/>
              </a:rPr>
              <a:t>Choose by what you need: proof, or efficient integration.</a:t>
            </a:r>
          </a:p>
        </p:txBody>
      </p:sp>
      <p:sp>
        <p:nvSpPr>
          <p:cNvPr id="16"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17"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New in OWL 2: chains, keys and punning, plus rules</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8 · EXPERT MODELING IN OWL</a:t>
            </a:r>
          </a:p>
        </p:txBody>
      </p:sp>
      <p:sp>
        <p:nvSpPr>
          <p:cNvPr id="4" name="Code: Turtle"/>
          <p:cNvSpPr/>
          <p:nvPr/>
        </p:nvSpPr>
        <p:spPr>
          <a:xfrm>
            <a:off x="548640" y="1645920"/>
            <a:ext cx="5852160" cy="868680"/>
          </a:xfrm>
          <a:prstGeom prst="roundRect">
            <a:avLst>
              <a:gd name="adj" fmla="val 12631"/>
            </a:avLst>
          </a:prstGeom>
          <a:solidFill>
            <a:srgbClr val="1C2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937760" y="1755648"/>
            <a:ext cx="1280160" cy="228600"/>
          </a:xfrm>
          <a:prstGeom prst="rect">
            <a:avLst/>
          </a:prstGeom>
          <a:noFill/>
        </p:spPr>
        <p:txBody>
          <a:bodyPr wrap="square" anchor="t" lIns="0" rIns="0" tIns="0" bIns="0">
            <a:noAutofit/>
          </a:bodyPr>
          <a:lstStyle/>
          <a:p>
            <a:pPr algn="r">
              <a:spcAft>
                <a:spcPts val="600"/>
              </a:spcAft>
            </a:pPr>
            <a:r>
              <a:rPr sz="1000" b="1" i="0">
                <a:solidFill>
                  <a:srgbClr val="869AA0"/>
                </a:solidFill>
                <a:latin typeface="Calibri"/>
              </a:rPr>
              <a:t>TURTLE</a:t>
            </a:r>
          </a:p>
        </p:txBody>
      </p:sp>
      <p:sp>
        <p:nvSpPr>
          <p:cNvPr id="6" name="TextBox 5"/>
          <p:cNvSpPr txBox="1"/>
          <p:nvPr/>
        </p:nvSpPr>
        <p:spPr>
          <a:xfrm>
            <a:off x="777240" y="1847088"/>
            <a:ext cx="5394960" cy="502919"/>
          </a:xfrm>
          <a:prstGeom prst="rect">
            <a:avLst/>
          </a:prstGeom>
          <a:noFill/>
        </p:spPr>
        <p:txBody>
          <a:bodyPr wrap="none" lIns="0" rIns="0" tIns="0" bIns="0">
            <a:noAutofit/>
          </a:bodyPr>
          <a:lstStyle/>
          <a:p>
            <a:pPr>
              <a:lnSpc>
                <a:spcPct val="105000"/>
              </a:lnSpc>
            </a:pPr>
            <a:r>
              <a:rPr sz="1200" b="0" i="0">
                <a:solidFill>
                  <a:srgbClr val="A8CFF0"/>
                </a:solidFill>
                <a:latin typeface="Consolas"/>
              </a:rPr>
              <a:t>:starredIn</a:t>
            </a:r>
            <a:r>
              <a:rPr sz="1200" b="0" i="0">
                <a:solidFill>
                  <a:srgbClr val="E3EBEE"/>
                </a:solidFill>
                <a:latin typeface="Consolas"/>
              </a:rPr>
              <a:t>  </a:t>
            </a:r>
            <a:r>
              <a:rPr sz="1200" b="0" i="0">
                <a:solidFill>
                  <a:srgbClr val="A8CFF0"/>
                </a:solidFill>
                <a:latin typeface="Consolas"/>
              </a:rPr>
              <a:t>owl:inverseOf</a:t>
            </a:r>
            <a:r>
              <a:rPr sz="1200" b="0" i="0">
                <a:solidFill>
                  <a:srgbClr val="E3EBEE"/>
                </a:solidFill>
                <a:latin typeface="Consolas"/>
              </a:rPr>
              <a:t> </a:t>
            </a:r>
            <a:r>
              <a:rPr sz="1200" b="0" i="0">
                <a:solidFill>
                  <a:srgbClr val="A8CFF0"/>
                </a:solidFill>
                <a:latin typeface="Consolas"/>
              </a:rPr>
              <a:t>:starring</a:t>
            </a:r>
            <a:r>
              <a:rPr sz="1200" b="0" i="0">
                <a:solidFill>
                  <a:srgbClr val="E3EBEE"/>
                </a:solidFill>
                <a:latin typeface="Consolas"/>
              </a:rPr>
              <a:t> .</a:t>
            </a:r>
          </a:p>
          <a:p>
            <a:pPr>
              <a:lnSpc>
                <a:spcPct val="105000"/>
              </a:lnSpc>
            </a:pPr>
            <a:r>
              <a:rPr sz="1200" b="0" i="0">
                <a:solidFill>
                  <a:srgbClr val="A8CFF0"/>
                </a:solidFill>
                <a:latin typeface="Consolas"/>
              </a:rPr>
              <a:t>:workedWith</a:t>
            </a:r>
            <a:r>
              <a:rPr sz="1200" b="0" i="0">
                <a:solidFill>
                  <a:srgbClr val="E3EBEE"/>
                </a:solidFill>
                <a:latin typeface="Consolas"/>
              </a:rPr>
              <a:t> </a:t>
            </a:r>
            <a:r>
              <a:rPr sz="1200" b="0" i="0">
                <a:solidFill>
                  <a:srgbClr val="A8CFF0"/>
                </a:solidFill>
                <a:latin typeface="Consolas"/>
              </a:rPr>
              <a:t>owl:propertyChainAxiom</a:t>
            </a:r>
            <a:r>
              <a:rPr sz="1200" b="0" i="0">
                <a:solidFill>
                  <a:srgbClr val="E3EBEE"/>
                </a:solidFill>
                <a:latin typeface="Consolas"/>
              </a:rPr>
              <a:t> ( </a:t>
            </a:r>
            <a:r>
              <a:rPr sz="1200" b="0" i="0">
                <a:solidFill>
                  <a:srgbClr val="A8CFF0"/>
                </a:solidFill>
                <a:latin typeface="Consolas"/>
              </a:rPr>
              <a:t>:starredIn</a:t>
            </a:r>
            <a:r>
              <a:rPr sz="1200" b="0" i="0">
                <a:solidFill>
                  <a:srgbClr val="E3EBEE"/>
                </a:solidFill>
                <a:latin typeface="Consolas"/>
              </a:rPr>
              <a:t> </a:t>
            </a:r>
            <a:r>
              <a:rPr sz="1200" b="0" i="0">
                <a:solidFill>
                  <a:srgbClr val="A8CFF0"/>
                </a:solidFill>
                <a:latin typeface="Consolas"/>
              </a:rPr>
              <a:t>:directedBy</a:t>
            </a:r>
            <a:r>
              <a:rPr sz="1200" b="0" i="0">
                <a:solidFill>
                  <a:srgbClr val="E3EBEE"/>
                </a:solidFill>
                <a:latin typeface="Consolas"/>
              </a:rPr>
              <a:t> ) .</a:t>
            </a:r>
          </a:p>
        </p:txBody>
      </p:sp>
      <p:cxnSp>
        <p:nvCxnSpPr>
          <p:cNvPr id="7" name="Edge: :starredIn"/>
          <p:cNvCxnSpPr/>
          <p:nvPr/>
        </p:nvCxnSpPr>
        <p:spPr>
          <a:xfrm flipV="1">
            <a:off x="1822268" y="3383280"/>
            <a:ext cx="1293223" cy="82296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600200" y="3557016"/>
            <a:ext cx="1097280"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200" b="1" i="0">
                <a:solidFill>
                  <a:srgbClr val="1F7A6D"/>
                </a:solidFill>
                <a:latin typeface="Consolas"/>
              </a:rPr>
              <a:t>:starredIn</a:t>
            </a:r>
          </a:p>
        </p:txBody>
      </p:sp>
      <p:cxnSp>
        <p:nvCxnSpPr>
          <p:cNvPr id="9" name="Edge: :directedBy"/>
          <p:cNvCxnSpPr/>
          <p:nvPr/>
        </p:nvCxnSpPr>
        <p:spPr>
          <a:xfrm>
            <a:off x="3833948" y="3383280"/>
            <a:ext cx="1293223" cy="822960"/>
          </a:xfrm>
          <a:prstGeom prst="line">
            <a:avLst/>
          </a:prstGeom>
          <a:ln w="2540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208526" y="3557016"/>
            <a:ext cx="1184148"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200" b="1" i="0">
                <a:solidFill>
                  <a:srgbClr val="1F7A6D"/>
                </a:solidFill>
                <a:latin typeface="Consolas"/>
              </a:rPr>
              <a:t>:directedBy</a:t>
            </a:r>
          </a:p>
        </p:txBody>
      </p:sp>
      <p:cxnSp>
        <p:nvCxnSpPr>
          <p:cNvPr id="11" name="Edge: :workedWith"/>
          <p:cNvCxnSpPr/>
          <p:nvPr/>
        </p:nvCxnSpPr>
        <p:spPr>
          <a:xfrm>
            <a:off x="2286000" y="4434840"/>
            <a:ext cx="2308860" cy="0"/>
          </a:xfrm>
          <a:prstGeom prst="line">
            <a:avLst/>
          </a:prstGeom>
          <a:ln w="25400">
            <a:solidFill>
              <a:srgbClr val="E0952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48356" y="4288536"/>
            <a:ext cx="1184148" cy="29260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1200" b="1" i="0">
                <a:solidFill>
                  <a:srgbClr val="E0952B"/>
                </a:solidFill>
                <a:latin typeface="Consolas"/>
              </a:rPr>
              <a:t>:workedWith</a:t>
            </a:r>
          </a:p>
        </p:txBody>
      </p:sp>
      <p:sp>
        <p:nvSpPr>
          <p:cNvPr id="13" name="Node: :JamesDean"/>
          <p:cNvSpPr/>
          <p:nvPr/>
        </p:nvSpPr>
        <p:spPr>
          <a:xfrm>
            <a:off x="640080" y="4206240"/>
            <a:ext cx="164592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:JamesDean</a:t>
            </a:r>
          </a:p>
        </p:txBody>
      </p:sp>
      <p:sp>
        <p:nvSpPr>
          <p:cNvPr id="14" name="Node: :Giant"/>
          <p:cNvSpPr/>
          <p:nvPr/>
        </p:nvSpPr>
        <p:spPr>
          <a:xfrm>
            <a:off x="2903220" y="2926080"/>
            <a:ext cx="114300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:Giant</a:t>
            </a:r>
          </a:p>
        </p:txBody>
      </p:sp>
      <p:sp>
        <p:nvSpPr>
          <p:cNvPr id="15" name="Node: :GeorgeStevens"/>
          <p:cNvSpPr/>
          <p:nvPr/>
        </p:nvSpPr>
        <p:spPr>
          <a:xfrm>
            <a:off x="4594860" y="4206240"/>
            <a:ext cx="1783080" cy="457200"/>
          </a:xfrm>
          <a:prstGeom prst="roundRect">
            <a:avLst>
              <a:gd name="adj" fmla="val 50000"/>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r>
              <a:rPr sz="1300" b="1" i="0">
                <a:solidFill>
                  <a:srgbClr val="FFFFFF"/>
                </a:solidFill>
                <a:latin typeface="Consolas"/>
              </a:rPr>
              <a:t>:GeorgeStevens</a:t>
            </a:r>
          </a:p>
        </p:txBody>
      </p:sp>
      <p:sp>
        <p:nvSpPr>
          <p:cNvPr id="16" name="TextBox 15"/>
          <p:cNvSpPr txBox="1"/>
          <p:nvPr/>
        </p:nvSpPr>
        <p:spPr>
          <a:xfrm>
            <a:off x="548640" y="5029200"/>
            <a:ext cx="5852160" cy="1005840"/>
          </a:xfrm>
          <a:prstGeom prst="rect">
            <a:avLst/>
          </a:prstGeom>
          <a:noFill/>
        </p:spPr>
        <p:txBody>
          <a:bodyPr wrap="square" anchor="t" lIns="0" rIns="0" tIns="0" bIns="0">
            <a:noAutofit/>
          </a:bodyPr>
          <a:lstStyle/>
          <a:p>
            <a:pPr algn="l">
              <a:spcAft>
                <a:spcPts val="600"/>
              </a:spcAft>
            </a:pPr>
            <a:r>
              <a:rPr sz="1400" b="0" i="0">
                <a:solidFill>
                  <a:srgbClr val="17272E"/>
                </a:solidFill>
                <a:latin typeface="Calibri"/>
              </a:rPr>
              <a:t>3 :workedWith triples for James Dean, </a:t>
            </a:r>
            <a:r>
              <a:rPr sz="1400" b="1" i="0">
                <a:solidFill>
                  <a:srgbClr val="17272E"/>
                </a:solidFill>
                <a:latin typeface="Calibri"/>
              </a:rPr>
              <a:t>identical to the CONSTRUCT rule in Part 4</a:t>
            </a:r>
            <a:r>
              <a:rPr sz="1400" b="0" i="0">
                <a:solidFill>
                  <a:srgbClr val="17272E"/>
                </a:solidFill>
                <a:latin typeface="Calibri"/>
              </a:rPr>
              <a:t> (checked at build time).</a:t>
            </a:r>
          </a:p>
        </p:txBody>
      </p:sp>
      <p:sp>
        <p:nvSpPr>
          <p:cNvPr id="17" name="Card: Keys (owl:hasKey)"/>
          <p:cNvSpPr/>
          <p:nvPr/>
        </p:nvSpPr>
        <p:spPr>
          <a:xfrm>
            <a:off x="6766560" y="1645920"/>
            <a:ext cx="4876495" cy="1344168"/>
          </a:xfrm>
          <a:prstGeom prst="roundRect">
            <a:avLst>
              <a:gd name="adj" fmla="val 9523"/>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95160" y="1911095"/>
            <a:ext cx="4419295" cy="41148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Keys (owl:hasKey)</a:t>
            </a:r>
          </a:p>
        </p:txBody>
      </p:sp>
      <p:sp>
        <p:nvSpPr>
          <p:cNvPr id="19" name="TextBox 18"/>
          <p:cNvSpPr txBox="1"/>
          <p:nvPr/>
        </p:nvSpPr>
        <p:spPr>
          <a:xfrm>
            <a:off x="6995160" y="2331720"/>
            <a:ext cx="4419295" cy="521208"/>
          </a:xfrm>
          <a:prstGeom prst="rect">
            <a:avLst/>
          </a:prstGeom>
          <a:noFill/>
        </p:spPr>
        <p:txBody>
          <a:bodyPr wrap="square" anchor="t" lIns="0" rIns="0" tIns="0" bIns="0">
            <a:noAutofit/>
          </a:bodyPr>
          <a:lstStyle/>
          <a:p>
            <a:pPr algn="l">
              <a:spcAft>
                <a:spcPts val="500"/>
              </a:spcAft>
            </a:pPr>
            <a:r>
              <a:rPr sz="1400" b="0" i="0">
                <a:solidFill>
                  <a:srgbClr val="17272E"/>
                </a:solidFill>
                <a:latin typeface="Calibri"/>
              </a:rPr>
              <a:t>Same name and address ⇒ same person, like a multi-column key. Still “same”, never “probably same”.</a:t>
            </a:r>
          </a:p>
        </p:txBody>
      </p:sp>
      <p:sp>
        <p:nvSpPr>
          <p:cNvPr id="20" name="Card: Punning"/>
          <p:cNvSpPr/>
          <p:nvPr/>
        </p:nvSpPr>
        <p:spPr>
          <a:xfrm>
            <a:off x="6766560" y="3127248"/>
            <a:ext cx="4876495" cy="1344168"/>
          </a:xfrm>
          <a:prstGeom prst="roundRect">
            <a:avLst>
              <a:gd name="adj" fmla="val 9523"/>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995160" y="3392424"/>
            <a:ext cx="4419295" cy="41148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Punning</a:t>
            </a:r>
          </a:p>
        </p:txBody>
      </p:sp>
      <p:sp>
        <p:nvSpPr>
          <p:cNvPr id="22" name="TextBox 21"/>
          <p:cNvSpPr txBox="1"/>
          <p:nvPr/>
        </p:nvSpPr>
        <p:spPr>
          <a:xfrm>
            <a:off x="6995160" y="3813048"/>
            <a:ext cx="4419295" cy="521207"/>
          </a:xfrm>
          <a:prstGeom prst="rect">
            <a:avLst/>
          </a:prstGeom>
          <a:noFill/>
        </p:spPr>
        <p:txBody>
          <a:bodyPr wrap="square" anchor="t" lIns="0" rIns="0" tIns="0" bIns="0">
            <a:noAutofit/>
          </a:bodyPr>
          <a:lstStyle/>
          <a:p>
            <a:pPr algn="l">
              <a:spcAft>
                <a:spcPts val="500"/>
              </a:spcAft>
            </a:pPr>
            <a:r>
              <a:rPr sz="1400" b="0" i="0">
                <a:solidFill>
                  <a:srgbClr val="17272E"/>
                </a:solidFill>
                <a:latin typeface="Calibri"/>
              </a:rPr>
              <a:t>One name as class and individual. Safer: keep them separate and relate them.</a:t>
            </a:r>
          </a:p>
        </p:txBody>
      </p:sp>
      <p:sp>
        <p:nvSpPr>
          <p:cNvPr id="23" name="Card: Rules and RIF"/>
          <p:cNvSpPr/>
          <p:nvPr/>
        </p:nvSpPr>
        <p:spPr>
          <a:xfrm>
            <a:off x="6766560" y="4608576"/>
            <a:ext cx="4876495" cy="1344168"/>
          </a:xfrm>
          <a:prstGeom prst="roundRect">
            <a:avLst>
              <a:gd name="adj" fmla="val 9523"/>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995160" y="4873752"/>
            <a:ext cx="4419295" cy="41148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Rules and RIF</a:t>
            </a:r>
          </a:p>
        </p:txBody>
      </p:sp>
      <p:sp>
        <p:nvSpPr>
          <p:cNvPr id="25" name="TextBox 24"/>
          <p:cNvSpPr txBox="1"/>
          <p:nvPr/>
        </p:nvSpPr>
        <p:spPr>
          <a:xfrm>
            <a:off x="6995160" y="5294376"/>
            <a:ext cx="4419295" cy="521207"/>
          </a:xfrm>
          <a:prstGeom prst="rect">
            <a:avLst/>
          </a:prstGeom>
          <a:noFill/>
        </p:spPr>
        <p:txBody>
          <a:bodyPr wrap="square" anchor="t" lIns="0" rIns="0" tIns="0" bIns="0">
            <a:noAutofit/>
          </a:bodyPr>
          <a:lstStyle/>
          <a:p>
            <a:pPr algn="l">
              <a:spcAft>
                <a:spcPts val="500"/>
              </a:spcAft>
            </a:pPr>
            <a:r>
              <a:rPr sz="1400" b="0" i="0">
                <a:solidFill>
                  <a:srgbClr val="17272E"/>
                </a:solidFill>
                <a:latin typeface="Calibri"/>
              </a:rPr>
              <a:t>IF/THEN rules fill OWL's gaps, but big rule bases are hard to maintain. OWL 2 RL and RIF combine both.</a:t>
            </a:r>
          </a:p>
        </p:txBody>
      </p:sp>
      <p:sp>
        <p:nvSpPr>
          <p:cNvPr id="26"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27"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7272E"/>
        </a:solidFill>
        <a:effectLst/>
      </p:bgPr>
    </p:bg>
    <p:spTree>
      <p:nvGrpSpPr>
        <p:cNvPr id="1" name=""/>
        <p:cNvGrpSpPr/>
        <p:nvPr/>
      </p:nvGrpSpPr>
      <p:grpSpPr/>
      <p:sp>
        <p:nvSpPr>
          <p:cNvPr id="2" name="Title 1"/>
          <p:cNvSpPr>
            <a:spLocks noGrp="1"/>
          </p:cNvSpPr>
          <p:nvPr>
            <p:ph type="title"/>
          </p:nvPr>
        </p:nvSpPr>
        <p:spPr>
          <a:xfrm>
            <a:off x="548640" y="3154680"/>
            <a:ext cx="6949440" cy="1371600"/>
          </a:xfrm>
        </p:spPr>
        <p:txBody>
          <a:bodyPr wrap="square" anchor="t" lIns="0" rIns="0" tIns="0" bIns="0">
            <a:noAutofit/>
          </a:bodyPr>
          <a:lstStyle/>
          <a:p>
            <a:pPr algn="l"/>
            <a:r>
              <a:rPr sz="4000" b="1" i="0">
                <a:solidFill>
                  <a:srgbClr val="FFFFFF"/>
                </a:solidFill>
                <a:latin typeface="Cambria"/>
              </a:rPr>
              <a:t>Conclusions</a:t>
            </a:r>
          </a:p>
        </p:txBody>
      </p:sp>
      <p:sp>
        <p:nvSpPr>
          <p:cNvPr id="3" name="Part number"/>
          <p:cNvSpPr txBox="1"/>
          <p:nvPr/>
        </p:nvSpPr>
        <p:spPr>
          <a:xfrm>
            <a:off x="548640" y="1325880"/>
            <a:ext cx="2743200" cy="1280160"/>
          </a:xfrm>
          <a:prstGeom prst="rect">
            <a:avLst/>
          </a:prstGeom>
          <a:noFill/>
        </p:spPr>
        <p:txBody>
          <a:bodyPr wrap="square" anchor="t" lIns="0" rIns="0" tIns="0" bIns="0">
            <a:noAutofit/>
          </a:bodyPr>
          <a:lstStyle/>
          <a:p>
            <a:pPr algn="l">
              <a:spcAft>
                <a:spcPts val="600"/>
              </a:spcAft>
            </a:pPr>
            <a:r>
              <a:rPr sz="9600" b="1" i="0">
                <a:solidFill>
                  <a:srgbClr val="E0952B"/>
                </a:solidFill>
                <a:latin typeface="Cambria"/>
              </a:rPr>
              <a:t>09</a:t>
            </a:r>
          </a:p>
        </p:txBody>
      </p:sp>
      <p:sp>
        <p:nvSpPr>
          <p:cNvPr id="4" name="TextBox 3"/>
          <p:cNvSpPr txBox="1"/>
          <p:nvPr/>
        </p:nvSpPr>
        <p:spPr>
          <a:xfrm>
            <a:off x="548640" y="2788920"/>
            <a:ext cx="6766560" cy="320040"/>
          </a:xfrm>
          <a:prstGeom prst="rect">
            <a:avLst/>
          </a:prstGeom>
          <a:noFill/>
        </p:spPr>
        <p:txBody>
          <a:bodyPr wrap="square" anchor="t" lIns="0" rIns="0" tIns="0" bIns="0">
            <a:noAutofit/>
          </a:bodyPr>
          <a:lstStyle/>
          <a:p>
            <a:pPr algn="l">
              <a:spcAft>
                <a:spcPts val="600"/>
              </a:spcAft>
            </a:pPr>
            <a:r>
              <a:rPr sz="1300" b="1" i="0">
                <a:solidFill>
                  <a:srgbClr val="7FD1C1"/>
                </a:solidFill>
                <a:latin typeface="Calibri"/>
              </a:rPr>
              <a:t>PART 9</a:t>
            </a:r>
          </a:p>
        </p:txBody>
      </p:sp>
      <p:sp>
        <p:nvSpPr>
          <p:cNvPr id="5" name="TextBox 4"/>
          <p:cNvSpPr txBox="1"/>
          <p:nvPr/>
        </p:nvSpPr>
        <p:spPr>
          <a:xfrm>
            <a:off x="548640" y="4572000"/>
            <a:ext cx="6583680" cy="731520"/>
          </a:xfrm>
          <a:prstGeom prst="rect">
            <a:avLst/>
          </a:prstGeom>
          <a:noFill/>
        </p:spPr>
        <p:txBody>
          <a:bodyPr wrap="square" anchor="t" lIns="0" rIns="0" tIns="0" bIns="0">
            <a:noAutofit/>
          </a:bodyPr>
          <a:lstStyle/>
          <a:p>
            <a:pPr algn="l">
              <a:spcAft>
                <a:spcPts val="600"/>
              </a:spcAft>
            </a:pPr>
            <a:r>
              <a:rPr sz="1800" b="0" i="0">
                <a:solidFill>
                  <a:srgbClr val="E3EBEE"/>
                </a:solidFill>
                <a:latin typeface="Calibri"/>
              </a:rPr>
              <a:t>What is actually new, and what to take away.</a:t>
            </a:r>
          </a:p>
        </p:txBody>
      </p:sp>
      <p:sp>
        <p:nvSpPr>
          <p:cNvPr id="6" name="Oval 5"/>
          <p:cNvSpPr/>
          <p:nvPr/>
        </p:nvSpPr>
        <p:spPr>
          <a:xfrm>
            <a:off x="58521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1</a:t>
            </a:r>
          </a:p>
        </p:txBody>
      </p:sp>
      <p:sp>
        <p:nvSpPr>
          <p:cNvPr id="7" name="Oval 6"/>
          <p:cNvSpPr/>
          <p:nvPr/>
        </p:nvSpPr>
        <p:spPr>
          <a:xfrm>
            <a:off x="108813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2</a:t>
            </a:r>
          </a:p>
        </p:txBody>
      </p:sp>
      <p:sp>
        <p:nvSpPr>
          <p:cNvPr id="8" name="Oval 7"/>
          <p:cNvSpPr/>
          <p:nvPr/>
        </p:nvSpPr>
        <p:spPr>
          <a:xfrm>
            <a:off x="159105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3</a:t>
            </a:r>
          </a:p>
        </p:txBody>
      </p:sp>
      <p:sp>
        <p:nvSpPr>
          <p:cNvPr id="9" name="Oval 8"/>
          <p:cNvSpPr/>
          <p:nvPr/>
        </p:nvSpPr>
        <p:spPr>
          <a:xfrm>
            <a:off x="209397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4</a:t>
            </a:r>
          </a:p>
        </p:txBody>
      </p:sp>
      <p:sp>
        <p:nvSpPr>
          <p:cNvPr id="10" name="Oval 9"/>
          <p:cNvSpPr/>
          <p:nvPr/>
        </p:nvSpPr>
        <p:spPr>
          <a:xfrm>
            <a:off x="259689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5</a:t>
            </a:r>
          </a:p>
        </p:txBody>
      </p:sp>
      <p:sp>
        <p:nvSpPr>
          <p:cNvPr id="11" name="Oval 10"/>
          <p:cNvSpPr/>
          <p:nvPr/>
        </p:nvSpPr>
        <p:spPr>
          <a:xfrm>
            <a:off x="3099815"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6</a:t>
            </a:r>
          </a:p>
        </p:txBody>
      </p:sp>
      <p:sp>
        <p:nvSpPr>
          <p:cNvPr id="12" name="Oval 11"/>
          <p:cNvSpPr/>
          <p:nvPr/>
        </p:nvSpPr>
        <p:spPr>
          <a:xfrm>
            <a:off x="360273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7</a:t>
            </a:r>
          </a:p>
        </p:txBody>
      </p:sp>
      <p:sp>
        <p:nvSpPr>
          <p:cNvPr id="13" name="Oval 12"/>
          <p:cNvSpPr/>
          <p:nvPr/>
        </p:nvSpPr>
        <p:spPr>
          <a:xfrm>
            <a:off x="4105656" y="5660136"/>
            <a:ext cx="292608" cy="292608"/>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100" b="1" i="0">
                <a:solidFill>
                  <a:srgbClr val="FFFFFF"/>
                </a:solidFill>
                <a:latin typeface="Calibri"/>
              </a:rPr>
              <a:t>8</a:t>
            </a:r>
          </a:p>
        </p:txBody>
      </p:sp>
      <p:sp>
        <p:nvSpPr>
          <p:cNvPr id="14" name="Oval 13"/>
          <p:cNvSpPr/>
          <p:nvPr/>
        </p:nvSpPr>
        <p:spPr>
          <a:xfrm>
            <a:off x="4572000" y="5623559"/>
            <a:ext cx="365760" cy="365760"/>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200" b="1" i="0">
                <a:solidFill>
                  <a:srgbClr val="17272E"/>
                </a:solidFill>
                <a:latin typeface="Calibri"/>
              </a:rPr>
              <a:t>9</a:t>
            </a:r>
          </a:p>
        </p:txBody>
      </p:sp>
      <p:cxnSp>
        <p:nvCxnSpPr>
          <p:cNvPr id="15" name="Motif edge"/>
          <p:cNvCxnSpPr/>
          <p:nvPr/>
        </p:nvCxnSpPr>
        <p:spPr>
          <a:xfrm flipV="1">
            <a:off x="8257032" y="1568195"/>
            <a:ext cx="1536192" cy="576073"/>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6" name="Motif edge"/>
          <p:cNvCxnSpPr/>
          <p:nvPr/>
        </p:nvCxnSpPr>
        <p:spPr>
          <a:xfrm>
            <a:off x="9793224" y="1568195"/>
            <a:ext cx="1344168" cy="960121"/>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7" name="Motif edge"/>
          <p:cNvCxnSpPr/>
          <p:nvPr/>
        </p:nvCxnSpPr>
        <p:spPr>
          <a:xfrm>
            <a:off x="8257032" y="2144268"/>
            <a:ext cx="960120" cy="1344168"/>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8" name="Motif edge"/>
          <p:cNvCxnSpPr/>
          <p:nvPr/>
        </p:nvCxnSpPr>
        <p:spPr>
          <a:xfrm flipH="1">
            <a:off x="9217152" y="1568195"/>
            <a:ext cx="576072" cy="1920241"/>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9" name="Motif edge"/>
          <p:cNvCxnSpPr/>
          <p:nvPr/>
        </p:nvCxnSpPr>
        <p:spPr>
          <a:xfrm flipH="1">
            <a:off x="10657332" y="2528316"/>
            <a:ext cx="480060" cy="1728216"/>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0" name="Motif edge"/>
          <p:cNvCxnSpPr/>
          <p:nvPr/>
        </p:nvCxnSpPr>
        <p:spPr>
          <a:xfrm>
            <a:off x="9217152" y="3488436"/>
            <a:ext cx="1440180" cy="768096"/>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1" name="Motif edge"/>
          <p:cNvCxnSpPr/>
          <p:nvPr/>
        </p:nvCxnSpPr>
        <p:spPr>
          <a:xfrm flipH="1">
            <a:off x="8161020" y="3488436"/>
            <a:ext cx="1056132" cy="1248156"/>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2" name="Motif edge"/>
          <p:cNvCxnSpPr/>
          <p:nvPr/>
        </p:nvCxnSpPr>
        <p:spPr>
          <a:xfrm flipH="1">
            <a:off x="9889236" y="4256532"/>
            <a:ext cx="768096" cy="1056132"/>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23" name="Motif edge"/>
          <p:cNvCxnSpPr/>
          <p:nvPr/>
        </p:nvCxnSpPr>
        <p:spPr>
          <a:xfrm>
            <a:off x="8161020" y="4736592"/>
            <a:ext cx="1728216" cy="576072"/>
          </a:xfrm>
          <a:prstGeom prst="line">
            <a:avLst/>
          </a:prstGeom>
          <a:ln w="28575">
            <a:solidFill>
              <a:srgbClr val="E0952B"/>
            </a:solidFill>
            <a:prstDash val="dash"/>
          </a:ln>
        </p:spPr>
        <p:style>
          <a:lnRef idx="2">
            <a:schemeClr val="accent1"/>
          </a:lnRef>
          <a:fillRef idx="0">
            <a:schemeClr val="accent1"/>
          </a:fillRef>
          <a:effectRef idx="1">
            <a:schemeClr val="accent1"/>
          </a:effectRef>
          <a:fontRef idx="minor">
            <a:schemeClr val="tx1"/>
          </a:fontRef>
        </p:style>
      </p:cxnSp>
      <p:sp>
        <p:nvSpPr>
          <p:cNvPr id="24" name="Motif node"/>
          <p:cNvSpPr/>
          <p:nvPr/>
        </p:nvSpPr>
        <p:spPr>
          <a:xfrm>
            <a:off x="8113014" y="2000249"/>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Motif node"/>
          <p:cNvSpPr/>
          <p:nvPr/>
        </p:nvSpPr>
        <p:spPr>
          <a:xfrm>
            <a:off x="9591598" y="1366570"/>
            <a:ext cx="403250" cy="403250"/>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otif node"/>
          <p:cNvSpPr/>
          <p:nvPr/>
        </p:nvSpPr>
        <p:spPr>
          <a:xfrm>
            <a:off x="10993374" y="2384298"/>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Motif node"/>
          <p:cNvSpPr/>
          <p:nvPr/>
        </p:nvSpPr>
        <p:spPr>
          <a:xfrm>
            <a:off x="9015526" y="3286810"/>
            <a:ext cx="403250" cy="403250"/>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Motif node"/>
          <p:cNvSpPr/>
          <p:nvPr/>
        </p:nvSpPr>
        <p:spPr>
          <a:xfrm>
            <a:off x="10455706" y="4054906"/>
            <a:ext cx="403250" cy="403250"/>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otif node"/>
          <p:cNvSpPr/>
          <p:nvPr/>
        </p:nvSpPr>
        <p:spPr>
          <a:xfrm>
            <a:off x="8017002" y="4592574"/>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Motif node"/>
          <p:cNvSpPr/>
          <p:nvPr/>
        </p:nvSpPr>
        <p:spPr>
          <a:xfrm>
            <a:off x="9745218" y="5168646"/>
            <a:ext cx="288036" cy="288036"/>
          </a:xfrm>
          <a:prstGeom prst="ellipse">
            <a:avLst/>
          </a:prstGeom>
          <a:solidFill>
            <a:srgbClr val="7FD1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7FD1C1"/>
                </a:solidFill>
                <a:latin typeface="Calibri"/>
              </a:rPr>
              <a:t>What is an ontology? · from RDF to OWL</a:t>
            </a:r>
          </a:p>
        </p:txBody>
      </p:sp>
      <p:sp>
        <p:nvSpPr>
          <p:cNvPr id="32"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7FD1C1"/>
                </a:solidFill>
                <a:latin typeface="Calibri"/>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What's new isn't the logic, it's the Web</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PART 9 · CONCLUSIONS</a:t>
            </a:r>
          </a:p>
        </p:txBody>
      </p:sp>
      <p:sp>
        <p:nvSpPr>
          <p:cNvPr id="4" name="TextBox 3"/>
          <p:cNvSpPr txBox="1"/>
          <p:nvPr/>
        </p:nvSpPr>
        <p:spPr>
          <a:xfrm>
            <a:off x="548640" y="1554480"/>
            <a:ext cx="11094415" cy="457200"/>
          </a:xfrm>
          <a:prstGeom prst="rect">
            <a:avLst/>
          </a:prstGeom>
          <a:noFill/>
        </p:spPr>
        <p:txBody>
          <a:bodyPr wrap="square" anchor="t" lIns="0" rIns="0" tIns="0" bIns="0">
            <a:noAutofit/>
          </a:bodyPr>
          <a:lstStyle/>
          <a:p>
            <a:pPr algn="l">
              <a:spcAft>
                <a:spcPts val="600"/>
              </a:spcAft>
            </a:pPr>
            <a:r>
              <a:rPr sz="1600" b="0" i="1">
                <a:solidFill>
                  <a:srgbClr val="5B6B70"/>
                </a:solidFill>
                <a:latin typeface="Calibri"/>
              </a:rPr>
              <a:t>“Same old, same old”? Classes, subclasses and properties are decades old. The Semantic Web is part of the Web's infrastructure, not an app running on it.</a:t>
            </a:r>
          </a:p>
        </p:txBody>
      </p:sp>
      <p:sp>
        <p:nvSpPr>
          <p:cNvPr id="5" name="Card: Global references"/>
          <p:cNvSpPr/>
          <p:nvPr/>
        </p:nvSpPr>
        <p:spPr>
          <a:xfrm>
            <a:off x="548640" y="2331720"/>
            <a:ext cx="3515258" cy="2240280"/>
          </a:xfrm>
          <a:prstGeom prst="roundRect">
            <a:avLst>
              <a:gd name="adj" fmla="val 5714"/>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77240" y="2560320"/>
            <a:ext cx="402336" cy="402336"/>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1</a:t>
            </a:r>
          </a:p>
        </p:txBody>
      </p:sp>
      <p:sp>
        <p:nvSpPr>
          <p:cNvPr id="7" name="TextBox 6"/>
          <p:cNvSpPr txBox="1"/>
          <p:nvPr/>
        </p:nvSpPr>
        <p:spPr>
          <a:xfrm>
            <a:off x="1325880" y="2596896"/>
            <a:ext cx="2509418" cy="411480"/>
          </a:xfrm>
          <a:prstGeom prst="rect">
            <a:avLst/>
          </a:prstGeom>
          <a:noFill/>
        </p:spPr>
        <p:txBody>
          <a:bodyPr wrap="square" anchor="ctr" lIns="0" rIns="0" tIns="0" bIns="0">
            <a:noAutofit/>
          </a:bodyPr>
          <a:lstStyle/>
          <a:p>
            <a:pPr algn="l">
              <a:spcAft>
                <a:spcPts val="600"/>
              </a:spcAft>
            </a:pPr>
            <a:r>
              <a:rPr sz="1800" b="1" i="0">
                <a:solidFill>
                  <a:srgbClr val="17272E"/>
                </a:solidFill>
                <a:latin typeface="Calibri"/>
              </a:rPr>
              <a:t>Global references</a:t>
            </a:r>
          </a:p>
        </p:txBody>
      </p:sp>
      <p:sp>
        <p:nvSpPr>
          <p:cNvPr id="8" name="TextBox 7"/>
          <p:cNvSpPr txBox="1"/>
          <p:nvPr/>
        </p:nvSpPr>
        <p:spPr>
          <a:xfrm>
            <a:off x="777240" y="3127248"/>
            <a:ext cx="3058058" cy="1307592"/>
          </a:xfrm>
          <a:prstGeom prst="rect">
            <a:avLst/>
          </a:prstGeom>
          <a:noFill/>
        </p:spPr>
        <p:txBody>
          <a:bodyPr wrap="square" anchor="t" lIns="0" rIns="0" tIns="0" bIns="0">
            <a:noAutofit/>
          </a:bodyPr>
          <a:lstStyle/>
          <a:p>
            <a:pPr algn="l">
              <a:spcAft>
                <a:spcPts val="500"/>
              </a:spcAft>
            </a:pPr>
            <a:r>
              <a:rPr sz="1600" b="0" i="0">
                <a:solidFill>
                  <a:srgbClr val="17272E"/>
                </a:solidFill>
                <a:latin typeface="Calibri"/>
              </a:rPr>
              <a:t>URIs let separately built models merge by mentioning each other's resources in one statement.</a:t>
            </a:r>
          </a:p>
        </p:txBody>
      </p:sp>
      <p:sp>
        <p:nvSpPr>
          <p:cNvPr id="9" name="Card: Openness"/>
          <p:cNvSpPr/>
          <p:nvPr/>
        </p:nvSpPr>
        <p:spPr>
          <a:xfrm>
            <a:off x="4338218" y="2331720"/>
            <a:ext cx="3515258" cy="2240280"/>
          </a:xfrm>
          <a:prstGeom prst="roundRect">
            <a:avLst>
              <a:gd name="adj" fmla="val 5714"/>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566818" y="2560320"/>
            <a:ext cx="402336" cy="402336"/>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2</a:t>
            </a:r>
          </a:p>
        </p:txBody>
      </p:sp>
      <p:sp>
        <p:nvSpPr>
          <p:cNvPr id="11" name="TextBox 10"/>
          <p:cNvSpPr txBox="1"/>
          <p:nvPr/>
        </p:nvSpPr>
        <p:spPr>
          <a:xfrm>
            <a:off x="5115458" y="2596896"/>
            <a:ext cx="2509418" cy="411480"/>
          </a:xfrm>
          <a:prstGeom prst="rect">
            <a:avLst/>
          </a:prstGeom>
          <a:noFill/>
        </p:spPr>
        <p:txBody>
          <a:bodyPr wrap="square" anchor="ctr" lIns="0" rIns="0" tIns="0" bIns="0">
            <a:noAutofit/>
          </a:bodyPr>
          <a:lstStyle/>
          <a:p>
            <a:pPr algn="l">
              <a:spcAft>
                <a:spcPts val="600"/>
              </a:spcAft>
            </a:pPr>
            <a:r>
              <a:rPr sz="1800" b="1" i="0">
                <a:solidFill>
                  <a:srgbClr val="17272E"/>
                </a:solidFill>
                <a:latin typeface="Calibri"/>
              </a:rPr>
              <a:t>Openness</a:t>
            </a:r>
          </a:p>
        </p:txBody>
      </p:sp>
      <p:sp>
        <p:nvSpPr>
          <p:cNvPr id="12" name="TextBox 11"/>
          <p:cNvSpPr txBox="1"/>
          <p:nvPr/>
        </p:nvSpPr>
        <p:spPr>
          <a:xfrm>
            <a:off x="4566818" y="3127248"/>
            <a:ext cx="3058058" cy="1307592"/>
          </a:xfrm>
          <a:prstGeom prst="rect">
            <a:avLst/>
          </a:prstGeom>
          <a:noFill/>
        </p:spPr>
        <p:txBody>
          <a:bodyPr wrap="square" anchor="t" lIns="0" rIns="0" tIns="0" bIns="0">
            <a:noAutofit/>
          </a:bodyPr>
          <a:lstStyle/>
          <a:p>
            <a:pPr algn="l">
              <a:spcAft>
                <a:spcPts val="500"/>
              </a:spcAft>
            </a:pPr>
            <a:r>
              <a:rPr sz="1600" b="0" i="0">
                <a:solidFill>
                  <a:srgbClr val="17272E"/>
                </a:solidFill>
                <a:latin typeface="Calibri"/>
              </a:rPr>
              <a:t>The Web tolerates broken or wrong content, so inference stays conservative under the open world assumption.</a:t>
            </a:r>
          </a:p>
        </p:txBody>
      </p:sp>
      <p:sp>
        <p:nvSpPr>
          <p:cNvPr id="13" name="Card: Scale"/>
          <p:cNvSpPr/>
          <p:nvPr/>
        </p:nvSpPr>
        <p:spPr>
          <a:xfrm>
            <a:off x="8127796" y="2331720"/>
            <a:ext cx="3515258" cy="2240280"/>
          </a:xfrm>
          <a:prstGeom prst="roundRect">
            <a:avLst>
              <a:gd name="adj" fmla="val 5714"/>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356396" y="2560320"/>
            <a:ext cx="402336" cy="402336"/>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3</a:t>
            </a:r>
          </a:p>
        </p:txBody>
      </p:sp>
      <p:sp>
        <p:nvSpPr>
          <p:cNvPr id="15" name="TextBox 14"/>
          <p:cNvSpPr txBox="1"/>
          <p:nvPr/>
        </p:nvSpPr>
        <p:spPr>
          <a:xfrm>
            <a:off x="8905036" y="2596896"/>
            <a:ext cx="2509418" cy="411480"/>
          </a:xfrm>
          <a:prstGeom prst="rect">
            <a:avLst/>
          </a:prstGeom>
          <a:noFill/>
        </p:spPr>
        <p:txBody>
          <a:bodyPr wrap="square" anchor="ctr" lIns="0" rIns="0" tIns="0" bIns="0">
            <a:noAutofit/>
          </a:bodyPr>
          <a:lstStyle/>
          <a:p>
            <a:pPr algn="l">
              <a:spcAft>
                <a:spcPts val="600"/>
              </a:spcAft>
            </a:pPr>
            <a:r>
              <a:rPr sz="1800" b="1" i="0">
                <a:solidFill>
                  <a:srgbClr val="17272E"/>
                </a:solidFill>
                <a:latin typeface="Calibri"/>
              </a:rPr>
              <a:t>Scale</a:t>
            </a:r>
          </a:p>
        </p:txBody>
      </p:sp>
      <p:sp>
        <p:nvSpPr>
          <p:cNvPr id="16" name="TextBox 15"/>
          <p:cNvSpPr txBox="1"/>
          <p:nvPr/>
        </p:nvSpPr>
        <p:spPr>
          <a:xfrm>
            <a:off x="8356396" y="3127248"/>
            <a:ext cx="3058058" cy="1307592"/>
          </a:xfrm>
          <a:prstGeom prst="rect">
            <a:avLst/>
          </a:prstGeom>
          <a:noFill/>
        </p:spPr>
        <p:txBody>
          <a:bodyPr wrap="square" anchor="t" lIns="0" rIns="0" tIns="0" bIns="0">
            <a:noAutofit/>
          </a:bodyPr>
          <a:lstStyle/>
          <a:p>
            <a:pPr algn="l">
              <a:spcAft>
                <a:spcPts val="500"/>
              </a:spcAft>
            </a:pPr>
            <a:r>
              <a:rPr sz="1600" b="0" i="0">
                <a:solidFill>
                  <a:srgbClr val="17272E"/>
                </a:solidFill>
                <a:latin typeface="Calibri"/>
              </a:rPr>
              <a:t>No store holds the whole Web, and none needs to: an app merges any page, not every page.</a:t>
            </a:r>
          </a:p>
        </p:txBody>
      </p:sp>
      <p:sp>
        <p:nvSpPr>
          <p:cNvPr id="17" name="Oval 16"/>
          <p:cNvSpPr/>
          <p:nvPr/>
        </p:nvSpPr>
        <p:spPr>
          <a:xfrm>
            <a:off x="548640" y="4983480"/>
            <a:ext cx="329184" cy="329184"/>
          </a:xfrm>
          <a:prstGeom prst="ellipse">
            <a:avLst/>
          </a:prstGeom>
          <a:solidFill>
            <a:srgbClr val="E095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400" b="1" i="0">
                <a:solidFill>
                  <a:srgbClr val="FFFFFF"/>
                </a:solidFill>
                <a:latin typeface="Calibri"/>
              </a:rPr>
              <a:t>→</a:t>
            </a:r>
          </a:p>
        </p:txBody>
      </p:sp>
      <p:sp>
        <p:nvSpPr>
          <p:cNvPr id="18" name="Takeaway"/>
          <p:cNvSpPr txBox="1"/>
          <p:nvPr/>
        </p:nvSpPr>
        <p:spPr>
          <a:xfrm>
            <a:off x="1005840" y="4983480"/>
            <a:ext cx="10637215" cy="329184"/>
          </a:xfrm>
          <a:prstGeom prst="rect">
            <a:avLst/>
          </a:prstGeom>
          <a:noFill/>
        </p:spPr>
        <p:txBody>
          <a:bodyPr wrap="square" anchor="ctr" lIns="0" rIns="0" tIns="0" bIns="0">
            <a:noAutofit/>
          </a:bodyPr>
          <a:lstStyle/>
          <a:p>
            <a:pPr algn="l">
              <a:spcAft>
                <a:spcPts val="600"/>
              </a:spcAft>
            </a:pPr>
            <a:r>
              <a:rPr sz="1500" b="1" i="0">
                <a:solidFill>
                  <a:srgbClr val="17272E"/>
                </a:solidFill>
                <a:latin typeface="Calibri"/>
              </a:rPr>
              <a:t>The craft: combine RDF, RDFS and OWL into a system that data can flow through.</a:t>
            </a:r>
          </a:p>
        </p:txBody>
      </p:sp>
      <p:sp>
        <p:nvSpPr>
          <p:cNvPr id="19"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20"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What I'd do with this as a practitioner</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CLOSING NOTES</a:t>
            </a:r>
          </a:p>
        </p:txBody>
      </p:sp>
      <p:cxnSp>
        <p:nvCxnSpPr>
          <p:cNvPr id="4" name="Connector 3"/>
          <p:cNvCxnSpPr/>
          <p:nvPr/>
        </p:nvCxnSpPr>
        <p:spPr>
          <a:xfrm>
            <a:off x="822959" y="1965960"/>
            <a:ext cx="8526552" cy="0"/>
          </a:xfrm>
          <a:prstGeom prst="line">
            <a:avLst/>
          </a:prstGeom>
          <a:ln w="25400">
            <a:solidFill>
              <a:srgbClr val="C9D8D4"/>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548639" y="1691639"/>
            <a:ext cx="548640" cy="548640"/>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800" b="1" i="0">
                <a:solidFill>
                  <a:srgbClr val="FFFFFF"/>
                </a:solidFill>
                <a:latin typeface="Calibri"/>
              </a:rPr>
              <a:t>1</a:t>
            </a:r>
          </a:p>
        </p:txBody>
      </p:sp>
      <p:sp>
        <p:nvSpPr>
          <p:cNvPr id="6" name="TextBox 5"/>
          <p:cNvSpPr txBox="1"/>
          <p:nvPr/>
        </p:nvSpPr>
        <p:spPr>
          <a:xfrm>
            <a:off x="548640" y="2468880"/>
            <a:ext cx="2567863" cy="731520"/>
          </a:xfrm>
          <a:prstGeom prst="rect">
            <a:avLst/>
          </a:prstGeom>
          <a:noFill/>
        </p:spPr>
        <p:txBody>
          <a:bodyPr wrap="square" anchor="t" lIns="0" rIns="0" tIns="0" bIns="0">
            <a:noAutofit/>
          </a:bodyPr>
          <a:lstStyle/>
          <a:p>
            <a:pPr algn="l">
              <a:spcAft>
                <a:spcPts val="600"/>
              </a:spcAft>
            </a:pPr>
            <a:r>
              <a:rPr sz="1700" b="1" i="0">
                <a:solidFill>
                  <a:srgbClr val="17272E"/>
                </a:solidFill>
                <a:latin typeface="Calibri"/>
              </a:rPr>
              <a:t>Model with RDF, query with SPARQL</a:t>
            </a:r>
          </a:p>
        </p:txBody>
      </p:sp>
      <p:sp>
        <p:nvSpPr>
          <p:cNvPr id="7" name="TextBox 6"/>
          <p:cNvSpPr txBox="1"/>
          <p:nvPr/>
        </p:nvSpPr>
        <p:spPr>
          <a:xfrm>
            <a:off x="548640" y="3200400"/>
            <a:ext cx="2567863" cy="1371600"/>
          </a:xfrm>
          <a:prstGeom prst="rect">
            <a:avLst/>
          </a:prstGeom>
          <a:noFill/>
        </p:spPr>
        <p:txBody>
          <a:bodyPr wrap="square" anchor="t" lIns="0" rIns="0" tIns="0" bIns="0">
            <a:noAutofit/>
          </a:bodyPr>
          <a:lstStyle/>
          <a:p>
            <a:pPr algn="l">
              <a:spcAft>
                <a:spcPts val="600"/>
              </a:spcAft>
            </a:pPr>
            <a:r>
              <a:rPr sz="1500" b="0" i="0">
                <a:solidFill>
                  <a:srgbClr val="5B6B70"/>
                </a:solidFill>
                <a:latin typeface="Calibri"/>
              </a:rPr>
              <a:t>URIs, triples and graph patterns can represent and query a curated domain.</a:t>
            </a:r>
          </a:p>
        </p:txBody>
      </p:sp>
      <p:sp>
        <p:nvSpPr>
          <p:cNvPr id="8" name="Oval 7"/>
          <p:cNvSpPr/>
          <p:nvPr/>
        </p:nvSpPr>
        <p:spPr>
          <a:xfrm>
            <a:off x="3390823" y="1691639"/>
            <a:ext cx="548640" cy="548640"/>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800" b="1" i="0">
                <a:solidFill>
                  <a:srgbClr val="FFFFFF"/>
                </a:solidFill>
                <a:latin typeface="Calibri"/>
              </a:rPr>
              <a:t>2</a:t>
            </a:r>
          </a:p>
        </p:txBody>
      </p:sp>
      <p:sp>
        <p:nvSpPr>
          <p:cNvPr id="9" name="TextBox 8"/>
          <p:cNvSpPr txBox="1"/>
          <p:nvPr/>
        </p:nvSpPr>
        <p:spPr>
          <a:xfrm>
            <a:off x="3390823" y="2468880"/>
            <a:ext cx="2567863" cy="731520"/>
          </a:xfrm>
          <a:prstGeom prst="rect">
            <a:avLst/>
          </a:prstGeom>
          <a:noFill/>
        </p:spPr>
        <p:txBody>
          <a:bodyPr wrap="square" anchor="t" lIns="0" rIns="0" tIns="0" bIns="0">
            <a:noAutofit/>
          </a:bodyPr>
          <a:lstStyle/>
          <a:p>
            <a:pPr algn="l">
              <a:spcAft>
                <a:spcPts val="600"/>
              </a:spcAft>
            </a:pPr>
            <a:r>
              <a:rPr sz="1700" b="1" i="0">
                <a:solidFill>
                  <a:srgbClr val="17272E"/>
                </a:solidFill>
                <a:latin typeface="Calibri"/>
              </a:rPr>
              <a:t>Add inference where needed</a:t>
            </a:r>
          </a:p>
        </p:txBody>
      </p:sp>
      <p:sp>
        <p:nvSpPr>
          <p:cNvPr id="10" name="TextBox 9"/>
          <p:cNvSpPr txBox="1"/>
          <p:nvPr/>
        </p:nvSpPr>
        <p:spPr>
          <a:xfrm>
            <a:off x="3390823" y="3200400"/>
            <a:ext cx="2567863" cy="1371600"/>
          </a:xfrm>
          <a:prstGeom prst="rect">
            <a:avLst/>
          </a:prstGeom>
          <a:noFill/>
        </p:spPr>
        <p:txBody>
          <a:bodyPr wrap="square" anchor="t" lIns="0" rIns="0" tIns="0" bIns="0">
            <a:noAutofit/>
          </a:bodyPr>
          <a:lstStyle/>
          <a:p>
            <a:pPr algn="l">
              <a:spcAft>
                <a:spcPts val="600"/>
              </a:spcAft>
            </a:pPr>
            <a:r>
              <a:rPr sz="1500" b="0" i="0">
                <a:solidFill>
                  <a:srgbClr val="5B6B70"/>
                </a:solidFill>
                <a:latin typeface="Calibri"/>
              </a:rPr>
              <a:t>subClassOf, subPropertyOf and sameAs do most of the integration work.</a:t>
            </a:r>
          </a:p>
        </p:txBody>
      </p:sp>
      <p:sp>
        <p:nvSpPr>
          <p:cNvPr id="11" name="Oval 10"/>
          <p:cNvSpPr/>
          <p:nvPr/>
        </p:nvSpPr>
        <p:spPr>
          <a:xfrm>
            <a:off x="6233007" y="1691639"/>
            <a:ext cx="548640" cy="548640"/>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800" b="1" i="0">
                <a:solidFill>
                  <a:srgbClr val="FFFFFF"/>
                </a:solidFill>
                <a:latin typeface="Calibri"/>
              </a:rPr>
              <a:t>3</a:t>
            </a:r>
          </a:p>
        </p:txBody>
      </p:sp>
      <p:sp>
        <p:nvSpPr>
          <p:cNvPr id="12" name="TextBox 11"/>
          <p:cNvSpPr txBox="1"/>
          <p:nvPr/>
        </p:nvSpPr>
        <p:spPr>
          <a:xfrm>
            <a:off x="6233007" y="2468880"/>
            <a:ext cx="2567863" cy="731520"/>
          </a:xfrm>
          <a:prstGeom prst="rect">
            <a:avLst/>
          </a:prstGeom>
          <a:noFill/>
        </p:spPr>
        <p:txBody>
          <a:bodyPr wrap="square" anchor="t" lIns="0" rIns="0" tIns="0" bIns="0">
            <a:noAutofit/>
          </a:bodyPr>
          <a:lstStyle/>
          <a:p>
            <a:pPr algn="l">
              <a:spcAft>
                <a:spcPts val="600"/>
              </a:spcAft>
            </a:pPr>
            <a:r>
              <a:rPr sz="1700" b="1" i="0">
                <a:solidFill>
                  <a:srgbClr val="17272E"/>
                </a:solidFill>
                <a:latin typeface="Calibri"/>
              </a:rPr>
              <a:t>Test with competency questions</a:t>
            </a:r>
          </a:p>
        </p:txBody>
      </p:sp>
      <p:sp>
        <p:nvSpPr>
          <p:cNvPr id="13" name="TextBox 12"/>
          <p:cNvSpPr txBox="1"/>
          <p:nvPr/>
        </p:nvSpPr>
        <p:spPr>
          <a:xfrm>
            <a:off x="6233007" y="3200400"/>
            <a:ext cx="2567863" cy="1371600"/>
          </a:xfrm>
          <a:prstGeom prst="rect">
            <a:avLst/>
          </a:prstGeom>
          <a:noFill/>
        </p:spPr>
        <p:txBody>
          <a:bodyPr wrap="square" anchor="t" lIns="0" rIns="0" tIns="0" bIns="0">
            <a:noAutofit/>
          </a:bodyPr>
          <a:lstStyle/>
          <a:p>
            <a:pPr algn="l">
              <a:spcAft>
                <a:spcPts val="600"/>
              </a:spcAft>
            </a:pPr>
            <a:r>
              <a:rPr sz="1500" b="0" i="0">
                <a:solidFill>
                  <a:srgbClr val="5B6B70"/>
                </a:solidFill>
                <a:latin typeface="Calibri"/>
              </a:rPr>
              <a:t>ASK queries run on every build keep the model honest.</a:t>
            </a:r>
          </a:p>
        </p:txBody>
      </p:sp>
      <p:sp>
        <p:nvSpPr>
          <p:cNvPr id="14" name="Oval 13"/>
          <p:cNvSpPr/>
          <p:nvPr/>
        </p:nvSpPr>
        <p:spPr>
          <a:xfrm>
            <a:off x="9075191" y="1691639"/>
            <a:ext cx="548640" cy="548640"/>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800" b="1" i="0">
                <a:solidFill>
                  <a:srgbClr val="FFFFFF"/>
                </a:solidFill>
                <a:latin typeface="Calibri"/>
              </a:rPr>
              <a:t>4</a:t>
            </a:r>
          </a:p>
        </p:txBody>
      </p:sp>
      <p:sp>
        <p:nvSpPr>
          <p:cNvPr id="15" name="TextBox 14"/>
          <p:cNvSpPr txBox="1"/>
          <p:nvPr/>
        </p:nvSpPr>
        <p:spPr>
          <a:xfrm>
            <a:off x="9075191" y="2468880"/>
            <a:ext cx="2567863" cy="731520"/>
          </a:xfrm>
          <a:prstGeom prst="rect">
            <a:avLst/>
          </a:prstGeom>
          <a:noFill/>
        </p:spPr>
        <p:txBody>
          <a:bodyPr wrap="square" anchor="t" lIns="0" rIns="0" tIns="0" bIns="0">
            <a:noAutofit/>
          </a:bodyPr>
          <a:lstStyle/>
          <a:p>
            <a:pPr algn="l">
              <a:spcAft>
                <a:spcPts val="600"/>
              </a:spcAft>
            </a:pPr>
            <a:r>
              <a:rPr sz="1700" b="1" i="0">
                <a:solidFill>
                  <a:srgbClr val="17272E"/>
                </a:solidFill>
                <a:latin typeface="Calibri"/>
              </a:rPr>
              <a:t>Be careful with automatic discovery</a:t>
            </a:r>
          </a:p>
        </p:txBody>
      </p:sp>
      <p:sp>
        <p:nvSpPr>
          <p:cNvPr id="16" name="TextBox 15"/>
          <p:cNvSpPr txBox="1"/>
          <p:nvPr/>
        </p:nvSpPr>
        <p:spPr>
          <a:xfrm>
            <a:off x="9075191" y="3200400"/>
            <a:ext cx="2567863" cy="1371600"/>
          </a:xfrm>
          <a:prstGeom prst="rect">
            <a:avLst/>
          </a:prstGeom>
          <a:noFill/>
        </p:spPr>
        <p:txBody>
          <a:bodyPr wrap="square" anchor="t" lIns="0" rIns="0" tIns="0" bIns="0">
            <a:noAutofit/>
          </a:bodyPr>
          <a:lstStyle/>
          <a:p>
            <a:pPr algn="l">
              <a:spcAft>
                <a:spcPts val="600"/>
              </a:spcAft>
            </a:pPr>
            <a:r>
              <a:rPr sz="1500" b="0" i="0">
                <a:solidFill>
                  <a:srgbClr val="5B6B70"/>
                </a:solidFill>
                <a:latin typeface="Calibri"/>
              </a:rPr>
              <a:t>OWL derives new facts, but automatic knowledge discovery isn't ready.</a:t>
            </a:r>
          </a:p>
        </p:txBody>
      </p:sp>
      <p:sp>
        <p:nvSpPr>
          <p:cNvPr id="17" name="Rounded Rectangle 16"/>
          <p:cNvSpPr/>
          <p:nvPr/>
        </p:nvSpPr>
        <p:spPr>
          <a:xfrm>
            <a:off x="548640" y="4480560"/>
            <a:ext cx="11094415" cy="1097280"/>
          </a:xfrm>
          <a:prstGeom prst="roundRect">
            <a:avLst>
              <a:gd name="adj" fmla="val 11666"/>
            </a:avLst>
          </a:prstGeom>
          <a:solidFill>
            <a:srgbClr val="FCF1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 bIns="18288">
            <a:noAutofit/>
          </a:bodyPr>
          <a:lstStyle/>
          <a:p>
            <a:pPr algn="l"/>
            <a:r>
              <a:rPr sz="1600" b="1" i="0">
                <a:solidFill>
                  <a:srgbClr val="17272E"/>
                </a:solidFill>
                <a:latin typeface="Calibri"/>
              </a:rPr>
              <a:t>For an LLM application: </a:t>
            </a:r>
            <a:r>
              <a:rPr sz="1600" b="0" i="0">
                <a:solidFill>
                  <a:srgbClr val="17272E"/>
                </a:solidFill>
                <a:latin typeface="Calibri"/>
              </a:rPr>
              <a:t>the LLM brings the reasoning; the ontology's job is a well-curated, linked dataset with clear, global names.</a:t>
            </a:r>
          </a:p>
        </p:txBody>
      </p:sp>
      <p:sp>
        <p:nvSpPr>
          <p:cNvPr id="18"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19"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Sources and further reading</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REFERENCES</a:t>
            </a:r>
          </a:p>
        </p:txBody>
      </p:sp>
      <p:sp>
        <p:nvSpPr>
          <p:cNvPr id="4" name="Oval 3"/>
          <p:cNvSpPr/>
          <p:nvPr/>
        </p:nvSpPr>
        <p:spPr>
          <a:xfrm>
            <a:off x="548640" y="1645919"/>
            <a:ext cx="457200" cy="457200"/>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600" b="1" i="0">
                <a:solidFill>
                  <a:srgbClr val="FFFFFF"/>
                </a:solidFill>
                <a:latin typeface="Calibri"/>
              </a:rPr>
              <a:t>1</a:t>
            </a:r>
          </a:p>
        </p:txBody>
      </p:sp>
      <p:sp>
        <p:nvSpPr>
          <p:cNvPr id="5" name="TextBox 4"/>
          <p:cNvSpPr txBox="1"/>
          <p:nvPr/>
        </p:nvSpPr>
        <p:spPr>
          <a:xfrm>
            <a:off x="1188719" y="1673352"/>
            <a:ext cx="10454335" cy="32004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Main reference</a:t>
            </a:r>
          </a:p>
        </p:txBody>
      </p:sp>
      <p:sp>
        <p:nvSpPr>
          <p:cNvPr id="6" name="TextBox 5"/>
          <p:cNvSpPr txBox="1"/>
          <p:nvPr/>
        </p:nvSpPr>
        <p:spPr>
          <a:xfrm>
            <a:off x="1188719" y="2029968"/>
            <a:ext cx="10454335" cy="640080"/>
          </a:xfrm>
          <a:prstGeom prst="rect">
            <a:avLst/>
          </a:prstGeom>
          <a:noFill/>
        </p:spPr>
        <p:txBody>
          <a:bodyPr wrap="square" anchor="t" lIns="0" rIns="0" tIns="0" bIns="0">
            <a:noAutofit/>
          </a:bodyPr>
          <a:lstStyle/>
          <a:p>
            <a:pPr algn="l">
              <a:spcAft>
                <a:spcPts val="600"/>
              </a:spcAft>
            </a:pPr>
            <a:r>
              <a:rPr sz="1400" b="0" i="0">
                <a:solidFill>
                  <a:srgbClr val="5B6B70"/>
                </a:solidFill>
                <a:latin typeface="Calibri"/>
              </a:rPr>
              <a:t>Allemang, D. and Hendler, J. (2011). </a:t>
            </a:r>
            <a:r>
              <a:rPr sz="1400" b="0" i="1">
                <a:solidFill>
                  <a:srgbClr val="5B6B70"/>
                </a:solidFill>
                <a:latin typeface="Calibri"/>
              </a:rPr>
              <a:t>Semantic Web for the Working Ontologist: Effective Modeling in RDFS and OWL</a:t>
            </a:r>
            <a:r>
              <a:rPr sz="1400" b="0" i="0">
                <a:solidFill>
                  <a:srgbClr val="5B6B70"/>
                </a:solidFill>
                <a:latin typeface="Calibri"/>
              </a:rPr>
              <a:t>, 2nd ed. Morgan Kaufmann.</a:t>
            </a:r>
          </a:p>
        </p:txBody>
      </p:sp>
      <p:sp>
        <p:nvSpPr>
          <p:cNvPr id="7" name="Oval 6"/>
          <p:cNvSpPr/>
          <p:nvPr/>
        </p:nvSpPr>
        <p:spPr>
          <a:xfrm>
            <a:off x="548640" y="2560320"/>
            <a:ext cx="457200" cy="457200"/>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600" b="1" i="0">
                <a:solidFill>
                  <a:srgbClr val="FFFFFF"/>
                </a:solidFill>
                <a:latin typeface="Calibri"/>
              </a:rPr>
              <a:t>2</a:t>
            </a:r>
          </a:p>
        </p:txBody>
      </p:sp>
      <p:sp>
        <p:nvSpPr>
          <p:cNvPr id="8" name="TextBox 7"/>
          <p:cNvSpPr txBox="1"/>
          <p:nvPr/>
        </p:nvSpPr>
        <p:spPr>
          <a:xfrm>
            <a:off x="1188719" y="2587751"/>
            <a:ext cx="10454335" cy="32004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Definition of an ontology</a:t>
            </a:r>
          </a:p>
        </p:txBody>
      </p:sp>
      <p:sp>
        <p:nvSpPr>
          <p:cNvPr id="9" name="TextBox 8"/>
          <p:cNvSpPr txBox="1"/>
          <p:nvPr/>
        </p:nvSpPr>
        <p:spPr>
          <a:xfrm>
            <a:off x="1188719" y="2944368"/>
            <a:ext cx="10454335" cy="640080"/>
          </a:xfrm>
          <a:prstGeom prst="rect">
            <a:avLst/>
          </a:prstGeom>
          <a:noFill/>
        </p:spPr>
        <p:txBody>
          <a:bodyPr wrap="square" anchor="t" lIns="0" rIns="0" tIns="0" bIns="0">
            <a:noAutofit/>
          </a:bodyPr>
          <a:lstStyle/>
          <a:p>
            <a:pPr algn="l">
              <a:spcAft>
                <a:spcPts val="600"/>
              </a:spcAft>
            </a:pPr>
            <a:r>
              <a:rPr sz="1400" b="0" i="0">
                <a:solidFill>
                  <a:srgbClr val="5B6B70"/>
                </a:solidFill>
                <a:latin typeface="Calibri"/>
              </a:rPr>
              <a:t>Gruber, T. (1993). A translation approach to portable ontology specifications. </a:t>
            </a:r>
            <a:r>
              <a:rPr sz="1400" b="0" i="1">
                <a:solidFill>
                  <a:srgbClr val="5B6B70"/>
                </a:solidFill>
                <a:latin typeface="Calibri"/>
              </a:rPr>
              <a:t>Knowledge Acquisition</a:t>
            </a:r>
            <a:r>
              <a:rPr sz="1400" b="0" i="0">
                <a:solidFill>
                  <a:srgbClr val="5B6B70"/>
                </a:solidFill>
                <a:latin typeface="Calibri"/>
              </a:rPr>
              <a:t> 5(2). Studer, R., Benjamins, V. R. and Fensel, D. (1998). Knowledge engineering: principles and methods. </a:t>
            </a:r>
            <a:r>
              <a:rPr sz="1400" b="0" i="1">
                <a:solidFill>
                  <a:srgbClr val="5B6B70"/>
                </a:solidFill>
                <a:latin typeface="Calibri"/>
              </a:rPr>
              <a:t>Data &amp; Knowledge Engineering</a:t>
            </a:r>
            <a:r>
              <a:rPr sz="1400" b="0" i="0">
                <a:solidFill>
                  <a:srgbClr val="5B6B70"/>
                </a:solidFill>
                <a:latin typeface="Calibri"/>
              </a:rPr>
              <a:t> 25(1–2).</a:t>
            </a:r>
          </a:p>
        </p:txBody>
      </p:sp>
      <p:sp>
        <p:nvSpPr>
          <p:cNvPr id="10" name="Oval 9"/>
          <p:cNvSpPr/>
          <p:nvPr/>
        </p:nvSpPr>
        <p:spPr>
          <a:xfrm>
            <a:off x="548640" y="3474720"/>
            <a:ext cx="457200" cy="457200"/>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600" b="1" i="0">
                <a:solidFill>
                  <a:srgbClr val="FFFFFF"/>
                </a:solidFill>
                <a:latin typeface="Calibri"/>
              </a:rPr>
              <a:t>3</a:t>
            </a:r>
          </a:p>
        </p:txBody>
      </p:sp>
      <p:sp>
        <p:nvSpPr>
          <p:cNvPr id="11" name="TextBox 10"/>
          <p:cNvSpPr txBox="1"/>
          <p:nvPr/>
        </p:nvSpPr>
        <p:spPr>
          <a:xfrm>
            <a:off x="1188719" y="3502151"/>
            <a:ext cx="10454335" cy="32004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Semantic Web Stack image</a:t>
            </a:r>
          </a:p>
        </p:txBody>
      </p:sp>
      <p:sp>
        <p:nvSpPr>
          <p:cNvPr id="12" name="TextBox 11"/>
          <p:cNvSpPr txBox="1"/>
          <p:nvPr/>
        </p:nvSpPr>
        <p:spPr>
          <a:xfrm>
            <a:off x="1188719" y="3858768"/>
            <a:ext cx="10454335" cy="640080"/>
          </a:xfrm>
          <a:prstGeom prst="rect">
            <a:avLst/>
          </a:prstGeom>
          <a:noFill/>
        </p:spPr>
        <p:txBody>
          <a:bodyPr wrap="square" anchor="t" lIns="0" rIns="0" tIns="0" bIns="0">
            <a:noAutofit/>
          </a:bodyPr>
          <a:lstStyle/>
          <a:p>
            <a:pPr algn="l">
              <a:spcAft>
                <a:spcPts val="600"/>
              </a:spcAft>
            </a:pPr>
            <a:r>
              <a:rPr sz="1400" b="0" i="0">
                <a:solidFill>
                  <a:srgbClr val="5B6B70"/>
                </a:solidFill>
                <a:latin typeface="Calibri"/>
              </a:rPr>
              <a:t>W3C, public domain, via Wikimedia Commons: commons.wikimedia.org/wiki/File:Semantic_Web_Stack.png.</a:t>
            </a:r>
          </a:p>
        </p:txBody>
      </p:sp>
      <p:sp>
        <p:nvSpPr>
          <p:cNvPr id="13" name="Oval 12"/>
          <p:cNvSpPr/>
          <p:nvPr/>
        </p:nvSpPr>
        <p:spPr>
          <a:xfrm>
            <a:off x="548640" y="4389120"/>
            <a:ext cx="457200" cy="457200"/>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600" b="1" i="0">
                <a:solidFill>
                  <a:srgbClr val="FFFFFF"/>
                </a:solidFill>
                <a:latin typeface="Calibri"/>
              </a:rPr>
              <a:t>4</a:t>
            </a:r>
          </a:p>
        </p:txBody>
      </p:sp>
      <p:sp>
        <p:nvSpPr>
          <p:cNvPr id="14" name="TextBox 13"/>
          <p:cNvSpPr txBox="1"/>
          <p:nvPr/>
        </p:nvSpPr>
        <p:spPr>
          <a:xfrm>
            <a:off x="1188719" y="4416552"/>
            <a:ext cx="10454335" cy="32004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W3C standards</a:t>
            </a:r>
          </a:p>
        </p:txBody>
      </p:sp>
      <p:sp>
        <p:nvSpPr>
          <p:cNvPr id="15" name="TextBox 14"/>
          <p:cNvSpPr txBox="1"/>
          <p:nvPr/>
        </p:nvSpPr>
        <p:spPr>
          <a:xfrm>
            <a:off x="1188719" y="4773168"/>
            <a:ext cx="10454335" cy="640080"/>
          </a:xfrm>
          <a:prstGeom prst="rect">
            <a:avLst/>
          </a:prstGeom>
          <a:noFill/>
        </p:spPr>
        <p:txBody>
          <a:bodyPr wrap="square" anchor="t" lIns="0" rIns="0" tIns="0" bIns="0">
            <a:noAutofit/>
          </a:bodyPr>
          <a:lstStyle/>
          <a:p>
            <a:pPr algn="l">
              <a:spcAft>
                <a:spcPts val="600"/>
              </a:spcAft>
            </a:pPr>
            <a:r>
              <a:rPr sz="1400" b="0" i="0">
                <a:solidFill>
                  <a:srgbClr val="5B6B70"/>
                </a:solidFill>
                <a:latin typeface="Calibri"/>
              </a:rPr>
              <a:t>RDF 1.1 Concepts, RDF Schema 1.1, SPARQL 1.1 Query, SKOS Reference, OWL 2 Overview, RIF Overview, SHACL, PROV-O and RDF Dataset Canonicalization, all at w3.org/TR.</a:t>
            </a:r>
          </a:p>
        </p:txBody>
      </p:sp>
      <p:sp>
        <p:nvSpPr>
          <p:cNvPr id="16" name="Oval 15"/>
          <p:cNvSpPr/>
          <p:nvPr/>
        </p:nvSpPr>
        <p:spPr>
          <a:xfrm>
            <a:off x="548640" y="5303520"/>
            <a:ext cx="457200" cy="457200"/>
          </a:xfrm>
          <a:prstGeom prst="ellipse">
            <a:avLst/>
          </a:prstGeom>
          <a:solidFill>
            <a:srgbClr val="1F7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r>
              <a:rPr sz="1600" b="1" i="0">
                <a:solidFill>
                  <a:srgbClr val="FFFFFF"/>
                </a:solidFill>
                <a:latin typeface="Calibri"/>
              </a:rPr>
              <a:t>5</a:t>
            </a:r>
          </a:p>
        </p:txBody>
      </p:sp>
      <p:sp>
        <p:nvSpPr>
          <p:cNvPr id="17" name="TextBox 16"/>
          <p:cNvSpPr txBox="1"/>
          <p:nvPr/>
        </p:nvSpPr>
        <p:spPr>
          <a:xfrm>
            <a:off x="1188719" y="5330952"/>
            <a:ext cx="10454335" cy="320040"/>
          </a:xfrm>
          <a:prstGeom prst="rect">
            <a:avLst/>
          </a:prstGeom>
          <a:noFill/>
        </p:spPr>
        <p:txBody>
          <a:bodyPr wrap="square" anchor="t" lIns="0" rIns="0" tIns="0" bIns="0">
            <a:noAutofit/>
          </a:bodyPr>
          <a:lstStyle/>
          <a:p>
            <a:pPr algn="l">
              <a:spcAft>
                <a:spcPts val="600"/>
              </a:spcAft>
            </a:pPr>
            <a:r>
              <a:rPr sz="1600" b="1" i="0">
                <a:solidFill>
                  <a:srgbClr val="17272E"/>
                </a:solidFill>
                <a:latin typeface="Calibri"/>
              </a:rPr>
              <a:t>Software</a:t>
            </a:r>
          </a:p>
        </p:txBody>
      </p:sp>
      <p:sp>
        <p:nvSpPr>
          <p:cNvPr id="18" name="TextBox 17"/>
          <p:cNvSpPr txBox="1"/>
          <p:nvPr/>
        </p:nvSpPr>
        <p:spPr>
          <a:xfrm>
            <a:off x="1188719" y="5687568"/>
            <a:ext cx="10454335" cy="640080"/>
          </a:xfrm>
          <a:prstGeom prst="rect">
            <a:avLst/>
          </a:prstGeom>
          <a:noFill/>
        </p:spPr>
        <p:txBody>
          <a:bodyPr wrap="square" anchor="t" lIns="0" rIns="0" tIns="0" bIns="0">
            <a:noAutofit/>
          </a:bodyPr>
          <a:lstStyle/>
          <a:p>
            <a:pPr algn="l">
              <a:spcAft>
                <a:spcPts val="600"/>
              </a:spcAft>
            </a:pPr>
            <a:r>
              <a:rPr sz="1400" b="0" i="0">
                <a:solidFill>
                  <a:srgbClr val="5B6B70"/>
                </a:solidFill>
                <a:latin typeface="Calibri"/>
              </a:rPr>
              <a:t>rdflib, and owlrl (an OWL 2 RL reasoner), run every example in this deck.</a:t>
            </a:r>
          </a:p>
        </p:txBody>
      </p:sp>
      <p:sp>
        <p:nvSpPr>
          <p:cNvPr id="19"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20"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731520"/>
          </a:xfrm>
        </p:spPr>
        <p:txBody>
          <a:bodyPr wrap="square" anchor="t" lIns="0" rIns="0" tIns="0" bIns="0">
            <a:noAutofit/>
          </a:bodyPr>
          <a:lstStyle/>
          <a:p>
            <a:pPr algn="l"/>
            <a:r>
              <a:rPr sz="3400" b="1" i="0">
                <a:solidFill>
                  <a:srgbClr val="17272E"/>
                </a:solidFill>
                <a:latin typeface="Cambria"/>
              </a:rPr>
              <a:t>Glossary</a:t>
            </a:r>
          </a:p>
        </p:txBody>
      </p:sp>
      <p:sp>
        <p:nvSpPr>
          <p:cNvPr id="3" name="Kicker"/>
          <p:cNvSpPr txBox="1"/>
          <p:nvPr/>
        </p:nvSpPr>
        <p:spPr>
          <a:xfrm>
            <a:off x="548640" y="384048"/>
            <a:ext cx="11094415" cy="274320"/>
          </a:xfrm>
          <a:prstGeom prst="rect">
            <a:avLst/>
          </a:prstGeom>
          <a:noFill/>
        </p:spPr>
        <p:txBody>
          <a:bodyPr wrap="square" anchor="t" lIns="0" rIns="0" tIns="0" bIns="0">
            <a:noAutofit/>
          </a:bodyPr>
          <a:lstStyle/>
          <a:p>
            <a:pPr algn="l">
              <a:spcAft>
                <a:spcPts val="600"/>
              </a:spcAft>
            </a:pPr>
            <a:r>
              <a:rPr sz="1300" b="1" i="0">
                <a:solidFill>
                  <a:srgbClr val="1F7A6D"/>
                </a:solidFill>
                <a:latin typeface="Calibri"/>
              </a:rPr>
              <a:t>APPENDIX</a:t>
            </a:r>
          </a:p>
        </p:txBody>
      </p:sp>
      <p:graphicFrame>
        <p:nvGraphicFramePr>
          <p:cNvPr id="4" name="Table 3"/>
          <p:cNvGraphicFramePr>
            <a:graphicFrameLocks noGrp="1"/>
          </p:cNvGraphicFramePr>
          <p:nvPr/>
        </p:nvGraphicFramePr>
        <p:xfrm>
          <a:off x="548640" y="1554480"/>
          <a:ext cx="5410047" cy="4727448"/>
        </p:xfrm>
        <a:graphic>
          <a:graphicData uri="http://schemas.openxmlformats.org/drawingml/2006/table">
            <a:tbl>
              <a:tblPr firstRow="0" bandRow="0">
                <a:tableStyleId>{5C22544A-7EE6-4342-B048-85BDC9FD1C3A}</a:tableStyleId>
              </a:tblPr>
              <a:tblGrid>
                <a:gridCol w="1737360"/>
                <a:gridCol w="3672687"/>
              </a:tblGrid>
              <a:tr h="429768">
                <a:tc>
                  <a:txBody>
                    <a:bodyPr wrap="square"/>
                    <a:lstStyle/>
                    <a:p>
                      <a:r>
                        <a:rPr sz="1200" b="1" i="0">
                          <a:solidFill>
                            <a:srgbClr val="FFFFFF"/>
                          </a:solidFill>
                          <a:latin typeface="Calibri"/>
                        </a:rPr>
                        <a:t>Term</a:t>
                      </a:r>
                    </a:p>
                  </a:txBody>
                  <a:tcPr marL="91440" marR="91440" marT="27432" marB="27432" anchor="ctr">
                    <a:solidFill>
                      <a:srgbClr val="1F7A6D"/>
                    </a:solidFill>
                  </a:tcPr>
                </a:tc>
                <a:tc>
                  <a:txBody>
                    <a:bodyPr wrap="square"/>
                    <a:lstStyle/>
                    <a:p>
                      <a:r>
                        <a:rPr sz="1200" b="1" i="0">
                          <a:solidFill>
                            <a:srgbClr val="FFFFFF"/>
                          </a:solidFill>
                          <a:latin typeface="Calibri"/>
                        </a:rPr>
                        <a:t>Meaning</a:t>
                      </a:r>
                    </a:p>
                  </a:txBody>
                  <a:tcPr marL="91440" marR="91440" marT="27432" marB="27432" anchor="ctr">
                    <a:solidFill>
                      <a:srgbClr val="1F7A6D"/>
                    </a:solidFill>
                  </a:tcPr>
                </a:tc>
              </a:tr>
              <a:tr h="429768">
                <a:tc>
                  <a:txBody>
                    <a:bodyPr wrap="square"/>
                    <a:lstStyle/>
                    <a:p>
                      <a:r>
                        <a:rPr sz="1200" b="1" i="0">
                          <a:solidFill>
                            <a:srgbClr val="17272E"/>
                          </a:solidFill>
                          <a:latin typeface="Calibri"/>
                        </a:rPr>
                        <a:t>Ontology</a:t>
                      </a:r>
                    </a:p>
                  </a:txBody>
                  <a:tcPr marL="91440" marR="91440" marT="27432" marB="27432" anchor="ctr">
                    <a:solidFill>
                      <a:srgbClr val="EAF3F0"/>
                    </a:solidFill>
                  </a:tcPr>
                </a:tc>
                <a:tc>
                  <a:txBody>
                    <a:bodyPr wrap="square"/>
                    <a:lstStyle/>
                    <a:p>
                      <a:r>
                        <a:rPr sz="1200" b="0" i="0">
                          <a:solidFill>
                            <a:srgbClr val="17272E"/>
                          </a:solidFill>
                          <a:latin typeface="Calibri"/>
                        </a:rPr>
                        <a:t>A formal, explicit, shared model of a domain: classes, properties, axioms.</a:t>
                      </a:r>
                    </a:p>
                  </a:txBody>
                  <a:tcPr marL="91440" marR="91440" marT="27432" marB="27432" anchor="ctr">
                    <a:solidFill>
                      <a:srgbClr val="FFFFFF"/>
                    </a:solidFill>
                  </a:tcPr>
                </a:tc>
              </a:tr>
              <a:tr h="429768">
                <a:tc>
                  <a:txBody>
                    <a:bodyPr wrap="square"/>
                    <a:lstStyle/>
                    <a:p>
                      <a:r>
                        <a:rPr sz="1200" b="1" i="0">
                          <a:solidFill>
                            <a:srgbClr val="17272E"/>
                          </a:solidFill>
                          <a:latin typeface="Calibri"/>
                        </a:rPr>
                        <a:t>Class</a:t>
                      </a:r>
                    </a:p>
                  </a:txBody>
                  <a:tcPr marL="91440" marR="91440" marT="27432" marB="27432" anchor="ctr">
                    <a:solidFill>
                      <a:srgbClr val="EAF3F0"/>
                    </a:solidFill>
                  </a:tcPr>
                </a:tc>
                <a:tc>
                  <a:txBody>
                    <a:bodyPr wrap="square"/>
                    <a:lstStyle/>
                    <a:p>
                      <a:r>
                        <a:rPr sz="1200" b="0" i="0">
                          <a:solidFill>
                            <a:srgbClr val="17272E"/>
                          </a:solidFill>
                          <a:latin typeface="Calibri"/>
                        </a:rPr>
                        <a:t>A kind of thing, understood as the set of its members.</a:t>
                      </a:r>
                    </a:p>
                  </a:txBody>
                  <a:tcPr marL="91440" marR="91440" marT="27432" marB="27432" anchor="ctr">
                    <a:solidFill>
                      <a:srgbClr val="EAF3F0"/>
                    </a:solidFill>
                  </a:tcPr>
                </a:tc>
              </a:tr>
              <a:tr h="429768">
                <a:tc>
                  <a:txBody>
                    <a:bodyPr wrap="square"/>
                    <a:lstStyle/>
                    <a:p>
                      <a:r>
                        <a:rPr sz="1200" b="1" i="0">
                          <a:solidFill>
                            <a:srgbClr val="17272E"/>
                          </a:solidFill>
                          <a:latin typeface="Calibri"/>
                        </a:rPr>
                        <a:t>Individual</a:t>
                      </a:r>
                    </a:p>
                  </a:txBody>
                  <a:tcPr marL="91440" marR="91440" marT="27432" marB="27432" anchor="ctr">
                    <a:solidFill>
                      <a:srgbClr val="EAF3F0"/>
                    </a:solidFill>
                  </a:tcPr>
                </a:tc>
                <a:tc>
                  <a:txBody>
                    <a:bodyPr wrap="square"/>
                    <a:lstStyle/>
                    <a:p>
                      <a:r>
                        <a:rPr sz="1200" b="0" i="0">
                          <a:solidFill>
                            <a:srgbClr val="17272E"/>
                          </a:solidFill>
                          <a:latin typeface="Calibri"/>
                        </a:rPr>
                        <a:t>A particular thing; an instance of one or more classes.</a:t>
                      </a:r>
                    </a:p>
                  </a:txBody>
                  <a:tcPr marL="91440" marR="91440" marT="27432" marB="27432" anchor="ctr">
                    <a:solidFill>
                      <a:srgbClr val="FFFFFF"/>
                    </a:solidFill>
                  </a:tcPr>
                </a:tc>
              </a:tr>
              <a:tr h="429768">
                <a:tc>
                  <a:txBody>
                    <a:bodyPr wrap="square"/>
                    <a:lstStyle/>
                    <a:p>
                      <a:r>
                        <a:rPr sz="1200" b="1" i="0">
                          <a:solidFill>
                            <a:srgbClr val="17272E"/>
                          </a:solidFill>
                          <a:latin typeface="Calibri"/>
                        </a:rPr>
                        <a:t>Property</a:t>
                      </a:r>
                    </a:p>
                  </a:txBody>
                  <a:tcPr marL="91440" marR="91440" marT="27432" marB="27432" anchor="ctr">
                    <a:solidFill>
                      <a:srgbClr val="EAF3F0"/>
                    </a:solidFill>
                  </a:tcPr>
                </a:tc>
                <a:tc>
                  <a:txBody>
                    <a:bodyPr wrap="square"/>
                    <a:lstStyle/>
                    <a:p>
                      <a:r>
                        <a:rPr sz="1200" b="0" i="0">
                          <a:solidFill>
                            <a:srgbClr val="17272E"/>
                          </a:solidFill>
                          <a:latin typeface="Calibri"/>
                        </a:rPr>
                        <a:t>A relationship between individuals, or from an individual to a value.</a:t>
                      </a:r>
                    </a:p>
                  </a:txBody>
                  <a:tcPr marL="91440" marR="91440" marT="27432" marB="27432" anchor="ctr">
                    <a:solidFill>
                      <a:srgbClr val="EAF3F0"/>
                    </a:solidFill>
                  </a:tcPr>
                </a:tc>
              </a:tr>
              <a:tr h="429768">
                <a:tc>
                  <a:txBody>
                    <a:bodyPr wrap="square"/>
                    <a:lstStyle/>
                    <a:p>
                      <a:r>
                        <a:rPr sz="1200" b="1" i="0">
                          <a:solidFill>
                            <a:srgbClr val="17272E"/>
                          </a:solidFill>
                          <a:latin typeface="Calibri"/>
                        </a:rPr>
                        <a:t>Axiom</a:t>
                      </a:r>
                    </a:p>
                  </a:txBody>
                  <a:tcPr marL="91440" marR="91440" marT="27432" marB="27432" anchor="ctr">
                    <a:solidFill>
                      <a:srgbClr val="EAF3F0"/>
                    </a:solidFill>
                  </a:tcPr>
                </a:tc>
                <a:tc>
                  <a:txBody>
                    <a:bodyPr wrap="square"/>
                    <a:lstStyle/>
                    <a:p>
                      <a:r>
                        <a:rPr sz="1200" b="0" i="0">
                          <a:solidFill>
                            <a:srgbClr val="17272E"/>
                          </a:solidFill>
                          <a:latin typeface="Calibri"/>
                        </a:rPr>
                        <a:t>A statement about classes or properties that a reasoner can use.</a:t>
                      </a:r>
                    </a:p>
                  </a:txBody>
                  <a:tcPr marL="91440" marR="91440" marT="27432" marB="27432" anchor="ctr">
                    <a:solidFill>
                      <a:srgbClr val="FFFFFF"/>
                    </a:solidFill>
                  </a:tcPr>
                </a:tc>
              </a:tr>
              <a:tr h="429768">
                <a:tc>
                  <a:txBody>
                    <a:bodyPr wrap="square"/>
                    <a:lstStyle/>
                    <a:p>
                      <a:r>
                        <a:rPr sz="1200" b="1" i="0">
                          <a:solidFill>
                            <a:srgbClr val="17272E"/>
                          </a:solidFill>
                          <a:latin typeface="Calibri"/>
                        </a:rPr>
                        <a:t>Triple</a:t>
                      </a:r>
                    </a:p>
                  </a:txBody>
                  <a:tcPr marL="91440" marR="91440" marT="27432" marB="27432" anchor="ctr">
                    <a:solidFill>
                      <a:srgbClr val="EAF3F0"/>
                    </a:solidFill>
                  </a:tcPr>
                </a:tc>
                <a:tc>
                  <a:txBody>
                    <a:bodyPr wrap="square"/>
                    <a:lstStyle/>
                    <a:p>
                      <a:r>
                        <a:rPr sz="1200" b="0" i="0">
                          <a:solidFill>
                            <a:srgbClr val="17272E"/>
                          </a:solidFill>
                          <a:latin typeface="Calibri"/>
                        </a:rPr>
                        <a:t>One RDF statement: subject, predicate, object.</a:t>
                      </a:r>
                    </a:p>
                  </a:txBody>
                  <a:tcPr marL="91440" marR="91440" marT="27432" marB="27432" anchor="ctr">
                    <a:solidFill>
                      <a:srgbClr val="EAF3F0"/>
                    </a:solidFill>
                  </a:tcPr>
                </a:tc>
              </a:tr>
              <a:tr h="429768">
                <a:tc>
                  <a:txBody>
                    <a:bodyPr wrap="square"/>
                    <a:lstStyle/>
                    <a:p>
                      <a:r>
                        <a:rPr sz="1200" b="1" i="0">
                          <a:solidFill>
                            <a:srgbClr val="17272E"/>
                          </a:solidFill>
                          <a:latin typeface="Calibri"/>
                        </a:rPr>
                        <a:t>URI / IRI</a:t>
                      </a:r>
                    </a:p>
                  </a:txBody>
                  <a:tcPr marL="91440" marR="91440" marT="27432" marB="27432" anchor="ctr">
                    <a:solidFill>
                      <a:srgbClr val="EAF3F0"/>
                    </a:solidFill>
                  </a:tcPr>
                </a:tc>
                <a:tc>
                  <a:txBody>
                    <a:bodyPr wrap="square"/>
                    <a:lstStyle/>
                    <a:p>
                      <a:r>
                        <a:rPr sz="1200" b="0" i="0">
                          <a:solidFill>
                            <a:srgbClr val="17272E"/>
                          </a:solidFill>
                          <a:latin typeface="Calibri"/>
                        </a:rPr>
                        <a:t>A global name for a thing, class or property.</a:t>
                      </a:r>
                    </a:p>
                  </a:txBody>
                  <a:tcPr marL="91440" marR="91440" marT="27432" marB="27432" anchor="ctr">
                    <a:solidFill>
                      <a:srgbClr val="FFFFFF"/>
                    </a:solidFill>
                  </a:tcPr>
                </a:tc>
              </a:tr>
              <a:tr h="429768">
                <a:tc>
                  <a:txBody>
                    <a:bodyPr wrap="square"/>
                    <a:lstStyle/>
                    <a:p>
                      <a:r>
                        <a:rPr sz="1200" b="1" i="0">
                          <a:solidFill>
                            <a:srgbClr val="17272E"/>
                          </a:solidFill>
                          <a:latin typeface="Calibri"/>
                        </a:rPr>
                        <a:t>Literal</a:t>
                      </a:r>
                    </a:p>
                  </a:txBody>
                  <a:tcPr marL="91440" marR="91440" marT="27432" marB="27432" anchor="ctr">
                    <a:solidFill>
                      <a:srgbClr val="EAF3F0"/>
                    </a:solidFill>
                  </a:tcPr>
                </a:tc>
                <a:tc>
                  <a:txBody>
                    <a:bodyPr wrap="square"/>
                    <a:lstStyle/>
                    <a:p>
                      <a:r>
                        <a:rPr sz="1200" b="0" i="0">
                          <a:solidFill>
                            <a:srgbClr val="17272E"/>
                          </a:solidFill>
                          <a:latin typeface="Calibri"/>
                        </a:rPr>
                        <a:t>A plain value, such as a string or number, with optional datatype.</a:t>
                      </a:r>
                    </a:p>
                  </a:txBody>
                  <a:tcPr marL="91440" marR="91440" marT="27432" marB="27432" anchor="ctr">
                    <a:solidFill>
                      <a:srgbClr val="EAF3F0"/>
                    </a:solidFill>
                  </a:tcPr>
                </a:tc>
              </a:tr>
              <a:tr h="429768">
                <a:tc>
                  <a:txBody>
                    <a:bodyPr wrap="square"/>
                    <a:lstStyle/>
                    <a:p>
                      <a:r>
                        <a:rPr sz="1200" b="1" i="0">
                          <a:solidFill>
                            <a:srgbClr val="17272E"/>
                          </a:solidFill>
                          <a:latin typeface="Calibri"/>
                        </a:rPr>
                        <a:t>TBox / ABox</a:t>
                      </a:r>
                    </a:p>
                  </a:txBody>
                  <a:tcPr marL="91440" marR="91440" marT="27432" marB="27432" anchor="ctr">
                    <a:solidFill>
                      <a:srgbClr val="EAF3F0"/>
                    </a:solidFill>
                  </a:tcPr>
                </a:tc>
                <a:tc>
                  <a:txBody>
                    <a:bodyPr wrap="square"/>
                    <a:lstStyle/>
                    <a:p>
                      <a:r>
                        <a:rPr sz="1200" b="0" i="0">
                          <a:solidFill>
                            <a:srgbClr val="17272E"/>
                          </a:solidFill>
                          <a:latin typeface="Calibri"/>
                        </a:rPr>
                        <a:t>The model (terminology) and the data (assertions).</a:t>
                      </a:r>
                    </a:p>
                  </a:txBody>
                  <a:tcPr marL="91440" marR="91440" marT="27432" marB="27432" anchor="ctr">
                    <a:solidFill>
                      <a:srgbClr val="FFFFFF"/>
                    </a:solidFill>
                  </a:tcPr>
                </a:tc>
              </a:tr>
              <a:tr h="429768">
                <a:tc>
                  <a:txBody>
                    <a:bodyPr wrap="square"/>
                    <a:lstStyle/>
                    <a:p>
                      <a:r>
                        <a:rPr sz="1200" b="1" i="0">
                          <a:solidFill>
                            <a:srgbClr val="17272E"/>
                          </a:solidFill>
                          <a:latin typeface="Calibri"/>
                        </a:rPr>
                        <a:t>Knowledge graph</a:t>
                      </a:r>
                    </a:p>
                  </a:txBody>
                  <a:tcPr marL="91440" marR="91440" marT="27432" marB="27432" anchor="ctr">
                    <a:solidFill>
                      <a:srgbClr val="EAF3F0"/>
                    </a:solidFill>
                  </a:tcPr>
                </a:tc>
                <a:tc>
                  <a:txBody>
                    <a:bodyPr wrap="square"/>
                    <a:lstStyle/>
                    <a:p>
                      <a:r>
                        <a:rPr sz="1200" b="0" i="0">
                          <a:solidFill>
                            <a:srgbClr val="17272E"/>
                          </a:solidFill>
                          <a:latin typeface="Calibri"/>
                        </a:rPr>
                        <a:t>An ontology plus the data described with it, in one graph.</a:t>
                      </a:r>
                    </a:p>
                  </a:txBody>
                  <a:tcPr marL="91440" marR="91440" marT="27432" marB="27432" anchor="ctr">
                    <a:solidFill>
                      <a:srgbClr val="EAF3F0"/>
                    </a:solidFill>
                  </a:tcPr>
                </a:tc>
              </a:tr>
            </a:tbl>
          </a:graphicData>
        </a:graphic>
      </p:graphicFrame>
      <p:graphicFrame>
        <p:nvGraphicFramePr>
          <p:cNvPr id="5" name="Table 4"/>
          <p:cNvGraphicFramePr>
            <a:graphicFrameLocks noGrp="1"/>
          </p:cNvGraphicFramePr>
          <p:nvPr/>
        </p:nvGraphicFramePr>
        <p:xfrm>
          <a:off x="6233007" y="1554480"/>
          <a:ext cx="5410047" cy="4727448"/>
        </p:xfrm>
        <a:graphic>
          <a:graphicData uri="http://schemas.openxmlformats.org/drawingml/2006/table">
            <a:tbl>
              <a:tblPr firstRow="0" bandRow="0">
                <a:tableStyleId>{5C22544A-7EE6-4342-B048-85BDC9FD1C3A}</a:tableStyleId>
              </a:tblPr>
              <a:tblGrid>
                <a:gridCol w="1737360"/>
                <a:gridCol w="3672687"/>
              </a:tblGrid>
              <a:tr h="429768">
                <a:tc>
                  <a:txBody>
                    <a:bodyPr wrap="square"/>
                    <a:lstStyle/>
                    <a:p>
                      <a:r>
                        <a:rPr sz="1200" b="1" i="0">
                          <a:solidFill>
                            <a:srgbClr val="FFFFFF"/>
                          </a:solidFill>
                          <a:latin typeface="Calibri"/>
                        </a:rPr>
                        <a:t>Term</a:t>
                      </a:r>
                    </a:p>
                  </a:txBody>
                  <a:tcPr marL="91440" marR="91440" marT="27432" marB="27432" anchor="ctr">
                    <a:solidFill>
                      <a:srgbClr val="1F7A6D"/>
                    </a:solidFill>
                  </a:tcPr>
                </a:tc>
                <a:tc>
                  <a:txBody>
                    <a:bodyPr wrap="square"/>
                    <a:lstStyle/>
                    <a:p>
                      <a:r>
                        <a:rPr sz="1200" b="1" i="0">
                          <a:solidFill>
                            <a:srgbClr val="FFFFFF"/>
                          </a:solidFill>
                          <a:latin typeface="Calibri"/>
                        </a:rPr>
                        <a:t>Meaning</a:t>
                      </a:r>
                    </a:p>
                  </a:txBody>
                  <a:tcPr marL="91440" marR="91440" marT="27432" marB="27432" anchor="ctr">
                    <a:solidFill>
                      <a:srgbClr val="1F7A6D"/>
                    </a:solidFill>
                  </a:tcPr>
                </a:tc>
              </a:tr>
              <a:tr h="429768">
                <a:tc>
                  <a:txBody>
                    <a:bodyPr wrap="square"/>
                    <a:lstStyle/>
                    <a:p>
                      <a:r>
                        <a:rPr sz="1200" b="1" i="0">
                          <a:solidFill>
                            <a:srgbClr val="17272E"/>
                          </a:solidFill>
                          <a:latin typeface="Calibri"/>
                        </a:rPr>
                        <a:t>Inference</a:t>
                      </a:r>
                    </a:p>
                  </a:txBody>
                  <a:tcPr marL="91440" marR="91440" marT="27432" marB="27432" anchor="ctr">
                    <a:solidFill>
                      <a:srgbClr val="EAF3F0"/>
                    </a:solidFill>
                  </a:tcPr>
                </a:tc>
                <a:tc>
                  <a:txBody>
                    <a:bodyPr wrap="square"/>
                    <a:lstStyle/>
                    <a:p>
                      <a:r>
                        <a:rPr sz="1200" b="0" i="0">
                          <a:solidFill>
                            <a:srgbClr val="17272E"/>
                          </a:solidFill>
                          <a:latin typeface="Calibri"/>
                        </a:rPr>
                        <a:t>Deriving triples that follow from the ones stated.</a:t>
                      </a:r>
                    </a:p>
                  </a:txBody>
                  <a:tcPr marL="91440" marR="91440" marT="27432" marB="27432" anchor="ctr">
                    <a:solidFill>
                      <a:srgbClr val="FFFFFF"/>
                    </a:solidFill>
                  </a:tcPr>
                </a:tc>
              </a:tr>
              <a:tr h="429768">
                <a:tc>
                  <a:txBody>
                    <a:bodyPr wrap="square"/>
                    <a:lstStyle/>
                    <a:p>
                      <a:r>
                        <a:rPr sz="1200" b="1" i="0">
                          <a:solidFill>
                            <a:srgbClr val="17272E"/>
                          </a:solidFill>
                          <a:latin typeface="Calibri"/>
                        </a:rPr>
                        <a:t>Reasoner</a:t>
                      </a:r>
                    </a:p>
                  </a:txBody>
                  <a:tcPr marL="91440" marR="91440" marT="27432" marB="27432" anchor="ctr">
                    <a:solidFill>
                      <a:srgbClr val="EAF3F0"/>
                    </a:solidFill>
                  </a:tcPr>
                </a:tc>
                <a:tc>
                  <a:txBody>
                    <a:bodyPr wrap="square"/>
                    <a:lstStyle/>
                    <a:p>
                      <a:r>
                        <a:rPr sz="1200" b="0" i="0">
                          <a:solidFill>
                            <a:srgbClr val="17272E"/>
                          </a:solidFill>
                          <a:latin typeface="Calibri"/>
                        </a:rPr>
                        <a:t>Software that performs inference, e.g. owlrl.</a:t>
                      </a:r>
                    </a:p>
                  </a:txBody>
                  <a:tcPr marL="91440" marR="91440" marT="27432" marB="27432" anchor="ctr">
                    <a:solidFill>
                      <a:srgbClr val="EAF3F0"/>
                    </a:solidFill>
                  </a:tcPr>
                </a:tc>
              </a:tr>
              <a:tr h="429768">
                <a:tc>
                  <a:txBody>
                    <a:bodyPr wrap="square"/>
                    <a:lstStyle/>
                    <a:p>
                      <a:r>
                        <a:rPr sz="1200" b="1" i="0">
                          <a:solidFill>
                            <a:srgbClr val="17272E"/>
                          </a:solidFill>
                          <a:latin typeface="Calibri"/>
                        </a:rPr>
                        <a:t>Asserted / inferred</a:t>
                      </a:r>
                    </a:p>
                  </a:txBody>
                  <a:tcPr marL="91440" marR="91440" marT="27432" marB="27432" anchor="ctr">
                    <a:solidFill>
                      <a:srgbClr val="EAF3F0"/>
                    </a:solidFill>
                  </a:tcPr>
                </a:tc>
                <a:tc>
                  <a:txBody>
                    <a:bodyPr wrap="square"/>
                    <a:lstStyle/>
                    <a:p>
                      <a:r>
                        <a:rPr sz="1200" b="0" i="0">
                          <a:solidFill>
                            <a:srgbClr val="17272E"/>
                          </a:solidFill>
                          <a:latin typeface="Calibri"/>
                        </a:rPr>
                        <a:t>Stated by a source / derived by inference. Same status once present.</a:t>
                      </a:r>
                    </a:p>
                  </a:txBody>
                  <a:tcPr marL="91440" marR="91440" marT="27432" marB="27432" anchor="ctr">
                    <a:solidFill>
                      <a:srgbClr val="FFFFFF"/>
                    </a:solidFill>
                  </a:tcPr>
                </a:tc>
              </a:tr>
              <a:tr h="429768">
                <a:tc>
                  <a:txBody>
                    <a:bodyPr wrap="square"/>
                    <a:lstStyle/>
                    <a:p>
                      <a:r>
                        <a:rPr sz="1200" b="1" i="0">
                          <a:solidFill>
                            <a:srgbClr val="17272E"/>
                          </a:solidFill>
                          <a:latin typeface="Calibri"/>
                        </a:rPr>
                        <a:t>Open world</a:t>
                      </a:r>
                    </a:p>
                  </a:txBody>
                  <a:tcPr marL="91440" marR="91440" marT="27432" marB="27432" anchor="ctr">
                    <a:solidFill>
                      <a:srgbClr val="EAF3F0"/>
                    </a:solidFill>
                  </a:tcPr>
                </a:tc>
                <a:tc>
                  <a:txBody>
                    <a:bodyPr wrap="square"/>
                    <a:lstStyle/>
                    <a:p>
                      <a:r>
                        <a:rPr sz="1200" b="0" i="0">
                          <a:solidFill>
                            <a:srgbClr val="17272E"/>
                          </a:solidFill>
                          <a:latin typeface="Calibri"/>
                        </a:rPr>
                        <a:t>A missing fact is unknown, not false.</a:t>
                      </a:r>
                    </a:p>
                  </a:txBody>
                  <a:tcPr marL="91440" marR="91440" marT="27432" marB="27432" anchor="ctr">
                    <a:solidFill>
                      <a:srgbClr val="EAF3F0"/>
                    </a:solidFill>
                  </a:tcPr>
                </a:tc>
              </a:tr>
              <a:tr h="429768">
                <a:tc>
                  <a:txBody>
                    <a:bodyPr wrap="square"/>
                    <a:lstStyle/>
                    <a:p>
                      <a:r>
                        <a:rPr sz="1200" b="1" i="0">
                          <a:solidFill>
                            <a:srgbClr val="17272E"/>
                          </a:solidFill>
                          <a:latin typeface="Calibri"/>
                        </a:rPr>
                        <a:t>Nonunique naming</a:t>
                      </a:r>
                    </a:p>
                  </a:txBody>
                  <a:tcPr marL="91440" marR="91440" marT="27432" marB="27432" anchor="ctr">
                    <a:solidFill>
                      <a:srgbClr val="EAF3F0"/>
                    </a:solidFill>
                  </a:tcPr>
                </a:tc>
                <a:tc>
                  <a:txBody>
                    <a:bodyPr wrap="square"/>
                    <a:lstStyle/>
                    <a:p>
                      <a:r>
                        <a:rPr sz="1200" b="0" i="0">
                          <a:solidFill>
                            <a:srgbClr val="17272E"/>
                          </a:solidFill>
                          <a:latin typeface="Calibri"/>
                        </a:rPr>
                        <a:t>One thing may have several names; never assume two names are two things.</a:t>
                      </a:r>
                    </a:p>
                  </a:txBody>
                  <a:tcPr marL="91440" marR="91440" marT="27432" marB="27432" anchor="ctr">
                    <a:solidFill>
                      <a:srgbClr val="FFFFFF"/>
                    </a:solidFill>
                  </a:tcPr>
                </a:tc>
              </a:tr>
              <a:tr h="429768">
                <a:tc>
                  <a:txBody>
                    <a:bodyPr wrap="square"/>
                    <a:lstStyle/>
                    <a:p>
                      <a:r>
                        <a:rPr sz="1200" b="1" i="0">
                          <a:solidFill>
                            <a:srgbClr val="17272E"/>
                          </a:solidFill>
                          <a:latin typeface="Calibri"/>
                        </a:rPr>
                        <a:t>Vocabulary</a:t>
                      </a:r>
                    </a:p>
                  </a:txBody>
                  <a:tcPr marL="91440" marR="91440" marT="27432" marB="27432" anchor="ctr">
                    <a:solidFill>
                      <a:srgbClr val="EAF3F0"/>
                    </a:solidFill>
                  </a:tcPr>
                </a:tc>
                <a:tc>
                  <a:txBody>
                    <a:bodyPr wrap="square"/>
                    <a:lstStyle/>
                    <a:p>
                      <a:r>
                        <a:rPr sz="1200" b="0" i="0">
                          <a:solidFill>
                            <a:srgbClr val="17272E"/>
                          </a:solidFill>
                          <a:latin typeface="Calibri"/>
                        </a:rPr>
                        <a:t>A set of terms, usually under one namespace, such as FOAF or SKOS.</a:t>
                      </a:r>
                    </a:p>
                  </a:txBody>
                  <a:tcPr marL="91440" marR="91440" marT="27432" marB="27432" anchor="ctr">
                    <a:solidFill>
                      <a:srgbClr val="EAF3F0"/>
                    </a:solidFill>
                  </a:tcPr>
                </a:tc>
              </a:tr>
              <a:tr h="429768">
                <a:tc>
                  <a:txBody>
                    <a:bodyPr wrap="square"/>
                    <a:lstStyle/>
                    <a:p>
                      <a:r>
                        <a:rPr sz="1200" b="1" i="0">
                          <a:solidFill>
                            <a:srgbClr val="17272E"/>
                          </a:solidFill>
                          <a:latin typeface="Calibri"/>
                        </a:rPr>
                        <a:t>Taxonomy</a:t>
                      </a:r>
                    </a:p>
                  </a:txBody>
                  <a:tcPr marL="91440" marR="91440" marT="27432" marB="27432" anchor="ctr">
                    <a:solidFill>
                      <a:srgbClr val="EAF3F0"/>
                    </a:solidFill>
                  </a:tcPr>
                </a:tc>
                <a:tc>
                  <a:txBody>
                    <a:bodyPr wrap="square"/>
                    <a:lstStyle/>
                    <a:p>
                      <a:r>
                        <a:rPr sz="1200" b="0" i="0">
                          <a:solidFill>
                            <a:srgbClr val="17272E"/>
                          </a:solidFill>
                          <a:latin typeface="Calibri"/>
                        </a:rPr>
                        <a:t>Terms arranged in a broader–narrower hierarchy.</a:t>
                      </a:r>
                    </a:p>
                  </a:txBody>
                  <a:tcPr marL="91440" marR="91440" marT="27432" marB="27432" anchor="ctr">
                    <a:solidFill>
                      <a:srgbClr val="FFFFFF"/>
                    </a:solidFill>
                  </a:tcPr>
                </a:tc>
              </a:tr>
              <a:tr h="429768">
                <a:tc>
                  <a:txBody>
                    <a:bodyPr wrap="square"/>
                    <a:lstStyle/>
                    <a:p>
                      <a:r>
                        <a:rPr sz="1200" b="1" i="0">
                          <a:solidFill>
                            <a:srgbClr val="17272E"/>
                          </a:solidFill>
                          <a:latin typeface="Calibri"/>
                        </a:rPr>
                        <a:t>Profile</a:t>
                      </a:r>
                    </a:p>
                  </a:txBody>
                  <a:tcPr marL="91440" marR="91440" marT="27432" marB="27432" anchor="ctr">
                    <a:solidFill>
                      <a:srgbClr val="EAF3F0"/>
                    </a:solidFill>
                  </a:tcPr>
                </a:tc>
                <a:tc>
                  <a:txBody>
                    <a:bodyPr wrap="square"/>
                    <a:lstStyle/>
                    <a:p>
                      <a:r>
                        <a:rPr sz="1200" b="0" i="0">
                          <a:solidFill>
                            <a:srgbClr val="17272E"/>
                          </a:solidFill>
                          <a:latin typeface="Calibri"/>
                        </a:rPr>
                        <a:t>A subset of OWL 2 (DL, EL, QL, RL) with known reasoning cost.</a:t>
                      </a:r>
                    </a:p>
                  </a:txBody>
                  <a:tcPr marL="91440" marR="91440" marT="27432" marB="27432" anchor="ctr">
                    <a:solidFill>
                      <a:srgbClr val="EAF3F0"/>
                    </a:solidFill>
                  </a:tcPr>
                </a:tc>
              </a:tr>
              <a:tr h="429768">
                <a:tc>
                  <a:txBody>
                    <a:bodyPr wrap="square"/>
                    <a:lstStyle/>
                    <a:p>
                      <a:r>
                        <a:rPr sz="1200" b="1" i="0">
                          <a:solidFill>
                            <a:srgbClr val="17272E"/>
                          </a:solidFill>
                          <a:latin typeface="Calibri"/>
                        </a:rPr>
                        <a:t>Competency question</a:t>
                      </a:r>
                    </a:p>
                  </a:txBody>
                  <a:tcPr marL="91440" marR="91440" marT="27432" marB="27432" anchor="ctr">
                    <a:solidFill>
                      <a:srgbClr val="EAF3F0"/>
                    </a:solidFill>
                  </a:tcPr>
                </a:tc>
                <a:tc>
                  <a:txBody>
                    <a:bodyPr wrap="square"/>
                    <a:lstStyle/>
                    <a:p>
                      <a:r>
                        <a:rPr sz="1200" b="0" i="0">
                          <a:solidFill>
                            <a:srgbClr val="17272E"/>
                          </a:solidFill>
                          <a:latin typeface="Calibri"/>
                        </a:rPr>
                        <a:t>A question the model must be able to answer; a test.</a:t>
                      </a:r>
                    </a:p>
                  </a:txBody>
                  <a:tcPr marL="91440" marR="91440" marT="27432" marB="27432" anchor="ctr">
                    <a:solidFill>
                      <a:srgbClr val="FFFFFF"/>
                    </a:solidFill>
                  </a:tcPr>
                </a:tc>
              </a:tr>
              <a:tr h="429768">
                <a:tc>
                  <a:txBody>
                    <a:bodyPr wrap="square"/>
                    <a:lstStyle/>
                    <a:p>
                      <a:r>
                        <a:rPr sz="1200" b="1" i="0">
                          <a:solidFill>
                            <a:srgbClr val="17272E"/>
                          </a:solidFill>
                          <a:latin typeface="Calibri"/>
                        </a:rPr>
                        <a:t>SPARQL endpoint</a:t>
                      </a:r>
                    </a:p>
                  </a:txBody>
                  <a:tcPr marL="91440" marR="91440" marT="27432" marB="27432" anchor="ctr">
                    <a:solidFill>
                      <a:srgbClr val="EAF3F0"/>
                    </a:solidFill>
                  </a:tcPr>
                </a:tc>
                <a:tc>
                  <a:txBody>
                    <a:bodyPr wrap="square"/>
                    <a:lstStyle/>
                    <a:p>
                      <a:r>
                        <a:rPr sz="1200" b="0" i="0">
                          <a:solidFill>
                            <a:srgbClr val="17272E"/>
                          </a:solidFill>
                          <a:latin typeface="Calibri"/>
                        </a:rPr>
                        <a:t>A web service that answers SPARQL queries over a store.</a:t>
                      </a:r>
                    </a:p>
                  </a:txBody>
                  <a:tcPr marL="91440" marR="91440" marT="27432" marB="27432" anchor="ctr">
                    <a:solidFill>
                      <a:srgbClr val="EAF3F0"/>
                    </a:solidFill>
                  </a:tcPr>
                </a:tc>
              </a:tr>
            </a:tbl>
          </a:graphicData>
        </a:graphic>
      </p:graphicFrame>
      <p:sp>
        <p:nvSpPr>
          <p:cNvPr id="6" name="Footer"/>
          <p:cNvSpPr txBox="1"/>
          <p:nvPr/>
        </p:nvSpPr>
        <p:spPr>
          <a:xfrm>
            <a:off x="548640" y="6419088"/>
            <a:ext cx="7315200" cy="228600"/>
          </a:xfrm>
          <a:prstGeom prst="rect">
            <a:avLst/>
          </a:prstGeom>
          <a:noFill/>
        </p:spPr>
        <p:txBody>
          <a:bodyPr wrap="square" anchor="t" lIns="0" rIns="0" tIns="0" bIns="0">
            <a:noAutofit/>
          </a:bodyPr>
          <a:lstStyle/>
          <a:p>
            <a:pPr algn="l">
              <a:spcAft>
                <a:spcPts val="600"/>
              </a:spcAft>
            </a:pPr>
            <a:r>
              <a:rPr sz="1000" b="0" i="0">
                <a:solidFill>
                  <a:srgbClr val="5B6B70"/>
                </a:solidFill>
                <a:latin typeface="Calibri"/>
              </a:rPr>
              <a:t>What is an ontology? · from RDF to OWL</a:t>
            </a:r>
          </a:p>
        </p:txBody>
      </p:sp>
      <p:sp>
        <p:nvSpPr>
          <p:cNvPr id="7" name="Slide number"/>
          <p:cNvSpPr txBox="1"/>
          <p:nvPr/>
        </p:nvSpPr>
        <p:spPr>
          <a:xfrm>
            <a:off x="10728655" y="6419088"/>
            <a:ext cx="914400" cy="228600"/>
          </a:xfrm>
          <a:prstGeom prst="rect">
            <a:avLst/>
          </a:prstGeom>
          <a:noFill/>
        </p:spPr>
        <p:txBody>
          <a:bodyPr wrap="square" anchor="t" lIns="0" rIns="0" tIns="0" bIns="0">
            <a:noAutofit/>
          </a:bodyPr>
          <a:lstStyle/>
          <a:p>
            <a:pPr algn="r">
              <a:spcAft>
                <a:spcPts val="600"/>
              </a:spcAft>
            </a:pPr>
            <a:r>
              <a:rPr sz="1000" b="0" i="0">
                <a:solidFill>
                  <a:srgbClr val="5B6B70"/>
                </a:solidFill>
                <a:latin typeface="Calibri"/>
              </a:rPr>
              <a:t>54</a:t>
            </a:r>
          </a:p>
        </p:txBody>
      </p:sp>
    </p:spTree>
  </p:cSld>
  <p:clrMapOvr>
    <a:masterClrMapping/>
  </p:clrMapOvr>
</p:sld>
</file>

<file path=ppt/theme/theme1.xml><?xml version="1.0" encoding="utf-8"?>
<a:theme xmlns:a="http://schemas.openxmlformats.org/drawingml/2006/main" name="Office Theme">
  <a:themeElements>
    <a:clrScheme name="Ontology Review">
      <a:dk1>
        <a:srgbClr val="17272E"/>
      </a:dk1>
      <a:lt1>
        <a:srgbClr val="FFFFFF"/>
      </a:lt1>
      <a:dk2>
        <a:srgbClr val="155E54"/>
      </a:dk2>
      <a:lt2>
        <a:srgbClr val="EAF3F0"/>
      </a:lt2>
      <a:accent1>
        <a:srgbClr val="1F7A6D"/>
      </a:accent1>
      <a:accent2>
        <a:srgbClr val="E0952B"/>
      </a:accent2>
      <a:accent3>
        <a:srgbClr val="C24E36"/>
      </a:accent3>
      <a:accent4>
        <a:srgbClr val="7FD1C1"/>
      </a:accent4>
      <a:accent5>
        <a:srgbClr val="5B8FA8"/>
      </a:accent5>
      <a:accent6>
        <a:srgbClr val="5B6B70"/>
      </a:accent6>
      <a:hlink>
        <a:srgbClr val="1F7A6D"/>
      </a:hlink>
      <a:folHlink>
        <a:srgbClr val="155E54"/>
      </a:folHlink>
    </a:clrScheme>
    <a:fontScheme name="Ontology Review">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an ontology? From RDF to OWL</dc:title>
  <dc:subject>Ontology, RDF, SPARQL, RDFS, SKOS and OWL</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